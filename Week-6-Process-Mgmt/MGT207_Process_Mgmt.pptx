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51" r:id="rId1"/>
  </p:sldMasterIdLst>
  <p:notesMasterIdLst>
    <p:notesMasterId r:id="rId39"/>
  </p:notesMasterIdLst>
  <p:handoutMasterIdLst>
    <p:handoutMasterId r:id="rId40"/>
  </p:handoutMasterIdLst>
  <p:sldIdLst>
    <p:sldId id="385" r:id="rId2"/>
    <p:sldId id="448" r:id="rId3"/>
    <p:sldId id="351" r:id="rId4"/>
    <p:sldId id="353" r:id="rId5"/>
    <p:sldId id="538" r:id="rId6"/>
    <p:sldId id="369" r:id="rId7"/>
    <p:sldId id="371" r:id="rId8"/>
    <p:sldId id="539" r:id="rId9"/>
    <p:sldId id="346" r:id="rId10"/>
    <p:sldId id="350" r:id="rId11"/>
    <p:sldId id="528" r:id="rId12"/>
    <p:sldId id="404" r:id="rId13"/>
    <p:sldId id="411" r:id="rId14"/>
    <p:sldId id="405" r:id="rId15"/>
    <p:sldId id="529" r:id="rId16"/>
    <p:sldId id="530" r:id="rId17"/>
    <p:sldId id="531" r:id="rId18"/>
    <p:sldId id="532" r:id="rId19"/>
    <p:sldId id="533" r:id="rId20"/>
    <p:sldId id="534" r:id="rId21"/>
    <p:sldId id="407" r:id="rId22"/>
    <p:sldId id="408" r:id="rId23"/>
    <p:sldId id="537" r:id="rId24"/>
    <p:sldId id="458" r:id="rId25"/>
    <p:sldId id="460" r:id="rId26"/>
    <p:sldId id="463" r:id="rId27"/>
    <p:sldId id="512" r:id="rId28"/>
    <p:sldId id="503" r:id="rId29"/>
    <p:sldId id="312" r:id="rId30"/>
    <p:sldId id="541" r:id="rId31"/>
    <p:sldId id="544" r:id="rId32"/>
    <p:sldId id="542" r:id="rId33"/>
    <p:sldId id="543" r:id="rId34"/>
    <p:sldId id="321" r:id="rId35"/>
    <p:sldId id="322" r:id="rId36"/>
    <p:sldId id="323" r:id="rId37"/>
    <p:sldId id="345" r:id="rId38"/>
  </p:sldIdLst>
  <p:sldSz cx="9144000" cy="6858000" type="screen4x3"/>
  <p:notesSz cx="7315200" cy="9601200"/>
  <p:defaultTextStyle>
    <a:defPPr>
      <a:defRPr lang="en-US"/>
    </a:defPPr>
    <a:lvl1pPr algn="l" rtl="0" eaLnBrk="0" fontAlgn="base" hangingPunct="0">
      <a:spcBef>
        <a:spcPct val="0"/>
      </a:spcBef>
      <a:spcAft>
        <a:spcPct val="0"/>
      </a:spcAft>
      <a:defRPr kern="1200">
        <a:solidFill>
          <a:schemeClr val="tx1"/>
        </a:solidFill>
        <a:latin typeface="Verdana"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itchFamily="34" charset="0"/>
        <a:ea typeface="+mn-ea"/>
        <a:cs typeface="+mn-cs"/>
      </a:defRPr>
    </a:lvl5pPr>
    <a:lvl6pPr marL="2286000" algn="l" defTabSz="914400" rtl="0" eaLnBrk="1" latinLnBrk="0" hangingPunct="1">
      <a:defRPr kern="1200">
        <a:solidFill>
          <a:schemeClr val="tx1"/>
        </a:solidFill>
        <a:latin typeface="Verdana" pitchFamily="34" charset="0"/>
        <a:ea typeface="+mn-ea"/>
        <a:cs typeface="+mn-cs"/>
      </a:defRPr>
    </a:lvl6pPr>
    <a:lvl7pPr marL="2743200" algn="l" defTabSz="914400" rtl="0" eaLnBrk="1" latinLnBrk="0" hangingPunct="1">
      <a:defRPr kern="1200">
        <a:solidFill>
          <a:schemeClr val="tx1"/>
        </a:solidFill>
        <a:latin typeface="Verdana" pitchFamily="34" charset="0"/>
        <a:ea typeface="+mn-ea"/>
        <a:cs typeface="+mn-cs"/>
      </a:defRPr>
    </a:lvl7pPr>
    <a:lvl8pPr marL="3200400" algn="l" defTabSz="914400" rtl="0" eaLnBrk="1" latinLnBrk="0" hangingPunct="1">
      <a:defRPr kern="1200">
        <a:solidFill>
          <a:schemeClr val="tx1"/>
        </a:solidFill>
        <a:latin typeface="Verdana" pitchFamily="34" charset="0"/>
        <a:ea typeface="+mn-ea"/>
        <a:cs typeface="+mn-cs"/>
      </a:defRPr>
    </a:lvl8pPr>
    <a:lvl9pPr marL="3657600" algn="l" defTabSz="914400" rtl="0" eaLnBrk="1" latinLnBrk="0" hangingPunct="1">
      <a:defRPr kern="1200">
        <a:solidFill>
          <a:schemeClr val="tx1"/>
        </a:solidFill>
        <a:latin typeface="Verdana" pitchFamily="34" charset="0"/>
        <a:ea typeface="+mn-ea"/>
        <a:cs typeface="+mn-cs"/>
      </a:defRPr>
    </a:lvl9pPr>
  </p:defaultTextStyle>
  <p:extLst>
    <p:ext uri="{EFAFB233-063F-42B5-8137-9DF3F51BA10A}">
      <p15:sldGuideLst xmlns:p15="http://schemas.microsoft.com/office/powerpoint/2012/main">
        <p15:guide id="1" orient="horz">
          <p15:clr>
            <a:srgbClr val="A4A3A4"/>
          </p15:clr>
        </p15:guide>
        <p15:guide id="2">
          <p15:clr>
            <a:srgbClr val="A4A3A4"/>
          </p15:clr>
        </p15:guide>
      </p15:sldGuideLst>
    </p:ext>
    <p:ext uri="{2D200454-40CA-4A62-9FC3-DE9A4176ACB9}">
      <p15:notesGuideLst xmlns:p15="http://schemas.microsoft.com/office/powerpoint/2012/main">
        <p15:guide id="1" orient="horz" pos="2260" userDrawn="1">
          <p15:clr>
            <a:srgbClr val="A4A3A4"/>
          </p15:clr>
        </p15:guide>
        <p15:guide id="2" pos="3002"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FF"/>
    <a:srgbClr val="EAEAEA"/>
    <a:srgbClr val="B6ADE5"/>
    <a:srgbClr val="FF99FF"/>
    <a:srgbClr val="00969F"/>
    <a:srgbClr val="D9D4CD"/>
    <a:srgbClr val="D0C9C0"/>
    <a:srgbClr val="C0C0C0"/>
    <a:srgbClr val="990000"/>
    <a:srgbClr val="99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00" autoAdjust="0"/>
    <p:restoredTop sz="84596" autoAdjust="0"/>
  </p:normalViewPr>
  <p:slideViewPr>
    <p:cSldViewPr snapToGrid="0">
      <p:cViewPr varScale="1">
        <p:scale>
          <a:sx n="114" d="100"/>
          <a:sy n="114" d="100"/>
        </p:scale>
        <p:origin x="1600" y="176"/>
      </p:cViewPr>
      <p:guideLst>
        <p:guide orient="horz"/>
        <p:guide/>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p:scale>
          <a:sx n="100" d="100"/>
          <a:sy n="100" d="100"/>
        </p:scale>
        <p:origin x="1812" y="-1032"/>
      </p:cViewPr>
      <p:guideLst>
        <p:guide orient="horz" pos="2260"/>
        <p:guide pos="3002"/>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2"/>
            <a:ext cx="3171614" cy="480060"/>
          </a:xfrm>
          <a:prstGeom prst="rect">
            <a:avLst/>
          </a:prstGeom>
          <a:noFill/>
          <a:ln w="9525">
            <a:noFill/>
            <a:miter lim="800000"/>
            <a:headEnd/>
            <a:tailEnd/>
          </a:ln>
          <a:effectLst/>
        </p:spPr>
        <p:txBody>
          <a:bodyPr vert="horz" wrap="square" lIns="20356" tIns="0" rIns="20356" bIns="0" numCol="1" anchor="t" anchorCtr="0" compatLnSpc="1">
            <a:prstTxWarp prst="textNoShape">
              <a:avLst/>
            </a:prstTxWarp>
          </a:bodyPr>
          <a:lstStyle>
            <a:lvl1pPr defTabSz="997209">
              <a:defRPr sz="1000" i="1">
                <a:latin typeface="Times New Roman" pitchFamily="18" charset="0"/>
              </a:defRPr>
            </a:lvl1pPr>
          </a:lstStyle>
          <a:p>
            <a:pPr>
              <a:defRPr/>
            </a:pPr>
            <a:r>
              <a:rPr lang="en-US"/>
              <a:t>BUS 105: Production and Operations Management</a:t>
            </a:r>
          </a:p>
        </p:txBody>
      </p:sp>
      <p:sp>
        <p:nvSpPr>
          <p:cNvPr id="3075" name="Rectangle 3"/>
          <p:cNvSpPr>
            <a:spLocks noGrp="1" noChangeArrowheads="1"/>
          </p:cNvSpPr>
          <p:nvPr>
            <p:ph type="dt" sz="quarter" idx="1"/>
          </p:nvPr>
        </p:nvSpPr>
        <p:spPr bwMode="auto">
          <a:xfrm>
            <a:off x="4143587" y="2"/>
            <a:ext cx="3171613" cy="480060"/>
          </a:xfrm>
          <a:prstGeom prst="rect">
            <a:avLst/>
          </a:prstGeom>
          <a:noFill/>
          <a:ln w="9525">
            <a:noFill/>
            <a:miter lim="800000"/>
            <a:headEnd/>
            <a:tailEnd/>
          </a:ln>
          <a:effectLst/>
        </p:spPr>
        <p:txBody>
          <a:bodyPr vert="horz" wrap="square" lIns="20356" tIns="0" rIns="20356" bIns="0" numCol="1" anchor="t" anchorCtr="0" compatLnSpc="1">
            <a:prstTxWarp prst="textNoShape">
              <a:avLst/>
            </a:prstTxWarp>
          </a:bodyPr>
          <a:lstStyle>
            <a:lvl1pPr algn="r" defTabSz="997209">
              <a:defRPr sz="1000" i="1">
                <a:latin typeface="Times New Roman" pitchFamily="18" charset="0"/>
              </a:defRPr>
            </a:lvl1pPr>
          </a:lstStyle>
          <a:p>
            <a:pPr>
              <a:defRPr/>
            </a:pPr>
            <a:endParaRPr lang="en-US"/>
          </a:p>
        </p:txBody>
      </p:sp>
      <p:sp>
        <p:nvSpPr>
          <p:cNvPr id="3076" name="Rectangle 4"/>
          <p:cNvSpPr>
            <a:spLocks noGrp="1" noChangeArrowheads="1"/>
          </p:cNvSpPr>
          <p:nvPr>
            <p:ph type="ftr" sz="quarter" idx="2"/>
          </p:nvPr>
        </p:nvSpPr>
        <p:spPr bwMode="auto">
          <a:xfrm>
            <a:off x="0" y="9121140"/>
            <a:ext cx="3171614" cy="480060"/>
          </a:xfrm>
          <a:prstGeom prst="rect">
            <a:avLst/>
          </a:prstGeom>
          <a:noFill/>
          <a:ln w="9525">
            <a:noFill/>
            <a:miter lim="800000"/>
            <a:headEnd/>
            <a:tailEnd/>
          </a:ln>
          <a:effectLst/>
        </p:spPr>
        <p:txBody>
          <a:bodyPr vert="horz" wrap="square" lIns="20356" tIns="0" rIns="20356" bIns="0" numCol="1" anchor="b" anchorCtr="0" compatLnSpc="1">
            <a:prstTxWarp prst="textNoShape">
              <a:avLst/>
            </a:prstTxWarp>
          </a:bodyPr>
          <a:lstStyle>
            <a:lvl1pPr defTabSz="997209">
              <a:defRPr sz="1000" i="1">
                <a:latin typeface="Times New Roman" pitchFamily="18" charset="0"/>
              </a:defRPr>
            </a:lvl1pPr>
          </a:lstStyle>
          <a:p>
            <a:pPr>
              <a:defRPr/>
            </a:pPr>
            <a:r>
              <a:rPr lang="en-US"/>
              <a:t>Copyright: Mohsen ElHafsi 2013</a:t>
            </a:r>
          </a:p>
        </p:txBody>
      </p:sp>
      <p:sp>
        <p:nvSpPr>
          <p:cNvPr id="3077" name="Rectangle 5"/>
          <p:cNvSpPr>
            <a:spLocks noGrp="1" noChangeArrowheads="1"/>
          </p:cNvSpPr>
          <p:nvPr>
            <p:ph type="sldNum" sz="quarter" idx="3"/>
          </p:nvPr>
        </p:nvSpPr>
        <p:spPr bwMode="auto">
          <a:xfrm>
            <a:off x="4143587" y="9121140"/>
            <a:ext cx="3171613" cy="480060"/>
          </a:xfrm>
          <a:prstGeom prst="rect">
            <a:avLst/>
          </a:prstGeom>
          <a:noFill/>
          <a:ln w="9525">
            <a:noFill/>
            <a:miter lim="800000"/>
            <a:headEnd/>
            <a:tailEnd/>
          </a:ln>
          <a:effectLst/>
        </p:spPr>
        <p:txBody>
          <a:bodyPr vert="horz" wrap="square" lIns="20356" tIns="0" rIns="20356" bIns="0" numCol="1" anchor="b" anchorCtr="0" compatLnSpc="1">
            <a:prstTxWarp prst="textNoShape">
              <a:avLst/>
            </a:prstTxWarp>
          </a:bodyPr>
          <a:lstStyle>
            <a:lvl1pPr algn="r" defTabSz="997209">
              <a:defRPr sz="1000" i="1">
                <a:latin typeface="Times New Roman" pitchFamily="18" charset="0"/>
              </a:defRPr>
            </a:lvl1pPr>
          </a:lstStyle>
          <a:p>
            <a:pPr>
              <a:defRPr/>
            </a:pPr>
            <a:fld id="{BD2C73DF-C165-433D-AC9C-CD7983F33390}" type="slidenum">
              <a:rPr lang="en-US"/>
              <a:pPr>
                <a:defRPr/>
              </a:pPr>
              <a:t>‹#›</a:t>
            </a:fld>
            <a:endParaRPr lang="en-US"/>
          </a:p>
        </p:txBody>
      </p:sp>
    </p:spTree>
    <p:extLst>
      <p:ext uri="{BB962C8B-B14F-4D97-AF65-F5344CB8AC3E}">
        <p14:creationId xmlns:p14="http://schemas.microsoft.com/office/powerpoint/2010/main" val="314857922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2"/>
            <a:ext cx="3171614" cy="480060"/>
          </a:xfrm>
          <a:prstGeom prst="rect">
            <a:avLst/>
          </a:prstGeom>
          <a:noFill/>
          <a:ln w="9525">
            <a:noFill/>
            <a:miter lim="800000"/>
            <a:headEnd/>
            <a:tailEnd/>
          </a:ln>
          <a:effectLst/>
        </p:spPr>
        <p:txBody>
          <a:bodyPr vert="horz" wrap="square" lIns="20356" tIns="0" rIns="20356" bIns="0" numCol="1" anchor="t" anchorCtr="0" compatLnSpc="1">
            <a:prstTxWarp prst="textNoShape">
              <a:avLst/>
            </a:prstTxWarp>
          </a:bodyPr>
          <a:lstStyle>
            <a:lvl1pPr defTabSz="997209">
              <a:defRPr sz="1000" i="1">
                <a:latin typeface="Times New Roman" pitchFamily="18" charset="0"/>
              </a:defRPr>
            </a:lvl1pPr>
          </a:lstStyle>
          <a:p>
            <a:pPr>
              <a:defRPr/>
            </a:pPr>
            <a:r>
              <a:rPr lang="en-US"/>
              <a:t>BUS 105: Production and Operations Management</a:t>
            </a:r>
          </a:p>
        </p:txBody>
      </p:sp>
      <p:sp>
        <p:nvSpPr>
          <p:cNvPr id="2051" name="Rectangle 3"/>
          <p:cNvSpPr>
            <a:spLocks noGrp="1" noChangeArrowheads="1"/>
          </p:cNvSpPr>
          <p:nvPr>
            <p:ph type="dt" idx="1"/>
          </p:nvPr>
        </p:nvSpPr>
        <p:spPr bwMode="auto">
          <a:xfrm>
            <a:off x="4143587" y="2"/>
            <a:ext cx="3171613" cy="480060"/>
          </a:xfrm>
          <a:prstGeom prst="rect">
            <a:avLst/>
          </a:prstGeom>
          <a:noFill/>
          <a:ln w="9525">
            <a:noFill/>
            <a:miter lim="800000"/>
            <a:headEnd/>
            <a:tailEnd/>
          </a:ln>
          <a:effectLst/>
        </p:spPr>
        <p:txBody>
          <a:bodyPr vert="horz" wrap="square" lIns="20356" tIns="0" rIns="20356" bIns="0" numCol="1" anchor="t" anchorCtr="0" compatLnSpc="1">
            <a:prstTxWarp prst="textNoShape">
              <a:avLst/>
            </a:prstTxWarp>
          </a:bodyPr>
          <a:lstStyle>
            <a:lvl1pPr algn="r" defTabSz="997209">
              <a:defRPr sz="1000" i="1">
                <a:latin typeface="Times New Roman" pitchFamily="18" charset="0"/>
              </a:defRPr>
            </a:lvl1pPr>
          </a:lstStyle>
          <a:p>
            <a:pPr>
              <a:defRPr/>
            </a:pPr>
            <a:endParaRPr lang="en-US"/>
          </a:p>
        </p:txBody>
      </p:sp>
      <p:sp>
        <p:nvSpPr>
          <p:cNvPr id="2052" name="Rectangle 4"/>
          <p:cNvSpPr>
            <a:spLocks noGrp="1" noChangeArrowheads="1"/>
          </p:cNvSpPr>
          <p:nvPr>
            <p:ph type="ftr" sz="quarter" idx="4"/>
          </p:nvPr>
        </p:nvSpPr>
        <p:spPr bwMode="auto">
          <a:xfrm>
            <a:off x="0" y="9121140"/>
            <a:ext cx="3171614" cy="480060"/>
          </a:xfrm>
          <a:prstGeom prst="rect">
            <a:avLst/>
          </a:prstGeom>
          <a:noFill/>
          <a:ln w="9525">
            <a:noFill/>
            <a:miter lim="800000"/>
            <a:headEnd/>
            <a:tailEnd/>
          </a:ln>
          <a:effectLst/>
        </p:spPr>
        <p:txBody>
          <a:bodyPr vert="horz" wrap="square" lIns="20356" tIns="0" rIns="20356" bIns="0" numCol="1" anchor="b" anchorCtr="0" compatLnSpc="1">
            <a:prstTxWarp prst="textNoShape">
              <a:avLst/>
            </a:prstTxWarp>
          </a:bodyPr>
          <a:lstStyle>
            <a:lvl1pPr defTabSz="997209">
              <a:defRPr sz="1000" i="1">
                <a:latin typeface="Times New Roman" pitchFamily="18" charset="0"/>
              </a:defRPr>
            </a:lvl1pPr>
          </a:lstStyle>
          <a:p>
            <a:pPr>
              <a:defRPr/>
            </a:pPr>
            <a:r>
              <a:rPr lang="en-US"/>
              <a:t>Copyright: Mohsen ElHafsi 2013</a:t>
            </a:r>
          </a:p>
        </p:txBody>
      </p:sp>
      <p:sp>
        <p:nvSpPr>
          <p:cNvPr id="2053" name="Rectangle 5"/>
          <p:cNvSpPr>
            <a:spLocks noGrp="1" noChangeArrowheads="1"/>
          </p:cNvSpPr>
          <p:nvPr>
            <p:ph type="sldNum" sz="quarter" idx="5"/>
          </p:nvPr>
        </p:nvSpPr>
        <p:spPr bwMode="auto">
          <a:xfrm>
            <a:off x="4143587" y="9121140"/>
            <a:ext cx="3171613" cy="480060"/>
          </a:xfrm>
          <a:prstGeom prst="rect">
            <a:avLst/>
          </a:prstGeom>
          <a:noFill/>
          <a:ln w="9525">
            <a:noFill/>
            <a:miter lim="800000"/>
            <a:headEnd/>
            <a:tailEnd/>
          </a:ln>
          <a:effectLst/>
        </p:spPr>
        <p:txBody>
          <a:bodyPr vert="horz" wrap="square" lIns="20356" tIns="0" rIns="20356" bIns="0" numCol="1" anchor="b" anchorCtr="0" compatLnSpc="1">
            <a:prstTxWarp prst="textNoShape">
              <a:avLst/>
            </a:prstTxWarp>
          </a:bodyPr>
          <a:lstStyle>
            <a:lvl1pPr algn="r" defTabSz="997209">
              <a:defRPr sz="1000" i="1">
                <a:latin typeface="Times New Roman" pitchFamily="18" charset="0"/>
              </a:defRPr>
            </a:lvl1pPr>
          </a:lstStyle>
          <a:p>
            <a:pPr>
              <a:defRPr/>
            </a:pPr>
            <a:fld id="{1CA5FEA2-9A97-496A-B95E-89FB239E45ED}" type="slidenum">
              <a:rPr lang="en-US"/>
              <a:pPr>
                <a:defRPr/>
              </a:pPr>
              <a:t>‹#›</a:t>
            </a:fld>
            <a:endParaRPr lang="en-US"/>
          </a:p>
        </p:txBody>
      </p:sp>
      <p:sp>
        <p:nvSpPr>
          <p:cNvPr id="2054" name="Rectangle 6"/>
          <p:cNvSpPr>
            <a:spLocks noGrp="1" noChangeArrowheads="1"/>
          </p:cNvSpPr>
          <p:nvPr>
            <p:ph type="body" sz="quarter" idx="3"/>
          </p:nvPr>
        </p:nvSpPr>
        <p:spPr bwMode="auto">
          <a:xfrm>
            <a:off x="485989" y="3488770"/>
            <a:ext cx="6260252" cy="5392340"/>
          </a:xfrm>
          <a:prstGeom prst="rect">
            <a:avLst/>
          </a:prstGeom>
          <a:noFill/>
          <a:ln w="9525">
            <a:noFill/>
            <a:miter lim="800000"/>
            <a:headEnd/>
            <a:tailEnd/>
          </a:ln>
          <a:effectLst/>
        </p:spPr>
        <p:txBody>
          <a:bodyPr vert="horz" wrap="square" lIns="100081" tIns="49193" rIns="100081" bIns="49193" numCol="1" anchor="t" anchorCtr="0" compatLnSpc="1">
            <a:prstTxWarp prst="textNoShape">
              <a:avLst/>
            </a:prstTxWarp>
          </a:bodyPr>
          <a:lstStyle/>
          <a:p>
            <a:pPr lvl="0"/>
            <a:r>
              <a:rPr lang="en-US" noProof="0"/>
              <a:t>Click to edit Master notes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8919" name="Rectangle 7"/>
          <p:cNvSpPr>
            <a:spLocks noGrp="1" noRot="1" noChangeAspect="1" noChangeArrowheads="1" noTextEdit="1"/>
          </p:cNvSpPr>
          <p:nvPr>
            <p:ph type="sldImg" idx="2"/>
          </p:nvPr>
        </p:nvSpPr>
        <p:spPr bwMode="auto">
          <a:xfrm>
            <a:off x="560388" y="638175"/>
            <a:ext cx="2886075" cy="2163763"/>
          </a:xfrm>
          <a:prstGeom prst="rect">
            <a:avLst/>
          </a:prstGeom>
          <a:noFill/>
          <a:ln w="12700">
            <a:solidFill>
              <a:schemeClr val="tx1"/>
            </a:solidFill>
            <a:miter lim="800000"/>
            <a:headEnd/>
            <a:tailEnd/>
          </a:ln>
        </p:spPr>
      </p:sp>
      <p:sp>
        <p:nvSpPr>
          <p:cNvPr id="2056" name="Rectangle 8"/>
          <p:cNvSpPr>
            <a:spLocks noChangeArrowheads="1"/>
          </p:cNvSpPr>
          <p:nvPr/>
        </p:nvSpPr>
        <p:spPr bwMode="auto">
          <a:xfrm>
            <a:off x="6854615" y="9331169"/>
            <a:ext cx="472625" cy="257849"/>
          </a:xfrm>
          <a:prstGeom prst="rect">
            <a:avLst/>
          </a:prstGeom>
          <a:noFill/>
          <a:ln w="9525">
            <a:noFill/>
            <a:miter lim="800000"/>
            <a:headEnd/>
            <a:tailEnd/>
          </a:ln>
          <a:effectLst/>
        </p:spPr>
        <p:txBody>
          <a:bodyPr wrap="none" lIns="100081" tIns="49193" rIns="100081" bIns="49193">
            <a:spAutoFit/>
          </a:bodyPr>
          <a:lstStyle/>
          <a:p>
            <a:pPr defTabSz="997209">
              <a:defRPr/>
            </a:pPr>
            <a:r>
              <a:rPr lang="en-US" sz="1000">
                <a:latin typeface="Times New Roman" pitchFamily="18" charset="0"/>
              </a:rPr>
              <a:t>1-</a:t>
            </a:r>
            <a:fld id="{4DF89A3A-3AA4-4BFF-A500-DBCAE33C151A}" type="slidenum">
              <a:rPr lang="en-US" sz="1000">
                <a:latin typeface="Times New Roman" pitchFamily="18" charset="0"/>
              </a:rPr>
              <a:pPr defTabSz="997209">
                <a:defRPr/>
              </a:pPr>
              <a:t>‹#›</a:t>
            </a:fld>
            <a:endParaRPr lang="en-US" sz="1000">
              <a:latin typeface="Times New Roman" pitchFamily="18" charset="0"/>
            </a:endParaRPr>
          </a:p>
        </p:txBody>
      </p:sp>
    </p:spTree>
    <p:extLst>
      <p:ext uri="{BB962C8B-B14F-4D97-AF65-F5344CB8AC3E}">
        <p14:creationId xmlns:p14="http://schemas.microsoft.com/office/powerpoint/2010/main" val="3302232881"/>
      </p:ext>
    </p:extLst>
  </p:cSld>
  <p:clrMap bg1="lt1" tx1="dk1" bg2="lt2" tx2="dk2" accent1="accent1" accent2="accent2" accent3="accent3" accent4="accent4" accent5="accent5" accent6="accent6" hlink="hlink" folHlink="folHlink"/>
  <p:hf/>
  <p:notesStyle>
    <a:lvl1pPr algn="just" defTabSz="933450" rtl="0" eaLnBrk="0" fontAlgn="base" hangingPunct="0">
      <a:spcBef>
        <a:spcPct val="30000"/>
      </a:spcBef>
      <a:spcAft>
        <a:spcPct val="0"/>
      </a:spcAft>
      <a:defRPr sz="1400" kern="1200">
        <a:solidFill>
          <a:schemeClr val="tx1"/>
        </a:solidFill>
        <a:latin typeface="Times New Roman" pitchFamily="18" charset="0"/>
        <a:ea typeface="+mn-ea"/>
        <a:cs typeface="+mn-cs"/>
      </a:defRPr>
    </a:lvl1pPr>
    <a:lvl2pPr marL="461963" algn="just" defTabSz="933450" rtl="0" eaLnBrk="0" fontAlgn="base" hangingPunct="0">
      <a:spcBef>
        <a:spcPct val="30000"/>
      </a:spcBef>
      <a:spcAft>
        <a:spcPct val="0"/>
      </a:spcAft>
      <a:defRPr sz="1400" kern="1200">
        <a:solidFill>
          <a:schemeClr val="tx1"/>
        </a:solidFill>
        <a:latin typeface="Times New Roman" pitchFamily="18" charset="0"/>
        <a:ea typeface="+mn-ea"/>
        <a:cs typeface="+mn-cs"/>
      </a:defRPr>
    </a:lvl2pPr>
    <a:lvl3pPr marL="923925" algn="just" defTabSz="933450" rtl="0" eaLnBrk="0" fontAlgn="base" hangingPunct="0">
      <a:spcBef>
        <a:spcPct val="30000"/>
      </a:spcBef>
      <a:spcAft>
        <a:spcPct val="0"/>
      </a:spcAft>
      <a:defRPr sz="1400" kern="1200">
        <a:solidFill>
          <a:schemeClr val="tx1"/>
        </a:solidFill>
        <a:latin typeface="Times New Roman" pitchFamily="18" charset="0"/>
        <a:ea typeface="+mn-ea"/>
        <a:cs typeface="+mn-cs"/>
      </a:defRPr>
    </a:lvl3pPr>
    <a:lvl4pPr marL="1387475" algn="just" defTabSz="933450" rtl="0" eaLnBrk="0" fontAlgn="base" hangingPunct="0">
      <a:spcBef>
        <a:spcPct val="30000"/>
      </a:spcBef>
      <a:spcAft>
        <a:spcPct val="0"/>
      </a:spcAft>
      <a:defRPr sz="1400" kern="1200">
        <a:solidFill>
          <a:schemeClr val="tx1"/>
        </a:solidFill>
        <a:latin typeface="Times New Roman" pitchFamily="18" charset="0"/>
        <a:ea typeface="+mn-ea"/>
        <a:cs typeface="+mn-cs"/>
      </a:defRPr>
    </a:lvl4pPr>
    <a:lvl5pPr marL="1849438" algn="just" defTabSz="933450" rtl="0" eaLnBrk="0" fontAlgn="base" hangingPunct="0">
      <a:spcBef>
        <a:spcPct val="30000"/>
      </a:spcBef>
      <a:spcAft>
        <a:spcPct val="0"/>
      </a:spcAft>
      <a:defRPr sz="14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hdr" sz="quarter"/>
          </p:nvPr>
        </p:nvSpPr>
        <p:spPr>
          <a:noFill/>
        </p:spPr>
        <p:txBody>
          <a:bodyPr/>
          <a:lstStyle/>
          <a:p>
            <a:r>
              <a:rPr lang="en-US" dirty="0"/>
              <a:t>BUS 105: Production and Operations Management</a:t>
            </a:r>
          </a:p>
        </p:txBody>
      </p:sp>
      <p:sp>
        <p:nvSpPr>
          <p:cNvPr id="39939" name="Rectangle 4"/>
          <p:cNvSpPr>
            <a:spLocks noGrp="1" noChangeArrowheads="1"/>
          </p:cNvSpPr>
          <p:nvPr>
            <p:ph type="ftr" sz="quarter" idx="4"/>
          </p:nvPr>
        </p:nvSpPr>
        <p:spPr>
          <a:noFill/>
        </p:spPr>
        <p:txBody>
          <a:bodyPr/>
          <a:lstStyle/>
          <a:p>
            <a:r>
              <a:rPr lang="en-US" dirty="0"/>
              <a:t>Copyright: Mohsen </a:t>
            </a:r>
            <a:r>
              <a:rPr lang="en-US" dirty="0" err="1"/>
              <a:t>ElHafsi</a:t>
            </a:r>
            <a:r>
              <a:rPr lang="en-US"/>
              <a:t> 2013</a:t>
            </a:r>
          </a:p>
        </p:txBody>
      </p:sp>
      <p:sp>
        <p:nvSpPr>
          <p:cNvPr id="39940" name="Rectangle 2"/>
          <p:cNvSpPr>
            <a:spLocks noGrp="1" noRot="1" noChangeAspect="1" noChangeArrowheads="1" noTextEdit="1"/>
          </p:cNvSpPr>
          <p:nvPr>
            <p:ph type="sldImg"/>
          </p:nvPr>
        </p:nvSpPr>
        <p:spPr>
          <a:xfrm>
            <a:off x="1263650" y="723900"/>
            <a:ext cx="4789488" cy="3590925"/>
          </a:xfrm>
          <a:ln/>
        </p:spPr>
      </p:sp>
      <p:sp>
        <p:nvSpPr>
          <p:cNvPr id="39941" name="Rectangle 3"/>
          <p:cNvSpPr>
            <a:spLocks noGrp="1" noChangeArrowheads="1"/>
          </p:cNvSpPr>
          <p:nvPr>
            <p:ph type="body" idx="1"/>
          </p:nvPr>
        </p:nvSpPr>
        <p:spPr>
          <a:xfrm>
            <a:off x="977055" y="4560570"/>
            <a:ext cx="5361094" cy="4320540"/>
          </a:xfrm>
          <a:noFill/>
          <a:ln/>
        </p:spPr>
        <p:txBody>
          <a:bodyPr/>
          <a:lstStyle/>
          <a:p>
            <a:endParaRPr lang="en-US" dirty="0"/>
          </a:p>
        </p:txBody>
      </p:sp>
      <p:sp>
        <p:nvSpPr>
          <p:cNvPr id="39942" name="Date Placeholder 5"/>
          <p:cNvSpPr>
            <a:spLocks noGrp="1"/>
          </p:cNvSpPr>
          <p:nvPr>
            <p:ph type="dt" sz="quarter" idx="1"/>
          </p:nvPr>
        </p:nvSpPr>
        <p:spPr>
          <a:noFill/>
        </p:spPr>
        <p:txBody>
          <a:bodyPr/>
          <a:lstStyle/>
          <a:p>
            <a:endParaRPr lang="en-US"/>
          </a:p>
        </p:txBody>
      </p:sp>
    </p:spTree>
    <p:extLst>
      <p:ext uri="{BB962C8B-B14F-4D97-AF65-F5344CB8AC3E}">
        <p14:creationId xmlns:p14="http://schemas.microsoft.com/office/powerpoint/2010/main" val="42020705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just" defTabSz="933450" rtl="0" eaLnBrk="0" fontAlgn="base" latinLnBrk="0" hangingPunct="0">
              <a:lnSpc>
                <a:spcPct val="100000"/>
              </a:lnSpc>
              <a:spcBef>
                <a:spcPct val="30000"/>
              </a:spcBef>
              <a:spcAft>
                <a:spcPct val="0"/>
              </a:spcAft>
              <a:buClrTx/>
              <a:buSzTx/>
              <a:buFontTx/>
              <a:buNone/>
              <a:tabLst/>
              <a:defRPr/>
            </a:pPr>
            <a:r>
              <a:rPr lang="en-US" dirty="0"/>
              <a:t>Add a slide on productivity</a:t>
            </a:r>
            <a:r>
              <a:rPr lang="en-US" baseline="0" dirty="0"/>
              <a:t> etc. concepts in second </a:t>
            </a:r>
            <a:r>
              <a:rPr lang="en-US" baseline="0" dirty="0" err="1"/>
              <a:t>hw</a:t>
            </a:r>
            <a:r>
              <a:rPr lang="en-US" baseline="0" dirty="0"/>
              <a:t> problem</a:t>
            </a:r>
            <a:endParaRPr lang="en-US" dirty="0"/>
          </a:p>
          <a:p>
            <a:endParaRPr lang="en-US" dirty="0"/>
          </a:p>
        </p:txBody>
      </p:sp>
      <p:sp>
        <p:nvSpPr>
          <p:cNvPr id="4" name="Header Placeholder 3"/>
          <p:cNvSpPr>
            <a:spLocks noGrp="1"/>
          </p:cNvSpPr>
          <p:nvPr>
            <p:ph type="hdr" sz="quarter" idx="10"/>
          </p:nvPr>
        </p:nvSpPr>
        <p:spPr/>
        <p:txBody>
          <a:bodyPr/>
          <a:lstStyle/>
          <a:p>
            <a:pPr>
              <a:defRPr/>
            </a:pPr>
            <a:r>
              <a:rPr lang="en-US"/>
              <a:t>BUS 105: Production and Operations Management</a:t>
            </a:r>
          </a:p>
        </p:txBody>
      </p:sp>
      <p:sp>
        <p:nvSpPr>
          <p:cNvPr id="5" name="Date Placeholder 4"/>
          <p:cNvSpPr>
            <a:spLocks noGrp="1"/>
          </p:cNvSpPr>
          <p:nvPr>
            <p:ph type="dt" idx="11"/>
          </p:nvPr>
        </p:nvSpPr>
        <p:spPr/>
        <p:txBody>
          <a:bodyPr/>
          <a:lstStyle/>
          <a:p>
            <a:pPr>
              <a:defRPr/>
            </a:pPr>
            <a:endParaRPr lang="en-US"/>
          </a:p>
        </p:txBody>
      </p:sp>
      <p:sp>
        <p:nvSpPr>
          <p:cNvPr id="6" name="Footer Placeholder 5"/>
          <p:cNvSpPr>
            <a:spLocks noGrp="1"/>
          </p:cNvSpPr>
          <p:nvPr>
            <p:ph type="ftr" sz="quarter" idx="12"/>
          </p:nvPr>
        </p:nvSpPr>
        <p:spPr/>
        <p:txBody>
          <a:bodyPr/>
          <a:lstStyle/>
          <a:p>
            <a:pPr>
              <a:defRPr/>
            </a:pPr>
            <a:r>
              <a:rPr lang="en-US"/>
              <a:t>Copyright: Mohsen ElHafsi 2013</a:t>
            </a:r>
          </a:p>
        </p:txBody>
      </p:sp>
      <p:sp>
        <p:nvSpPr>
          <p:cNvPr id="7" name="Slide Number Placeholder 6"/>
          <p:cNvSpPr>
            <a:spLocks noGrp="1"/>
          </p:cNvSpPr>
          <p:nvPr>
            <p:ph type="sldNum" sz="quarter" idx="13"/>
          </p:nvPr>
        </p:nvSpPr>
        <p:spPr/>
        <p:txBody>
          <a:bodyPr/>
          <a:lstStyle/>
          <a:p>
            <a:pPr>
              <a:defRPr/>
            </a:pPr>
            <a:fld id="{1CA5FEA2-9A97-496A-B95E-89FB239E45ED}" type="slidenum">
              <a:rPr lang="en-US" smtClean="0"/>
              <a:pPr>
                <a:defRPr/>
              </a:pPr>
              <a:t>2</a:t>
            </a:fld>
            <a:endParaRPr lang="en-US"/>
          </a:p>
        </p:txBody>
      </p:sp>
    </p:spTree>
    <p:extLst>
      <p:ext uri="{BB962C8B-B14F-4D97-AF65-F5344CB8AC3E}">
        <p14:creationId xmlns:p14="http://schemas.microsoft.com/office/powerpoint/2010/main" val="30537993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fld id="{CF1941E8-7510-8A47-9569-4E8F39F9CAA0}" type="slidenum">
              <a:rPr lang="en-AU">
                <a:latin typeface="Calibri" charset="0"/>
              </a:rPr>
              <a:pPr/>
              <a:t>3</a:t>
            </a:fld>
            <a:endParaRPr lang="en-AU" dirty="0">
              <a:latin typeface="Calibri" charset="0"/>
            </a:endParaRPr>
          </a:p>
        </p:txBody>
      </p:sp>
      <p:sp>
        <p:nvSpPr>
          <p:cNvPr id="27650"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27651" name="Rectangle 3"/>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a:spcBef>
                <a:spcPct val="0"/>
              </a:spcBef>
            </a:pPr>
            <a:endParaRPr lang="en-US" dirty="0">
              <a:latin typeface="Calibri" charset="0"/>
            </a:endParaRPr>
          </a:p>
        </p:txBody>
      </p:sp>
    </p:spTree>
    <p:extLst>
      <p:ext uri="{BB962C8B-B14F-4D97-AF65-F5344CB8AC3E}">
        <p14:creationId xmlns:p14="http://schemas.microsoft.com/office/powerpoint/2010/main" val="17748378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fld id="{3C7ED77E-E04C-7A4C-A72A-8A9A8C16FDAC}" type="slidenum">
              <a:rPr lang="en-AU">
                <a:latin typeface="Calibri" charset="0"/>
              </a:rPr>
              <a:pPr/>
              <a:t>4</a:t>
            </a:fld>
            <a:endParaRPr lang="en-AU" dirty="0">
              <a:latin typeface="Calibri" charset="0"/>
            </a:endParaRPr>
          </a:p>
        </p:txBody>
      </p:sp>
      <p:sp>
        <p:nvSpPr>
          <p:cNvPr id="31746"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1747" name="Rectangle 3"/>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a:spcBef>
                <a:spcPct val="0"/>
              </a:spcBef>
            </a:pPr>
            <a:endParaRPr lang="en-US" dirty="0">
              <a:latin typeface="Calibri" charset="0"/>
            </a:endParaRPr>
          </a:p>
        </p:txBody>
      </p:sp>
    </p:spTree>
    <p:extLst>
      <p:ext uri="{BB962C8B-B14F-4D97-AF65-F5344CB8AC3E}">
        <p14:creationId xmlns:p14="http://schemas.microsoft.com/office/powerpoint/2010/main" val="18069444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fld id="{285F8F15-21AC-9844-866E-89A9939F0A7C}" type="slidenum">
              <a:rPr lang="en-AU">
                <a:latin typeface="Calibri" charset="0"/>
              </a:rPr>
              <a:pPr/>
              <a:t>9</a:t>
            </a:fld>
            <a:endParaRPr lang="en-AU" dirty="0">
              <a:latin typeface="Calibri" charset="0"/>
            </a:endParaRPr>
          </a:p>
        </p:txBody>
      </p:sp>
      <p:sp>
        <p:nvSpPr>
          <p:cNvPr id="17410"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7411" name="Rectangle 3"/>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a:spcBef>
                <a:spcPct val="0"/>
              </a:spcBef>
            </a:pPr>
            <a:endParaRPr lang="en-US" dirty="0">
              <a:latin typeface="Calibri" charset="0"/>
            </a:endParaRPr>
          </a:p>
        </p:txBody>
      </p:sp>
    </p:spTree>
    <p:extLst>
      <p:ext uri="{BB962C8B-B14F-4D97-AF65-F5344CB8AC3E}">
        <p14:creationId xmlns:p14="http://schemas.microsoft.com/office/powerpoint/2010/main" val="40134750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fld id="{C9207F79-61C7-E54E-8664-577896EFAD0D}" type="slidenum">
              <a:rPr lang="en-AU">
                <a:latin typeface="Calibri" charset="0"/>
              </a:rPr>
              <a:pPr/>
              <a:t>10</a:t>
            </a:fld>
            <a:endParaRPr lang="en-AU" dirty="0">
              <a:latin typeface="Calibri" charset="0"/>
            </a:endParaRPr>
          </a:p>
        </p:txBody>
      </p:sp>
      <p:sp>
        <p:nvSpPr>
          <p:cNvPr id="25602" name="Rectangle 2"/>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90488" tIns="44450" rIns="90488" bIns="44450" numCol="1" anchor="t" anchorCtr="0" compatLnSpc="1">
            <a:prstTxWarp prst="textNoShape">
              <a:avLst/>
            </a:prstTxWarp>
          </a:bodyPr>
          <a:lstStyle/>
          <a:p>
            <a:pPr>
              <a:spcBef>
                <a:spcPct val="0"/>
              </a:spcBef>
            </a:pPr>
            <a:r>
              <a:rPr lang="en-US" dirty="0">
                <a:latin typeface="Calibri" charset="0"/>
              </a:rPr>
              <a:t>This slide provides some reasons that capacity is an issue.  The following slides guide a discussion of capacity.</a:t>
            </a:r>
          </a:p>
        </p:txBody>
      </p:sp>
      <p:sp>
        <p:nvSpPr>
          <p:cNvPr id="25603" name="Rectangle 3"/>
          <p:cNvSpPr>
            <a:spLocks noGrp="1" noRot="1" noChangeAspect="1" noChangeArrowheads="1" noTextEdit="1"/>
          </p:cNvSpPr>
          <p:nvPr>
            <p:ph type="sldImg"/>
          </p:nvPr>
        </p:nvSpPr>
        <p:spPr bwMode="auto">
          <a:noFill/>
          <a:ln cap="flat">
            <a:solidFill>
              <a:schemeClr val="tx1"/>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Tree>
    <p:extLst>
      <p:ext uri="{BB962C8B-B14F-4D97-AF65-F5344CB8AC3E}">
        <p14:creationId xmlns:p14="http://schemas.microsoft.com/office/powerpoint/2010/main" val="24444512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fld id="{EFF67057-262F-974B-9A10-E93107FB1D66}" type="slidenum">
              <a:rPr lang="en-AU">
                <a:latin typeface="Calibri" charset="0"/>
              </a:rPr>
              <a:pPr/>
              <a:t>11</a:t>
            </a:fld>
            <a:endParaRPr lang="en-AU" dirty="0">
              <a:latin typeface="Calibri" charset="0"/>
            </a:endParaRPr>
          </a:p>
        </p:txBody>
      </p:sp>
      <p:sp>
        <p:nvSpPr>
          <p:cNvPr id="29698"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29699" name="Rectangle 3"/>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dirty="0">
                <a:latin typeface="Calibri" charset="0"/>
              </a:rPr>
              <a:t>This slide can be used to frame a discussion of capacity.</a:t>
            </a:r>
          </a:p>
          <a:p>
            <a:pPr>
              <a:spcBef>
                <a:spcPct val="0"/>
              </a:spcBef>
            </a:pPr>
            <a:endParaRPr lang="en-US" dirty="0">
              <a:latin typeface="Calibri" charset="0"/>
            </a:endParaRPr>
          </a:p>
          <a:p>
            <a:pPr>
              <a:spcBef>
                <a:spcPct val="0"/>
              </a:spcBef>
            </a:pPr>
            <a:r>
              <a:rPr lang="en-US" dirty="0">
                <a:latin typeface="Calibri" charset="0"/>
              </a:rPr>
              <a:t>Points to be made might include:</a:t>
            </a:r>
          </a:p>
          <a:p>
            <a:pPr>
              <a:spcBef>
                <a:spcPct val="0"/>
              </a:spcBef>
            </a:pPr>
            <a:r>
              <a:rPr lang="en-US" dirty="0">
                <a:latin typeface="Calibri" charset="0"/>
              </a:rPr>
              <a:t>     - capacity definition and measurement is necessary if we are to develop a production schedule</a:t>
            </a:r>
          </a:p>
          <a:p>
            <a:pPr>
              <a:spcBef>
                <a:spcPct val="0"/>
              </a:spcBef>
            </a:pPr>
            <a:r>
              <a:rPr lang="en-US" dirty="0">
                <a:latin typeface="Calibri" charset="0"/>
              </a:rPr>
              <a:t>     - while a process may have </a:t>
            </a:r>
            <a:r>
              <a:rPr lang="ja-JP" altLang="en-US">
                <a:latin typeface="Calibri" charset="0"/>
              </a:rPr>
              <a:t>“</a:t>
            </a:r>
            <a:r>
              <a:rPr lang="en-US" dirty="0">
                <a:latin typeface="Calibri" charset="0"/>
              </a:rPr>
              <a:t>maximum</a:t>
            </a:r>
            <a:r>
              <a:rPr lang="ja-JP" altLang="en-US">
                <a:latin typeface="Calibri" charset="0"/>
              </a:rPr>
              <a:t>”</a:t>
            </a:r>
            <a:r>
              <a:rPr lang="en-US" dirty="0">
                <a:latin typeface="Calibri" charset="0"/>
              </a:rPr>
              <a:t> capacity, many factors prevent us from achieving that capacity on a continuous basis.</a:t>
            </a:r>
          </a:p>
          <a:p>
            <a:pPr>
              <a:spcBef>
                <a:spcPct val="0"/>
              </a:spcBef>
            </a:pPr>
            <a:endParaRPr lang="en-US" dirty="0">
              <a:latin typeface="Calibri" charset="0"/>
            </a:endParaRPr>
          </a:p>
          <a:p>
            <a:pPr>
              <a:spcBef>
                <a:spcPct val="0"/>
              </a:spcBef>
            </a:pPr>
            <a:r>
              <a:rPr lang="en-US" dirty="0">
                <a:latin typeface="Calibri" charset="0"/>
              </a:rPr>
              <a:t>Students should be asked to suggest factors which might prevent one from achieving maximum capacity.</a:t>
            </a:r>
          </a:p>
        </p:txBody>
      </p:sp>
    </p:spTree>
    <p:extLst>
      <p:ext uri="{BB962C8B-B14F-4D97-AF65-F5344CB8AC3E}">
        <p14:creationId xmlns:p14="http://schemas.microsoft.com/office/powerpoint/2010/main" val="33312575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fld id="{EFF67057-262F-974B-9A10-E93107FB1D66}" type="slidenum">
              <a:rPr lang="en-AU">
                <a:latin typeface="Calibri" charset="0"/>
              </a:rPr>
              <a:pPr/>
              <a:t>12</a:t>
            </a:fld>
            <a:endParaRPr lang="en-AU" dirty="0">
              <a:latin typeface="Calibri" charset="0"/>
            </a:endParaRPr>
          </a:p>
        </p:txBody>
      </p:sp>
      <p:sp>
        <p:nvSpPr>
          <p:cNvPr id="29698"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29699" name="Rectangle 3"/>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dirty="0">
                <a:latin typeface="Calibri" charset="0"/>
              </a:rPr>
              <a:t>This slide can be used to frame a discussion of capacity.</a:t>
            </a:r>
          </a:p>
          <a:p>
            <a:pPr>
              <a:spcBef>
                <a:spcPct val="0"/>
              </a:spcBef>
            </a:pPr>
            <a:endParaRPr lang="en-US" dirty="0">
              <a:latin typeface="Calibri" charset="0"/>
            </a:endParaRPr>
          </a:p>
          <a:p>
            <a:pPr>
              <a:spcBef>
                <a:spcPct val="0"/>
              </a:spcBef>
            </a:pPr>
            <a:r>
              <a:rPr lang="en-US" dirty="0">
                <a:latin typeface="Calibri" charset="0"/>
              </a:rPr>
              <a:t>Points to be made might include:</a:t>
            </a:r>
          </a:p>
          <a:p>
            <a:pPr>
              <a:spcBef>
                <a:spcPct val="0"/>
              </a:spcBef>
            </a:pPr>
            <a:r>
              <a:rPr lang="en-US" dirty="0">
                <a:latin typeface="Calibri" charset="0"/>
              </a:rPr>
              <a:t>     - capacity definition and measurement is necessary if we are to develop a production schedule</a:t>
            </a:r>
          </a:p>
          <a:p>
            <a:pPr>
              <a:spcBef>
                <a:spcPct val="0"/>
              </a:spcBef>
            </a:pPr>
            <a:r>
              <a:rPr lang="en-US" dirty="0">
                <a:latin typeface="Calibri" charset="0"/>
              </a:rPr>
              <a:t>     - while a process may have </a:t>
            </a:r>
            <a:r>
              <a:rPr lang="ja-JP" altLang="en-US">
                <a:latin typeface="Calibri" charset="0"/>
              </a:rPr>
              <a:t>“</a:t>
            </a:r>
            <a:r>
              <a:rPr lang="en-US" dirty="0">
                <a:latin typeface="Calibri" charset="0"/>
              </a:rPr>
              <a:t>maximum</a:t>
            </a:r>
            <a:r>
              <a:rPr lang="ja-JP" altLang="en-US">
                <a:latin typeface="Calibri" charset="0"/>
              </a:rPr>
              <a:t>”</a:t>
            </a:r>
            <a:r>
              <a:rPr lang="en-US" dirty="0">
                <a:latin typeface="Calibri" charset="0"/>
              </a:rPr>
              <a:t> capacity, many factors prevent us from achieving that capacity on a continuous basis.</a:t>
            </a:r>
          </a:p>
          <a:p>
            <a:pPr>
              <a:spcBef>
                <a:spcPct val="0"/>
              </a:spcBef>
            </a:pPr>
            <a:endParaRPr lang="en-US" dirty="0">
              <a:latin typeface="Calibri" charset="0"/>
            </a:endParaRPr>
          </a:p>
          <a:p>
            <a:pPr>
              <a:spcBef>
                <a:spcPct val="0"/>
              </a:spcBef>
            </a:pPr>
            <a:r>
              <a:rPr lang="en-US" dirty="0">
                <a:latin typeface="Calibri" charset="0"/>
              </a:rPr>
              <a:t>Students should be asked to suggest factors which might prevent one from achieving maximum capacity.</a:t>
            </a:r>
          </a:p>
        </p:txBody>
      </p:sp>
    </p:spTree>
    <p:extLst>
      <p:ext uri="{BB962C8B-B14F-4D97-AF65-F5344CB8AC3E}">
        <p14:creationId xmlns:p14="http://schemas.microsoft.com/office/powerpoint/2010/main" val="29721443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fld id="{EFF67057-262F-974B-9A10-E93107FB1D66}" type="slidenum">
              <a:rPr lang="en-AU">
                <a:latin typeface="Calibri" charset="0"/>
              </a:rPr>
              <a:pPr/>
              <a:t>13</a:t>
            </a:fld>
            <a:endParaRPr lang="en-AU" dirty="0">
              <a:latin typeface="Calibri" charset="0"/>
            </a:endParaRPr>
          </a:p>
        </p:txBody>
      </p:sp>
      <p:sp>
        <p:nvSpPr>
          <p:cNvPr id="29698"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29699" name="Rectangle 3"/>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dirty="0">
                <a:latin typeface="Calibri" charset="0"/>
              </a:rPr>
              <a:t>This slide can be used to frame a discussion of capacity.</a:t>
            </a:r>
          </a:p>
          <a:p>
            <a:pPr>
              <a:spcBef>
                <a:spcPct val="0"/>
              </a:spcBef>
            </a:pPr>
            <a:endParaRPr lang="en-US" dirty="0">
              <a:latin typeface="Calibri" charset="0"/>
            </a:endParaRPr>
          </a:p>
          <a:p>
            <a:pPr>
              <a:spcBef>
                <a:spcPct val="0"/>
              </a:spcBef>
            </a:pPr>
            <a:r>
              <a:rPr lang="en-US" dirty="0">
                <a:latin typeface="Calibri" charset="0"/>
              </a:rPr>
              <a:t>Points to be made might include:</a:t>
            </a:r>
          </a:p>
          <a:p>
            <a:pPr>
              <a:spcBef>
                <a:spcPct val="0"/>
              </a:spcBef>
            </a:pPr>
            <a:r>
              <a:rPr lang="en-US" dirty="0">
                <a:latin typeface="Calibri" charset="0"/>
              </a:rPr>
              <a:t>     - capacity definition and measurement is necessary if we are to develop a production schedule</a:t>
            </a:r>
          </a:p>
          <a:p>
            <a:pPr>
              <a:spcBef>
                <a:spcPct val="0"/>
              </a:spcBef>
            </a:pPr>
            <a:r>
              <a:rPr lang="en-US" dirty="0">
                <a:latin typeface="Calibri" charset="0"/>
              </a:rPr>
              <a:t>     - while a process may have </a:t>
            </a:r>
            <a:r>
              <a:rPr lang="ja-JP" altLang="en-US">
                <a:latin typeface="Calibri" charset="0"/>
              </a:rPr>
              <a:t>“</a:t>
            </a:r>
            <a:r>
              <a:rPr lang="en-US" dirty="0">
                <a:latin typeface="Calibri" charset="0"/>
              </a:rPr>
              <a:t>maximum</a:t>
            </a:r>
            <a:r>
              <a:rPr lang="ja-JP" altLang="en-US">
                <a:latin typeface="Calibri" charset="0"/>
              </a:rPr>
              <a:t>”</a:t>
            </a:r>
            <a:r>
              <a:rPr lang="en-US" dirty="0">
                <a:latin typeface="Calibri" charset="0"/>
              </a:rPr>
              <a:t> capacity, many factors prevent us from achieving that capacity on a continuous basis.</a:t>
            </a:r>
          </a:p>
          <a:p>
            <a:pPr>
              <a:spcBef>
                <a:spcPct val="0"/>
              </a:spcBef>
            </a:pPr>
            <a:endParaRPr lang="en-US" dirty="0">
              <a:latin typeface="Calibri" charset="0"/>
            </a:endParaRPr>
          </a:p>
          <a:p>
            <a:pPr>
              <a:spcBef>
                <a:spcPct val="0"/>
              </a:spcBef>
            </a:pPr>
            <a:r>
              <a:rPr lang="en-US" dirty="0">
                <a:latin typeface="Calibri" charset="0"/>
              </a:rPr>
              <a:t>Students should be asked to suggest factors which might prevent one from achieving maximum capacity.</a:t>
            </a:r>
          </a:p>
        </p:txBody>
      </p:sp>
    </p:spTree>
    <p:extLst>
      <p:ext uri="{BB962C8B-B14F-4D97-AF65-F5344CB8AC3E}">
        <p14:creationId xmlns:p14="http://schemas.microsoft.com/office/powerpoint/2010/main" val="29721443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fld id="{EFF67057-262F-974B-9A10-E93107FB1D66}" type="slidenum">
              <a:rPr lang="en-AU">
                <a:latin typeface="Calibri" charset="0"/>
              </a:rPr>
              <a:pPr/>
              <a:t>14</a:t>
            </a:fld>
            <a:endParaRPr lang="en-AU" dirty="0">
              <a:latin typeface="Calibri" charset="0"/>
            </a:endParaRPr>
          </a:p>
        </p:txBody>
      </p:sp>
      <p:sp>
        <p:nvSpPr>
          <p:cNvPr id="29698"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29699" name="Rectangle 3"/>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dirty="0">
                <a:latin typeface="Calibri" charset="0"/>
              </a:rPr>
              <a:t>This slide can be used to frame a discussion of capacity.</a:t>
            </a:r>
          </a:p>
          <a:p>
            <a:pPr>
              <a:spcBef>
                <a:spcPct val="0"/>
              </a:spcBef>
            </a:pPr>
            <a:endParaRPr lang="en-US" dirty="0">
              <a:latin typeface="Calibri" charset="0"/>
            </a:endParaRPr>
          </a:p>
          <a:p>
            <a:pPr>
              <a:spcBef>
                <a:spcPct val="0"/>
              </a:spcBef>
            </a:pPr>
            <a:r>
              <a:rPr lang="en-US" dirty="0">
                <a:latin typeface="Calibri" charset="0"/>
              </a:rPr>
              <a:t>Points to be made might include:</a:t>
            </a:r>
          </a:p>
          <a:p>
            <a:pPr>
              <a:spcBef>
                <a:spcPct val="0"/>
              </a:spcBef>
            </a:pPr>
            <a:r>
              <a:rPr lang="en-US" dirty="0">
                <a:latin typeface="Calibri" charset="0"/>
              </a:rPr>
              <a:t>     - capacity definition and measurement is necessary if we are to develop a production schedule</a:t>
            </a:r>
          </a:p>
          <a:p>
            <a:pPr>
              <a:spcBef>
                <a:spcPct val="0"/>
              </a:spcBef>
            </a:pPr>
            <a:r>
              <a:rPr lang="en-US" dirty="0">
                <a:latin typeface="Calibri" charset="0"/>
              </a:rPr>
              <a:t>     - while a process may have </a:t>
            </a:r>
            <a:r>
              <a:rPr lang="ja-JP" altLang="en-US">
                <a:latin typeface="Calibri" charset="0"/>
              </a:rPr>
              <a:t>“</a:t>
            </a:r>
            <a:r>
              <a:rPr lang="en-US" dirty="0">
                <a:latin typeface="Calibri" charset="0"/>
              </a:rPr>
              <a:t>maximum</a:t>
            </a:r>
            <a:r>
              <a:rPr lang="ja-JP" altLang="en-US">
                <a:latin typeface="Calibri" charset="0"/>
              </a:rPr>
              <a:t>”</a:t>
            </a:r>
            <a:r>
              <a:rPr lang="en-US" dirty="0">
                <a:latin typeface="Calibri" charset="0"/>
              </a:rPr>
              <a:t> capacity, many factors prevent us from achieving that capacity on a continuous basis.</a:t>
            </a:r>
          </a:p>
          <a:p>
            <a:pPr>
              <a:spcBef>
                <a:spcPct val="0"/>
              </a:spcBef>
            </a:pPr>
            <a:endParaRPr lang="en-US" dirty="0">
              <a:latin typeface="Calibri" charset="0"/>
            </a:endParaRPr>
          </a:p>
          <a:p>
            <a:pPr>
              <a:spcBef>
                <a:spcPct val="0"/>
              </a:spcBef>
            </a:pPr>
            <a:r>
              <a:rPr lang="en-US" dirty="0">
                <a:latin typeface="Calibri" charset="0"/>
              </a:rPr>
              <a:t>Students should be asked to suggest factors which might prevent one from achieving maximum capacity.</a:t>
            </a:r>
          </a:p>
        </p:txBody>
      </p:sp>
    </p:spTree>
    <p:extLst>
      <p:ext uri="{BB962C8B-B14F-4D97-AF65-F5344CB8AC3E}">
        <p14:creationId xmlns:p14="http://schemas.microsoft.com/office/powerpoint/2010/main" val="3142988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fld id="{8C4A8E57-1548-3346-989A-A44A60391518}" type="slidenum">
              <a:rPr lang="en-AU">
                <a:latin typeface="Calibri" charset="0"/>
              </a:rPr>
              <a:pPr/>
              <a:t>15</a:t>
            </a:fld>
            <a:endParaRPr lang="en-AU" dirty="0">
              <a:latin typeface="Calibri" charset="0"/>
            </a:endParaRPr>
          </a:p>
        </p:txBody>
      </p:sp>
      <p:sp>
        <p:nvSpPr>
          <p:cNvPr id="31746"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1747" name="Rectangle 3"/>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a:spcBef>
                <a:spcPct val="0"/>
              </a:spcBef>
            </a:pPr>
            <a:endParaRPr lang="en-US" dirty="0">
              <a:latin typeface="Calibri" charset="0"/>
            </a:endParaRPr>
          </a:p>
        </p:txBody>
      </p:sp>
    </p:spTree>
    <p:extLst>
      <p:ext uri="{BB962C8B-B14F-4D97-AF65-F5344CB8AC3E}">
        <p14:creationId xmlns:p14="http://schemas.microsoft.com/office/powerpoint/2010/main" val="26147797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fld id="{23CC1FEA-C2CD-2142-9834-727A742E8395}" type="slidenum">
              <a:rPr lang="en-AU">
                <a:latin typeface="Calibri" charset="0"/>
              </a:rPr>
              <a:pPr/>
              <a:t>16</a:t>
            </a:fld>
            <a:endParaRPr lang="en-AU" dirty="0">
              <a:latin typeface="Calibri" charset="0"/>
            </a:endParaRPr>
          </a:p>
        </p:txBody>
      </p:sp>
      <p:sp>
        <p:nvSpPr>
          <p:cNvPr id="33794" name="Rectangle 2"/>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90488" tIns="44450" rIns="90488" bIns="44450" numCol="1" anchor="t" anchorCtr="0" compatLnSpc="1">
            <a:prstTxWarp prst="textNoShape">
              <a:avLst/>
            </a:prstTxWarp>
          </a:bodyPr>
          <a:lstStyle/>
          <a:p>
            <a:pPr>
              <a:spcBef>
                <a:spcPct val="0"/>
              </a:spcBef>
            </a:pPr>
            <a:r>
              <a:rPr lang="en-US" dirty="0">
                <a:latin typeface="Calibri" charset="0"/>
              </a:rPr>
              <a:t>It might be useful at this point to discuss typical equipment utilization rates for different process strategies if you have not done so before.</a:t>
            </a:r>
          </a:p>
        </p:txBody>
      </p:sp>
      <p:sp>
        <p:nvSpPr>
          <p:cNvPr id="33795" name="Rectangle 3"/>
          <p:cNvSpPr>
            <a:spLocks noGrp="1" noRot="1" noChangeAspect="1" noChangeArrowheads="1" noTextEdit="1"/>
          </p:cNvSpPr>
          <p:nvPr>
            <p:ph type="sldImg"/>
          </p:nvPr>
        </p:nvSpPr>
        <p:spPr bwMode="auto">
          <a:noFill/>
          <a:ln cap="flat">
            <a:solidFill>
              <a:schemeClr val="tx1"/>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Tree>
    <p:extLst>
      <p:ext uri="{BB962C8B-B14F-4D97-AF65-F5344CB8AC3E}">
        <p14:creationId xmlns:p14="http://schemas.microsoft.com/office/powerpoint/2010/main" val="12622984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fld id="{39667BD4-BE72-0D4A-BB55-9177C698CAEA}" type="slidenum">
              <a:rPr lang="en-AU">
                <a:latin typeface="Calibri" charset="0"/>
              </a:rPr>
              <a:pPr/>
              <a:t>17</a:t>
            </a:fld>
            <a:endParaRPr lang="en-AU" dirty="0">
              <a:latin typeface="Calibri" charset="0"/>
            </a:endParaRPr>
          </a:p>
        </p:txBody>
      </p:sp>
      <p:sp>
        <p:nvSpPr>
          <p:cNvPr id="37890" name="Rectangle 2"/>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90488" tIns="44450" rIns="90488" bIns="44450" numCol="1" anchor="t" anchorCtr="0" compatLnSpc="1">
            <a:prstTxWarp prst="textNoShape">
              <a:avLst/>
            </a:prstTxWarp>
          </a:bodyPr>
          <a:lstStyle/>
          <a:p>
            <a:pPr>
              <a:spcBef>
                <a:spcPct val="0"/>
              </a:spcBef>
            </a:pPr>
            <a:r>
              <a:rPr lang="en-US" dirty="0">
                <a:latin typeface="Calibri" charset="0"/>
              </a:rPr>
              <a:t>It might be useful at this point to discuss typical equipment utilization rates for different process strategies if you have not done so before.</a:t>
            </a:r>
          </a:p>
        </p:txBody>
      </p:sp>
      <p:sp>
        <p:nvSpPr>
          <p:cNvPr id="37891" name="Rectangle 3"/>
          <p:cNvSpPr>
            <a:spLocks noGrp="1" noRot="1" noChangeAspect="1" noChangeArrowheads="1" noTextEdit="1"/>
          </p:cNvSpPr>
          <p:nvPr>
            <p:ph type="sldImg"/>
          </p:nvPr>
        </p:nvSpPr>
        <p:spPr bwMode="auto">
          <a:noFill/>
          <a:ln cap="flat">
            <a:solidFill>
              <a:schemeClr val="tx1"/>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Tree>
    <p:extLst>
      <p:ext uri="{BB962C8B-B14F-4D97-AF65-F5344CB8AC3E}">
        <p14:creationId xmlns:p14="http://schemas.microsoft.com/office/powerpoint/2010/main" val="10907345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fld id="{6134DD0A-A2D0-D646-8942-C03832184E78}" type="slidenum">
              <a:rPr lang="en-AU">
                <a:latin typeface="Calibri" charset="0"/>
              </a:rPr>
              <a:pPr/>
              <a:t>18</a:t>
            </a:fld>
            <a:endParaRPr lang="en-AU" dirty="0">
              <a:latin typeface="Calibri" charset="0"/>
            </a:endParaRPr>
          </a:p>
        </p:txBody>
      </p:sp>
      <p:sp>
        <p:nvSpPr>
          <p:cNvPr id="39938" name="Rectangle 2"/>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90488" tIns="44450" rIns="90488" bIns="44450" numCol="1" anchor="t" anchorCtr="0" compatLnSpc="1">
            <a:prstTxWarp prst="textNoShape">
              <a:avLst/>
            </a:prstTxWarp>
          </a:bodyPr>
          <a:lstStyle/>
          <a:p>
            <a:pPr>
              <a:spcBef>
                <a:spcPct val="0"/>
              </a:spcBef>
            </a:pPr>
            <a:r>
              <a:rPr lang="en-US" dirty="0">
                <a:latin typeface="Calibri" charset="0"/>
              </a:rPr>
              <a:t>It might be useful at this point to discuss typical equipment utilization rates for different process strategies if you have not done so before.</a:t>
            </a:r>
          </a:p>
        </p:txBody>
      </p:sp>
      <p:sp>
        <p:nvSpPr>
          <p:cNvPr id="39939" name="Rectangle 3"/>
          <p:cNvSpPr>
            <a:spLocks noGrp="1" noRot="1" noChangeAspect="1" noChangeArrowheads="1" noTextEdit="1"/>
          </p:cNvSpPr>
          <p:nvPr>
            <p:ph type="sldImg"/>
          </p:nvPr>
        </p:nvSpPr>
        <p:spPr bwMode="auto">
          <a:noFill/>
          <a:ln cap="flat">
            <a:solidFill>
              <a:schemeClr val="tx1"/>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Tree>
    <p:extLst>
      <p:ext uri="{BB962C8B-B14F-4D97-AF65-F5344CB8AC3E}">
        <p14:creationId xmlns:p14="http://schemas.microsoft.com/office/powerpoint/2010/main" val="39531309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fld id="{F66E04F4-96B3-624E-97E0-4DB2832F6FCA}" type="slidenum">
              <a:rPr lang="en-AU">
                <a:latin typeface="Calibri" charset="0"/>
              </a:rPr>
              <a:pPr/>
              <a:t>19</a:t>
            </a:fld>
            <a:endParaRPr lang="en-AU" dirty="0">
              <a:latin typeface="Calibri" charset="0"/>
            </a:endParaRPr>
          </a:p>
        </p:txBody>
      </p:sp>
      <p:sp>
        <p:nvSpPr>
          <p:cNvPr id="46082" name="Rectangle 2"/>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90488" tIns="44450" rIns="90488" bIns="44450" numCol="1" anchor="t" anchorCtr="0" compatLnSpc="1">
            <a:prstTxWarp prst="textNoShape">
              <a:avLst/>
            </a:prstTxWarp>
          </a:bodyPr>
          <a:lstStyle/>
          <a:p>
            <a:pPr>
              <a:spcBef>
                <a:spcPct val="0"/>
              </a:spcBef>
            </a:pPr>
            <a:r>
              <a:rPr lang="en-US" dirty="0">
                <a:latin typeface="Calibri" charset="0"/>
              </a:rPr>
              <a:t>It might be useful at this point to discuss typical equipment utilization rates for different process strategies if you have not done so before.</a:t>
            </a:r>
          </a:p>
        </p:txBody>
      </p:sp>
      <p:sp>
        <p:nvSpPr>
          <p:cNvPr id="46083" name="Rectangle 3"/>
          <p:cNvSpPr>
            <a:spLocks noGrp="1" noRot="1" noChangeAspect="1" noChangeArrowheads="1" noTextEdit="1"/>
          </p:cNvSpPr>
          <p:nvPr>
            <p:ph type="sldImg"/>
          </p:nvPr>
        </p:nvSpPr>
        <p:spPr bwMode="auto">
          <a:noFill/>
          <a:ln cap="flat">
            <a:solidFill>
              <a:schemeClr val="tx1"/>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Tree>
    <p:extLst>
      <p:ext uri="{BB962C8B-B14F-4D97-AF65-F5344CB8AC3E}">
        <p14:creationId xmlns:p14="http://schemas.microsoft.com/office/powerpoint/2010/main" val="23675701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fld id="{F66E04F4-96B3-624E-97E0-4DB2832F6FCA}" type="slidenum">
              <a:rPr lang="en-AU">
                <a:latin typeface="Calibri" charset="0"/>
              </a:rPr>
              <a:pPr/>
              <a:t>20</a:t>
            </a:fld>
            <a:endParaRPr lang="en-AU" dirty="0">
              <a:latin typeface="Calibri" charset="0"/>
            </a:endParaRPr>
          </a:p>
        </p:txBody>
      </p:sp>
      <p:sp>
        <p:nvSpPr>
          <p:cNvPr id="46082" name="Rectangle 2"/>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90488" tIns="44450" rIns="90488" bIns="44450" numCol="1" anchor="t" anchorCtr="0" compatLnSpc="1">
            <a:prstTxWarp prst="textNoShape">
              <a:avLst/>
            </a:prstTxWarp>
          </a:bodyPr>
          <a:lstStyle/>
          <a:p>
            <a:pPr>
              <a:spcBef>
                <a:spcPct val="0"/>
              </a:spcBef>
            </a:pPr>
            <a:r>
              <a:rPr lang="en-US" dirty="0">
                <a:latin typeface="Calibri" charset="0"/>
              </a:rPr>
              <a:t>It might be useful at this point to discuss typical equipment utilization rates for different process strategies if you have not done so before.</a:t>
            </a:r>
          </a:p>
        </p:txBody>
      </p:sp>
      <p:sp>
        <p:nvSpPr>
          <p:cNvPr id="46083" name="Rectangle 3"/>
          <p:cNvSpPr>
            <a:spLocks noGrp="1" noRot="1" noChangeAspect="1" noChangeArrowheads="1" noTextEdit="1"/>
          </p:cNvSpPr>
          <p:nvPr>
            <p:ph type="sldImg"/>
          </p:nvPr>
        </p:nvSpPr>
        <p:spPr bwMode="auto">
          <a:noFill/>
          <a:ln cap="flat">
            <a:solidFill>
              <a:schemeClr val="tx1"/>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Tree>
    <p:extLst>
      <p:ext uri="{BB962C8B-B14F-4D97-AF65-F5344CB8AC3E}">
        <p14:creationId xmlns:p14="http://schemas.microsoft.com/office/powerpoint/2010/main" val="25152045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fld id="{F66E04F4-96B3-624E-97E0-4DB2832F6FCA}" type="slidenum">
              <a:rPr lang="en-AU">
                <a:latin typeface="Calibri" charset="0"/>
              </a:rPr>
              <a:pPr/>
              <a:t>21</a:t>
            </a:fld>
            <a:endParaRPr lang="en-AU" dirty="0">
              <a:latin typeface="Calibri" charset="0"/>
            </a:endParaRPr>
          </a:p>
        </p:txBody>
      </p:sp>
      <p:sp>
        <p:nvSpPr>
          <p:cNvPr id="46082" name="Rectangle 2"/>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90488" tIns="44450" rIns="90488" bIns="44450" numCol="1" anchor="t" anchorCtr="0" compatLnSpc="1">
            <a:prstTxWarp prst="textNoShape">
              <a:avLst/>
            </a:prstTxWarp>
          </a:bodyPr>
          <a:lstStyle/>
          <a:p>
            <a:pPr>
              <a:spcBef>
                <a:spcPct val="0"/>
              </a:spcBef>
            </a:pPr>
            <a:r>
              <a:rPr lang="en-US" dirty="0">
                <a:latin typeface="Calibri" charset="0"/>
              </a:rPr>
              <a:t>It might be useful at this point to discuss typical equipment utilization rates for different process strategies if you have not done so before.</a:t>
            </a:r>
          </a:p>
        </p:txBody>
      </p:sp>
      <p:sp>
        <p:nvSpPr>
          <p:cNvPr id="46083" name="Rectangle 3"/>
          <p:cNvSpPr>
            <a:spLocks noGrp="1" noRot="1" noChangeAspect="1" noChangeArrowheads="1" noTextEdit="1"/>
          </p:cNvSpPr>
          <p:nvPr>
            <p:ph type="sldImg"/>
          </p:nvPr>
        </p:nvSpPr>
        <p:spPr bwMode="auto">
          <a:noFill/>
          <a:ln cap="flat">
            <a:solidFill>
              <a:schemeClr val="tx1"/>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Tree>
    <p:extLst>
      <p:ext uri="{BB962C8B-B14F-4D97-AF65-F5344CB8AC3E}">
        <p14:creationId xmlns:p14="http://schemas.microsoft.com/office/powerpoint/2010/main" val="35564625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fld id="{F66E04F4-96B3-624E-97E0-4DB2832F6FCA}" type="slidenum">
              <a:rPr lang="en-AU">
                <a:latin typeface="Calibri" charset="0"/>
              </a:rPr>
              <a:pPr/>
              <a:t>22</a:t>
            </a:fld>
            <a:endParaRPr lang="en-AU" dirty="0">
              <a:latin typeface="Calibri" charset="0"/>
            </a:endParaRPr>
          </a:p>
        </p:txBody>
      </p:sp>
      <p:sp>
        <p:nvSpPr>
          <p:cNvPr id="46082" name="Rectangle 2"/>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90488" tIns="44450" rIns="90488" bIns="44450" numCol="1" anchor="t" anchorCtr="0" compatLnSpc="1">
            <a:prstTxWarp prst="textNoShape">
              <a:avLst/>
            </a:prstTxWarp>
          </a:bodyPr>
          <a:lstStyle/>
          <a:p>
            <a:pPr>
              <a:spcBef>
                <a:spcPct val="0"/>
              </a:spcBef>
            </a:pPr>
            <a:r>
              <a:rPr lang="en-US" dirty="0">
                <a:latin typeface="Calibri" charset="0"/>
              </a:rPr>
              <a:t>It might be useful at this point to discuss typical equipment utilization rates for different process strategies if you have not done so before.</a:t>
            </a:r>
          </a:p>
        </p:txBody>
      </p:sp>
      <p:sp>
        <p:nvSpPr>
          <p:cNvPr id="46083" name="Rectangle 3"/>
          <p:cNvSpPr>
            <a:spLocks noGrp="1" noRot="1" noChangeAspect="1" noChangeArrowheads="1" noTextEdit="1"/>
          </p:cNvSpPr>
          <p:nvPr>
            <p:ph type="sldImg"/>
          </p:nvPr>
        </p:nvSpPr>
        <p:spPr bwMode="auto">
          <a:noFill/>
          <a:ln cap="flat">
            <a:solidFill>
              <a:schemeClr val="tx1"/>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Tree>
    <p:extLst>
      <p:ext uri="{BB962C8B-B14F-4D97-AF65-F5344CB8AC3E}">
        <p14:creationId xmlns:p14="http://schemas.microsoft.com/office/powerpoint/2010/main" val="39554439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fld id="{81293D88-BEDE-D043-AFD2-EF454E025263}" type="slidenum">
              <a:rPr lang="en-AU">
                <a:latin typeface="Calibri" charset="0"/>
              </a:rPr>
              <a:pPr/>
              <a:t>23</a:t>
            </a:fld>
            <a:endParaRPr lang="en-AU" dirty="0">
              <a:latin typeface="Calibri" charset="0"/>
            </a:endParaRPr>
          </a:p>
        </p:txBody>
      </p:sp>
      <p:sp>
        <p:nvSpPr>
          <p:cNvPr id="54274"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54275" name="Rectangle 3"/>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a:spcBef>
                <a:spcPct val="0"/>
              </a:spcBef>
            </a:pPr>
            <a:endParaRPr lang="en-US" dirty="0">
              <a:latin typeface="Calibri" charset="0"/>
            </a:endParaRPr>
          </a:p>
        </p:txBody>
      </p:sp>
    </p:spTree>
    <p:extLst>
      <p:ext uri="{BB962C8B-B14F-4D97-AF65-F5344CB8AC3E}">
        <p14:creationId xmlns:p14="http://schemas.microsoft.com/office/powerpoint/2010/main" val="17240710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a:t>BUS 105: Production and Operations Management</a:t>
            </a:r>
          </a:p>
        </p:txBody>
      </p:sp>
      <p:sp>
        <p:nvSpPr>
          <p:cNvPr id="5" name="Date Placeholder 4"/>
          <p:cNvSpPr>
            <a:spLocks noGrp="1"/>
          </p:cNvSpPr>
          <p:nvPr>
            <p:ph type="dt" idx="11"/>
          </p:nvPr>
        </p:nvSpPr>
        <p:spPr/>
        <p:txBody>
          <a:bodyPr/>
          <a:lstStyle/>
          <a:p>
            <a:pPr>
              <a:defRPr/>
            </a:pPr>
            <a:endParaRPr lang="en-US"/>
          </a:p>
        </p:txBody>
      </p:sp>
      <p:sp>
        <p:nvSpPr>
          <p:cNvPr id="6" name="Footer Placeholder 5"/>
          <p:cNvSpPr>
            <a:spLocks noGrp="1"/>
          </p:cNvSpPr>
          <p:nvPr>
            <p:ph type="ftr" sz="quarter" idx="12"/>
          </p:nvPr>
        </p:nvSpPr>
        <p:spPr/>
        <p:txBody>
          <a:bodyPr/>
          <a:lstStyle/>
          <a:p>
            <a:pPr>
              <a:defRPr/>
            </a:pPr>
            <a:r>
              <a:rPr lang="en-US"/>
              <a:t>Copyright: Mohsen ElHafsi 2013</a:t>
            </a:r>
          </a:p>
        </p:txBody>
      </p:sp>
      <p:sp>
        <p:nvSpPr>
          <p:cNvPr id="7" name="Slide Number Placeholder 6"/>
          <p:cNvSpPr>
            <a:spLocks noGrp="1"/>
          </p:cNvSpPr>
          <p:nvPr>
            <p:ph type="sldNum" sz="quarter" idx="13"/>
          </p:nvPr>
        </p:nvSpPr>
        <p:spPr/>
        <p:txBody>
          <a:bodyPr/>
          <a:lstStyle/>
          <a:p>
            <a:pPr>
              <a:defRPr/>
            </a:pPr>
            <a:fld id="{1CA5FEA2-9A97-496A-B95E-89FB239E45ED}" type="slidenum">
              <a:rPr lang="en-US" smtClean="0"/>
              <a:pPr>
                <a:defRPr/>
              </a:pPr>
              <a:t>24</a:t>
            </a:fld>
            <a:endParaRPr lang="en-US"/>
          </a:p>
        </p:txBody>
      </p:sp>
    </p:spTree>
    <p:extLst>
      <p:ext uri="{BB962C8B-B14F-4D97-AF65-F5344CB8AC3E}">
        <p14:creationId xmlns:p14="http://schemas.microsoft.com/office/powerpoint/2010/main" val="26324400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p:spPr>
        <p:txBody>
          <a:bodyPr/>
          <a:lstStyle/>
          <a:p>
            <a:fld id="{687E1B37-555C-4A95-A7C2-CF791C4E88D6}" type="slidenum">
              <a:rPr lang="en-US"/>
              <a:pPr/>
              <a:t>25</a:t>
            </a:fld>
            <a:endParaRPr lang="en-US"/>
          </a:p>
        </p:txBody>
      </p:sp>
      <p:sp>
        <p:nvSpPr>
          <p:cNvPr id="45059" name="Rectangle 2"/>
          <p:cNvSpPr>
            <a:spLocks noGrp="1" noRot="1" noChangeAspect="1" noChangeArrowheads="1" noTextEdit="1"/>
          </p:cNvSpPr>
          <p:nvPr>
            <p:ph type="sldImg"/>
          </p:nvPr>
        </p:nvSpPr>
        <p:spPr>
          <a:xfrm>
            <a:off x="1446213" y="652463"/>
            <a:ext cx="4344987" cy="3259137"/>
          </a:xfrm>
          <a:ln/>
        </p:spPr>
      </p:sp>
      <p:sp>
        <p:nvSpPr>
          <p:cNvPr id="45060" name="Rectangle 3"/>
          <p:cNvSpPr>
            <a:spLocks noGrp="1" noChangeArrowheads="1"/>
          </p:cNvSpPr>
          <p:nvPr>
            <p:ph type="body" idx="1"/>
          </p:nvPr>
        </p:nvSpPr>
        <p:spPr>
          <a:xfrm>
            <a:off x="239956" y="4131182"/>
            <a:ext cx="6743690" cy="4277128"/>
          </a:xfrm>
          <a:noFill/>
          <a:ln/>
        </p:spPr>
        <p:txBody>
          <a:bodyPr lIns="91278" tIns="45638" rIns="91278" bIns="45638"/>
          <a:lstStyle/>
          <a:p>
            <a:pPr eaLnBrk="1" hangingPunct="1"/>
            <a:r>
              <a:rPr lang="en-US" sz="1300" b="1" i="1" dirty="0"/>
              <a:t>Capacity:</a:t>
            </a:r>
            <a:r>
              <a:rPr lang="en-US" sz="1300" dirty="0"/>
              <a:t>  </a:t>
            </a:r>
            <a:r>
              <a:rPr lang="en-US" dirty="0"/>
              <a:t>the maximum productive capability of a process or facility, usually measured as a quantity of output per unit time (</a:t>
            </a:r>
            <a:r>
              <a:rPr lang="en-US" i="1" dirty="0">
                <a:solidFill>
                  <a:srgbClr val="FF0000"/>
                </a:solidFill>
              </a:rPr>
              <a:t>rate</a:t>
            </a:r>
            <a:r>
              <a:rPr lang="en-US" dirty="0"/>
              <a:t>).  </a:t>
            </a:r>
          </a:p>
          <a:p>
            <a:pPr eaLnBrk="1" hangingPunct="1"/>
            <a:endParaRPr lang="en-US" dirty="0"/>
          </a:p>
          <a:p>
            <a:pPr eaLnBrk="1" hangingPunct="1"/>
            <a:r>
              <a:rPr lang="en-US" dirty="0"/>
              <a:t>How many of you would agree with that flow time is a measure of capacity? No it is not. CAPACITY IS ALWAYS A RATE!!</a:t>
            </a:r>
          </a:p>
        </p:txBody>
      </p:sp>
    </p:spTree>
    <p:extLst>
      <p:ext uri="{BB962C8B-B14F-4D97-AF65-F5344CB8AC3E}">
        <p14:creationId xmlns:p14="http://schemas.microsoft.com/office/powerpoint/2010/main" val="12818097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p:spPr>
        <p:txBody>
          <a:bodyPr/>
          <a:lstStyle/>
          <a:p>
            <a:fld id="{1B93674A-A1E7-411B-A658-AFF9E738452A}" type="slidenum">
              <a:rPr lang="en-US"/>
              <a:pPr/>
              <a:t>26</a:t>
            </a:fld>
            <a:endParaRPr lang="en-US"/>
          </a:p>
        </p:txBody>
      </p:sp>
      <p:sp>
        <p:nvSpPr>
          <p:cNvPr id="49155" name="Rectangle 2"/>
          <p:cNvSpPr>
            <a:spLocks noGrp="1" noRot="1" noChangeAspect="1" noChangeArrowheads="1" noTextEdit="1"/>
          </p:cNvSpPr>
          <p:nvPr>
            <p:ph type="sldImg"/>
          </p:nvPr>
        </p:nvSpPr>
        <p:spPr>
          <a:xfrm>
            <a:off x="1446213" y="652463"/>
            <a:ext cx="4344987" cy="3259137"/>
          </a:xfrm>
          <a:ln/>
        </p:spPr>
      </p:sp>
      <p:sp>
        <p:nvSpPr>
          <p:cNvPr id="49156" name="Rectangle 3"/>
          <p:cNvSpPr>
            <a:spLocks noGrp="1" noChangeArrowheads="1"/>
          </p:cNvSpPr>
          <p:nvPr>
            <p:ph type="body" idx="1"/>
          </p:nvPr>
        </p:nvSpPr>
        <p:spPr>
          <a:xfrm>
            <a:off x="239956" y="4131182"/>
            <a:ext cx="6743690" cy="4277128"/>
          </a:xfrm>
          <a:noFill/>
          <a:ln/>
        </p:spPr>
        <p:txBody>
          <a:bodyPr lIns="91278" tIns="45638" rIns="91278" bIns="45638"/>
          <a:lstStyle/>
          <a:p>
            <a:pPr eaLnBrk="1" hangingPunct="1">
              <a:spcBef>
                <a:spcPct val="0"/>
              </a:spcBef>
            </a:pPr>
            <a:r>
              <a:rPr lang="en-US"/>
              <a:t>Focus the story with an example - say a steel mill  - that involves several steps.</a:t>
            </a:r>
          </a:p>
          <a:p>
            <a:pPr eaLnBrk="1" hangingPunct="1">
              <a:spcBef>
                <a:spcPct val="0"/>
              </a:spcBef>
            </a:pPr>
            <a:r>
              <a:rPr lang="en-US"/>
              <a:t>Some steps operate at a high processing rate, others at a low processing rate.  Somewhere, in the process, one or more of those steps are dragging down the production rate - i.e. the slowest ones.  They are the bottlenecks.  </a:t>
            </a:r>
          </a:p>
          <a:p>
            <a:pPr eaLnBrk="1" hangingPunct="1">
              <a:spcBef>
                <a:spcPct val="0"/>
              </a:spcBef>
            </a:pPr>
            <a:endParaRPr lang="en-US"/>
          </a:p>
          <a:p>
            <a:pPr eaLnBrk="1" hangingPunct="1">
              <a:spcBef>
                <a:spcPct val="0"/>
              </a:spcBef>
            </a:pPr>
            <a:r>
              <a:rPr lang="en-US"/>
              <a:t>Focus on issue of comparable units of measure. </a:t>
            </a:r>
          </a:p>
          <a:p>
            <a:pPr eaLnBrk="1" hangingPunct="1"/>
            <a:endParaRPr lang="en-US"/>
          </a:p>
        </p:txBody>
      </p:sp>
    </p:spTree>
    <p:extLst>
      <p:ext uri="{BB962C8B-B14F-4D97-AF65-F5344CB8AC3E}">
        <p14:creationId xmlns:p14="http://schemas.microsoft.com/office/powerpoint/2010/main" val="405532801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7"/>
          <p:cNvSpPr>
            <a:spLocks noGrp="1" noChangeArrowheads="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fld id="{2F2ACB9B-2A90-F944-A093-710579DF196F}" type="slidenum">
              <a:rPr lang="en-AU">
                <a:latin typeface="Calibri" charset="0"/>
              </a:rPr>
              <a:pPr/>
              <a:t>27</a:t>
            </a:fld>
            <a:endParaRPr lang="en-AU" dirty="0">
              <a:latin typeface="Calibri" charset="0"/>
            </a:endParaRPr>
          </a:p>
        </p:txBody>
      </p:sp>
      <p:sp>
        <p:nvSpPr>
          <p:cNvPr id="66562"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66563" name="Rectangle 3"/>
          <p:cNvSpPr>
            <a:spLocks noGrp="1" noChangeArrowheads="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a:spcBef>
                <a:spcPct val="0"/>
              </a:spcBef>
            </a:pPr>
            <a:endParaRPr lang="en-US" dirty="0">
              <a:latin typeface="Calibri" charset="0"/>
            </a:endParaRPr>
          </a:p>
        </p:txBody>
      </p:sp>
    </p:spTree>
    <p:extLst>
      <p:ext uri="{BB962C8B-B14F-4D97-AF65-F5344CB8AC3E}">
        <p14:creationId xmlns:p14="http://schemas.microsoft.com/office/powerpoint/2010/main" val="178132889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7"/>
          <p:cNvSpPr>
            <a:spLocks noGrp="1" noChangeArrowheads="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fld id="{2F2ACB9B-2A90-F944-A093-710579DF196F}" type="slidenum">
              <a:rPr lang="en-AU">
                <a:latin typeface="Calibri" charset="0"/>
              </a:rPr>
              <a:pPr/>
              <a:t>28</a:t>
            </a:fld>
            <a:endParaRPr lang="en-AU" dirty="0">
              <a:latin typeface="Calibri" charset="0"/>
            </a:endParaRPr>
          </a:p>
        </p:txBody>
      </p:sp>
      <p:sp>
        <p:nvSpPr>
          <p:cNvPr id="66562"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66563" name="Rectangle 3"/>
          <p:cNvSpPr>
            <a:spLocks noGrp="1" noChangeArrowheads="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a:spcBef>
                <a:spcPct val="0"/>
              </a:spcBef>
            </a:pPr>
            <a:endParaRPr lang="en-US" dirty="0">
              <a:latin typeface="Calibri" charset="0"/>
            </a:endParaRPr>
          </a:p>
        </p:txBody>
      </p:sp>
    </p:spTree>
    <p:extLst>
      <p:ext uri="{BB962C8B-B14F-4D97-AF65-F5344CB8AC3E}">
        <p14:creationId xmlns:p14="http://schemas.microsoft.com/office/powerpoint/2010/main" val="159838733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9"/>
        <p:cNvGrpSpPr/>
        <p:nvPr/>
      </p:nvGrpSpPr>
      <p:grpSpPr>
        <a:xfrm>
          <a:off x="0" y="0"/>
          <a:ext cx="0" cy="0"/>
          <a:chOff x="0" y="0"/>
          <a:chExt cx="0" cy="0"/>
        </a:xfrm>
      </p:grpSpPr>
      <p:sp>
        <p:nvSpPr>
          <p:cNvPr id="660" name="Google Shape;660;p57:notes"/>
          <p:cNvSpPr txBox="1">
            <a:spLocks noGrp="1"/>
          </p:cNvSpPr>
          <p:nvPr>
            <p:ph type="body" idx="1"/>
          </p:nvPr>
        </p:nvSpPr>
        <p:spPr>
          <a:xfrm>
            <a:off x="685800" y="4343400"/>
            <a:ext cx="5486399"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61" name="Google Shape;661;p5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4"/>
        <p:cNvGrpSpPr/>
        <p:nvPr/>
      </p:nvGrpSpPr>
      <p:grpSpPr>
        <a:xfrm>
          <a:off x="0" y="0"/>
          <a:ext cx="0" cy="0"/>
          <a:chOff x="0" y="0"/>
          <a:chExt cx="0" cy="0"/>
        </a:xfrm>
      </p:grpSpPr>
      <p:sp>
        <p:nvSpPr>
          <p:cNvPr id="725" name="Google Shape;725;p66:notes"/>
          <p:cNvSpPr txBox="1">
            <a:spLocks noGrp="1"/>
          </p:cNvSpPr>
          <p:nvPr>
            <p:ph type="body" idx="1"/>
          </p:nvPr>
        </p:nvSpPr>
        <p:spPr>
          <a:xfrm>
            <a:off x="685800" y="4343400"/>
            <a:ext cx="5486399"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26" name="Google Shape;726;p6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0"/>
        <p:cNvGrpSpPr/>
        <p:nvPr/>
      </p:nvGrpSpPr>
      <p:grpSpPr>
        <a:xfrm>
          <a:off x="0" y="0"/>
          <a:ext cx="0" cy="0"/>
          <a:chOff x="0" y="0"/>
          <a:chExt cx="0" cy="0"/>
        </a:xfrm>
      </p:grpSpPr>
      <p:sp>
        <p:nvSpPr>
          <p:cNvPr id="731" name="Google Shape;731;p67:notes"/>
          <p:cNvSpPr txBox="1">
            <a:spLocks noGrp="1"/>
          </p:cNvSpPr>
          <p:nvPr>
            <p:ph type="body" idx="1"/>
          </p:nvPr>
        </p:nvSpPr>
        <p:spPr>
          <a:xfrm>
            <a:off x="685800" y="4343400"/>
            <a:ext cx="5486399"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2" name="Google Shape;732;p6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6"/>
        <p:cNvGrpSpPr/>
        <p:nvPr/>
      </p:nvGrpSpPr>
      <p:grpSpPr>
        <a:xfrm>
          <a:off x="0" y="0"/>
          <a:ext cx="0" cy="0"/>
          <a:chOff x="0" y="0"/>
          <a:chExt cx="0" cy="0"/>
        </a:xfrm>
      </p:grpSpPr>
      <p:sp>
        <p:nvSpPr>
          <p:cNvPr id="737" name="Google Shape;737;p68:notes"/>
          <p:cNvSpPr txBox="1">
            <a:spLocks noGrp="1"/>
          </p:cNvSpPr>
          <p:nvPr>
            <p:ph type="body" idx="1"/>
          </p:nvPr>
        </p:nvSpPr>
        <p:spPr>
          <a:xfrm>
            <a:off x="685800" y="4343400"/>
            <a:ext cx="5486399"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8" name="Google Shape;738;p6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6"/>
        <p:cNvGrpSpPr/>
        <p:nvPr/>
      </p:nvGrpSpPr>
      <p:grpSpPr>
        <a:xfrm>
          <a:off x="0" y="0"/>
          <a:ext cx="0" cy="0"/>
          <a:chOff x="0" y="0"/>
          <a:chExt cx="0" cy="0"/>
        </a:xfrm>
      </p:grpSpPr>
      <p:sp>
        <p:nvSpPr>
          <p:cNvPr id="907" name="Google Shape;907;p90:notes"/>
          <p:cNvSpPr txBox="1">
            <a:spLocks noGrp="1"/>
          </p:cNvSpPr>
          <p:nvPr>
            <p:ph type="body" idx="1"/>
          </p:nvPr>
        </p:nvSpPr>
        <p:spPr>
          <a:xfrm>
            <a:off x="685800" y="4343400"/>
            <a:ext cx="5486399"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8" name="Google Shape;908;p9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7"/>
          <p:cNvGrpSpPr>
            <a:grpSpLocks/>
          </p:cNvGrpSpPr>
          <p:nvPr/>
        </p:nvGrpSpPr>
        <p:grpSpPr bwMode="auto">
          <a:xfrm>
            <a:off x="228600" y="2889250"/>
            <a:ext cx="8610600" cy="201613"/>
            <a:chOff x="144" y="1680"/>
            <a:chExt cx="5424" cy="144"/>
          </a:xfrm>
        </p:grpSpPr>
        <p:sp>
          <p:nvSpPr>
            <p:cNvPr id="5" name="Rectangle 8"/>
            <p:cNvSpPr>
              <a:spLocks noChangeArrowheads="1"/>
            </p:cNvSpPr>
            <p:nvPr userDrawn="1"/>
          </p:nvSpPr>
          <p:spPr bwMode="auto">
            <a:xfrm>
              <a:off x="144" y="1680"/>
              <a:ext cx="1808" cy="144"/>
            </a:xfrm>
            <a:prstGeom prst="rect">
              <a:avLst/>
            </a:prstGeom>
            <a:solidFill>
              <a:schemeClr val="bg2"/>
            </a:solidFill>
            <a:ln w="9525">
              <a:noFill/>
              <a:miter lim="800000"/>
              <a:headEnd/>
              <a:tailEnd/>
            </a:ln>
            <a:effectLst/>
          </p:spPr>
          <p:txBody>
            <a:bodyPr wrap="none" anchor="ctr"/>
            <a:lstStyle/>
            <a:p>
              <a:pPr>
                <a:defRPr/>
              </a:pPr>
              <a:endParaRPr lang="en-US" dirty="0">
                <a:latin typeface="Arial" panose="020B0604020202020204" pitchFamily="34" charset="0"/>
              </a:endParaRPr>
            </a:p>
          </p:txBody>
        </p:sp>
        <p:sp>
          <p:nvSpPr>
            <p:cNvPr id="6" name="Rectangle 9"/>
            <p:cNvSpPr>
              <a:spLocks noChangeArrowheads="1"/>
            </p:cNvSpPr>
            <p:nvPr userDrawn="1"/>
          </p:nvSpPr>
          <p:spPr bwMode="auto">
            <a:xfrm>
              <a:off x="1952" y="1680"/>
              <a:ext cx="1808" cy="144"/>
            </a:xfrm>
            <a:prstGeom prst="rect">
              <a:avLst/>
            </a:prstGeom>
            <a:solidFill>
              <a:schemeClr val="accent1"/>
            </a:solidFill>
            <a:ln w="9525">
              <a:noFill/>
              <a:miter lim="800000"/>
              <a:headEnd/>
              <a:tailEnd/>
            </a:ln>
            <a:effectLst/>
          </p:spPr>
          <p:txBody>
            <a:bodyPr wrap="none" anchor="ctr"/>
            <a:lstStyle/>
            <a:p>
              <a:pPr>
                <a:defRPr/>
              </a:pPr>
              <a:endParaRPr lang="en-US" dirty="0">
                <a:latin typeface="Arial" panose="020B0604020202020204" pitchFamily="34" charset="0"/>
              </a:endParaRPr>
            </a:p>
          </p:txBody>
        </p:sp>
        <p:sp>
          <p:nvSpPr>
            <p:cNvPr id="7" name="Rectangle 10"/>
            <p:cNvSpPr>
              <a:spLocks noChangeArrowheads="1"/>
            </p:cNvSpPr>
            <p:nvPr userDrawn="1"/>
          </p:nvSpPr>
          <p:spPr bwMode="auto">
            <a:xfrm>
              <a:off x="3760" y="1680"/>
              <a:ext cx="1808" cy="144"/>
            </a:xfrm>
            <a:prstGeom prst="rect">
              <a:avLst/>
            </a:prstGeom>
            <a:solidFill>
              <a:schemeClr val="tx2"/>
            </a:solidFill>
            <a:ln w="9525">
              <a:noFill/>
              <a:miter lim="800000"/>
              <a:headEnd/>
              <a:tailEnd/>
            </a:ln>
            <a:effectLst/>
          </p:spPr>
          <p:txBody>
            <a:bodyPr wrap="none" anchor="ctr"/>
            <a:lstStyle/>
            <a:p>
              <a:pPr>
                <a:defRPr/>
              </a:pPr>
              <a:endParaRPr lang="en-US" dirty="0">
                <a:latin typeface="Arial" panose="020B0604020202020204" pitchFamily="34" charset="0"/>
              </a:endParaRPr>
            </a:p>
          </p:txBody>
        </p:sp>
      </p:grpSp>
      <p:sp>
        <p:nvSpPr>
          <p:cNvPr id="207874" name="Rectangle 2"/>
          <p:cNvSpPr>
            <a:spLocks noGrp="1" noChangeArrowheads="1"/>
          </p:cNvSpPr>
          <p:nvPr>
            <p:ph type="ctrTitle"/>
          </p:nvPr>
        </p:nvSpPr>
        <p:spPr>
          <a:xfrm>
            <a:off x="685800" y="685800"/>
            <a:ext cx="7772400" cy="2127250"/>
          </a:xfrm>
        </p:spPr>
        <p:txBody>
          <a:bodyPr/>
          <a:lstStyle>
            <a:lvl1pPr algn="ctr">
              <a:defRPr sz="5800"/>
            </a:lvl1pPr>
          </a:lstStyle>
          <a:p>
            <a:r>
              <a:rPr lang="en-US"/>
              <a:t>Click to edit Master title style</a:t>
            </a:r>
          </a:p>
        </p:txBody>
      </p:sp>
      <p:sp>
        <p:nvSpPr>
          <p:cNvPr id="207875" name="Rectangle 3"/>
          <p:cNvSpPr>
            <a:spLocks noGrp="1" noChangeArrowheads="1"/>
          </p:cNvSpPr>
          <p:nvPr>
            <p:ph type="subTitle" idx="1"/>
          </p:nvPr>
        </p:nvSpPr>
        <p:spPr>
          <a:xfrm>
            <a:off x="1371600" y="3270250"/>
            <a:ext cx="6400800" cy="2209800"/>
          </a:xfrm>
        </p:spPr>
        <p:txBody>
          <a:bodyPr/>
          <a:lstStyle>
            <a:lvl1pPr marL="0" indent="0" algn="ctr">
              <a:buFont typeface="Wingdings" pitchFamily="2" charset="2"/>
              <a:buNone/>
              <a:defRPr sz="3000"/>
            </a:lvl1pPr>
          </a:lstStyle>
          <a:p>
            <a:r>
              <a:rPr lang="en-US"/>
              <a:t>Click to edit Master subtitle style</a:t>
            </a:r>
          </a:p>
        </p:txBody>
      </p:sp>
      <p:sp>
        <p:nvSpPr>
          <p:cNvPr id="8" name="Rectangle 4"/>
          <p:cNvSpPr>
            <a:spLocks noGrp="1" noChangeArrowheads="1"/>
          </p:cNvSpPr>
          <p:nvPr>
            <p:ph type="dt" sz="half" idx="10"/>
          </p:nvPr>
        </p:nvSpPr>
        <p:spPr bwMode="auto">
          <a:xfrm>
            <a:off x="457200" y="6248400"/>
            <a:ext cx="2133600" cy="45720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eaLnBrk="1" hangingPunct="1">
              <a:defRPr sz="1000">
                <a:latin typeface="Arial" panose="020B0604020202020204" pitchFamily="34" charset="0"/>
              </a:defRPr>
            </a:lvl1pPr>
          </a:lstStyle>
          <a:p>
            <a:pPr>
              <a:defRPr/>
            </a:pPr>
            <a:endParaRPr lang="en-US" dirty="0"/>
          </a:p>
        </p:txBody>
      </p:sp>
      <p:sp>
        <p:nvSpPr>
          <p:cNvPr id="9" name="Rectangle 5"/>
          <p:cNvSpPr>
            <a:spLocks noGrp="1" noChangeArrowheads="1"/>
          </p:cNvSpPr>
          <p:nvPr>
            <p:ph type="ftr" sz="quarter" idx="11"/>
          </p:nvPr>
        </p:nvSpPr>
        <p:spPr>
          <a:xfrm>
            <a:off x="3124200" y="6248400"/>
            <a:ext cx="2895600" cy="457200"/>
          </a:xfrm>
        </p:spPr>
        <p:txBody>
          <a:bodyPr/>
          <a:lstStyle>
            <a:lvl1pPr>
              <a:defRPr/>
            </a:lvl1pPr>
          </a:lstStyle>
          <a:p>
            <a:pPr>
              <a:defRPr/>
            </a:pPr>
            <a:r>
              <a:rPr lang="en-US"/>
              <a:t>BUS 105: Production and Operations Management</a:t>
            </a:r>
          </a:p>
        </p:txBody>
      </p:sp>
      <p:sp>
        <p:nvSpPr>
          <p:cNvPr id="10" name="Rectangle 6"/>
          <p:cNvSpPr>
            <a:spLocks noGrp="1" noChangeArrowheads="1"/>
          </p:cNvSpPr>
          <p:nvPr>
            <p:ph type="sldNum" sz="quarter" idx="12"/>
          </p:nvPr>
        </p:nvSpPr>
        <p:spPr>
          <a:xfrm>
            <a:off x="6553200" y="6248400"/>
            <a:ext cx="2133600" cy="457200"/>
          </a:xfrm>
        </p:spPr>
        <p:txBody>
          <a:bodyPr/>
          <a:lstStyle>
            <a:lvl1pPr>
              <a:defRPr/>
            </a:lvl1pPr>
          </a:lstStyle>
          <a:p>
            <a:pPr>
              <a:defRPr/>
            </a:pPr>
            <a:fld id="{03F00F2D-5FD2-4DAE-9A02-1EDD2F0FCD63}"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4"/>
          <p:cNvSpPr>
            <a:spLocks noGrp="1" noChangeArrowheads="1"/>
          </p:cNvSpPr>
          <p:nvPr>
            <p:ph type="ftr" sz="quarter" idx="10"/>
          </p:nvPr>
        </p:nvSpPr>
        <p:spPr>
          <a:ln/>
        </p:spPr>
        <p:txBody>
          <a:bodyPr/>
          <a:lstStyle>
            <a:lvl1pPr>
              <a:defRPr/>
            </a:lvl1pPr>
          </a:lstStyle>
          <a:p>
            <a:pPr>
              <a:defRPr/>
            </a:pPr>
            <a:r>
              <a:rPr lang="en-US"/>
              <a:t>BUS 105: Production and Operations Management</a:t>
            </a:r>
          </a:p>
        </p:txBody>
      </p:sp>
      <p:sp>
        <p:nvSpPr>
          <p:cNvPr id="5" name="Rectangle 5"/>
          <p:cNvSpPr>
            <a:spLocks noGrp="1" noChangeArrowheads="1"/>
          </p:cNvSpPr>
          <p:nvPr>
            <p:ph type="sldNum" sz="quarter" idx="11"/>
          </p:nvPr>
        </p:nvSpPr>
        <p:spPr>
          <a:ln/>
        </p:spPr>
        <p:txBody>
          <a:bodyPr/>
          <a:lstStyle>
            <a:lvl1pPr>
              <a:defRPr/>
            </a:lvl1pPr>
          </a:lstStyle>
          <a:p>
            <a:pPr>
              <a:defRPr/>
            </a:pPr>
            <a:fld id="{B3A28920-C56C-4CA3-BF4F-360AA65A53F2}"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sp>
        <p:nvSpPr>
          <p:cNvPr id="4" name="Rectangle 4"/>
          <p:cNvSpPr>
            <a:spLocks noGrp="1" noChangeArrowheads="1"/>
          </p:cNvSpPr>
          <p:nvPr>
            <p:ph type="ftr" sz="quarter" idx="10"/>
          </p:nvPr>
        </p:nvSpPr>
        <p:spPr>
          <a:ln/>
        </p:spPr>
        <p:txBody>
          <a:bodyPr/>
          <a:lstStyle>
            <a:lvl1pPr>
              <a:defRPr/>
            </a:lvl1pPr>
          </a:lstStyle>
          <a:p>
            <a:pPr>
              <a:defRPr/>
            </a:pPr>
            <a:r>
              <a:rPr lang="en-US"/>
              <a:t>BUS 105: Production and Operations Management</a:t>
            </a:r>
          </a:p>
        </p:txBody>
      </p:sp>
      <p:sp>
        <p:nvSpPr>
          <p:cNvPr id="5" name="Rectangle 5"/>
          <p:cNvSpPr>
            <a:spLocks noGrp="1" noChangeArrowheads="1"/>
          </p:cNvSpPr>
          <p:nvPr>
            <p:ph type="sldNum" sz="quarter" idx="11"/>
          </p:nvPr>
        </p:nvSpPr>
        <p:spPr>
          <a:ln/>
        </p:spPr>
        <p:txBody>
          <a:bodyPr/>
          <a:lstStyle>
            <a:lvl1pPr>
              <a:defRPr/>
            </a:lvl1pPr>
          </a:lstStyle>
          <a:p>
            <a:pPr>
              <a:defRPr/>
            </a:pPr>
            <a:fld id="{B41C959B-7266-4E94-9637-66340DF110DD}"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4"/>
          <p:cNvSpPr>
            <a:spLocks noGrp="1" noChangeArrowheads="1"/>
          </p:cNvSpPr>
          <p:nvPr>
            <p:ph type="ftr" sz="quarter" idx="10"/>
          </p:nvPr>
        </p:nvSpPr>
        <p:spPr>
          <a:ln/>
        </p:spPr>
        <p:txBody>
          <a:bodyPr/>
          <a:lstStyle>
            <a:lvl1pPr>
              <a:defRPr/>
            </a:lvl1pPr>
          </a:lstStyle>
          <a:p>
            <a:pPr>
              <a:defRPr/>
            </a:pPr>
            <a:r>
              <a:rPr lang="en-US"/>
              <a:t>BUS 105: Production and Operations Management</a:t>
            </a:r>
          </a:p>
        </p:txBody>
      </p:sp>
      <p:sp>
        <p:nvSpPr>
          <p:cNvPr id="6" name="Rectangle 5"/>
          <p:cNvSpPr>
            <a:spLocks noGrp="1" noChangeArrowheads="1"/>
          </p:cNvSpPr>
          <p:nvPr>
            <p:ph type="sldNum" sz="quarter" idx="11"/>
          </p:nvPr>
        </p:nvSpPr>
        <p:spPr>
          <a:ln/>
        </p:spPr>
        <p:txBody>
          <a:bodyPr/>
          <a:lstStyle>
            <a:lvl1pPr>
              <a:defRPr/>
            </a:lvl1pPr>
          </a:lstStyle>
          <a:p>
            <a:pPr>
              <a:defRPr/>
            </a:pPr>
            <a:fld id="{5C70BA49-2923-4CF5-AF8F-A2DDC98D4938}"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4"/>
          <p:cNvSpPr>
            <a:spLocks noGrp="1" noChangeArrowheads="1"/>
          </p:cNvSpPr>
          <p:nvPr>
            <p:ph type="ftr" sz="quarter" idx="10"/>
          </p:nvPr>
        </p:nvSpPr>
        <p:spPr>
          <a:ln/>
        </p:spPr>
        <p:txBody>
          <a:bodyPr/>
          <a:lstStyle>
            <a:lvl1pPr>
              <a:defRPr/>
            </a:lvl1pPr>
          </a:lstStyle>
          <a:p>
            <a:pPr>
              <a:defRPr/>
            </a:pPr>
            <a:r>
              <a:rPr lang="en-US"/>
              <a:t>BUS 105: Production and Operations Management</a:t>
            </a:r>
          </a:p>
        </p:txBody>
      </p:sp>
      <p:sp>
        <p:nvSpPr>
          <p:cNvPr id="8" name="Rectangle 5"/>
          <p:cNvSpPr>
            <a:spLocks noGrp="1" noChangeArrowheads="1"/>
          </p:cNvSpPr>
          <p:nvPr>
            <p:ph type="sldNum" sz="quarter" idx="11"/>
          </p:nvPr>
        </p:nvSpPr>
        <p:spPr>
          <a:ln/>
        </p:spPr>
        <p:txBody>
          <a:bodyPr/>
          <a:lstStyle>
            <a:lvl1pPr>
              <a:defRPr/>
            </a:lvl1pPr>
          </a:lstStyle>
          <a:p>
            <a:pPr>
              <a:defRPr/>
            </a:pPr>
            <a:fld id="{D51FCA4B-1B03-448A-A251-A11FFDBAA670}"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Rectangle 4"/>
          <p:cNvSpPr>
            <a:spLocks noGrp="1" noChangeArrowheads="1"/>
          </p:cNvSpPr>
          <p:nvPr>
            <p:ph type="ftr" sz="quarter" idx="10"/>
          </p:nvPr>
        </p:nvSpPr>
        <p:spPr>
          <a:ln/>
        </p:spPr>
        <p:txBody>
          <a:bodyPr/>
          <a:lstStyle>
            <a:lvl1pPr>
              <a:defRPr/>
            </a:lvl1pPr>
          </a:lstStyle>
          <a:p>
            <a:pPr>
              <a:defRPr/>
            </a:pPr>
            <a:r>
              <a:rPr lang="en-US"/>
              <a:t>BUS 105: Production and Operations Management</a:t>
            </a:r>
          </a:p>
        </p:txBody>
      </p:sp>
      <p:sp>
        <p:nvSpPr>
          <p:cNvPr id="4" name="Rectangle 5"/>
          <p:cNvSpPr>
            <a:spLocks noGrp="1" noChangeArrowheads="1"/>
          </p:cNvSpPr>
          <p:nvPr>
            <p:ph type="sldNum" sz="quarter" idx="11"/>
          </p:nvPr>
        </p:nvSpPr>
        <p:spPr>
          <a:ln/>
        </p:spPr>
        <p:txBody>
          <a:bodyPr/>
          <a:lstStyle>
            <a:lvl1pPr>
              <a:defRPr/>
            </a:lvl1pPr>
          </a:lstStyle>
          <a:p>
            <a:pPr>
              <a:defRPr/>
            </a:pPr>
            <a:fld id="{2E01919C-C4BE-4729-A56F-5238579E1531}"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ftr" sz="quarter" idx="10"/>
          </p:nvPr>
        </p:nvSpPr>
        <p:spPr>
          <a:ln/>
        </p:spPr>
        <p:txBody>
          <a:bodyPr/>
          <a:lstStyle>
            <a:lvl1pPr>
              <a:defRPr/>
            </a:lvl1pPr>
          </a:lstStyle>
          <a:p>
            <a:pPr>
              <a:defRPr/>
            </a:pPr>
            <a:r>
              <a:rPr lang="en-US"/>
              <a:t>BUS 105: Production and Operations Management</a:t>
            </a:r>
          </a:p>
        </p:txBody>
      </p:sp>
      <p:sp>
        <p:nvSpPr>
          <p:cNvPr id="3" name="Rectangle 5"/>
          <p:cNvSpPr>
            <a:spLocks noGrp="1" noChangeArrowheads="1"/>
          </p:cNvSpPr>
          <p:nvPr>
            <p:ph type="sldNum" sz="quarter" idx="11"/>
          </p:nvPr>
        </p:nvSpPr>
        <p:spPr>
          <a:ln/>
        </p:spPr>
        <p:txBody>
          <a:bodyPr/>
          <a:lstStyle>
            <a:lvl1pPr>
              <a:defRPr/>
            </a:lvl1pPr>
          </a:lstStyle>
          <a:p>
            <a:pPr>
              <a:defRPr/>
            </a:pPr>
            <a:fld id="{816029EE-BE70-4BF0-844D-B8E27258AF0A}"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ftr" sz="quarter" idx="10"/>
          </p:nvPr>
        </p:nvSpPr>
        <p:spPr>
          <a:ln/>
        </p:spPr>
        <p:txBody>
          <a:bodyPr/>
          <a:lstStyle>
            <a:lvl1pPr>
              <a:defRPr/>
            </a:lvl1pPr>
          </a:lstStyle>
          <a:p>
            <a:pPr>
              <a:defRPr/>
            </a:pPr>
            <a:r>
              <a:rPr lang="en-US"/>
              <a:t>BUS 105: Production and Operations Management</a:t>
            </a:r>
          </a:p>
        </p:txBody>
      </p:sp>
      <p:sp>
        <p:nvSpPr>
          <p:cNvPr id="6" name="Rectangle 5"/>
          <p:cNvSpPr>
            <a:spLocks noGrp="1" noChangeArrowheads="1"/>
          </p:cNvSpPr>
          <p:nvPr>
            <p:ph type="sldNum" sz="quarter" idx="11"/>
          </p:nvPr>
        </p:nvSpPr>
        <p:spPr>
          <a:ln/>
        </p:spPr>
        <p:txBody>
          <a:bodyPr/>
          <a:lstStyle>
            <a:lvl1pPr>
              <a:defRPr/>
            </a:lvl1pPr>
          </a:lstStyle>
          <a:p>
            <a:pPr>
              <a:defRPr/>
            </a:pPr>
            <a:fld id="{693657F1-A74B-4B7C-AC7E-82FC19F0B163}"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ftr" sz="quarter" idx="10"/>
          </p:nvPr>
        </p:nvSpPr>
        <p:spPr>
          <a:ln/>
        </p:spPr>
        <p:txBody>
          <a:bodyPr/>
          <a:lstStyle>
            <a:lvl1pPr>
              <a:defRPr/>
            </a:lvl1pPr>
          </a:lstStyle>
          <a:p>
            <a:pPr>
              <a:defRPr/>
            </a:pPr>
            <a:r>
              <a:rPr lang="en-US"/>
              <a:t>BUS 105: Production and Operations Management</a:t>
            </a:r>
          </a:p>
        </p:txBody>
      </p:sp>
      <p:sp>
        <p:nvSpPr>
          <p:cNvPr id="6" name="Rectangle 5"/>
          <p:cNvSpPr>
            <a:spLocks noGrp="1" noChangeArrowheads="1"/>
          </p:cNvSpPr>
          <p:nvPr>
            <p:ph type="sldNum" sz="quarter" idx="11"/>
          </p:nvPr>
        </p:nvSpPr>
        <p:spPr>
          <a:ln/>
        </p:spPr>
        <p:txBody>
          <a:bodyPr/>
          <a:lstStyle>
            <a:lvl1pPr>
              <a:defRPr/>
            </a:lvl1pPr>
          </a:lstStyle>
          <a:p>
            <a:pPr>
              <a:defRPr/>
            </a:pPr>
            <a:fld id="{275B5568-2B8B-4F78-A224-B482BC7A17D4}"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ftr" sz="quarter" idx="10"/>
          </p:nvPr>
        </p:nvSpPr>
        <p:spPr>
          <a:ln/>
        </p:spPr>
        <p:txBody>
          <a:bodyPr/>
          <a:lstStyle>
            <a:lvl1pPr>
              <a:defRPr/>
            </a:lvl1pPr>
          </a:lstStyle>
          <a:p>
            <a:pPr>
              <a:defRPr/>
            </a:pPr>
            <a:r>
              <a:rPr lang="en-US"/>
              <a:t>BUS 105: Production and Operations Management</a:t>
            </a:r>
          </a:p>
        </p:txBody>
      </p:sp>
      <p:sp>
        <p:nvSpPr>
          <p:cNvPr id="5" name="Rectangle 5"/>
          <p:cNvSpPr>
            <a:spLocks noGrp="1" noChangeArrowheads="1"/>
          </p:cNvSpPr>
          <p:nvPr>
            <p:ph type="sldNum" sz="quarter" idx="11"/>
          </p:nvPr>
        </p:nvSpPr>
        <p:spPr>
          <a:ln/>
        </p:spPr>
        <p:txBody>
          <a:bodyPr/>
          <a:lstStyle>
            <a:lvl1pPr>
              <a:defRPr/>
            </a:lvl1pPr>
          </a:lstStyle>
          <a:p>
            <a:pPr>
              <a:defRPr/>
            </a:pPr>
            <a:fld id="{170629D3-2F44-4C07-B3EA-8B5F55906E5B}"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ftr" sz="quarter" idx="10"/>
          </p:nvPr>
        </p:nvSpPr>
        <p:spPr>
          <a:ln/>
        </p:spPr>
        <p:txBody>
          <a:bodyPr/>
          <a:lstStyle>
            <a:lvl1pPr>
              <a:defRPr/>
            </a:lvl1pPr>
          </a:lstStyle>
          <a:p>
            <a:pPr>
              <a:defRPr/>
            </a:pPr>
            <a:r>
              <a:rPr lang="en-US"/>
              <a:t>BUS 105: Production and Operations Management</a:t>
            </a:r>
          </a:p>
        </p:txBody>
      </p:sp>
      <p:sp>
        <p:nvSpPr>
          <p:cNvPr id="5" name="Rectangle 5"/>
          <p:cNvSpPr>
            <a:spLocks noGrp="1" noChangeArrowheads="1"/>
          </p:cNvSpPr>
          <p:nvPr>
            <p:ph type="sldNum" sz="quarter" idx="11"/>
          </p:nvPr>
        </p:nvSpPr>
        <p:spPr>
          <a:ln/>
        </p:spPr>
        <p:txBody>
          <a:bodyPr/>
          <a:lstStyle>
            <a:lvl1pPr>
              <a:defRPr/>
            </a:lvl1pPr>
          </a:lstStyle>
          <a:p>
            <a:pPr>
              <a:defRPr/>
            </a:pPr>
            <a:fld id="{B3470460-3FE3-417A-9CEB-65230BD0DE34}"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24"/>
        <p:cNvGrpSpPr/>
        <p:nvPr/>
      </p:nvGrpSpPr>
      <p:grpSpPr>
        <a:xfrm>
          <a:off x="0" y="0"/>
          <a:ext cx="0" cy="0"/>
          <a:chOff x="0" y="0"/>
          <a:chExt cx="0" cy="0"/>
        </a:xfrm>
      </p:grpSpPr>
      <p:sp>
        <p:nvSpPr>
          <p:cNvPr id="25" name="Google Shape;25;p93"/>
          <p:cNvSpPr txBox="1">
            <a:spLocks noGrp="1"/>
          </p:cNvSpPr>
          <p:nvPr>
            <p:ph type="title"/>
          </p:nvPr>
        </p:nvSpPr>
        <p:spPr>
          <a:xfrm>
            <a:off x="457200" y="215371"/>
            <a:ext cx="8229600" cy="1097279"/>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rgbClr val="007FA3"/>
              </a:buClr>
              <a:buSzPts val="3400"/>
              <a:buFont typeface="Times New Roman"/>
              <a:buNone/>
              <a:defRPr sz="3400" b="1" i="0" u="none" strike="noStrike" cap="none">
                <a:solidFill>
                  <a:srgbClr val="007FA3"/>
                </a:solidFill>
                <a:latin typeface="Times New Roman"/>
                <a:ea typeface="Times New Roman"/>
                <a:cs typeface="Times New Roman"/>
                <a:sym typeface="Times New Roman"/>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26" name="Google Shape;26;p93"/>
          <p:cNvSpPr txBox="1">
            <a:spLocks noGrp="1"/>
          </p:cNvSpPr>
          <p:nvPr>
            <p:ph type="body" idx="1"/>
          </p:nvPr>
        </p:nvSpPr>
        <p:spPr>
          <a:xfrm>
            <a:off x="457200" y="1600200"/>
            <a:ext cx="8229600" cy="4525963"/>
          </a:xfrm>
          <a:prstGeom prst="rect">
            <a:avLst/>
          </a:prstGeom>
          <a:noFill/>
          <a:ln>
            <a:noFill/>
          </a:ln>
        </p:spPr>
        <p:txBody>
          <a:bodyPr spcFirstLastPara="1" wrap="square" lIns="91425" tIns="91425" rIns="91425" bIns="91425" anchor="t" anchorCtr="0">
            <a:noAutofit/>
          </a:bodyPr>
          <a:lstStyle>
            <a:lvl1pPr marL="457200" marR="0" lvl="0" indent="-330200" algn="l">
              <a:lnSpc>
                <a:spcPct val="100000"/>
              </a:lnSpc>
              <a:spcBef>
                <a:spcPts val="15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600"/>
              </a:spcBef>
              <a:spcAft>
                <a:spcPts val="0"/>
              </a:spcAft>
              <a:buClr>
                <a:srgbClr val="007FA3"/>
              </a:buClr>
              <a:buSzPts val="1600"/>
              <a:buFont typeface="Noto Sans Symbols"/>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9643770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bwMode="auto">
          <a:xfrm>
            <a:off x="457200" y="277813"/>
            <a:ext cx="8229600" cy="1139825"/>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dirty="0"/>
              <a:t>Click to edit Master title style</a:t>
            </a:r>
          </a:p>
        </p:txBody>
      </p:sp>
      <p:sp>
        <p:nvSpPr>
          <p:cNvPr id="5123" name="Rectangle 3"/>
          <p:cNvSpPr>
            <a:spLocks noGrp="1" noChangeArrowheads="1"/>
          </p:cNvSpPr>
          <p:nvPr>
            <p:ph type="body" idx="1"/>
          </p:nvPr>
        </p:nvSpPr>
        <p:spPr bwMode="auto">
          <a:xfrm>
            <a:off x="457200" y="1600200"/>
            <a:ext cx="8229600" cy="45307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6852" name="Rectangle 4"/>
          <p:cNvSpPr>
            <a:spLocks noGrp="1" noChangeArrowheads="1"/>
          </p:cNvSpPr>
          <p:nvPr>
            <p:ph type="ftr" sz="quarter" idx="3"/>
          </p:nvPr>
        </p:nvSpPr>
        <p:spPr bwMode="auto">
          <a:xfrm>
            <a:off x="5118100" y="66675"/>
            <a:ext cx="3952875" cy="3460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000">
                <a:latin typeface="Arial" panose="020B0604020202020204" pitchFamily="34" charset="0"/>
              </a:defRPr>
            </a:lvl1pPr>
          </a:lstStyle>
          <a:p>
            <a:pPr>
              <a:defRPr/>
            </a:pPr>
            <a:r>
              <a:rPr lang="en-US" dirty="0"/>
              <a:t>BUS 105: Production and Operations Management</a:t>
            </a:r>
          </a:p>
        </p:txBody>
      </p:sp>
      <p:sp>
        <p:nvSpPr>
          <p:cNvPr id="206853" name="Rectangle 5"/>
          <p:cNvSpPr>
            <a:spLocks noGrp="1" noChangeArrowheads="1"/>
          </p:cNvSpPr>
          <p:nvPr>
            <p:ph type="sldNum" sz="quarter" idx="4"/>
          </p:nvPr>
        </p:nvSpPr>
        <p:spPr bwMode="auto">
          <a:xfrm>
            <a:off x="6919913" y="6413500"/>
            <a:ext cx="2133600" cy="3587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a:latin typeface="Arial" panose="020B0604020202020204" pitchFamily="34" charset="0"/>
              </a:defRPr>
            </a:lvl1pPr>
          </a:lstStyle>
          <a:p>
            <a:pPr>
              <a:defRPr/>
            </a:pPr>
            <a:fld id="{32B04FBA-5DA2-4E65-B52D-159722A13D4F}" type="slidenum">
              <a:rPr lang="en-US" smtClean="0"/>
              <a:pPr>
                <a:defRPr/>
              </a:pPr>
              <a:t>‹#›</a:t>
            </a:fld>
            <a:endParaRPr lang="en-US" dirty="0"/>
          </a:p>
        </p:txBody>
      </p:sp>
      <p:sp>
        <p:nvSpPr>
          <p:cNvPr id="206854" name="Rectangle 6"/>
          <p:cNvSpPr>
            <a:spLocks noChangeArrowheads="1"/>
          </p:cNvSpPr>
          <p:nvPr/>
        </p:nvSpPr>
        <p:spPr bwMode="auto">
          <a:xfrm>
            <a:off x="0" y="0"/>
            <a:ext cx="228600" cy="2286000"/>
          </a:xfrm>
          <a:prstGeom prst="rect">
            <a:avLst/>
          </a:prstGeom>
          <a:solidFill>
            <a:schemeClr val="bg2"/>
          </a:solidFill>
          <a:ln w="9525">
            <a:noFill/>
            <a:miter lim="800000"/>
            <a:headEnd/>
            <a:tailEnd/>
          </a:ln>
          <a:effectLst/>
        </p:spPr>
        <p:txBody>
          <a:bodyPr wrap="none" anchor="ctr"/>
          <a:lstStyle/>
          <a:p>
            <a:pPr algn="ctr" eaLnBrk="1" hangingPunct="1">
              <a:defRPr/>
            </a:pPr>
            <a:endParaRPr lang="en-US" sz="2400">
              <a:latin typeface="Times New Roman" pitchFamily="18" charset="0"/>
            </a:endParaRPr>
          </a:p>
        </p:txBody>
      </p:sp>
      <p:sp>
        <p:nvSpPr>
          <p:cNvPr id="206855" name="Line 7"/>
          <p:cNvSpPr>
            <a:spLocks noChangeShapeType="1"/>
          </p:cNvSpPr>
          <p:nvPr/>
        </p:nvSpPr>
        <p:spPr bwMode="auto">
          <a:xfrm>
            <a:off x="457200" y="1447800"/>
            <a:ext cx="8077200" cy="0"/>
          </a:xfrm>
          <a:prstGeom prst="line">
            <a:avLst/>
          </a:prstGeom>
          <a:noFill/>
          <a:ln w="19050">
            <a:solidFill>
              <a:schemeClr val="tx2"/>
            </a:solidFill>
            <a:round/>
            <a:headEnd/>
            <a:tailEnd/>
          </a:ln>
          <a:effectLst/>
        </p:spPr>
        <p:txBody>
          <a:bodyPr/>
          <a:lstStyle/>
          <a:p>
            <a:pPr>
              <a:defRPr/>
            </a:pPr>
            <a:endParaRPr lang="en-US" dirty="0">
              <a:latin typeface="Arial" panose="020B0604020202020204" pitchFamily="34" charset="0"/>
            </a:endParaRPr>
          </a:p>
        </p:txBody>
      </p:sp>
      <p:sp>
        <p:nvSpPr>
          <p:cNvPr id="206856" name="Rectangle 8"/>
          <p:cNvSpPr>
            <a:spLocks noChangeArrowheads="1"/>
          </p:cNvSpPr>
          <p:nvPr/>
        </p:nvSpPr>
        <p:spPr bwMode="auto">
          <a:xfrm>
            <a:off x="0" y="2286000"/>
            <a:ext cx="228600" cy="2286000"/>
          </a:xfrm>
          <a:prstGeom prst="rect">
            <a:avLst/>
          </a:prstGeom>
          <a:solidFill>
            <a:schemeClr val="accent2"/>
          </a:solidFill>
          <a:ln w="9525">
            <a:noFill/>
            <a:miter lim="800000"/>
            <a:headEnd/>
            <a:tailEnd/>
          </a:ln>
          <a:effectLst/>
        </p:spPr>
        <p:txBody>
          <a:bodyPr wrap="none" anchor="ctr"/>
          <a:lstStyle/>
          <a:p>
            <a:pPr algn="ctr" eaLnBrk="1" hangingPunct="1">
              <a:defRPr/>
            </a:pPr>
            <a:endParaRPr lang="en-US" sz="2400">
              <a:latin typeface="Times New Roman" pitchFamily="18" charset="0"/>
            </a:endParaRPr>
          </a:p>
        </p:txBody>
      </p:sp>
      <p:sp>
        <p:nvSpPr>
          <p:cNvPr id="206857" name="Rectangle 9"/>
          <p:cNvSpPr>
            <a:spLocks noChangeArrowheads="1"/>
          </p:cNvSpPr>
          <p:nvPr/>
        </p:nvSpPr>
        <p:spPr bwMode="auto">
          <a:xfrm>
            <a:off x="0" y="4572000"/>
            <a:ext cx="228600" cy="2286000"/>
          </a:xfrm>
          <a:prstGeom prst="rect">
            <a:avLst/>
          </a:prstGeom>
          <a:solidFill>
            <a:schemeClr val="tx2"/>
          </a:solidFill>
          <a:ln w="9525">
            <a:noFill/>
            <a:miter lim="800000"/>
            <a:headEnd/>
            <a:tailEnd/>
          </a:ln>
          <a:effectLst/>
        </p:spPr>
        <p:txBody>
          <a:bodyPr wrap="none" anchor="ctr"/>
          <a:lstStyle/>
          <a:p>
            <a:pPr algn="ctr" eaLnBrk="1" hangingPunct="1">
              <a:defRPr/>
            </a:pPr>
            <a:endParaRPr lang="en-US" sz="2400">
              <a:latin typeface="Times New Roman" pitchFamily="18" charset="0"/>
            </a:endParaRPr>
          </a:p>
        </p:txBody>
      </p:sp>
    </p:spTree>
  </p:cSld>
  <p:clrMap bg1="lt1" tx1="dk1" bg2="lt2" tx2="dk2" accent1="accent1" accent2="accent2" accent3="accent3" accent4="accent4" accent5="accent5" accent6="accent6" hlink="hlink" folHlink="folHlink"/>
  <p:sldLayoutIdLst>
    <p:sldLayoutId id="2147483686"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7" r:id="rId12"/>
  </p:sldLayoutIdLst>
  <p:hf sldNum="0" hdr="0" ftr="0" dt="0"/>
  <p:txStyles>
    <p:titleStyle>
      <a:lvl1pPr algn="l" rtl="0" eaLnBrk="0" fontAlgn="base" hangingPunct="0">
        <a:spcBef>
          <a:spcPct val="0"/>
        </a:spcBef>
        <a:spcAft>
          <a:spcPct val="0"/>
        </a:spcAft>
        <a:defRPr sz="4400">
          <a:solidFill>
            <a:schemeClr val="tx2"/>
          </a:solidFill>
          <a:latin typeface="Arial" panose="020B0604020202020204" pitchFamily="34" charset="0"/>
          <a:ea typeface="+mj-ea"/>
          <a:cs typeface="+mj-cs"/>
        </a:defRPr>
      </a:lvl1pPr>
      <a:lvl2pPr algn="l" rtl="0" eaLnBrk="0" fontAlgn="base" hangingPunct="0">
        <a:spcBef>
          <a:spcPct val="0"/>
        </a:spcBef>
        <a:spcAft>
          <a:spcPct val="0"/>
        </a:spcAft>
        <a:defRPr sz="4400">
          <a:solidFill>
            <a:schemeClr val="tx2"/>
          </a:solidFill>
          <a:latin typeface="Garamond" pitchFamily="18" charset="0"/>
        </a:defRPr>
      </a:lvl2pPr>
      <a:lvl3pPr algn="l" rtl="0" eaLnBrk="0" fontAlgn="base" hangingPunct="0">
        <a:spcBef>
          <a:spcPct val="0"/>
        </a:spcBef>
        <a:spcAft>
          <a:spcPct val="0"/>
        </a:spcAft>
        <a:defRPr sz="4400">
          <a:solidFill>
            <a:schemeClr val="tx2"/>
          </a:solidFill>
          <a:latin typeface="Garamond" pitchFamily="18" charset="0"/>
        </a:defRPr>
      </a:lvl3pPr>
      <a:lvl4pPr algn="l" rtl="0" eaLnBrk="0" fontAlgn="base" hangingPunct="0">
        <a:spcBef>
          <a:spcPct val="0"/>
        </a:spcBef>
        <a:spcAft>
          <a:spcPct val="0"/>
        </a:spcAft>
        <a:defRPr sz="4400">
          <a:solidFill>
            <a:schemeClr val="tx2"/>
          </a:solidFill>
          <a:latin typeface="Garamond" pitchFamily="18" charset="0"/>
        </a:defRPr>
      </a:lvl4pPr>
      <a:lvl5pPr algn="l" rtl="0" eaLnBrk="0" fontAlgn="base" hangingPunct="0">
        <a:spcBef>
          <a:spcPct val="0"/>
        </a:spcBef>
        <a:spcAft>
          <a:spcPct val="0"/>
        </a:spcAft>
        <a:defRPr sz="4400">
          <a:solidFill>
            <a:schemeClr val="tx2"/>
          </a:solidFill>
          <a:latin typeface="Garamond" pitchFamily="18" charset="0"/>
        </a:defRPr>
      </a:lvl5pPr>
      <a:lvl6pPr marL="457200" algn="l" rtl="0" fontAlgn="base">
        <a:spcBef>
          <a:spcPct val="0"/>
        </a:spcBef>
        <a:spcAft>
          <a:spcPct val="0"/>
        </a:spcAft>
        <a:defRPr sz="4400">
          <a:solidFill>
            <a:schemeClr val="tx2"/>
          </a:solidFill>
          <a:latin typeface="Garamond" pitchFamily="18" charset="0"/>
        </a:defRPr>
      </a:lvl6pPr>
      <a:lvl7pPr marL="914400" algn="l" rtl="0" fontAlgn="base">
        <a:spcBef>
          <a:spcPct val="0"/>
        </a:spcBef>
        <a:spcAft>
          <a:spcPct val="0"/>
        </a:spcAft>
        <a:defRPr sz="4400">
          <a:solidFill>
            <a:schemeClr val="tx2"/>
          </a:solidFill>
          <a:latin typeface="Garamond" pitchFamily="18" charset="0"/>
        </a:defRPr>
      </a:lvl7pPr>
      <a:lvl8pPr marL="1371600" algn="l" rtl="0" fontAlgn="base">
        <a:spcBef>
          <a:spcPct val="0"/>
        </a:spcBef>
        <a:spcAft>
          <a:spcPct val="0"/>
        </a:spcAft>
        <a:defRPr sz="4400">
          <a:solidFill>
            <a:schemeClr val="tx2"/>
          </a:solidFill>
          <a:latin typeface="Garamond" pitchFamily="18" charset="0"/>
        </a:defRPr>
      </a:lvl8pPr>
      <a:lvl9pPr marL="1828800" algn="l" rtl="0" fontAlgn="base">
        <a:spcBef>
          <a:spcPct val="0"/>
        </a:spcBef>
        <a:spcAft>
          <a:spcPct val="0"/>
        </a:spcAft>
        <a:defRPr sz="4400">
          <a:solidFill>
            <a:schemeClr val="tx2"/>
          </a:solidFill>
          <a:latin typeface="Garamond" pitchFamily="18" charset="0"/>
        </a:defRPr>
      </a:lvl9pPr>
    </p:titleStyle>
    <p:bodyStyle>
      <a:lvl1pPr marL="342900" indent="-342900" algn="l" rtl="0" eaLnBrk="0" fontAlgn="base" hangingPunct="0">
        <a:spcBef>
          <a:spcPct val="20000"/>
        </a:spcBef>
        <a:spcAft>
          <a:spcPct val="0"/>
        </a:spcAft>
        <a:buClr>
          <a:schemeClr val="bg2"/>
        </a:buClr>
        <a:buSzPct val="75000"/>
        <a:buFont typeface="Wingdings" pitchFamily="2" charset="2"/>
        <a:buChar char="p"/>
        <a:defRPr sz="2800">
          <a:solidFill>
            <a:schemeClr val="tx1"/>
          </a:solidFill>
          <a:latin typeface="Arial" panose="020B0604020202020204" pitchFamily="34" charset="0"/>
          <a:ea typeface="+mn-ea"/>
          <a:cs typeface="+mn-cs"/>
        </a:defRPr>
      </a:lvl1pPr>
      <a:lvl2pPr marL="742950" indent="-285750" algn="l" rtl="0" eaLnBrk="0" fontAlgn="base" hangingPunct="0">
        <a:spcBef>
          <a:spcPct val="20000"/>
        </a:spcBef>
        <a:spcAft>
          <a:spcPct val="0"/>
        </a:spcAft>
        <a:buClr>
          <a:schemeClr val="tx2"/>
        </a:buClr>
        <a:buSzPct val="75000"/>
        <a:buFont typeface="Wingdings" pitchFamily="2" charset="2"/>
        <a:buChar char="n"/>
        <a:defRPr sz="2400">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accent1"/>
        </a:buClr>
        <a:buSzPct val="65000"/>
        <a:buFont typeface="Wingdings" pitchFamily="2" charset="2"/>
        <a:buChar char="p"/>
        <a:defRPr sz="2000">
          <a:solidFill>
            <a:schemeClr val="tx1"/>
          </a:solidFill>
          <a:latin typeface="Arial" panose="020B0604020202020204" pitchFamily="34" charset="0"/>
        </a:defRPr>
      </a:lvl3pPr>
      <a:lvl4pPr marL="1600200" indent="-228600" algn="l" rtl="0" eaLnBrk="0" fontAlgn="base" hangingPunct="0">
        <a:spcBef>
          <a:spcPct val="20000"/>
        </a:spcBef>
        <a:spcAft>
          <a:spcPct val="0"/>
        </a:spcAft>
        <a:buClr>
          <a:schemeClr val="bg2"/>
        </a:buClr>
        <a:buFont typeface="Wingdings" pitchFamily="2" charset="2"/>
        <a:buChar char="§"/>
        <a:defRPr>
          <a:solidFill>
            <a:schemeClr val="tx1"/>
          </a:solidFill>
          <a:latin typeface="Arial" panose="020B0604020202020204" pitchFamily="34" charset="0"/>
        </a:defRPr>
      </a:lvl4pPr>
      <a:lvl5pPr marL="2057400" indent="-228600" algn="l" rtl="0" eaLnBrk="0" fontAlgn="base" hangingPunct="0">
        <a:spcBef>
          <a:spcPct val="20000"/>
        </a:spcBef>
        <a:spcAft>
          <a:spcPct val="0"/>
        </a:spcAft>
        <a:buClr>
          <a:schemeClr val="tx2"/>
        </a:buClr>
        <a:buSzPct val="80000"/>
        <a:buFont typeface="Wingdings" pitchFamily="2" charset="2"/>
        <a:buChar char="§"/>
        <a:defRPr>
          <a:solidFill>
            <a:schemeClr val="tx1"/>
          </a:solidFill>
          <a:latin typeface="Arial" panose="020B0604020202020204" pitchFamily="34" charset="0"/>
        </a:defRPr>
      </a:lvl5pPr>
      <a:lvl6pPr marL="2514600" indent="-228600" algn="l" rtl="0" fontAlgn="base">
        <a:spcBef>
          <a:spcPct val="20000"/>
        </a:spcBef>
        <a:spcAft>
          <a:spcPct val="0"/>
        </a:spcAft>
        <a:buClr>
          <a:schemeClr val="tx2"/>
        </a:buClr>
        <a:buSzPct val="80000"/>
        <a:buFont typeface="Wingdings" pitchFamily="2" charset="2"/>
        <a:buChar char="§"/>
        <a:defRPr>
          <a:solidFill>
            <a:schemeClr val="tx1"/>
          </a:solidFill>
          <a:latin typeface="+mn-lt"/>
        </a:defRPr>
      </a:lvl6pPr>
      <a:lvl7pPr marL="2971800" indent="-228600" algn="l" rtl="0" fontAlgn="base">
        <a:spcBef>
          <a:spcPct val="20000"/>
        </a:spcBef>
        <a:spcAft>
          <a:spcPct val="0"/>
        </a:spcAft>
        <a:buClr>
          <a:schemeClr val="tx2"/>
        </a:buClr>
        <a:buSzPct val="80000"/>
        <a:buFont typeface="Wingdings" pitchFamily="2" charset="2"/>
        <a:buChar char="§"/>
        <a:defRPr>
          <a:solidFill>
            <a:schemeClr val="tx1"/>
          </a:solidFill>
          <a:latin typeface="+mn-lt"/>
        </a:defRPr>
      </a:lvl7pPr>
      <a:lvl8pPr marL="3429000" indent="-228600" algn="l" rtl="0" fontAlgn="base">
        <a:spcBef>
          <a:spcPct val="20000"/>
        </a:spcBef>
        <a:spcAft>
          <a:spcPct val="0"/>
        </a:spcAft>
        <a:buClr>
          <a:schemeClr val="tx2"/>
        </a:buClr>
        <a:buSzPct val="80000"/>
        <a:buFont typeface="Wingdings" pitchFamily="2" charset="2"/>
        <a:buChar char="§"/>
        <a:defRPr>
          <a:solidFill>
            <a:schemeClr val="tx1"/>
          </a:solidFill>
          <a:latin typeface="+mn-lt"/>
        </a:defRPr>
      </a:lvl8pPr>
      <a:lvl9pPr marL="3886200" indent="-228600" algn="l" rtl="0" fontAlgn="base">
        <a:spcBef>
          <a:spcPct val="20000"/>
        </a:spcBef>
        <a:spcAft>
          <a:spcPct val="0"/>
        </a:spcAft>
        <a:buClr>
          <a:schemeClr val="tx2"/>
        </a:buClr>
        <a:buSzPct val="80000"/>
        <a:buFont typeface="Wingdings" pitchFamily="2" charset="2"/>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wm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2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2"/>
          <p:cNvSpPr>
            <a:spLocks noGrp="1" noChangeArrowheads="1"/>
          </p:cNvSpPr>
          <p:nvPr>
            <p:ph type="ctrTitle"/>
          </p:nvPr>
        </p:nvSpPr>
        <p:spPr/>
        <p:txBody>
          <a:bodyPr/>
          <a:lstStyle/>
          <a:p>
            <a:pPr eaLnBrk="1" hangingPunct="1">
              <a:defRPr/>
            </a:pPr>
            <a:r>
              <a:rPr lang="en-US" sz="4000" b="1" dirty="0">
                <a:effectLst>
                  <a:outerShdw blurRad="38100" dist="38100" dir="2700000" algn="tl">
                    <a:srgbClr val="C0C0C0"/>
                  </a:outerShdw>
                </a:effectLst>
              </a:rPr>
              <a:t>MGT 207</a:t>
            </a:r>
            <a:br>
              <a:rPr lang="en-US" sz="4000" b="1" dirty="0">
                <a:effectLst>
                  <a:outerShdw blurRad="38100" dist="38100" dir="2700000" algn="tl">
                    <a:srgbClr val="C0C0C0"/>
                  </a:outerShdw>
                </a:effectLst>
              </a:rPr>
            </a:br>
            <a:r>
              <a:rPr lang="en-US" sz="4000" b="1" dirty="0">
                <a:effectLst>
                  <a:outerShdw blurRad="38100" dist="38100" dir="2700000" algn="tl">
                    <a:srgbClr val="C0C0C0"/>
                  </a:outerShdw>
                </a:effectLst>
              </a:rPr>
              <a:t>Production and Operations Management</a:t>
            </a:r>
          </a:p>
        </p:txBody>
      </p:sp>
      <p:graphicFrame>
        <p:nvGraphicFramePr>
          <p:cNvPr id="1026" name="Object 3"/>
          <p:cNvGraphicFramePr>
            <a:graphicFrameLocks noChangeAspect="1"/>
          </p:cNvGraphicFramePr>
          <p:nvPr/>
        </p:nvGraphicFramePr>
        <p:xfrm>
          <a:off x="257175" y="3363913"/>
          <a:ext cx="3070225" cy="3055937"/>
        </p:xfrm>
        <a:graphic>
          <a:graphicData uri="http://schemas.openxmlformats.org/presentationml/2006/ole">
            <mc:AlternateContent xmlns:mc="http://schemas.openxmlformats.org/markup-compatibility/2006">
              <mc:Choice xmlns:v="urn:schemas-microsoft-com:vml" Requires="v">
                <p:oleObj name="Clip" r:id="rId3" imgW="1720901" imgH="1712671" progId="">
                  <p:embed/>
                </p:oleObj>
              </mc:Choice>
              <mc:Fallback>
                <p:oleObj name="Clip" r:id="rId3" imgW="1720901" imgH="1712671" progId="">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7175" y="3363913"/>
                        <a:ext cx="3070225" cy="30559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9924" name="Rectangle 4"/>
          <p:cNvSpPr>
            <a:spLocks noGrp="1" noChangeArrowheads="1"/>
          </p:cNvSpPr>
          <p:nvPr>
            <p:ph type="subTitle" idx="1"/>
          </p:nvPr>
        </p:nvSpPr>
        <p:spPr>
          <a:xfrm>
            <a:off x="3608388" y="3436938"/>
            <a:ext cx="5146675" cy="2209800"/>
          </a:xfrm>
        </p:spPr>
        <p:txBody>
          <a:bodyPr/>
          <a:lstStyle/>
          <a:p>
            <a:pPr eaLnBrk="1" hangingPunct="1">
              <a:defRPr/>
            </a:pPr>
            <a:endParaRPr lang="en-US" sz="4000" dirty="0">
              <a:solidFill>
                <a:srgbClr val="00969F"/>
              </a:solidFill>
              <a:effectLst>
                <a:outerShdw blurRad="38100" dist="38100" dir="2700000" algn="tl">
                  <a:srgbClr val="C0C0C0"/>
                </a:outerShdw>
              </a:effectLst>
            </a:endParaRPr>
          </a:p>
          <a:p>
            <a:pPr eaLnBrk="1" hangingPunct="1">
              <a:defRPr/>
            </a:pPr>
            <a:r>
              <a:rPr lang="en-US" sz="4000" dirty="0">
                <a:solidFill>
                  <a:srgbClr val="00969F"/>
                </a:solidFill>
                <a:effectLst>
                  <a:outerShdw blurRad="38100" dist="38100" dir="2700000" algn="tl">
                    <a:srgbClr val="C0C0C0"/>
                  </a:outerShdw>
                </a:effectLst>
              </a:rPr>
              <a:t>Process Strategy and Analysis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Agenda</a:t>
            </a:r>
          </a:p>
        </p:txBody>
      </p:sp>
      <p:sp>
        <p:nvSpPr>
          <p:cNvPr id="3" name="Content Placeholder 2"/>
          <p:cNvSpPr>
            <a:spLocks noGrp="1"/>
          </p:cNvSpPr>
          <p:nvPr>
            <p:ph idx="1"/>
          </p:nvPr>
        </p:nvSpPr>
        <p:spPr/>
        <p:txBody>
          <a:bodyPr/>
          <a:lstStyle/>
          <a:p>
            <a:r>
              <a:rPr lang="en-US" dirty="0"/>
              <a:t>Process Strategies</a:t>
            </a:r>
          </a:p>
          <a:p>
            <a:pPr lvl="1"/>
            <a:r>
              <a:rPr lang="en-US" dirty="0"/>
              <a:t>Process Focus, Repetitive Focus, Product Focus, Mass Customization</a:t>
            </a:r>
          </a:p>
          <a:p>
            <a:r>
              <a:rPr lang="en-US" dirty="0"/>
              <a:t>Process Investment</a:t>
            </a:r>
          </a:p>
          <a:p>
            <a:pPr lvl="1"/>
            <a:r>
              <a:rPr lang="en-US" dirty="0"/>
              <a:t>Break-Even Analysis</a:t>
            </a:r>
          </a:p>
          <a:p>
            <a:r>
              <a:rPr lang="en-US" dirty="0"/>
              <a:t>Process Analysis</a:t>
            </a:r>
          </a:p>
          <a:p>
            <a:pPr lvl="1"/>
            <a:r>
              <a:rPr lang="en-US" dirty="0"/>
              <a:t>Capacity</a:t>
            </a:r>
          </a:p>
          <a:p>
            <a:pPr lvl="1"/>
            <a:r>
              <a:rPr lang="en-US" dirty="0"/>
              <a:t>Throughput</a:t>
            </a:r>
          </a:p>
          <a:p>
            <a:pPr marL="457200" lvl="1" indent="0">
              <a:buNone/>
            </a:pPr>
            <a:endParaRPr lang="en-US" dirty="0"/>
          </a:p>
        </p:txBody>
      </p:sp>
    </p:spTree>
    <p:extLst>
      <p:ext uri="{BB962C8B-B14F-4D97-AF65-F5344CB8AC3E}">
        <p14:creationId xmlns:p14="http://schemas.microsoft.com/office/powerpoint/2010/main" val="3510447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p:cNvSpPr>
            <a:spLocks noGrp="1" noChangeArrowheads="1"/>
          </p:cNvSpPr>
          <p:nvPr>
            <p:ph type="title"/>
          </p:nvPr>
        </p:nvSpPr>
        <p:spPr>
          <a:xfrm>
            <a:off x="685800" y="434975"/>
            <a:ext cx="7772400" cy="876300"/>
          </a:xfrm>
        </p:spPr>
        <p:txBody>
          <a:bodyPr/>
          <a:lstStyle/>
          <a:p>
            <a:r>
              <a:rPr lang="en-US" dirty="0">
                <a:latin typeface="Arial" charset="0"/>
                <a:cs typeface="Arial" charset="0"/>
              </a:rPr>
              <a:t>Process Strategy</a:t>
            </a:r>
          </a:p>
        </p:txBody>
      </p:sp>
      <p:sp>
        <p:nvSpPr>
          <p:cNvPr id="34819" name="Rectangle 3"/>
          <p:cNvSpPr>
            <a:spLocks noChangeArrowheads="1"/>
          </p:cNvSpPr>
          <p:nvPr/>
        </p:nvSpPr>
        <p:spPr bwMode="auto">
          <a:xfrm>
            <a:off x="849313" y="1922463"/>
            <a:ext cx="7470775" cy="186512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pPr algn="ctr">
              <a:lnSpc>
                <a:spcPct val="90000"/>
              </a:lnSpc>
              <a:spcAft>
                <a:spcPct val="40000"/>
              </a:spcAft>
              <a:buClr>
                <a:srgbClr val="BF0922"/>
              </a:buClr>
            </a:pPr>
            <a:r>
              <a:rPr lang="en-US" sz="3200" dirty="0">
                <a:solidFill>
                  <a:srgbClr val="255898"/>
                </a:solidFill>
              </a:rPr>
              <a:t>The objective is to create a process to produce offerings that meet customer requirements within cost and other managerial constraints </a:t>
            </a:r>
          </a:p>
        </p:txBody>
      </p:sp>
    </p:spTree>
    <p:extLst>
      <p:ext uri="{BB962C8B-B14F-4D97-AF65-F5344CB8AC3E}">
        <p14:creationId xmlns:p14="http://schemas.microsoft.com/office/powerpoint/2010/main" val="2023905292"/>
      </p:ext>
    </p:extLst>
  </p:cSld>
  <p:clrMapOvr>
    <a:masterClrMapping/>
  </p:clrMapOvr>
  <p:transition>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grpId="0" nodeType="afterEffect">
                                  <p:stCondLst>
                                    <p:cond delay="1000"/>
                                  </p:stCondLst>
                                  <p:childTnLst>
                                    <p:set>
                                      <p:cBhvr>
                                        <p:cTn id="6" dur="1" fill="hold">
                                          <p:stCondLst>
                                            <p:cond delay="0"/>
                                          </p:stCondLst>
                                        </p:cTn>
                                        <p:tgtEl>
                                          <p:spTgt spid="34819"/>
                                        </p:tgtEl>
                                        <p:attrNameLst>
                                          <p:attrName>style.visibility</p:attrName>
                                        </p:attrNameLst>
                                      </p:cBhvr>
                                      <p:to>
                                        <p:strVal val="visible"/>
                                      </p:to>
                                    </p:set>
                                    <p:animEffect transition="in" filter="strips(downRight)">
                                      <p:cBhvr>
                                        <p:cTn id="7" dur="1000"/>
                                        <p:tgtEl>
                                          <p:spTgt spid="348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Freeform 3"/>
          <p:cNvSpPr>
            <a:spLocks/>
          </p:cNvSpPr>
          <p:nvPr/>
        </p:nvSpPr>
        <p:spPr bwMode="auto">
          <a:xfrm>
            <a:off x="2492375" y="1943100"/>
            <a:ext cx="6226175" cy="4403725"/>
          </a:xfrm>
          <a:custGeom>
            <a:avLst/>
            <a:gdLst>
              <a:gd name="T0" fmla="*/ 200025 w 3922"/>
              <a:gd name="T1" fmla="*/ 134938 h 2774"/>
              <a:gd name="T2" fmla="*/ 533400 w 3922"/>
              <a:gd name="T3" fmla="*/ 23812 h 2774"/>
              <a:gd name="T4" fmla="*/ 1716088 w 3922"/>
              <a:gd name="T5" fmla="*/ 23812 h 2774"/>
              <a:gd name="T6" fmla="*/ 5727700 w 3922"/>
              <a:gd name="T7" fmla="*/ 23812 h 2774"/>
              <a:gd name="T8" fmla="*/ 6088063 w 3922"/>
              <a:gd name="T9" fmla="*/ 169862 h 2774"/>
              <a:gd name="T10" fmla="*/ 6207125 w 3922"/>
              <a:gd name="T11" fmla="*/ 514350 h 2774"/>
              <a:gd name="T12" fmla="*/ 6207125 w 3922"/>
              <a:gd name="T13" fmla="*/ 3962400 h 2774"/>
              <a:gd name="T14" fmla="*/ 6062663 w 3922"/>
              <a:gd name="T15" fmla="*/ 4275138 h 2774"/>
              <a:gd name="T16" fmla="*/ 5727700 w 3922"/>
              <a:gd name="T17" fmla="*/ 4403725 h 2774"/>
              <a:gd name="T18" fmla="*/ 3960813 w 3922"/>
              <a:gd name="T19" fmla="*/ 4403725 h 2774"/>
              <a:gd name="T20" fmla="*/ 28575 w 3922"/>
              <a:gd name="T21" fmla="*/ 1717675 h 2774"/>
              <a:gd name="T22" fmla="*/ 28575 w 3922"/>
              <a:gd name="T23" fmla="*/ 481013 h 2774"/>
              <a:gd name="T24" fmla="*/ 200025 w 3922"/>
              <a:gd name="T25" fmla="*/ 134938 h 277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922"/>
              <a:gd name="T40" fmla="*/ 0 h 2774"/>
              <a:gd name="T41" fmla="*/ 3922 w 3922"/>
              <a:gd name="T42" fmla="*/ 2774 h 277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922" h="2774">
                <a:moveTo>
                  <a:pt x="126" y="85"/>
                </a:moveTo>
                <a:cubicBezTo>
                  <a:pt x="155" y="59"/>
                  <a:pt x="227" y="27"/>
                  <a:pt x="336" y="15"/>
                </a:cubicBezTo>
                <a:cubicBezTo>
                  <a:pt x="708" y="15"/>
                  <a:pt x="1081" y="15"/>
                  <a:pt x="1081" y="15"/>
                </a:cubicBezTo>
                <a:cubicBezTo>
                  <a:pt x="1081" y="15"/>
                  <a:pt x="3149" y="0"/>
                  <a:pt x="3608" y="15"/>
                </a:cubicBezTo>
                <a:cubicBezTo>
                  <a:pt x="3721" y="16"/>
                  <a:pt x="3803" y="62"/>
                  <a:pt x="3835" y="107"/>
                </a:cubicBezTo>
                <a:cubicBezTo>
                  <a:pt x="3867" y="152"/>
                  <a:pt x="3883" y="163"/>
                  <a:pt x="3910" y="324"/>
                </a:cubicBezTo>
                <a:cubicBezTo>
                  <a:pt x="3922" y="722"/>
                  <a:pt x="3910" y="2088"/>
                  <a:pt x="3910" y="2496"/>
                </a:cubicBezTo>
                <a:cubicBezTo>
                  <a:pt x="3907" y="2589"/>
                  <a:pt x="3851" y="2660"/>
                  <a:pt x="3819" y="2693"/>
                </a:cubicBezTo>
                <a:cubicBezTo>
                  <a:pt x="3787" y="2726"/>
                  <a:pt x="3702" y="2763"/>
                  <a:pt x="3608" y="2774"/>
                </a:cubicBezTo>
                <a:cubicBezTo>
                  <a:pt x="3051" y="2774"/>
                  <a:pt x="2495" y="2774"/>
                  <a:pt x="2495" y="2774"/>
                </a:cubicBezTo>
                <a:lnTo>
                  <a:pt x="18" y="1082"/>
                </a:lnTo>
                <a:cubicBezTo>
                  <a:pt x="18" y="1082"/>
                  <a:pt x="0" y="469"/>
                  <a:pt x="18" y="303"/>
                </a:cubicBezTo>
                <a:cubicBezTo>
                  <a:pt x="49" y="176"/>
                  <a:pt x="97" y="111"/>
                  <a:pt x="126" y="85"/>
                </a:cubicBezTo>
                <a:close/>
              </a:path>
            </a:pathLst>
          </a:custGeom>
          <a:solidFill>
            <a:srgbClr val="F7D7AC"/>
          </a:solidFill>
          <a:ln w="28575" cmpd="sng">
            <a:solidFill>
              <a:schemeClr val="tx1"/>
            </a:solidFill>
            <a:prstDash val="solid"/>
            <a:round/>
            <a:headEnd/>
            <a:tailEnd/>
          </a:ln>
          <a:effectLst>
            <a:outerShdw blurRad="63500" dist="91581" dir="8778596" algn="ctr" rotWithShape="0">
              <a:srgbClr val="000000"/>
            </a:outerShdw>
          </a:effectLst>
        </p:spPr>
        <p:txBody>
          <a:bodyPr lIns="244914" tIns="122456" rIns="244914" bIns="122456">
            <a:spAutoFit/>
          </a:bodyPr>
          <a:lstStyle/>
          <a:p>
            <a:endParaRPr lang="en-US" dirty="0"/>
          </a:p>
        </p:txBody>
      </p:sp>
      <p:sp>
        <p:nvSpPr>
          <p:cNvPr id="30722" name="Rectangle 2"/>
          <p:cNvSpPr>
            <a:spLocks noGrp="1" noChangeArrowheads="1"/>
          </p:cNvSpPr>
          <p:nvPr>
            <p:ph type="title"/>
          </p:nvPr>
        </p:nvSpPr>
        <p:spPr>
          <a:xfrm>
            <a:off x="300038" y="201613"/>
            <a:ext cx="8467725" cy="876300"/>
          </a:xfrm>
        </p:spPr>
        <p:txBody>
          <a:bodyPr/>
          <a:lstStyle/>
          <a:p>
            <a:r>
              <a:rPr lang="en-US" dirty="0">
                <a:latin typeface="Arial" charset="0"/>
                <a:cs typeface="Arial" charset="0"/>
              </a:rPr>
              <a:t>Process, Volume, and Variety</a:t>
            </a:r>
          </a:p>
        </p:txBody>
      </p:sp>
      <p:sp>
        <p:nvSpPr>
          <p:cNvPr id="32772" name="Text Box 4"/>
          <p:cNvSpPr txBox="1">
            <a:spLocks noChangeArrowheads="1"/>
          </p:cNvSpPr>
          <p:nvPr/>
        </p:nvSpPr>
        <p:spPr bwMode="auto">
          <a:xfrm>
            <a:off x="2641600" y="2130425"/>
            <a:ext cx="2024063" cy="1119143"/>
          </a:xfrm>
          <a:prstGeom prst="rect">
            <a:avLst/>
          </a:prstGeom>
          <a:noFill/>
          <a:ln>
            <a:noFill/>
          </a:ln>
          <a:effectLst/>
        </p:spPr>
        <p:txBody>
          <a:bodyPr wrap="square" lIns="36000" tIns="36000" rIns="36000" bIns="36000">
            <a:spAutoFit/>
          </a:bodyPr>
          <a:lstStyle>
            <a:lvl1pPr defTabSz="1000125">
              <a:defRPr sz="2400">
                <a:solidFill>
                  <a:schemeClr val="tx1"/>
                </a:solidFill>
                <a:latin typeface="Arial" charset="0"/>
                <a:ea typeface="ＭＳ Ｐゴシック" charset="0"/>
                <a:cs typeface="ＭＳ Ｐゴシック" charset="0"/>
              </a:defRPr>
            </a:lvl1pPr>
            <a:lvl2pPr marL="500063" defTabSz="1000125">
              <a:defRPr sz="2400">
                <a:solidFill>
                  <a:schemeClr val="tx1"/>
                </a:solidFill>
                <a:latin typeface="Arial" charset="0"/>
                <a:ea typeface="ＭＳ Ｐゴシック" charset="0"/>
              </a:defRPr>
            </a:lvl2pPr>
            <a:lvl3pPr marL="1000125" defTabSz="1000125">
              <a:defRPr sz="2400">
                <a:solidFill>
                  <a:schemeClr val="tx1"/>
                </a:solidFill>
                <a:latin typeface="Arial" charset="0"/>
                <a:ea typeface="ＭＳ Ｐゴシック" charset="0"/>
              </a:defRPr>
            </a:lvl3pPr>
            <a:lvl4pPr marL="1500188" defTabSz="1000125">
              <a:defRPr sz="2400">
                <a:solidFill>
                  <a:schemeClr val="tx1"/>
                </a:solidFill>
                <a:latin typeface="Arial" charset="0"/>
                <a:ea typeface="ＭＳ Ｐゴシック" charset="0"/>
              </a:defRPr>
            </a:lvl4pPr>
            <a:lvl5pPr marL="2000250" defTabSz="1000125">
              <a:defRPr sz="2400">
                <a:solidFill>
                  <a:schemeClr val="tx1"/>
                </a:solidFill>
                <a:latin typeface="Arial" charset="0"/>
                <a:ea typeface="ＭＳ Ｐゴシック" charset="0"/>
              </a:defRPr>
            </a:lvl5pPr>
            <a:lvl6pPr marL="2457450" defTabSz="1000125" eaLnBrk="0" fontAlgn="base" hangingPunct="0">
              <a:spcBef>
                <a:spcPct val="0"/>
              </a:spcBef>
              <a:spcAft>
                <a:spcPct val="0"/>
              </a:spcAft>
              <a:defRPr sz="2400">
                <a:solidFill>
                  <a:schemeClr val="tx1"/>
                </a:solidFill>
                <a:latin typeface="Arial" charset="0"/>
                <a:ea typeface="ＭＳ Ｐゴシック" charset="0"/>
              </a:defRPr>
            </a:lvl6pPr>
            <a:lvl7pPr marL="2914650" defTabSz="1000125" eaLnBrk="0" fontAlgn="base" hangingPunct="0">
              <a:spcBef>
                <a:spcPct val="0"/>
              </a:spcBef>
              <a:spcAft>
                <a:spcPct val="0"/>
              </a:spcAft>
              <a:defRPr sz="2400">
                <a:solidFill>
                  <a:schemeClr val="tx1"/>
                </a:solidFill>
                <a:latin typeface="Arial" charset="0"/>
                <a:ea typeface="ＭＳ Ｐゴシック" charset="0"/>
              </a:defRPr>
            </a:lvl7pPr>
            <a:lvl8pPr marL="3371850" defTabSz="1000125" eaLnBrk="0" fontAlgn="base" hangingPunct="0">
              <a:spcBef>
                <a:spcPct val="0"/>
              </a:spcBef>
              <a:spcAft>
                <a:spcPct val="0"/>
              </a:spcAft>
              <a:defRPr sz="2400">
                <a:solidFill>
                  <a:schemeClr val="tx1"/>
                </a:solidFill>
                <a:latin typeface="Arial" charset="0"/>
                <a:ea typeface="ＭＳ Ｐゴシック" charset="0"/>
              </a:defRPr>
            </a:lvl8pPr>
            <a:lvl9pPr marL="3829050" defTabSz="1000125" eaLnBrk="0" fontAlgn="base" hangingPunct="0">
              <a:spcBef>
                <a:spcPct val="0"/>
              </a:spcBef>
              <a:spcAft>
                <a:spcPct val="0"/>
              </a:spcAft>
              <a:defRPr sz="2400">
                <a:solidFill>
                  <a:schemeClr val="tx1"/>
                </a:solidFill>
                <a:latin typeface="Arial" charset="0"/>
                <a:ea typeface="ＭＳ Ｐゴシック" charset="0"/>
              </a:defRPr>
            </a:lvl9pPr>
          </a:lstStyle>
          <a:p>
            <a:pPr algn="ctr" fontAlgn="auto">
              <a:lnSpc>
                <a:spcPct val="85000"/>
              </a:lnSpc>
              <a:spcBef>
                <a:spcPts val="0"/>
              </a:spcBef>
              <a:spcAft>
                <a:spcPts val="0"/>
              </a:spcAft>
              <a:defRPr/>
            </a:pPr>
            <a:r>
              <a:rPr lang="en-US" sz="1600" b="1" dirty="0">
                <a:latin typeface="Arial"/>
                <a:cs typeface="Arial"/>
              </a:rPr>
              <a:t>Process Focus</a:t>
            </a:r>
          </a:p>
          <a:p>
            <a:pPr algn="ctr" fontAlgn="auto">
              <a:lnSpc>
                <a:spcPct val="85000"/>
              </a:lnSpc>
              <a:spcBef>
                <a:spcPts val="0"/>
              </a:spcBef>
              <a:spcAft>
                <a:spcPts val="0"/>
              </a:spcAft>
              <a:defRPr/>
            </a:pPr>
            <a:r>
              <a:rPr lang="en-US" sz="1600" dirty="0">
                <a:latin typeface="Arial"/>
                <a:cs typeface="Arial"/>
              </a:rPr>
              <a:t>projects, job shops (machine, print, hospitals, restaurants)</a:t>
            </a:r>
          </a:p>
        </p:txBody>
      </p:sp>
      <p:sp>
        <p:nvSpPr>
          <p:cNvPr id="32773" name="Text Box 5"/>
          <p:cNvSpPr txBox="1">
            <a:spLocks noChangeArrowheads="1"/>
          </p:cNvSpPr>
          <p:nvPr/>
        </p:nvSpPr>
        <p:spPr bwMode="auto">
          <a:xfrm>
            <a:off x="4086225" y="3978275"/>
            <a:ext cx="2200275" cy="915988"/>
          </a:xfrm>
          <a:prstGeom prst="rect">
            <a:avLst/>
          </a:prstGeom>
          <a:noFill/>
          <a:ln>
            <a:noFill/>
          </a:ln>
          <a:effectLst/>
        </p:spPr>
        <p:txBody>
          <a:bodyPr wrap="square" lIns="36000" tIns="36000" rIns="36000" bIns="36000">
            <a:spAutoFit/>
          </a:bodyPr>
          <a:lstStyle>
            <a:lvl1pPr defTabSz="1000125">
              <a:defRPr sz="2400">
                <a:solidFill>
                  <a:schemeClr val="tx1"/>
                </a:solidFill>
                <a:latin typeface="Arial" charset="0"/>
                <a:ea typeface="ＭＳ Ｐゴシック" charset="0"/>
                <a:cs typeface="ＭＳ Ｐゴシック" charset="0"/>
              </a:defRPr>
            </a:lvl1pPr>
            <a:lvl2pPr marL="500063" defTabSz="1000125">
              <a:defRPr sz="2400">
                <a:solidFill>
                  <a:schemeClr val="tx1"/>
                </a:solidFill>
                <a:latin typeface="Arial" charset="0"/>
                <a:ea typeface="ＭＳ Ｐゴシック" charset="0"/>
              </a:defRPr>
            </a:lvl2pPr>
            <a:lvl3pPr marL="1000125" defTabSz="1000125">
              <a:defRPr sz="2400">
                <a:solidFill>
                  <a:schemeClr val="tx1"/>
                </a:solidFill>
                <a:latin typeface="Arial" charset="0"/>
                <a:ea typeface="ＭＳ Ｐゴシック" charset="0"/>
              </a:defRPr>
            </a:lvl3pPr>
            <a:lvl4pPr marL="1500188" defTabSz="1000125">
              <a:defRPr sz="2400">
                <a:solidFill>
                  <a:schemeClr val="tx1"/>
                </a:solidFill>
                <a:latin typeface="Arial" charset="0"/>
                <a:ea typeface="ＭＳ Ｐゴシック" charset="0"/>
              </a:defRPr>
            </a:lvl4pPr>
            <a:lvl5pPr marL="2000250" defTabSz="1000125">
              <a:defRPr sz="2400">
                <a:solidFill>
                  <a:schemeClr val="tx1"/>
                </a:solidFill>
                <a:latin typeface="Arial" charset="0"/>
                <a:ea typeface="ＭＳ Ｐゴシック" charset="0"/>
              </a:defRPr>
            </a:lvl5pPr>
            <a:lvl6pPr marL="2457450" defTabSz="1000125" eaLnBrk="0" fontAlgn="base" hangingPunct="0">
              <a:spcBef>
                <a:spcPct val="0"/>
              </a:spcBef>
              <a:spcAft>
                <a:spcPct val="0"/>
              </a:spcAft>
              <a:defRPr sz="2400">
                <a:solidFill>
                  <a:schemeClr val="tx1"/>
                </a:solidFill>
                <a:latin typeface="Arial" charset="0"/>
                <a:ea typeface="ＭＳ Ｐゴシック" charset="0"/>
              </a:defRPr>
            </a:lvl6pPr>
            <a:lvl7pPr marL="2914650" defTabSz="1000125" eaLnBrk="0" fontAlgn="base" hangingPunct="0">
              <a:spcBef>
                <a:spcPct val="0"/>
              </a:spcBef>
              <a:spcAft>
                <a:spcPct val="0"/>
              </a:spcAft>
              <a:defRPr sz="2400">
                <a:solidFill>
                  <a:schemeClr val="tx1"/>
                </a:solidFill>
                <a:latin typeface="Arial" charset="0"/>
                <a:ea typeface="ＭＳ Ｐゴシック" charset="0"/>
              </a:defRPr>
            </a:lvl7pPr>
            <a:lvl8pPr marL="3371850" defTabSz="1000125" eaLnBrk="0" fontAlgn="base" hangingPunct="0">
              <a:spcBef>
                <a:spcPct val="0"/>
              </a:spcBef>
              <a:spcAft>
                <a:spcPct val="0"/>
              </a:spcAft>
              <a:defRPr sz="2400">
                <a:solidFill>
                  <a:schemeClr val="tx1"/>
                </a:solidFill>
                <a:latin typeface="Arial" charset="0"/>
                <a:ea typeface="ＭＳ Ｐゴシック" charset="0"/>
              </a:defRPr>
            </a:lvl8pPr>
            <a:lvl9pPr marL="3829050" defTabSz="1000125" eaLnBrk="0" fontAlgn="base" hangingPunct="0">
              <a:spcBef>
                <a:spcPct val="0"/>
              </a:spcBef>
              <a:spcAft>
                <a:spcPct val="0"/>
              </a:spcAft>
              <a:defRPr sz="2400">
                <a:solidFill>
                  <a:schemeClr val="tx1"/>
                </a:solidFill>
                <a:latin typeface="Arial" charset="0"/>
                <a:ea typeface="ＭＳ Ｐゴシック" charset="0"/>
              </a:defRPr>
            </a:lvl9pPr>
          </a:lstStyle>
          <a:p>
            <a:pPr algn="ctr" fontAlgn="auto">
              <a:lnSpc>
                <a:spcPct val="85000"/>
              </a:lnSpc>
              <a:spcBef>
                <a:spcPts val="0"/>
              </a:spcBef>
              <a:spcAft>
                <a:spcPts val="0"/>
              </a:spcAft>
              <a:defRPr/>
            </a:pPr>
            <a:r>
              <a:rPr lang="en-US" sz="1600" b="1" dirty="0">
                <a:latin typeface="Arial"/>
                <a:cs typeface="Arial"/>
              </a:rPr>
              <a:t>Repetitive</a:t>
            </a:r>
          </a:p>
          <a:p>
            <a:pPr algn="ctr" fontAlgn="auto">
              <a:lnSpc>
                <a:spcPct val="85000"/>
              </a:lnSpc>
              <a:spcBef>
                <a:spcPts val="0"/>
              </a:spcBef>
              <a:spcAft>
                <a:spcPts val="0"/>
              </a:spcAft>
              <a:defRPr/>
            </a:pPr>
            <a:r>
              <a:rPr lang="en-US" sz="1600" dirty="0">
                <a:latin typeface="Arial"/>
                <a:cs typeface="Arial"/>
              </a:rPr>
              <a:t>(autos, motorcycles, home appliances)</a:t>
            </a:r>
          </a:p>
          <a:p>
            <a:pPr algn="ctr" fontAlgn="auto">
              <a:lnSpc>
                <a:spcPct val="85000"/>
              </a:lnSpc>
              <a:spcBef>
                <a:spcPts val="0"/>
              </a:spcBef>
              <a:spcAft>
                <a:spcPts val="0"/>
              </a:spcAft>
              <a:defRPr/>
            </a:pPr>
            <a:r>
              <a:rPr lang="en-US" sz="1600" i="1" dirty="0">
                <a:latin typeface="Arial"/>
                <a:cs typeface="Arial"/>
              </a:rPr>
              <a:t>Harley-Davidson</a:t>
            </a:r>
          </a:p>
        </p:txBody>
      </p:sp>
      <p:sp>
        <p:nvSpPr>
          <p:cNvPr id="32774" name="Text Box 6"/>
          <p:cNvSpPr txBox="1">
            <a:spLocks noChangeArrowheads="1"/>
          </p:cNvSpPr>
          <p:nvPr/>
        </p:nvSpPr>
        <p:spPr bwMode="auto">
          <a:xfrm>
            <a:off x="6065838" y="5357813"/>
            <a:ext cx="2549525" cy="915987"/>
          </a:xfrm>
          <a:prstGeom prst="rect">
            <a:avLst/>
          </a:prstGeom>
          <a:noFill/>
          <a:ln>
            <a:noFill/>
          </a:ln>
          <a:effectLst/>
        </p:spPr>
        <p:txBody>
          <a:bodyPr lIns="36000" tIns="36000" rIns="36000" bIns="36000">
            <a:spAutoFit/>
          </a:bodyPr>
          <a:lstStyle>
            <a:lvl1pPr defTabSz="1000125">
              <a:defRPr sz="2400">
                <a:solidFill>
                  <a:schemeClr val="tx1"/>
                </a:solidFill>
                <a:latin typeface="Arial" charset="0"/>
                <a:ea typeface="ＭＳ Ｐゴシック" charset="0"/>
                <a:cs typeface="ＭＳ Ｐゴシック" charset="0"/>
              </a:defRPr>
            </a:lvl1pPr>
            <a:lvl2pPr marL="500063" defTabSz="1000125">
              <a:defRPr sz="2400">
                <a:solidFill>
                  <a:schemeClr val="tx1"/>
                </a:solidFill>
                <a:latin typeface="Arial" charset="0"/>
                <a:ea typeface="ＭＳ Ｐゴシック" charset="0"/>
              </a:defRPr>
            </a:lvl2pPr>
            <a:lvl3pPr marL="1000125" defTabSz="1000125">
              <a:defRPr sz="2400">
                <a:solidFill>
                  <a:schemeClr val="tx1"/>
                </a:solidFill>
                <a:latin typeface="Arial" charset="0"/>
                <a:ea typeface="ＭＳ Ｐゴシック" charset="0"/>
              </a:defRPr>
            </a:lvl3pPr>
            <a:lvl4pPr marL="1500188" defTabSz="1000125">
              <a:defRPr sz="2400">
                <a:solidFill>
                  <a:schemeClr val="tx1"/>
                </a:solidFill>
                <a:latin typeface="Arial" charset="0"/>
                <a:ea typeface="ＭＳ Ｐゴシック" charset="0"/>
              </a:defRPr>
            </a:lvl4pPr>
            <a:lvl5pPr marL="2000250" defTabSz="1000125">
              <a:defRPr sz="2400">
                <a:solidFill>
                  <a:schemeClr val="tx1"/>
                </a:solidFill>
                <a:latin typeface="Arial" charset="0"/>
                <a:ea typeface="ＭＳ Ｐゴシック" charset="0"/>
              </a:defRPr>
            </a:lvl5pPr>
            <a:lvl6pPr marL="2457450" defTabSz="1000125" eaLnBrk="0" fontAlgn="base" hangingPunct="0">
              <a:spcBef>
                <a:spcPct val="0"/>
              </a:spcBef>
              <a:spcAft>
                <a:spcPct val="0"/>
              </a:spcAft>
              <a:defRPr sz="2400">
                <a:solidFill>
                  <a:schemeClr val="tx1"/>
                </a:solidFill>
                <a:latin typeface="Arial" charset="0"/>
                <a:ea typeface="ＭＳ Ｐゴシック" charset="0"/>
              </a:defRPr>
            </a:lvl6pPr>
            <a:lvl7pPr marL="2914650" defTabSz="1000125" eaLnBrk="0" fontAlgn="base" hangingPunct="0">
              <a:spcBef>
                <a:spcPct val="0"/>
              </a:spcBef>
              <a:spcAft>
                <a:spcPct val="0"/>
              </a:spcAft>
              <a:defRPr sz="2400">
                <a:solidFill>
                  <a:schemeClr val="tx1"/>
                </a:solidFill>
                <a:latin typeface="Arial" charset="0"/>
                <a:ea typeface="ＭＳ Ｐゴシック" charset="0"/>
              </a:defRPr>
            </a:lvl7pPr>
            <a:lvl8pPr marL="3371850" defTabSz="1000125" eaLnBrk="0" fontAlgn="base" hangingPunct="0">
              <a:spcBef>
                <a:spcPct val="0"/>
              </a:spcBef>
              <a:spcAft>
                <a:spcPct val="0"/>
              </a:spcAft>
              <a:defRPr sz="2400">
                <a:solidFill>
                  <a:schemeClr val="tx1"/>
                </a:solidFill>
                <a:latin typeface="Arial" charset="0"/>
                <a:ea typeface="ＭＳ Ｐゴシック" charset="0"/>
              </a:defRPr>
            </a:lvl8pPr>
            <a:lvl9pPr marL="3829050" defTabSz="1000125" eaLnBrk="0" fontAlgn="base" hangingPunct="0">
              <a:spcBef>
                <a:spcPct val="0"/>
              </a:spcBef>
              <a:spcAft>
                <a:spcPct val="0"/>
              </a:spcAft>
              <a:defRPr sz="2400">
                <a:solidFill>
                  <a:schemeClr val="tx1"/>
                </a:solidFill>
                <a:latin typeface="Arial" charset="0"/>
                <a:ea typeface="ＭＳ Ｐゴシック" charset="0"/>
              </a:defRPr>
            </a:lvl9pPr>
          </a:lstStyle>
          <a:p>
            <a:pPr algn="ctr" fontAlgn="auto">
              <a:lnSpc>
                <a:spcPct val="85000"/>
              </a:lnSpc>
              <a:spcBef>
                <a:spcPts val="0"/>
              </a:spcBef>
              <a:spcAft>
                <a:spcPts val="0"/>
              </a:spcAft>
              <a:defRPr/>
            </a:pPr>
            <a:r>
              <a:rPr lang="en-US" sz="1600" b="1" dirty="0">
                <a:latin typeface="Arial"/>
                <a:cs typeface="Arial"/>
              </a:rPr>
              <a:t>Product Focus</a:t>
            </a:r>
          </a:p>
          <a:p>
            <a:pPr algn="ctr" fontAlgn="auto">
              <a:lnSpc>
                <a:spcPct val="85000"/>
              </a:lnSpc>
              <a:spcBef>
                <a:spcPts val="0"/>
              </a:spcBef>
              <a:spcAft>
                <a:spcPts val="0"/>
              </a:spcAft>
              <a:defRPr/>
            </a:pPr>
            <a:r>
              <a:rPr lang="en-US" sz="1600" dirty="0">
                <a:latin typeface="Arial"/>
                <a:cs typeface="Arial"/>
              </a:rPr>
              <a:t>(commercial baked goods, steel, glass, beer)</a:t>
            </a:r>
          </a:p>
          <a:p>
            <a:pPr algn="ctr" fontAlgn="auto">
              <a:lnSpc>
                <a:spcPct val="85000"/>
              </a:lnSpc>
              <a:spcBef>
                <a:spcPts val="0"/>
              </a:spcBef>
              <a:spcAft>
                <a:spcPts val="0"/>
              </a:spcAft>
              <a:defRPr/>
            </a:pPr>
            <a:r>
              <a:rPr lang="en-US" sz="1600" i="1" dirty="0">
                <a:latin typeface="Arial"/>
                <a:cs typeface="Arial"/>
              </a:rPr>
              <a:t>Frito-Lay</a:t>
            </a:r>
          </a:p>
        </p:txBody>
      </p:sp>
      <p:sp>
        <p:nvSpPr>
          <p:cNvPr id="32775" name="Text Box 7"/>
          <p:cNvSpPr txBox="1">
            <a:spLocks noChangeArrowheads="1"/>
          </p:cNvSpPr>
          <p:nvPr/>
        </p:nvSpPr>
        <p:spPr bwMode="auto">
          <a:xfrm>
            <a:off x="560388" y="1914525"/>
            <a:ext cx="2143125" cy="1300163"/>
          </a:xfrm>
          <a:prstGeom prst="rect">
            <a:avLst/>
          </a:prstGeom>
          <a:noFill/>
          <a:ln>
            <a:noFill/>
          </a:ln>
          <a:effectLst/>
        </p:spPr>
        <p:txBody>
          <a:bodyPr lIns="244914" tIns="122456" rIns="244914" bIns="122456">
            <a:spAutoFit/>
          </a:bodyPr>
          <a:lstStyle>
            <a:lvl1pPr defTabSz="1000125">
              <a:defRPr sz="2400">
                <a:solidFill>
                  <a:schemeClr val="tx1"/>
                </a:solidFill>
                <a:latin typeface="Arial" charset="0"/>
                <a:ea typeface="ＭＳ Ｐゴシック" charset="0"/>
                <a:cs typeface="ＭＳ Ｐゴシック" charset="0"/>
              </a:defRPr>
            </a:lvl1pPr>
            <a:lvl2pPr marL="500063" defTabSz="1000125">
              <a:defRPr sz="2400">
                <a:solidFill>
                  <a:schemeClr val="tx1"/>
                </a:solidFill>
                <a:latin typeface="Arial" charset="0"/>
                <a:ea typeface="ＭＳ Ｐゴシック" charset="0"/>
              </a:defRPr>
            </a:lvl2pPr>
            <a:lvl3pPr marL="1000125" defTabSz="1000125">
              <a:defRPr sz="2400">
                <a:solidFill>
                  <a:schemeClr val="tx1"/>
                </a:solidFill>
                <a:latin typeface="Arial" charset="0"/>
                <a:ea typeface="ＭＳ Ｐゴシック" charset="0"/>
              </a:defRPr>
            </a:lvl3pPr>
            <a:lvl4pPr marL="1500188" defTabSz="1000125">
              <a:defRPr sz="2400">
                <a:solidFill>
                  <a:schemeClr val="tx1"/>
                </a:solidFill>
                <a:latin typeface="Arial" charset="0"/>
                <a:ea typeface="ＭＳ Ｐゴシック" charset="0"/>
              </a:defRPr>
            </a:lvl4pPr>
            <a:lvl5pPr marL="2000250" defTabSz="1000125">
              <a:defRPr sz="2400">
                <a:solidFill>
                  <a:schemeClr val="tx1"/>
                </a:solidFill>
                <a:latin typeface="Arial" charset="0"/>
                <a:ea typeface="ＭＳ Ｐゴシック" charset="0"/>
              </a:defRPr>
            </a:lvl5pPr>
            <a:lvl6pPr marL="2457450" defTabSz="1000125" eaLnBrk="0" fontAlgn="base" hangingPunct="0">
              <a:spcBef>
                <a:spcPct val="0"/>
              </a:spcBef>
              <a:spcAft>
                <a:spcPct val="0"/>
              </a:spcAft>
              <a:defRPr sz="2400">
                <a:solidFill>
                  <a:schemeClr val="tx1"/>
                </a:solidFill>
                <a:latin typeface="Arial" charset="0"/>
                <a:ea typeface="ＭＳ Ｐゴシック" charset="0"/>
              </a:defRPr>
            </a:lvl6pPr>
            <a:lvl7pPr marL="2914650" defTabSz="1000125" eaLnBrk="0" fontAlgn="base" hangingPunct="0">
              <a:spcBef>
                <a:spcPct val="0"/>
              </a:spcBef>
              <a:spcAft>
                <a:spcPct val="0"/>
              </a:spcAft>
              <a:defRPr sz="2400">
                <a:solidFill>
                  <a:schemeClr val="tx1"/>
                </a:solidFill>
                <a:latin typeface="Arial" charset="0"/>
                <a:ea typeface="ＭＳ Ｐゴシック" charset="0"/>
              </a:defRPr>
            </a:lvl7pPr>
            <a:lvl8pPr marL="3371850" defTabSz="1000125" eaLnBrk="0" fontAlgn="base" hangingPunct="0">
              <a:spcBef>
                <a:spcPct val="0"/>
              </a:spcBef>
              <a:spcAft>
                <a:spcPct val="0"/>
              </a:spcAft>
              <a:defRPr sz="2400">
                <a:solidFill>
                  <a:schemeClr val="tx1"/>
                </a:solidFill>
                <a:latin typeface="Arial" charset="0"/>
                <a:ea typeface="ＭＳ Ｐゴシック" charset="0"/>
              </a:defRPr>
            </a:lvl8pPr>
            <a:lvl9pPr marL="3829050" defTabSz="1000125" eaLnBrk="0" fontAlgn="base" hangingPunct="0">
              <a:spcBef>
                <a:spcPct val="0"/>
              </a:spcBef>
              <a:spcAft>
                <a:spcPct val="0"/>
              </a:spcAft>
              <a:defRPr sz="2400">
                <a:solidFill>
                  <a:schemeClr val="tx1"/>
                </a:solidFill>
                <a:latin typeface="Arial" charset="0"/>
                <a:ea typeface="ＭＳ Ｐゴシック" charset="0"/>
              </a:defRPr>
            </a:lvl9pPr>
          </a:lstStyle>
          <a:p>
            <a:pPr fontAlgn="auto">
              <a:lnSpc>
                <a:spcPct val="85000"/>
              </a:lnSpc>
              <a:spcBef>
                <a:spcPts val="0"/>
              </a:spcBef>
              <a:spcAft>
                <a:spcPts val="0"/>
              </a:spcAft>
              <a:defRPr/>
            </a:pPr>
            <a:r>
              <a:rPr lang="en-US" sz="1600" b="1" dirty="0">
                <a:latin typeface="Arial"/>
                <a:cs typeface="Arial"/>
              </a:rPr>
              <a:t>High</a:t>
            </a:r>
            <a:r>
              <a:rPr lang="en-US" sz="1600" dirty="0">
                <a:latin typeface="Arial"/>
                <a:cs typeface="Arial"/>
              </a:rPr>
              <a:t> </a:t>
            </a:r>
            <a:r>
              <a:rPr lang="en-US" sz="1600" b="1" dirty="0">
                <a:latin typeface="Arial"/>
                <a:cs typeface="Arial"/>
              </a:rPr>
              <a:t>Variety</a:t>
            </a:r>
          </a:p>
          <a:p>
            <a:pPr fontAlgn="auto">
              <a:lnSpc>
                <a:spcPct val="85000"/>
              </a:lnSpc>
              <a:spcBef>
                <a:spcPts val="0"/>
              </a:spcBef>
              <a:spcAft>
                <a:spcPts val="0"/>
              </a:spcAft>
              <a:defRPr/>
            </a:pPr>
            <a:r>
              <a:rPr lang="en-US" sz="1600" dirty="0">
                <a:latin typeface="Arial"/>
                <a:cs typeface="Arial"/>
              </a:rPr>
              <a:t>one or few units per run,</a:t>
            </a:r>
          </a:p>
          <a:p>
            <a:pPr fontAlgn="auto">
              <a:lnSpc>
                <a:spcPct val="85000"/>
              </a:lnSpc>
              <a:spcBef>
                <a:spcPts val="0"/>
              </a:spcBef>
              <a:spcAft>
                <a:spcPts val="0"/>
              </a:spcAft>
              <a:defRPr/>
            </a:pPr>
            <a:r>
              <a:rPr lang="en-US" sz="1600" dirty="0">
                <a:latin typeface="Arial"/>
                <a:cs typeface="Arial"/>
              </a:rPr>
              <a:t>(allows customization)</a:t>
            </a:r>
          </a:p>
        </p:txBody>
      </p:sp>
      <p:sp>
        <p:nvSpPr>
          <p:cNvPr id="32776" name="Text Box 8"/>
          <p:cNvSpPr txBox="1">
            <a:spLocks noChangeArrowheads="1"/>
          </p:cNvSpPr>
          <p:nvPr/>
        </p:nvSpPr>
        <p:spPr bwMode="auto">
          <a:xfrm>
            <a:off x="560388" y="3429000"/>
            <a:ext cx="1990725" cy="1300163"/>
          </a:xfrm>
          <a:prstGeom prst="rect">
            <a:avLst/>
          </a:prstGeom>
          <a:noFill/>
          <a:ln>
            <a:noFill/>
          </a:ln>
          <a:effectLst/>
        </p:spPr>
        <p:txBody>
          <a:bodyPr lIns="244914" tIns="122456" rIns="244914" bIns="122456">
            <a:spAutoFit/>
          </a:bodyPr>
          <a:lstStyle>
            <a:lvl1pPr defTabSz="1000125">
              <a:defRPr sz="2400">
                <a:solidFill>
                  <a:schemeClr val="tx1"/>
                </a:solidFill>
                <a:latin typeface="Arial" charset="0"/>
                <a:ea typeface="ＭＳ Ｐゴシック" charset="0"/>
                <a:cs typeface="ＭＳ Ｐゴシック" charset="0"/>
              </a:defRPr>
            </a:lvl1pPr>
            <a:lvl2pPr marL="500063" defTabSz="1000125">
              <a:defRPr sz="2400">
                <a:solidFill>
                  <a:schemeClr val="tx1"/>
                </a:solidFill>
                <a:latin typeface="Arial" charset="0"/>
                <a:ea typeface="ＭＳ Ｐゴシック" charset="0"/>
              </a:defRPr>
            </a:lvl2pPr>
            <a:lvl3pPr marL="1000125" defTabSz="1000125">
              <a:defRPr sz="2400">
                <a:solidFill>
                  <a:schemeClr val="tx1"/>
                </a:solidFill>
                <a:latin typeface="Arial" charset="0"/>
                <a:ea typeface="ＭＳ Ｐゴシック" charset="0"/>
              </a:defRPr>
            </a:lvl3pPr>
            <a:lvl4pPr marL="1500188" defTabSz="1000125">
              <a:defRPr sz="2400">
                <a:solidFill>
                  <a:schemeClr val="tx1"/>
                </a:solidFill>
                <a:latin typeface="Arial" charset="0"/>
                <a:ea typeface="ＭＳ Ｐゴシック" charset="0"/>
              </a:defRPr>
            </a:lvl4pPr>
            <a:lvl5pPr marL="2000250" defTabSz="1000125">
              <a:defRPr sz="2400">
                <a:solidFill>
                  <a:schemeClr val="tx1"/>
                </a:solidFill>
                <a:latin typeface="Arial" charset="0"/>
                <a:ea typeface="ＭＳ Ｐゴシック" charset="0"/>
              </a:defRPr>
            </a:lvl5pPr>
            <a:lvl6pPr marL="2457450" defTabSz="1000125" eaLnBrk="0" fontAlgn="base" hangingPunct="0">
              <a:spcBef>
                <a:spcPct val="0"/>
              </a:spcBef>
              <a:spcAft>
                <a:spcPct val="0"/>
              </a:spcAft>
              <a:defRPr sz="2400">
                <a:solidFill>
                  <a:schemeClr val="tx1"/>
                </a:solidFill>
                <a:latin typeface="Arial" charset="0"/>
                <a:ea typeface="ＭＳ Ｐゴシック" charset="0"/>
              </a:defRPr>
            </a:lvl6pPr>
            <a:lvl7pPr marL="2914650" defTabSz="1000125" eaLnBrk="0" fontAlgn="base" hangingPunct="0">
              <a:spcBef>
                <a:spcPct val="0"/>
              </a:spcBef>
              <a:spcAft>
                <a:spcPct val="0"/>
              </a:spcAft>
              <a:defRPr sz="2400">
                <a:solidFill>
                  <a:schemeClr val="tx1"/>
                </a:solidFill>
                <a:latin typeface="Arial" charset="0"/>
                <a:ea typeface="ＭＳ Ｐゴシック" charset="0"/>
              </a:defRPr>
            </a:lvl7pPr>
            <a:lvl8pPr marL="3371850" defTabSz="1000125" eaLnBrk="0" fontAlgn="base" hangingPunct="0">
              <a:spcBef>
                <a:spcPct val="0"/>
              </a:spcBef>
              <a:spcAft>
                <a:spcPct val="0"/>
              </a:spcAft>
              <a:defRPr sz="2400">
                <a:solidFill>
                  <a:schemeClr val="tx1"/>
                </a:solidFill>
                <a:latin typeface="Arial" charset="0"/>
                <a:ea typeface="ＭＳ Ｐゴシック" charset="0"/>
              </a:defRPr>
            </a:lvl8pPr>
            <a:lvl9pPr marL="3829050" defTabSz="1000125" eaLnBrk="0" fontAlgn="base" hangingPunct="0">
              <a:spcBef>
                <a:spcPct val="0"/>
              </a:spcBef>
              <a:spcAft>
                <a:spcPct val="0"/>
              </a:spcAft>
              <a:defRPr sz="2400">
                <a:solidFill>
                  <a:schemeClr val="tx1"/>
                </a:solidFill>
                <a:latin typeface="Arial" charset="0"/>
                <a:ea typeface="ＭＳ Ｐゴシック" charset="0"/>
              </a:defRPr>
            </a:lvl9pPr>
          </a:lstStyle>
          <a:p>
            <a:pPr fontAlgn="auto">
              <a:lnSpc>
                <a:spcPct val="85000"/>
              </a:lnSpc>
              <a:spcBef>
                <a:spcPts val="0"/>
              </a:spcBef>
              <a:spcAft>
                <a:spcPts val="0"/>
              </a:spcAft>
              <a:defRPr/>
            </a:pPr>
            <a:r>
              <a:rPr lang="en-US" sz="1600" b="1" dirty="0">
                <a:latin typeface="Arial"/>
                <a:cs typeface="Arial"/>
              </a:rPr>
              <a:t>Changes in Modules</a:t>
            </a:r>
          </a:p>
          <a:p>
            <a:pPr fontAlgn="auto">
              <a:lnSpc>
                <a:spcPct val="85000"/>
              </a:lnSpc>
              <a:spcBef>
                <a:spcPts val="0"/>
              </a:spcBef>
              <a:spcAft>
                <a:spcPts val="0"/>
              </a:spcAft>
              <a:defRPr/>
            </a:pPr>
            <a:r>
              <a:rPr lang="en-US" sz="1600" dirty="0">
                <a:latin typeface="Arial"/>
                <a:cs typeface="Arial"/>
              </a:rPr>
              <a:t>modest runs, standardized modules</a:t>
            </a:r>
          </a:p>
        </p:txBody>
      </p:sp>
      <p:sp>
        <p:nvSpPr>
          <p:cNvPr id="32777" name="Text Box 9"/>
          <p:cNvSpPr txBox="1">
            <a:spLocks noChangeArrowheads="1"/>
          </p:cNvSpPr>
          <p:nvPr/>
        </p:nvSpPr>
        <p:spPr bwMode="auto">
          <a:xfrm>
            <a:off x="560387" y="4943475"/>
            <a:ext cx="2357437" cy="1299900"/>
          </a:xfrm>
          <a:prstGeom prst="rect">
            <a:avLst/>
          </a:prstGeom>
          <a:noFill/>
          <a:ln>
            <a:noFill/>
          </a:ln>
          <a:effectLst/>
        </p:spPr>
        <p:txBody>
          <a:bodyPr wrap="square" lIns="244914" tIns="122456" rIns="244914" bIns="122456">
            <a:spAutoFit/>
          </a:bodyPr>
          <a:lstStyle>
            <a:lvl1pPr defTabSz="1000125">
              <a:defRPr sz="2400">
                <a:solidFill>
                  <a:schemeClr val="tx1"/>
                </a:solidFill>
                <a:latin typeface="Arial" charset="0"/>
                <a:ea typeface="ＭＳ Ｐゴシック" charset="0"/>
                <a:cs typeface="ＭＳ Ｐゴシック" charset="0"/>
              </a:defRPr>
            </a:lvl1pPr>
            <a:lvl2pPr marL="500063" defTabSz="1000125">
              <a:defRPr sz="2400">
                <a:solidFill>
                  <a:schemeClr val="tx1"/>
                </a:solidFill>
                <a:latin typeface="Arial" charset="0"/>
                <a:ea typeface="ＭＳ Ｐゴシック" charset="0"/>
              </a:defRPr>
            </a:lvl2pPr>
            <a:lvl3pPr marL="1000125" defTabSz="1000125">
              <a:defRPr sz="2400">
                <a:solidFill>
                  <a:schemeClr val="tx1"/>
                </a:solidFill>
                <a:latin typeface="Arial" charset="0"/>
                <a:ea typeface="ＭＳ Ｐゴシック" charset="0"/>
              </a:defRPr>
            </a:lvl3pPr>
            <a:lvl4pPr marL="1500188" defTabSz="1000125">
              <a:defRPr sz="2400">
                <a:solidFill>
                  <a:schemeClr val="tx1"/>
                </a:solidFill>
                <a:latin typeface="Arial" charset="0"/>
                <a:ea typeface="ＭＳ Ｐゴシック" charset="0"/>
              </a:defRPr>
            </a:lvl4pPr>
            <a:lvl5pPr marL="2000250" defTabSz="1000125">
              <a:defRPr sz="2400">
                <a:solidFill>
                  <a:schemeClr val="tx1"/>
                </a:solidFill>
                <a:latin typeface="Arial" charset="0"/>
                <a:ea typeface="ＭＳ Ｐゴシック" charset="0"/>
              </a:defRPr>
            </a:lvl5pPr>
            <a:lvl6pPr marL="2457450" defTabSz="1000125" eaLnBrk="0" fontAlgn="base" hangingPunct="0">
              <a:spcBef>
                <a:spcPct val="0"/>
              </a:spcBef>
              <a:spcAft>
                <a:spcPct val="0"/>
              </a:spcAft>
              <a:defRPr sz="2400">
                <a:solidFill>
                  <a:schemeClr val="tx1"/>
                </a:solidFill>
                <a:latin typeface="Arial" charset="0"/>
                <a:ea typeface="ＭＳ Ｐゴシック" charset="0"/>
              </a:defRPr>
            </a:lvl6pPr>
            <a:lvl7pPr marL="2914650" defTabSz="1000125" eaLnBrk="0" fontAlgn="base" hangingPunct="0">
              <a:spcBef>
                <a:spcPct val="0"/>
              </a:spcBef>
              <a:spcAft>
                <a:spcPct val="0"/>
              </a:spcAft>
              <a:defRPr sz="2400">
                <a:solidFill>
                  <a:schemeClr val="tx1"/>
                </a:solidFill>
                <a:latin typeface="Arial" charset="0"/>
                <a:ea typeface="ＭＳ Ｐゴシック" charset="0"/>
              </a:defRPr>
            </a:lvl7pPr>
            <a:lvl8pPr marL="3371850" defTabSz="1000125" eaLnBrk="0" fontAlgn="base" hangingPunct="0">
              <a:spcBef>
                <a:spcPct val="0"/>
              </a:spcBef>
              <a:spcAft>
                <a:spcPct val="0"/>
              </a:spcAft>
              <a:defRPr sz="2400">
                <a:solidFill>
                  <a:schemeClr val="tx1"/>
                </a:solidFill>
                <a:latin typeface="Arial" charset="0"/>
                <a:ea typeface="ＭＳ Ｐゴシック" charset="0"/>
              </a:defRPr>
            </a:lvl8pPr>
            <a:lvl9pPr marL="3829050" defTabSz="1000125" eaLnBrk="0" fontAlgn="base" hangingPunct="0">
              <a:spcBef>
                <a:spcPct val="0"/>
              </a:spcBef>
              <a:spcAft>
                <a:spcPct val="0"/>
              </a:spcAft>
              <a:defRPr sz="2400">
                <a:solidFill>
                  <a:schemeClr val="tx1"/>
                </a:solidFill>
                <a:latin typeface="Arial" charset="0"/>
                <a:ea typeface="ＭＳ Ｐゴシック" charset="0"/>
              </a:defRPr>
            </a:lvl9pPr>
          </a:lstStyle>
          <a:p>
            <a:pPr fontAlgn="auto">
              <a:lnSpc>
                <a:spcPct val="85000"/>
              </a:lnSpc>
              <a:spcBef>
                <a:spcPts val="0"/>
              </a:spcBef>
              <a:spcAft>
                <a:spcPts val="0"/>
              </a:spcAft>
              <a:defRPr/>
            </a:pPr>
            <a:r>
              <a:rPr lang="en-US" sz="1600" b="1" dirty="0">
                <a:latin typeface="Arial"/>
                <a:cs typeface="Arial"/>
              </a:rPr>
              <a:t>Changes in Attributes </a:t>
            </a:r>
            <a:r>
              <a:rPr lang="en-US" sz="1600" dirty="0">
                <a:latin typeface="Arial"/>
                <a:cs typeface="Arial"/>
              </a:rPr>
              <a:t>(such as grade, quality, size, thickness, etc.) </a:t>
            </a:r>
          </a:p>
          <a:p>
            <a:pPr fontAlgn="auto">
              <a:lnSpc>
                <a:spcPct val="85000"/>
              </a:lnSpc>
              <a:spcBef>
                <a:spcPts val="0"/>
              </a:spcBef>
              <a:spcAft>
                <a:spcPts val="0"/>
              </a:spcAft>
              <a:defRPr/>
            </a:pPr>
            <a:r>
              <a:rPr lang="en-US" sz="1600" dirty="0">
                <a:latin typeface="Arial"/>
                <a:cs typeface="Arial"/>
              </a:rPr>
              <a:t>long runs only</a:t>
            </a:r>
          </a:p>
        </p:txBody>
      </p:sp>
      <p:sp>
        <p:nvSpPr>
          <p:cNvPr id="32778" name="Text Box 10"/>
          <p:cNvSpPr txBox="1">
            <a:spLocks noChangeArrowheads="1"/>
          </p:cNvSpPr>
          <p:nvPr/>
        </p:nvSpPr>
        <p:spPr bwMode="auto">
          <a:xfrm>
            <a:off x="6103939" y="2130425"/>
            <a:ext cx="2341562" cy="915988"/>
          </a:xfrm>
          <a:prstGeom prst="rect">
            <a:avLst/>
          </a:prstGeom>
          <a:noFill/>
          <a:ln>
            <a:noFill/>
          </a:ln>
          <a:effectLst/>
        </p:spPr>
        <p:txBody>
          <a:bodyPr wrap="square" lIns="36000" tIns="36000" rIns="36000" bIns="36000">
            <a:spAutoFit/>
          </a:bodyPr>
          <a:lstStyle>
            <a:lvl1pPr defTabSz="1000125">
              <a:defRPr sz="2400">
                <a:solidFill>
                  <a:schemeClr val="tx1"/>
                </a:solidFill>
                <a:latin typeface="Arial" charset="0"/>
                <a:ea typeface="ＭＳ Ｐゴシック" charset="0"/>
                <a:cs typeface="ＭＳ Ｐゴシック" charset="0"/>
              </a:defRPr>
            </a:lvl1pPr>
            <a:lvl2pPr marL="500063" defTabSz="1000125">
              <a:defRPr sz="2400">
                <a:solidFill>
                  <a:schemeClr val="tx1"/>
                </a:solidFill>
                <a:latin typeface="Arial" charset="0"/>
                <a:ea typeface="ＭＳ Ｐゴシック" charset="0"/>
              </a:defRPr>
            </a:lvl2pPr>
            <a:lvl3pPr marL="1000125" defTabSz="1000125">
              <a:defRPr sz="2400">
                <a:solidFill>
                  <a:schemeClr val="tx1"/>
                </a:solidFill>
                <a:latin typeface="Arial" charset="0"/>
                <a:ea typeface="ＭＳ Ｐゴシック" charset="0"/>
              </a:defRPr>
            </a:lvl3pPr>
            <a:lvl4pPr marL="1500188" defTabSz="1000125">
              <a:defRPr sz="2400">
                <a:solidFill>
                  <a:schemeClr val="tx1"/>
                </a:solidFill>
                <a:latin typeface="Arial" charset="0"/>
                <a:ea typeface="ＭＳ Ｐゴシック" charset="0"/>
              </a:defRPr>
            </a:lvl4pPr>
            <a:lvl5pPr marL="2000250" defTabSz="1000125">
              <a:defRPr sz="2400">
                <a:solidFill>
                  <a:schemeClr val="tx1"/>
                </a:solidFill>
                <a:latin typeface="Arial" charset="0"/>
                <a:ea typeface="ＭＳ Ｐゴシック" charset="0"/>
              </a:defRPr>
            </a:lvl5pPr>
            <a:lvl6pPr marL="2457450" defTabSz="1000125" eaLnBrk="0" fontAlgn="base" hangingPunct="0">
              <a:spcBef>
                <a:spcPct val="0"/>
              </a:spcBef>
              <a:spcAft>
                <a:spcPct val="0"/>
              </a:spcAft>
              <a:defRPr sz="2400">
                <a:solidFill>
                  <a:schemeClr val="tx1"/>
                </a:solidFill>
                <a:latin typeface="Arial" charset="0"/>
                <a:ea typeface="ＭＳ Ｐゴシック" charset="0"/>
              </a:defRPr>
            </a:lvl6pPr>
            <a:lvl7pPr marL="2914650" defTabSz="1000125" eaLnBrk="0" fontAlgn="base" hangingPunct="0">
              <a:spcBef>
                <a:spcPct val="0"/>
              </a:spcBef>
              <a:spcAft>
                <a:spcPct val="0"/>
              </a:spcAft>
              <a:defRPr sz="2400">
                <a:solidFill>
                  <a:schemeClr val="tx1"/>
                </a:solidFill>
                <a:latin typeface="Arial" charset="0"/>
                <a:ea typeface="ＭＳ Ｐゴシック" charset="0"/>
              </a:defRPr>
            </a:lvl7pPr>
            <a:lvl8pPr marL="3371850" defTabSz="1000125" eaLnBrk="0" fontAlgn="base" hangingPunct="0">
              <a:spcBef>
                <a:spcPct val="0"/>
              </a:spcBef>
              <a:spcAft>
                <a:spcPct val="0"/>
              </a:spcAft>
              <a:defRPr sz="2400">
                <a:solidFill>
                  <a:schemeClr val="tx1"/>
                </a:solidFill>
                <a:latin typeface="Arial" charset="0"/>
                <a:ea typeface="ＭＳ Ｐゴシック" charset="0"/>
              </a:defRPr>
            </a:lvl8pPr>
            <a:lvl9pPr marL="3829050" defTabSz="1000125" eaLnBrk="0" fontAlgn="base" hangingPunct="0">
              <a:spcBef>
                <a:spcPct val="0"/>
              </a:spcBef>
              <a:spcAft>
                <a:spcPct val="0"/>
              </a:spcAft>
              <a:defRPr sz="2400">
                <a:solidFill>
                  <a:schemeClr val="tx1"/>
                </a:solidFill>
                <a:latin typeface="Arial" charset="0"/>
                <a:ea typeface="ＭＳ Ｐゴシック" charset="0"/>
              </a:defRPr>
            </a:lvl9pPr>
          </a:lstStyle>
          <a:p>
            <a:pPr algn="ctr" fontAlgn="auto">
              <a:lnSpc>
                <a:spcPct val="85000"/>
              </a:lnSpc>
              <a:spcBef>
                <a:spcPts val="0"/>
              </a:spcBef>
              <a:spcAft>
                <a:spcPts val="0"/>
              </a:spcAft>
              <a:defRPr/>
            </a:pPr>
            <a:r>
              <a:rPr lang="en-US" sz="1600" b="1" dirty="0">
                <a:latin typeface="Arial"/>
                <a:cs typeface="Arial"/>
              </a:rPr>
              <a:t>Mass Customization</a:t>
            </a:r>
          </a:p>
          <a:p>
            <a:pPr algn="ctr" fontAlgn="auto">
              <a:lnSpc>
                <a:spcPct val="85000"/>
              </a:lnSpc>
              <a:spcBef>
                <a:spcPts val="0"/>
              </a:spcBef>
              <a:spcAft>
                <a:spcPts val="0"/>
              </a:spcAft>
              <a:defRPr/>
            </a:pPr>
            <a:r>
              <a:rPr lang="en-US" sz="1600" dirty="0">
                <a:latin typeface="Arial"/>
                <a:cs typeface="Arial"/>
              </a:rPr>
              <a:t>(difficult to achieve, but huge rewards)</a:t>
            </a:r>
          </a:p>
          <a:p>
            <a:pPr algn="ctr" fontAlgn="auto">
              <a:lnSpc>
                <a:spcPct val="85000"/>
              </a:lnSpc>
              <a:spcBef>
                <a:spcPts val="0"/>
              </a:spcBef>
              <a:spcAft>
                <a:spcPts val="0"/>
              </a:spcAft>
              <a:defRPr/>
            </a:pPr>
            <a:r>
              <a:rPr lang="en-US" sz="1600" i="1" dirty="0">
                <a:latin typeface="Arial"/>
                <a:cs typeface="Arial"/>
              </a:rPr>
              <a:t>Dell Computer</a:t>
            </a:r>
          </a:p>
        </p:txBody>
      </p:sp>
      <p:sp>
        <p:nvSpPr>
          <p:cNvPr id="32779" name="Text Box 11"/>
          <p:cNvSpPr txBox="1">
            <a:spLocks noChangeArrowheads="1"/>
          </p:cNvSpPr>
          <p:nvPr/>
        </p:nvSpPr>
        <p:spPr bwMode="auto">
          <a:xfrm>
            <a:off x="2778125" y="5230813"/>
            <a:ext cx="1908175" cy="1090612"/>
          </a:xfrm>
          <a:prstGeom prst="rect">
            <a:avLst/>
          </a:prstGeom>
          <a:noFill/>
          <a:ln>
            <a:noFill/>
          </a:ln>
          <a:effectLst/>
        </p:spPr>
        <p:txBody>
          <a:bodyPr lIns="244914" tIns="122456" rIns="244914" bIns="122456">
            <a:spAutoFit/>
          </a:bodyPr>
          <a:lstStyle>
            <a:lvl1pPr defTabSz="1000125">
              <a:defRPr sz="2400">
                <a:solidFill>
                  <a:schemeClr val="tx1"/>
                </a:solidFill>
                <a:latin typeface="Arial" charset="0"/>
                <a:ea typeface="ＭＳ Ｐゴシック" charset="0"/>
                <a:cs typeface="ＭＳ Ｐゴシック" charset="0"/>
              </a:defRPr>
            </a:lvl1pPr>
            <a:lvl2pPr marL="500063" defTabSz="1000125">
              <a:defRPr sz="2400">
                <a:solidFill>
                  <a:schemeClr val="tx1"/>
                </a:solidFill>
                <a:latin typeface="Arial" charset="0"/>
                <a:ea typeface="ＭＳ Ｐゴシック" charset="0"/>
              </a:defRPr>
            </a:lvl2pPr>
            <a:lvl3pPr marL="1000125" defTabSz="1000125">
              <a:defRPr sz="2400">
                <a:solidFill>
                  <a:schemeClr val="tx1"/>
                </a:solidFill>
                <a:latin typeface="Arial" charset="0"/>
                <a:ea typeface="ＭＳ Ｐゴシック" charset="0"/>
              </a:defRPr>
            </a:lvl3pPr>
            <a:lvl4pPr marL="1500188" defTabSz="1000125">
              <a:defRPr sz="2400">
                <a:solidFill>
                  <a:schemeClr val="tx1"/>
                </a:solidFill>
                <a:latin typeface="Arial" charset="0"/>
                <a:ea typeface="ＭＳ Ｐゴシック" charset="0"/>
              </a:defRPr>
            </a:lvl4pPr>
            <a:lvl5pPr marL="2000250" defTabSz="1000125">
              <a:defRPr sz="2400">
                <a:solidFill>
                  <a:schemeClr val="tx1"/>
                </a:solidFill>
                <a:latin typeface="Arial" charset="0"/>
                <a:ea typeface="ＭＳ Ｐゴシック" charset="0"/>
              </a:defRPr>
            </a:lvl5pPr>
            <a:lvl6pPr marL="2457450" defTabSz="1000125" eaLnBrk="0" fontAlgn="base" hangingPunct="0">
              <a:spcBef>
                <a:spcPct val="0"/>
              </a:spcBef>
              <a:spcAft>
                <a:spcPct val="0"/>
              </a:spcAft>
              <a:defRPr sz="2400">
                <a:solidFill>
                  <a:schemeClr val="tx1"/>
                </a:solidFill>
                <a:latin typeface="Arial" charset="0"/>
                <a:ea typeface="ＭＳ Ｐゴシック" charset="0"/>
              </a:defRPr>
            </a:lvl6pPr>
            <a:lvl7pPr marL="2914650" defTabSz="1000125" eaLnBrk="0" fontAlgn="base" hangingPunct="0">
              <a:spcBef>
                <a:spcPct val="0"/>
              </a:spcBef>
              <a:spcAft>
                <a:spcPct val="0"/>
              </a:spcAft>
              <a:defRPr sz="2400">
                <a:solidFill>
                  <a:schemeClr val="tx1"/>
                </a:solidFill>
                <a:latin typeface="Arial" charset="0"/>
                <a:ea typeface="ＭＳ Ｐゴシック" charset="0"/>
              </a:defRPr>
            </a:lvl7pPr>
            <a:lvl8pPr marL="3371850" defTabSz="1000125" eaLnBrk="0" fontAlgn="base" hangingPunct="0">
              <a:spcBef>
                <a:spcPct val="0"/>
              </a:spcBef>
              <a:spcAft>
                <a:spcPct val="0"/>
              </a:spcAft>
              <a:defRPr sz="2400">
                <a:solidFill>
                  <a:schemeClr val="tx1"/>
                </a:solidFill>
                <a:latin typeface="Arial" charset="0"/>
                <a:ea typeface="ＭＳ Ｐゴシック" charset="0"/>
              </a:defRPr>
            </a:lvl8pPr>
            <a:lvl9pPr marL="3829050" defTabSz="1000125" eaLnBrk="0" fontAlgn="base" hangingPunct="0">
              <a:spcBef>
                <a:spcPct val="0"/>
              </a:spcBef>
              <a:spcAft>
                <a:spcPct val="0"/>
              </a:spcAft>
              <a:defRPr sz="2400">
                <a:solidFill>
                  <a:schemeClr val="tx1"/>
                </a:solidFill>
                <a:latin typeface="Arial" charset="0"/>
                <a:ea typeface="ＭＳ Ｐゴシック" charset="0"/>
              </a:defRPr>
            </a:lvl9pPr>
          </a:lstStyle>
          <a:p>
            <a:pPr algn="ctr" fontAlgn="auto">
              <a:lnSpc>
                <a:spcPct val="85000"/>
              </a:lnSpc>
              <a:spcBef>
                <a:spcPts val="0"/>
              </a:spcBef>
              <a:spcAft>
                <a:spcPts val="0"/>
              </a:spcAft>
              <a:defRPr/>
            </a:pPr>
            <a:r>
              <a:rPr lang="en-US" sz="1600" b="1" dirty="0">
                <a:latin typeface="Arial"/>
                <a:cs typeface="Arial"/>
              </a:rPr>
              <a:t>Poor Strategy </a:t>
            </a:r>
            <a:r>
              <a:rPr lang="en-US" sz="1600" dirty="0">
                <a:latin typeface="Arial"/>
                <a:cs typeface="Arial"/>
              </a:rPr>
              <a:t>(Both fixed and variable costs are high)</a:t>
            </a:r>
          </a:p>
        </p:txBody>
      </p:sp>
      <p:grpSp>
        <p:nvGrpSpPr>
          <p:cNvPr id="32780" name="Group 12"/>
          <p:cNvGrpSpPr>
            <a:grpSpLocks/>
          </p:cNvGrpSpPr>
          <p:nvPr/>
        </p:nvGrpSpPr>
        <p:grpSpPr bwMode="auto">
          <a:xfrm>
            <a:off x="2457450" y="1001713"/>
            <a:ext cx="6310313" cy="979487"/>
            <a:chOff x="1508" y="687"/>
            <a:chExt cx="3975" cy="617"/>
          </a:xfrm>
        </p:grpSpPr>
        <p:sp>
          <p:nvSpPr>
            <p:cNvPr id="32781" name="Text Box 13"/>
            <p:cNvSpPr txBox="1">
              <a:spLocks noChangeArrowheads="1"/>
            </p:cNvSpPr>
            <p:nvPr/>
          </p:nvSpPr>
          <p:spPr bwMode="auto">
            <a:xfrm>
              <a:off x="1508" y="881"/>
              <a:ext cx="875" cy="423"/>
            </a:xfrm>
            <a:prstGeom prst="rect">
              <a:avLst/>
            </a:prstGeom>
            <a:noFill/>
            <a:ln>
              <a:noFill/>
            </a:ln>
            <a:effectLst/>
          </p:spPr>
          <p:txBody>
            <a:bodyPr lIns="244914" tIns="122456" rIns="244914" bIns="122456">
              <a:spAutoFit/>
            </a:bodyPr>
            <a:lstStyle>
              <a:lvl1pPr defTabSz="1000125">
                <a:defRPr sz="2400">
                  <a:solidFill>
                    <a:schemeClr val="tx1"/>
                  </a:solidFill>
                  <a:latin typeface="Arial" charset="0"/>
                  <a:ea typeface="ＭＳ Ｐゴシック" charset="0"/>
                  <a:cs typeface="ＭＳ Ｐゴシック" charset="0"/>
                </a:defRPr>
              </a:lvl1pPr>
              <a:lvl2pPr marL="500063" defTabSz="1000125">
                <a:defRPr sz="2400">
                  <a:solidFill>
                    <a:schemeClr val="tx1"/>
                  </a:solidFill>
                  <a:latin typeface="Arial" charset="0"/>
                  <a:ea typeface="ＭＳ Ｐゴシック" charset="0"/>
                </a:defRPr>
              </a:lvl2pPr>
              <a:lvl3pPr marL="1000125" defTabSz="1000125">
                <a:defRPr sz="2400">
                  <a:solidFill>
                    <a:schemeClr val="tx1"/>
                  </a:solidFill>
                  <a:latin typeface="Arial" charset="0"/>
                  <a:ea typeface="ＭＳ Ｐゴシック" charset="0"/>
                </a:defRPr>
              </a:lvl3pPr>
              <a:lvl4pPr marL="1500188" defTabSz="1000125">
                <a:defRPr sz="2400">
                  <a:solidFill>
                    <a:schemeClr val="tx1"/>
                  </a:solidFill>
                  <a:latin typeface="Arial" charset="0"/>
                  <a:ea typeface="ＭＳ Ｐゴシック" charset="0"/>
                </a:defRPr>
              </a:lvl4pPr>
              <a:lvl5pPr marL="2000250" defTabSz="1000125">
                <a:defRPr sz="2400">
                  <a:solidFill>
                    <a:schemeClr val="tx1"/>
                  </a:solidFill>
                  <a:latin typeface="Arial" charset="0"/>
                  <a:ea typeface="ＭＳ Ｐゴシック" charset="0"/>
                </a:defRPr>
              </a:lvl5pPr>
              <a:lvl6pPr marL="2457450" defTabSz="1000125" eaLnBrk="0" fontAlgn="base" hangingPunct="0">
                <a:spcBef>
                  <a:spcPct val="0"/>
                </a:spcBef>
                <a:spcAft>
                  <a:spcPct val="0"/>
                </a:spcAft>
                <a:defRPr sz="2400">
                  <a:solidFill>
                    <a:schemeClr val="tx1"/>
                  </a:solidFill>
                  <a:latin typeface="Arial" charset="0"/>
                  <a:ea typeface="ＭＳ Ｐゴシック" charset="0"/>
                </a:defRPr>
              </a:lvl6pPr>
              <a:lvl7pPr marL="2914650" defTabSz="1000125" eaLnBrk="0" fontAlgn="base" hangingPunct="0">
                <a:spcBef>
                  <a:spcPct val="0"/>
                </a:spcBef>
                <a:spcAft>
                  <a:spcPct val="0"/>
                </a:spcAft>
                <a:defRPr sz="2400">
                  <a:solidFill>
                    <a:schemeClr val="tx1"/>
                  </a:solidFill>
                  <a:latin typeface="Arial" charset="0"/>
                  <a:ea typeface="ＭＳ Ｐゴシック" charset="0"/>
                </a:defRPr>
              </a:lvl7pPr>
              <a:lvl8pPr marL="3371850" defTabSz="1000125" eaLnBrk="0" fontAlgn="base" hangingPunct="0">
                <a:spcBef>
                  <a:spcPct val="0"/>
                </a:spcBef>
                <a:spcAft>
                  <a:spcPct val="0"/>
                </a:spcAft>
                <a:defRPr sz="2400">
                  <a:solidFill>
                    <a:schemeClr val="tx1"/>
                  </a:solidFill>
                  <a:latin typeface="Arial" charset="0"/>
                  <a:ea typeface="ＭＳ Ｐゴシック" charset="0"/>
                </a:defRPr>
              </a:lvl8pPr>
              <a:lvl9pPr marL="3829050" defTabSz="1000125" eaLnBrk="0" fontAlgn="base" hangingPunct="0">
                <a:spcBef>
                  <a:spcPct val="0"/>
                </a:spcBef>
                <a:spcAft>
                  <a:spcPct val="0"/>
                </a:spcAft>
                <a:defRPr sz="2400">
                  <a:solidFill>
                    <a:schemeClr val="tx1"/>
                  </a:solidFill>
                  <a:latin typeface="Arial" charset="0"/>
                  <a:ea typeface="ＭＳ Ｐゴシック" charset="0"/>
                </a:defRPr>
              </a:lvl9pPr>
            </a:lstStyle>
            <a:p>
              <a:pPr algn="ctr" fontAlgn="auto">
                <a:lnSpc>
                  <a:spcPct val="85000"/>
                </a:lnSpc>
                <a:spcBef>
                  <a:spcPts val="0"/>
                </a:spcBef>
                <a:spcAft>
                  <a:spcPts val="0"/>
                </a:spcAft>
                <a:defRPr/>
              </a:pPr>
              <a:r>
                <a:rPr lang="en-US" sz="1600" b="1" dirty="0">
                  <a:latin typeface="Arial"/>
                  <a:cs typeface="Arial"/>
                </a:rPr>
                <a:t>Low Volume</a:t>
              </a:r>
            </a:p>
          </p:txBody>
        </p:sp>
        <p:sp>
          <p:nvSpPr>
            <p:cNvPr id="32782" name="Text Box 14"/>
            <p:cNvSpPr txBox="1">
              <a:spLocks noChangeArrowheads="1"/>
            </p:cNvSpPr>
            <p:nvPr/>
          </p:nvSpPr>
          <p:spPr bwMode="auto">
            <a:xfrm>
              <a:off x="2835" y="881"/>
              <a:ext cx="1316" cy="423"/>
            </a:xfrm>
            <a:prstGeom prst="rect">
              <a:avLst/>
            </a:prstGeom>
            <a:noFill/>
            <a:ln>
              <a:noFill/>
            </a:ln>
            <a:effectLst/>
          </p:spPr>
          <p:txBody>
            <a:bodyPr lIns="244914" tIns="122456" rIns="244914" bIns="122456">
              <a:spAutoFit/>
            </a:bodyPr>
            <a:lstStyle>
              <a:lvl1pPr defTabSz="1000125">
                <a:defRPr sz="2400">
                  <a:solidFill>
                    <a:schemeClr val="tx1"/>
                  </a:solidFill>
                  <a:latin typeface="Arial" charset="0"/>
                  <a:ea typeface="ＭＳ Ｐゴシック" charset="0"/>
                  <a:cs typeface="ＭＳ Ｐゴシック" charset="0"/>
                </a:defRPr>
              </a:lvl1pPr>
              <a:lvl2pPr marL="500063" defTabSz="1000125">
                <a:defRPr sz="2400">
                  <a:solidFill>
                    <a:schemeClr val="tx1"/>
                  </a:solidFill>
                  <a:latin typeface="Arial" charset="0"/>
                  <a:ea typeface="ＭＳ Ｐゴシック" charset="0"/>
                </a:defRPr>
              </a:lvl2pPr>
              <a:lvl3pPr marL="1000125" defTabSz="1000125">
                <a:defRPr sz="2400">
                  <a:solidFill>
                    <a:schemeClr val="tx1"/>
                  </a:solidFill>
                  <a:latin typeface="Arial" charset="0"/>
                  <a:ea typeface="ＭＳ Ｐゴシック" charset="0"/>
                </a:defRPr>
              </a:lvl3pPr>
              <a:lvl4pPr marL="1500188" defTabSz="1000125">
                <a:defRPr sz="2400">
                  <a:solidFill>
                    <a:schemeClr val="tx1"/>
                  </a:solidFill>
                  <a:latin typeface="Arial" charset="0"/>
                  <a:ea typeface="ＭＳ Ｐゴシック" charset="0"/>
                </a:defRPr>
              </a:lvl4pPr>
              <a:lvl5pPr marL="2000250" defTabSz="1000125">
                <a:defRPr sz="2400">
                  <a:solidFill>
                    <a:schemeClr val="tx1"/>
                  </a:solidFill>
                  <a:latin typeface="Arial" charset="0"/>
                  <a:ea typeface="ＭＳ Ｐゴシック" charset="0"/>
                </a:defRPr>
              </a:lvl5pPr>
              <a:lvl6pPr marL="2457450" defTabSz="1000125" eaLnBrk="0" fontAlgn="base" hangingPunct="0">
                <a:spcBef>
                  <a:spcPct val="0"/>
                </a:spcBef>
                <a:spcAft>
                  <a:spcPct val="0"/>
                </a:spcAft>
                <a:defRPr sz="2400">
                  <a:solidFill>
                    <a:schemeClr val="tx1"/>
                  </a:solidFill>
                  <a:latin typeface="Arial" charset="0"/>
                  <a:ea typeface="ＭＳ Ｐゴシック" charset="0"/>
                </a:defRPr>
              </a:lvl6pPr>
              <a:lvl7pPr marL="2914650" defTabSz="1000125" eaLnBrk="0" fontAlgn="base" hangingPunct="0">
                <a:spcBef>
                  <a:spcPct val="0"/>
                </a:spcBef>
                <a:spcAft>
                  <a:spcPct val="0"/>
                </a:spcAft>
                <a:defRPr sz="2400">
                  <a:solidFill>
                    <a:schemeClr val="tx1"/>
                  </a:solidFill>
                  <a:latin typeface="Arial" charset="0"/>
                  <a:ea typeface="ＭＳ Ｐゴシック" charset="0"/>
                </a:defRPr>
              </a:lvl7pPr>
              <a:lvl8pPr marL="3371850" defTabSz="1000125" eaLnBrk="0" fontAlgn="base" hangingPunct="0">
                <a:spcBef>
                  <a:spcPct val="0"/>
                </a:spcBef>
                <a:spcAft>
                  <a:spcPct val="0"/>
                </a:spcAft>
                <a:defRPr sz="2400">
                  <a:solidFill>
                    <a:schemeClr val="tx1"/>
                  </a:solidFill>
                  <a:latin typeface="Arial" charset="0"/>
                  <a:ea typeface="ＭＳ Ｐゴシック" charset="0"/>
                </a:defRPr>
              </a:lvl8pPr>
              <a:lvl9pPr marL="3829050" defTabSz="1000125" eaLnBrk="0" fontAlgn="base" hangingPunct="0">
                <a:spcBef>
                  <a:spcPct val="0"/>
                </a:spcBef>
                <a:spcAft>
                  <a:spcPct val="0"/>
                </a:spcAft>
                <a:defRPr sz="2400">
                  <a:solidFill>
                    <a:schemeClr val="tx1"/>
                  </a:solidFill>
                  <a:latin typeface="Arial" charset="0"/>
                  <a:ea typeface="ＭＳ Ｐゴシック" charset="0"/>
                </a:defRPr>
              </a:lvl9pPr>
            </a:lstStyle>
            <a:p>
              <a:pPr algn="ctr" fontAlgn="auto">
                <a:lnSpc>
                  <a:spcPct val="85000"/>
                </a:lnSpc>
                <a:spcBef>
                  <a:spcPts val="0"/>
                </a:spcBef>
                <a:spcAft>
                  <a:spcPts val="0"/>
                </a:spcAft>
                <a:defRPr/>
              </a:pPr>
              <a:r>
                <a:rPr lang="en-US" sz="1600" b="1" dirty="0">
                  <a:latin typeface="Arial"/>
                  <a:cs typeface="Arial"/>
                </a:rPr>
                <a:t>Repetitive Process</a:t>
              </a:r>
            </a:p>
          </p:txBody>
        </p:sp>
        <p:sp>
          <p:nvSpPr>
            <p:cNvPr id="32783" name="Text Box 15"/>
            <p:cNvSpPr txBox="1">
              <a:spLocks noChangeArrowheads="1"/>
            </p:cNvSpPr>
            <p:nvPr/>
          </p:nvSpPr>
          <p:spPr bwMode="auto">
            <a:xfrm>
              <a:off x="4603" y="881"/>
              <a:ext cx="880" cy="423"/>
            </a:xfrm>
            <a:prstGeom prst="rect">
              <a:avLst/>
            </a:prstGeom>
            <a:noFill/>
            <a:ln>
              <a:noFill/>
            </a:ln>
            <a:effectLst/>
          </p:spPr>
          <p:txBody>
            <a:bodyPr lIns="244914" tIns="122456" rIns="244914" bIns="122456">
              <a:spAutoFit/>
            </a:bodyPr>
            <a:lstStyle>
              <a:lvl1pPr defTabSz="1000125">
                <a:defRPr sz="2400">
                  <a:solidFill>
                    <a:schemeClr val="tx1"/>
                  </a:solidFill>
                  <a:latin typeface="Arial" charset="0"/>
                  <a:ea typeface="ＭＳ Ｐゴシック" charset="0"/>
                  <a:cs typeface="ＭＳ Ｐゴシック" charset="0"/>
                </a:defRPr>
              </a:lvl1pPr>
              <a:lvl2pPr marL="500063" defTabSz="1000125">
                <a:defRPr sz="2400">
                  <a:solidFill>
                    <a:schemeClr val="tx1"/>
                  </a:solidFill>
                  <a:latin typeface="Arial" charset="0"/>
                  <a:ea typeface="ＭＳ Ｐゴシック" charset="0"/>
                </a:defRPr>
              </a:lvl2pPr>
              <a:lvl3pPr marL="1000125" defTabSz="1000125">
                <a:defRPr sz="2400">
                  <a:solidFill>
                    <a:schemeClr val="tx1"/>
                  </a:solidFill>
                  <a:latin typeface="Arial" charset="0"/>
                  <a:ea typeface="ＭＳ Ｐゴシック" charset="0"/>
                </a:defRPr>
              </a:lvl3pPr>
              <a:lvl4pPr marL="1500188" defTabSz="1000125">
                <a:defRPr sz="2400">
                  <a:solidFill>
                    <a:schemeClr val="tx1"/>
                  </a:solidFill>
                  <a:latin typeface="Arial" charset="0"/>
                  <a:ea typeface="ＭＳ Ｐゴシック" charset="0"/>
                </a:defRPr>
              </a:lvl4pPr>
              <a:lvl5pPr marL="2000250" defTabSz="1000125">
                <a:defRPr sz="2400">
                  <a:solidFill>
                    <a:schemeClr val="tx1"/>
                  </a:solidFill>
                  <a:latin typeface="Arial" charset="0"/>
                  <a:ea typeface="ＭＳ Ｐゴシック" charset="0"/>
                </a:defRPr>
              </a:lvl5pPr>
              <a:lvl6pPr marL="2457450" defTabSz="1000125" eaLnBrk="0" fontAlgn="base" hangingPunct="0">
                <a:spcBef>
                  <a:spcPct val="0"/>
                </a:spcBef>
                <a:spcAft>
                  <a:spcPct val="0"/>
                </a:spcAft>
                <a:defRPr sz="2400">
                  <a:solidFill>
                    <a:schemeClr val="tx1"/>
                  </a:solidFill>
                  <a:latin typeface="Arial" charset="0"/>
                  <a:ea typeface="ＭＳ Ｐゴシック" charset="0"/>
                </a:defRPr>
              </a:lvl6pPr>
              <a:lvl7pPr marL="2914650" defTabSz="1000125" eaLnBrk="0" fontAlgn="base" hangingPunct="0">
                <a:spcBef>
                  <a:spcPct val="0"/>
                </a:spcBef>
                <a:spcAft>
                  <a:spcPct val="0"/>
                </a:spcAft>
                <a:defRPr sz="2400">
                  <a:solidFill>
                    <a:schemeClr val="tx1"/>
                  </a:solidFill>
                  <a:latin typeface="Arial" charset="0"/>
                  <a:ea typeface="ＭＳ Ｐゴシック" charset="0"/>
                </a:defRPr>
              </a:lvl7pPr>
              <a:lvl8pPr marL="3371850" defTabSz="1000125" eaLnBrk="0" fontAlgn="base" hangingPunct="0">
                <a:spcBef>
                  <a:spcPct val="0"/>
                </a:spcBef>
                <a:spcAft>
                  <a:spcPct val="0"/>
                </a:spcAft>
                <a:defRPr sz="2400">
                  <a:solidFill>
                    <a:schemeClr val="tx1"/>
                  </a:solidFill>
                  <a:latin typeface="Arial" charset="0"/>
                  <a:ea typeface="ＭＳ Ｐゴシック" charset="0"/>
                </a:defRPr>
              </a:lvl8pPr>
              <a:lvl9pPr marL="3829050" defTabSz="1000125" eaLnBrk="0" fontAlgn="base" hangingPunct="0">
                <a:spcBef>
                  <a:spcPct val="0"/>
                </a:spcBef>
                <a:spcAft>
                  <a:spcPct val="0"/>
                </a:spcAft>
                <a:defRPr sz="2400">
                  <a:solidFill>
                    <a:schemeClr val="tx1"/>
                  </a:solidFill>
                  <a:latin typeface="Arial" charset="0"/>
                  <a:ea typeface="ＭＳ Ｐゴシック" charset="0"/>
                </a:defRPr>
              </a:lvl9pPr>
            </a:lstStyle>
            <a:p>
              <a:pPr algn="ctr" fontAlgn="auto">
                <a:lnSpc>
                  <a:spcPct val="85000"/>
                </a:lnSpc>
                <a:spcBef>
                  <a:spcPts val="0"/>
                </a:spcBef>
                <a:spcAft>
                  <a:spcPts val="0"/>
                </a:spcAft>
                <a:defRPr/>
              </a:pPr>
              <a:r>
                <a:rPr lang="en-US" sz="1600" b="1" dirty="0">
                  <a:latin typeface="Arial"/>
                  <a:cs typeface="Arial"/>
                </a:rPr>
                <a:t>High Volume</a:t>
              </a:r>
            </a:p>
          </p:txBody>
        </p:sp>
        <p:grpSp>
          <p:nvGrpSpPr>
            <p:cNvPr id="30736" name="Group 16"/>
            <p:cNvGrpSpPr>
              <a:grpSpLocks/>
            </p:cNvGrpSpPr>
            <p:nvPr/>
          </p:nvGrpSpPr>
          <p:grpSpPr bwMode="auto">
            <a:xfrm>
              <a:off x="1533" y="687"/>
              <a:ext cx="3886" cy="235"/>
              <a:chOff x="1533" y="687"/>
              <a:chExt cx="3886" cy="235"/>
            </a:xfrm>
          </p:grpSpPr>
          <p:sp>
            <p:nvSpPr>
              <p:cNvPr id="30737" name="Line 17"/>
              <p:cNvSpPr>
                <a:spLocks noChangeShapeType="1"/>
              </p:cNvSpPr>
              <p:nvPr/>
            </p:nvSpPr>
            <p:spPr bwMode="auto">
              <a:xfrm>
                <a:off x="1533" y="922"/>
                <a:ext cx="3886" cy="0"/>
              </a:xfrm>
              <a:prstGeom prst="line">
                <a:avLst/>
              </a:prstGeom>
              <a:noFill/>
              <a:ln w="38100">
                <a:solidFill>
                  <a:srgbClr val="000000"/>
                </a:solidFill>
                <a:round/>
                <a:headEnd/>
                <a:tailEnd/>
              </a:ln>
              <a:extLst>
                <a:ext uri="{909E8E84-426E-40dd-AFC4-6F175D3DCCD1}">
                  <a14:hiddenFill xmlns="" xmlns:a14="http://schemas.microsoft.com/office/drawing/2010/main">
                    <a:noFill/>
                  </a14:hiddenFill>
                </a:ext>
              </a:extLst>
            </p:spPr>
            <p:txBody>
              <a:bodyPr lIns="244914" tIns="122456" rIns="244914" bIns="122456">
                <a:spAutoFit/>
              </a:bodyPr>
              <a:lstStyle/>
              <a:p>
                <a:endParaRPr lang="en-US" dirty="0">
                  <a:latin typeface="Arial"/>
                  <a:cs typeface="Arial"/>
                </a:endParaRPr>
              </a:p>
            </p:txBody>
          </p:sp>
          <p:sp>
            <p:nvSpPr>
              <p:cNvPr id="30738" name="Rectangle 18"/>
              <p:cNvSpPr>
                <a:spLocks noChangeArrowheads="1"/>
              </p:cNvSpPr>
              <p:nvPr/>
            </p:nvSpPr>
            <p:spPr bwMode="auto">
              <a:xfrm>
                <a:off x="3158" y="687"/>
                <a:ext cx="582" cy="2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1600" b="1" dirty="0">
                    <a:latin typeface="Arial"/>
                    <a:cs typeface="Arial"/>
                  </a:rPr>
                  <a:t>Volume</a:t>
                </a:r>
              </a:p>
            </p:txBody>
          </p:sp>
        </p:grpSp>
      </p:grpSp>
      <p:sp>
        <p:nvSpPr>
          <p:cNvPr id="32787" name="Rectangle 19"/>
          <p:cNvSpPr>
            <a:spLocks noChangeArrowheads="1"/>
          </p:cNvSpPr>
          <p:nvPr/>
        </p:nvSpPr>
        <p:spPr bwMode="auto">
          <a:xfrm>
            <a:off x="441325" y="1089025"/>
            <a:ext cx="1144588"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1600" dirty="0"/>
              <a:t>Figure </a:t>
            </a:r>
            <a:r>
              <a:rPr lang="en-US" sz="1600" dirty="0">
                <a:solidFill>
                  <a:schemeClr val="tx2"/>
                </a:solidFill>
              </a:rPr>
              <a:t>7.1</a:t>
            </a:r>
          </a:p>
        </p:txBody>
      </p:sp>
      <p:sp>
        <p:nvSpPr>
          <p:cNvPr id="2" name="TextBox 1"/>
          <p:cNvSpPr txBox="1"/>
          <p:nvPr/>
        </p:nvSpPr>
        <p:spPr>
          <a:xfrm rot="16200000">
            <a:off x="-463168" y="3640103"/>
            <a:ext cx="1839566" cy="338554"/>
          </a:xfrm>
          <a:prstGeom prst="rect">
            <a:avLst/>
          </a:prstGeom>
          <a:noFill/>
        </p:spPr>
        <p:txBody>
          <a:bodyPr wrap="none" rtlCol="0">
            <a:spAutoFit/>
          </a:bodyPr>
          <a:lstStyle/>
          <a:p>
            <a:r>
              <a:rPr lang="en-US" sz="1600" b="1" dirty="0"/>
              <a:t>Variety</a:t>
            </a:r>
            <a:r>
              <a:rPr lang="en-US" sz="1600" dirty="0"/>
              <a:t> (flexibility)</a:t>
            </a:r>
          </a:p>
        </p:txBody>
      </p:sp>
    </p:spTree>
    <p:extLst>
      <p:ext uri="{BB962C8B-B14F-4D97-AF65-F5344CB8AC3E}">
        <p14:creationId xmlns:p14="http://schemas.microsoft.com/office/powerpoint/2010/main" val="4089835747"/>
      </p:ext>
    </p:extLst>
  </p:cSld>
  <p:clrMapOvr>
    <a:masterClrMapping/>
  </p:clrMapOvr>
  <p:transition>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2000"/>
                            </p:stCondLst>
                            <p:childTnLst>
                              <p:par>
                                <p:cTn id="5" presetID="22" presetClass="entr" presetSubtype="8" fill="hold" nodeType="afterEffect">
                                  <p:stCondLst>
                                    <p:cond delay="1000"/>
                                  </p:stCondLst>
                                  <p:childTnLst>
                                    <p:set>
                                      <p:cBhvr>
                                        <p:cTn id="6" dur="1" fill="hold">
                                          <p:stCondLst>
                                            <p:cond delay="0"/>
                                          </p:stCondLst>
                                        </p:cTn>
                                        <p:tgtEl>
                                          <p:spTgt spid="32780"/>
                                        </p:tgtEl>
                                        <p:attrNameLst>
                                          <p:attrName>style.visibility</p:attrName>
                                        </p:attrNameLst>
                                      </p:cBhvr>
                                      <p:to>
                                        <p:strVal val="visible"/>
                                      </p:to>
                                    </p:set>
                                    <p:animEffect transition="in" filter="wipe(left)">
                                      <p:cBhvr>
                                        <p:cTn id="7" dur="1000"/>
                                        <p:tgtEl>
                                          <p:spTgt spid="32780"/>
                                        </p:tgtEl>
                                      </p:cBhvr>
                                    </p:animEffect>
                                  </p:childTnLst>
                                </p:cTn>
                              </p:par>
                              <p:par>
                                <p:cTn id="8" presetID="22" presetClass="entr" presetSubtype="4" fill="hold" grpId="0" nodeType="withEffect">
                                  <p:stCondLst>
                                    <p:cond delay="1000"/>
                                  </p:stCondLst>
                                  <p:childTnLst>
                                    <p:set>
                                      <p:cBhvr>
                                        <p:cTn id="9" dur="1" fill="hold">
                                          <p:stCondLst>
                                            <p:cond delay="0"/>
                                          </p:stCondLst>
                                        </p:cTn>
                                        <p:tgtEl>
                                          <p:spTgt spid="2"/>
                                        </p:tgtEl>
                                        <p:attrNameLst>
                                          <p:attrName>style.visibility</p:attrName>
                                        </p:attrNameLst>
                                      </p:cBhvr>
                                      <p:to>
                                        <p:strVal val="visible"/>
                                      </p:to>
                                    </p:set>
                                    <p:animEffect transition="in" filter="wipe(down)">
                                      <p:cBhvr>
                                        <p:cTn id="10" dur="1000"/>
                                        <p:tgtEl>
                                          <p:spTgt spid="2"/>
                                        </p:tgtEl>
                                      </p:cBhvr>
                                    </p:animEffect>
                                  </p:childTnLst>
                                </p:cTn>
                              </p:par>
                            </p:childTnLst>
                          </p:cTn>
                        </p:par>
                        <p:par>
                          <p:cTn id="11" fill="hold">
                            <p:stCondLst>
                              <p:cond delay="4000"/>
                            </p:stCondLst>
                            <p:childTnLst>
                              <p:par>
                                <p:cTn id="12" presetID="22" presetClass="entr" presetSubtype="8" fill="hold" grpId="0" nodeType="afterEffect">
                                  <p:stCondLst>
                                    <p:cond delay="1000"/>
                                  </p:stCondLst>
                                  <p:childTnLst>
                                    <p:set>
                                      <p:cBhvr>
                                        <p:cTn id="13" dur="1" fill="hold">
                                          <p:stCondLst>
                                            <p:cond delay="0"/>
                                          </p:stCondLst>
                                        </p:cTn>
                                        <p:tgtEl>
                                          <p:spTgt spid="32775"/>
                                        </p:tgtEl>
                                        <p:attrNameLst>
                                          <p:attrName>style.visibility</p:attrName>
                                        </p:attrNameLst>
                                      </p:cBhvr>
                                      <p:to>
                                        <p:strVal val="visible"/>
                                      </p:to>
                                    </p:set>
                                    <p:animEffect transition="in" filter="wipe(left)">
                                      <p:cBhvr>
                                        <p:cTn id="14" dur="1000"/>
                                        <p:tgtEl>
                                          <p:spTgt spid="32775"/>
                                        </p:tgtEl>
                                      </p:cBhvr>
                                    </p:animEffect>
                                  </p:childTnLst>
                                </p:cTn>
                              </p:par>
                            </p:childTnLst>
                          </p:cTn>
                        </p:par>
                        <p:par>
                          <p:cTn id="15" fill="hold">
                            <p:stCondLst>
                              <p:cond delay="6000"/>
                            </p:stCondLst>
                            <p:childTnLst>
                              <p:par>
                                <p:cTn id="16" presetID="22" presetClass="entr" presetSubtype="8" fill="hold" grpId="0" nodeType="afterEffect">
                                  <p:stCondLst>
                                    <p:cond delay="1000"/>
                                  </p:stCondLst>
                                  <p:childTnLst>
                                    <p:set>
                                      <p:cBhvr>
                                        <p:cTn id="17" dur="1" fill="hold">
                                          <p:stCondLst>
                                            <p:cond delay="0"/>
                                          </p:stCondLst>
                                        </p:cTn>
                                        <p:tgtEl>
                                          <p:spTgt spid="32776"/>
                                        </p:tgtEl>
                                        <p:attrNameLst>
                                          <p:attrName>style.visibility</p:attrName>
                                        </p:attrNameLst>
                                      </p:cBhvr>
                                      <p:to>
                                        <p:strVal val="visible"/>
                                      </p:to>
                                    </p:set>
                                    <p:animEffect transition="in" filter="wipe(left)">
                                      <p:cBhvr>
                                        <p:cTn id="18" dur="1000"/>
                                        <p:tgtEl>
                                          <p:spTgt spid="32776"/>
                                        </p:tgtEl>
                                      </p:cBhvr>
                                    </p:animEffect>
                                  </p:childTnLst>
                                </p:cTn>
                              </p:par>
                            </p:childTnLst>
                          </p:cTn>
                        </p:par>
                        <p:par>
                          <p:cTn id="19" fill="hold">
                            <p:stCondLst>
                              <p:cond delay="8000"/>
                            </p:stCondLst>
                            <p:childTnLst>
                              <p:par>
                                <p:cTn id="20" presetID="22" presetClass="entr" presetSubtype="8" fill="hold" grpId="0" nodeType="afterEffect">
                                  <p:stCondLst>
                                    <p:cond delay="1000"/>
                                  </p:stCondLst>
                                  <p:childTnLst>
                                    <p:set>
                                      <p:cBhvr>
                                        <p:cTn id="21" dur="1" fill="hold">
                                          <p:stCondLst>
                                            <p:cond delay="0"/>
                                          </p:stCondLst>
                                        </p:cTn>
                                        <p:tgtEl>
                                          <p:spTgt spid="32777"/>
                                        </p:tgtEl>
                                        <p:attrNameLst>
                                          <p:attrName>style.visibility</p:attrName>
                                        </p:attrNameLst>
                                      </p:cBhvr>
                                      <p:to>
                                        <p:strVal val="visible"/>
                                      </p:to>
                                    </p:set>
                                    <p:animEffect transition="in" filter="wipe(left)">
                                      <p:cBhvr>
                                        <p:cTn id="22" dur="1000"/>
                                        <p:tgtEl>
                                          <p:spTgt spid="32777"/>
                                        </p:tgtEl>
                                      </p:cBhvr>
                                    </p:animEffect>
                                  </p:childTnLst>
                                </p:cTn>
                              </p:par>
                            </p:childTnLst>
                          </p:cTn>
                        </p:par>
                        <p:par>
                          <p:cTn id="23" fill="hold">
                            <p:stCondLst>
                              <p:cond delay="10000"/>
                            </p:stCondLst>
                            <p:childTnLst>
                              <p:par>
                                <p:cTn id="24" presetID="9" presetClass="entr" presetSubtype="0" fill="hold" grpId="0" nodeType="afterEffect">
                                  <p:stCondLst>
                                    <p:cond delay="1000"/>
                                  </p:stCondLst>
                                  <p:childTnLst>
                                    <p:set>
                                      <p:cBhvr>
                                        <p:cTn id="25" dur="1" fill="hold">
                                          <p:stCondLst>
                                            <p:cond delay="0"/>
                                          </p:stCondLst>
                                        </p:cTn>
                                        <p:tgtEl>
                                          <p:spTgt spid="21"/>
                                        </p:tgtEl>
                                        <p:attrNameLst>
                                          <p:attrName>style.visibility</p:attrName>
                                        </p:attrNameLst>
                                      </p:cBhvr>
                                      <p:to>
                                        <p:strVal val="visible"/>
                                      </p:to>
                                    </p:set>
                                    <p:animEffect transition="in" filter="dissolve">
                                      <p:cBhvr>
                                        <p:cTn id="26" dur="1000"/>
                                        <p:tgtEl>
                                          <p:spTgt spid="21"/>
                                        </p:tgtEl>
                                      </p:cBhvr>
                                    </p:animEffect>
                                  </p:childTnLst>
                                </p:cTn>
                              </p:par>
                            </p:childTnLst>
                          </p:cTn>
                        </p:par>
                        <p:par>
                          <p:cTn id="27" fill="hold">
                            <p:stCondLst>
                              <p:cond delay="12000"/>
                            </p:stCondLst>
                            <p:childTnLst>
                              <p:par>
                                <p:cTn id="28" presetID="22" presetClass="entr" presetSubtype="8" fill="hold" grpId="0" nodeType="afterEffect">
                                  <p:stCondLst>
                                    <p:cond delay="1000"/>
                                  </p:stCondLst>
                                  <p:childTnLst>
                                    <p:set>
                                      <p:cBhvr>
                                        <p:cTn id="29" dur="1" fill="hold">
                                          <p:stCondLst>
                                            <p:cond delay="0"/>
                                          </p:stCondLst>
                                        </p:cTn>
                                        <p:tgtEl>
                                          <p:spTgt spid="32772"/>
                                        </p:tgtEl>
                                        <p:attrNameLst>
                                          <p:attrName>style.visibility</p:attrName>
                                        </p:attrNameLst>
                                      </p:cBhvr>
                                      <p:to>
                                        <p:strVal val="visible"/>
                                      </p:to>
                                    </p:set>
                                    <p:animEffect transition="in" filter="wipe(left)">
                                      <p:cBhvr>
                                        <p:cTn id="30" dur="1000"/>
                                        <p:tgtEl>
                                          <p:spTgt spid="32772"/>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32773"/>
                                        </p:tgtEl>
                                        <p:attrNameLst>
                                          <p:attrName>style.visibility</p:attrName>
                                        </p:attrNameLst>
                                      </p:cBhvr>
                                      <p:to>
                                        <p:strVal val="visible"/>
                                      </p:to>
                                    </p:set>
                                    <p:animEffect transition="in" filter="wipe(left)">
                                      <p:cBhvr>
                                        <p:cTn id="35" dur="1000"/>
                                        <p:tgtEl>
                                          <p:spTgt spid="32773"/>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32774"/>
                                        </p:tgtEl>
                                        <p:attrNameLst>
                                          <p:attrName>style.visibility</p:attrName>
                                        </p:attrNameLst>
                                      </p:cBhvr>
                                      <p:to>
                                        <p:strVal val="visible"/>
                                      </p:to>
                                    </p:set>
                                    <p:animEffect transition="in" filter="wipe(left)">
                                      <p:cBhvr>
                                        <p:cTn id="40" dur="1000"/>
                                        <p:tgtEl>
                                          <p:spTgt spid="32774"/>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32778"/>
                                        </p:tgtEl>
                                        <p:attrNameLst>
                                          <p:attrName>style.visibility</p:attrName>
                                        </p:attrNameLst>
                                      </p:cBhvr>
                                      <p:to>
                                        <p:strVal val="visible"/>
                                      </p:to>
                                    </p:set>
                                    <p:animEffect transition="in" filter="wipe(left)">
                                      <p:cBhvr>
                                        <p:cTn id="45" dur="1000"/>
                                        <p:tgtEl>
                                          <p:spTgt spid="32778"/>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32779"/>
                                        </p:tgtEl>
                                        <p:attrNameLst>
                                          <p:attrName>style.visibility</p:attrName>
                                        </p:attrNameLst>
                                      </p:cBhvr>
                                      <p:to>
                                        <p:strVal val="visible"/>
                                      </p:to>
                                    </p:set>
                                    <p:animEffect transition="in" filter="wipe(left)">
                                      <p:cBhvr>
                                        <p:cTn id="50" dur="1000"/>
                                        <p:tgtEl>
                                          <p:spTgt spid="32779"/>
                                        </p:tgtEl>
                                      </p:cBhvr>
                                    </p:animEffect>
                                  </p:childTnLst>
                                </p:cTn>
                              </p:par>
                            </p:childTnLst>
                          </p:cTn>
                        </p:par>
                        <p:par>
                          <p:cTn id="51" fill="hold">
                            <p:stCondLst>
                              <p:cond delay="1000"/>
                            </p:stCondLst>
                            <p:childTnLst>
                              <p:par>
                                <p:cTn id="52" presetID="22" presetClass="entr" presetSubtype="8" fill="hold" grpId="0" nodeType="afterEffect">
                                  <p:stCondLst>
                                    <p:cond delay="0"/>
                                  </p:stCondLst>
                                  <p:childTnLst>
                                    <p:set>
                                      <p:cBhvr>
                                        <p:cTn id="53" dur="1" fill="hold">
                                          <p:stCondLst>
                                            <p:cond delay="0"/>
                                          </p:stCondLst>
                                        </p:cTn>
                                        <p:tgtEl>
                                          <p:spTgt spid="32787"/>
                                        </p:tgtEl>
                                        <p:attrNameLst>
                                          <p:attrName>style.visibility</p:attrName>
                                        </p:attrNameLst>
                                      </p:cBhvr>
                                      <p:to>
                                        <p:strVal val="visible"/>
                                      </p:to>
                                    </p:set>
                                    <p:animEffect transition="in" filter="wipe(left)">
                                      <p:cBhvr>
                                        <p:cTn id="54" dur="1000"/>
                                        <p:tgtEl>
                                          <p:spTgt spid="327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32772" grpId="0" autoUpdateAnimBg="0"/>
      <p:bldP spid="32773" grpId="0" autoUpdateAnimBg="0"/>
      <p:bldP spid="32774" grpId="0" autoUpdateAnimBg="0"/>
      <p:bldP spid="32775" grpId="0" autoUpdateAnimBg="0"/>
      <p:bldP spid="32776" grpId="0" autoUpdateAnimBg="0"/>
      <p:bldP spid="32777" grpId="0" autoUpdateAnimBg="0"/>
      <p:bldP spid="32778" grpId="0" autoUpdateAnimBg="0"/>
      <p:bldP spid="32779" grpId="0" autoUpdateAnimBg="0"/>
      <p:bldP spid="32787" grpId="0" autoUpdateAnimBg="0"/>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349C7-AE29-4D6E-9019-DEEBFE61A18B}"/>
              </a:ext>
            </a:extLst>
          </p:cNvPr>
          <p:cNvSpPr>
            <a:spLocks noGrp="1"/>
          </p:cNvSpPr>
          <p:nvPr>
            <p:ph type="ctrTitle"/>
          </p:nvPr>
        </p:nvSpPr>
        <p:spPr/>
        <p:txBody>
          <a:bodyPr/>
          <a:lstStyle/>
          <a:p>
            <a:r>
              <a:rPr lang="en-US" dirty="0"/>
              <a:t>Process Choice Based on Costs</a:t>
            </a:r>
          </a:p>
        </p:txBody>
      </p:sp>
      <p:sp>
        <p:nvSpPr>
          <p:cNvPr id="3" name="Subtitle 2">
            <a:extLst>
              <a:ext uri="{FF2B5EF4-FFF2-40B4-BE49-F238E27FC236}">
                <a16:creationId xmlns:a16="http://schemas.microsoft.com/office/drawing/2014/main" id="{C74565B5-C210-4BF1-A03F-A35F5C99E24E}"/>
              </a:ext>
            </a:extLst>
          </p:cNvPr>
          <p:cNvSpPr>
            <a:spLocks noGrp="1"/>
          </p:cNvSpPr>
          <p:nvPr>
            <p:ph type="subTitle" idx="1"/>
          </p:nvPr>
        </p:nvSpPr>
        <p:spPr/>
        <p:txBody>
          <a:bodyPr/>
          <a:lstStyle/>
          <a:p>
            <a:r>
              <a:rPr lang="en-US" dirty="0"/>
              <a:t>Fixed vs. Variable Costs</a:t>
            </a:r>
          </a:p>
        </p:txBody>
      </p:sp>
    </p:spTree>
    <p:extLst>
      <p:ext uri="{BB962C8B-B14F-4D97-AF65-F5344CB8AC3E}">
        <p14:creationId xmlns:p14="http://schemas.microsoft.com/office/powerpoint/2010/main" val="7842338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Title 1"/>
          <p:cNvSpPr>
            <a:spLocks noGrp="1"/>
          </p:cNvSpPr>
          <p:nvPr>
            <p:ph type="title"/>
          </p:nvPr>
        </p:nvSpPr>
        <p:spPr/>
        <p:txBody>
          <a:bodyPr/>
          <a:lstStyle/>
          <a:p>
            <a:r>
              <a:rPr lang="en-US" dirty="0">
                <a:latin typeface="Arial" charset="0"/>
                <a:cs typeface="Arial" charset="0"/>
              </a:rPr>
              <a:t>Crossover Chart Example</a:t>
            </a:r>
          </a:p>
        </p:txBody>
      </p:sp>
      <p:sp>
        <p:nvSpPr>
          <p:cNvPr id="59394" name="Content Placeholder 3"/>
          <p:cNvSpPr>
            <a:spLocks noGrp="1"/>
          </p:cNvSpPr>
          <p:nvPr>
            <p:ph idx="1"/>
          </p:nvPr>
        </p:nvSpPr>
        <p:spPr>
          <a:xfrm>
            <a:off x="457200" y="1600200"/>
            <a:ext cx="8229600" cy="2171700"/>
          </a:xfrm>
        </p:spPr>
        <p:txBody>
          <a:bodyPr/>
          <a:lstStyle/>
          <a:p>
            <a:pPr marL="444500" indent="-444500">
              <a:buFont typeface="Arial Unicode MS" charset="0"/>
              <a:buChar char="▶"/>
            </a:pPr>
            <a:r>
              <a:rPr lang="en-US" sz="2800" dirty="0">
                <a:latin typeface="Arial" charset="0"/>
                <a:cs typeface="Arial" charset="0"/>
              </a:rPr>
              <a:t>Evaluate three different accounting software products</a:t>
            </a:r>
          </a:p>
          <a:p>
            <a:pPr marL="444500" indent="-444500">
              <a:buFont typeface="Arial Unicode MS" charset="0"/>
              <a:buChar char="▶"/>
            </a:pPr>
            <a:r>
              <a:rPr lang="en-US" sz="2800" dirty="0">
                <a:latin typeface="Arial" charset="0"/>
                <a:cs typeface="Arial" charset="0"/>
              </a:rPr>
              <a:t>Calculate crossover points between software A and B and between software B and C</a:t>
            </a:r>
          </a:p>
        </p:txBody>
      </p:sp>
      <p:graphicFrame>
        <p:nvGraphicFramePr>
          <p:cNvPr id="3" name="Table 2"/>
          <p:cNvGraphicFramePr>
            <a:graphicFrameLocks noGrp="1"/>
          </p:cNvGraphicFramePr>
          <p:nvPr/>
        </p:nvGraphicFramePr>
        <p:xfrm>
          <a:off x="698500" y="3898900"/>
          <a:ext cx="7759701" cy="1692274"/>
        </p:xfrm>
        <a:graphic>
          <a:graphicData uri="http://schemas.openxmlformats.org/drawingml/2006/table">
            <a:tbl>
              <a:tblPr firstRow="1" bandRow="1">
                <a:tableStyleId>{2D5ABB26-0587-4C30-8999-92F81FD0307C}</a:tableStyleId>
              </a:tblPr>
              <a:tblGrid>
                <a:gridCol w="1790701">
                  <a:extLst>
                    <a:ext uri="{9D8B030D-6E8A-4147-A177-3AD203B41FA5}">
                      <a16:colId xmlns:a16="http://schemas.microsoft.com/office/drawing/2014/main" val="20000"/>
                    </a:ext>
                  </a:extLst>
                </a:gridCol>
                <a:gridCol w="2298700">
                  <a:extLst>
                    <a:ext uri="{9D8B030D-6E8A-4147-A177-3AD203B41FA5}">
                      <a16:colId xmlns:a16="http://schemas.microsoft.com/office/drawing/2014/main" val="20001"/>
                    </a:ext>
                  </a:extLst>
                </a:gridCol>
                <a:gridCol w="3670300">
                  <a:extLst>
                    <a:ext uri="{9D8B030D-6E8A-4147-A177-3AD203B41FA5}">
                      <a16:colId xmlns:a16="http://schemas.microsoft.com/office/drawing/2014/main" val="20002"/>
                    </a:ext>
                  </a:extLst>
                </a:gridCol>
              </a:tblGrid>
              <a:tr h="579337">
                <a:tc>
                  <a:txBody>
                    <a:bodyPr/>
                    <a:lstStyle/>
                    <a:p>
                      <a:endParaRPr lang="en-US" sz="1600" b="1" dirty="0">
                        <a:solidFill>
                          <a:schemeClr val="bg1"/>
                        </a:solidFill>
                        <a:latin typeface="Arial"/>
                        <a:cs typeface="Arial"/>
                      </a:endParaRPr>
                    </a:p>
                  </a:txBody>
                  <a:tcPr marT="45737" marB="45737" anchor="b">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1"/>
                    </a:solidFill>
                  </a:tcPr>
                </a:tc>
                <a:tc>
                  <a:txBody>
                    <a:bodyPr/>
                    <a:lstStyle/>
                    <a:p>
                      <a:pPr algn="ctr"/>
                      <a:r>
                        <a:rPr lang="en-US" sz="1600" b="1" dirty="0">
                          <a:solidFill>
                            <a:schemeClr val="bg1"/>
                          </a:solidFill>
                          <a:latin typeface="Arial"/>
                          <a:cs typeface="Arial"/>
                        </a:rPr>
                        <a:t>TOTAL FIXED COST</a:t>
                      </a:r>
                    </a:p>
                  </a:txBody>
                  <a:tcPr marT="45737" marB="45737" anchor="b">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1"/>
                    </a:solidFill>
                  </a:tcPr>
                </a:tc>
                <a:tc>
                  <a:txBody>
                    <a:bodyPr/>
                    <a:lstStyle/>
                    <a:p>
                      <a:pPr algn="ctr"/>
                      <a:r>
                        <a:rPr lang="en-US" sz="1600" b="1" dirty="0">
                          <a:solidFill>
                            <a:schemeClr val="bg1"/>
                          </a:solidFill>
                          <a:latin typeface="Arial"/>
                          <a:cs typeface="Arial"/>
                        </a:rPr>
                        <a:t>DOLLARS REQUIRED PER ACCOUNTING REPORT</a:t>
                      </a:r>
                    </a:p>
                  </a:txBody>
                  <a:tcPr marT="45737" marB="45737" anchor="b">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370979">
                <a:tc>
                  <a:txBody>
                    <a:bodyPr/>
                    <a:lstStyle/>
                    <a:p>
                      <a:r>
                        <a:rPr lang="en-US" sz="1600" dirty="0">
                          <a:latin typeface="Arial"/>
                          <a:cs typeface="Arial"/>
                        </a:rPr>
                        <a:t>Software A</a:t>
                      </a:r>
                    </a:p>
                  </a:txBody>
                  <a:tcPr marT="45737" marB="45737">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latin typeface="Arial"/>
                          <a:cs typeface="Arial"/>
                        </a:rPr>
                        <a:t>$200,000</a:t>
                      </a:r>
                    </a:p>
                  </a:txBody>
                  <a:tcPr marT="45737" marB="45737">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latin typeface="Arial"/>
                          <a:cs typeface="Arial"/>
                        </a:rPr>
                        <a:t>$60</a:t>
                      </a:r>
                    </a:p>
                  </a:txBody>
                  <a:tcPr marT="45737" marB="45737">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extLst>
                  <a:ext uri="{0D108BD9-81ED-4DB2-BD59-A6C34878D82A}">
                    <a16:rowId xmlns:a16="http://schemas.microsoft.com/office/drawing/2014/main" val="10001"/>
                  </a:ext>
                </a:extLst>
              </a:tr>
              <a:tr h="370979">
                <a:tc>
                  <a:txBody>
                    <a:bodyPr/>
                    <a:lstStyle/>
                    <a:p>
                      <a:r>
                        <a:rPr lang="en-US" sz="1600" dirty="0">
                          <a:latin typeface="Arial"/>
                          <a:cs typeface="Arial"/>
                        </a:rPr>
                        <a:t>Software B</a:t>
                      </a:r>
                    </a:p>
                  </a:txBody>
                  <a:tcPr marT="45737" marB="45737">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latin typeface="Arial"/>
                          <a:cs typeface="Arial"/>
                        </a:rPr>
                        <a:t>$300,000</a:t>
                      </a:r>
                    </a:p>
                  </a:txBody>
                  <a:tcPr marT="45737" marB="45737">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latin typeface="Arial"/>
                          <a:cs typeface="Arial"/>
                        </a:rPr>
                        <a:t>$25</a:t>
                      </a:r>
                    </a:p>
                  </a:txBody>
                  <a:tcPr marT="45737" marB="45737">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extLst>
                  <a:ext uri="{0D108BD9-81ED-4DB2-BD59-A6C34878D82A}">
                    <a16:rowId xmlns:a16="http://schemas.microsoft.com/office/drawing/2014/main" val="10002"/>
                  </a:ext>
                </a:extLst>
              </a:tr>
              <a:tr h="370979">
                <a:tc>
                  <a:txBody>
                    <a:bodyPr/>
                    <a:lstStyle/>
                    <a:p>
                      <a:r>
                        <a:rPr lang="en-US" sz="1600" dirty="0">
                          <a:latin typeface="Arial"/>
                          <a:cs typeface="Arial"/>
                        </a:rPr>
                        <a:t>Software C</a:t>
                      </a:r>
                    </a:p>
                  </a:txBody>
                  <a:tcPr marT="45737" marB="45737">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latin typeface="Arial"/>
                          <a:cs typeface="Arial"/>
                        </a:rPr>
                        <a:t>$400,000</a:t>
                      </a:r>
                    </a:p>
                  </a:txBody>
                  <a:tcPr marT="45737" marB="45737">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latin typeface="Arial"/>
                          <a:cs typeface="Arial"/>
                        </a:rPr>
                        <a:t>$10</a:t>
                      </a:r>
                    </a:p>
                  </a:txBody>
                  <a:tcPr marT="45737" marB="45737">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96875521"/>
      </p:ext>
    </p:extLst>
  </p:cSld>
  <p:clrMapOvr>
    <a:masterClrMapping/>
  </p:clrMapOvr>
  <p:transition spd="slow">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272" fill="hold" nodeType="afterEffect">
                                  <p:stCondLst>
                                    <p:cond delay="100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strVal val="2/3*#ppt_w"/>
                                          </p:val>
                                        </p:tav>
                                        <p:tav tm="100000">
                                          <p:val>
                                            <p:strVal val="#ppt_w"/>
                                          </p:val>
                                        </p:tav>
                                      </p:tavLst>
                                    </p:anim>
                                    <p:anim calcmode="lin" valueType="num">
                                      <p:cBhvr>
                                        <p:cTn id="8" dur="1000" fill="hold"/>
                                        <p:tgtEl>
                                          <p:spTgt spid="3"/>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685800" y="317500"/>
            <a:ext cx="7772400" cy="698500"/>
          </a:xfrm>
        </p:spPr>
        <p:txBody>
          <a:bodyPr rtlCol="0">
            <a:normAutofit fontScale="90000"/>
          </a:bodyPr>
          <a:lstStyle/>
          <a:p>
            <a:pPr fontAlgn="auto">
              <a:spcAft>
                <a:spcPts val="0"/>
              </a:spcAft>
              <a:defRPr/>
            </a:pPr>
            <a:r>
              <a:rPr lang="en-US" dirty="0">
                <a:ea typeface="+mj-ea"/>
              </a:rPr>
              <a:t>Crossover Charts</a:t>
            </a:r>
          </a:p>
        </p:txBody>
      </p:sp>
      <p:grpSp>
        <p:nvGrpSpPr>
          <p:cNvPr id="69635" name="Group 3"/>
          <p:cNvGrpSpPr>
            <a:grpSpLocks/>
          </p:cNvGrpSpPr>
          <p:nvPr/>
        </p:nvGrpSpPr>
        <p:grpSpPr bwMode="auto">
          <a:xfrm>
            <a:off x="5864225" y="1155700"/>
            <a:ext cx="3070225" cy="2306638"/>
            <a:chOff x="3694" y="848"/>
            <a:chExt cx="1934" cy="1453"/>
          </a:xfrm>
        </p:grpSpPr>
        <p:sp>
          <p:nvSpPr>
            <p:cNvPr id="69636" name="Rectangle 4"/>
            <p:cNvSpPr>
              <a:spLocks noChangeArrowheads="1"/>
            </p:cNvSpPr>
            <p:nvPr/>
          </p:nvSpPr>
          <p:spPr bwMode="auto">
            <a:xfrm>
              <a:off x="3936" y="1504"/>
              <a:ext cx="1272" cy="480"/>
            </a:xfrm>
            <a:prstGeom prst="rect">
              <a:avLst/>
            </a:prstGeom>
            <a:solidFill>
              <a:schemeClr val="accent4"/>
            </a:solidFill>
            <a:ln w="38100">
              <a:solidFill>
                <a:schemeClr val="tx1"/>
              </a:solidFill>
              <a:miter lim="800000"/>
              <a:headEnd/>
              <a:tailEnd/>
            </a:ln>
            <a:effectLst/>
          </p:spPr>
          <p:txBody>
            <a:bodyPr wrap="none" anchor="ctr"/>
            <a:lstStyle/>
            <a:p>
              <a:pPr fontAlgn="auto">
                <a:spcBef>
                  <a:spcPts val="0"/>
                </a:spcBef>
                <a:spcAft>
                  <a:spcPts val="0"/>
                </a:spcAft>
                <a:defRPr/>
              </a:pPr>
              <a:endParaRPr lang="en-US" dirty="0">
                <a:latin typeface="+mn-lt"/>
                <a:ea typeface="+mn-ea"/>
                <a:cs typeface="+mn-cs"/>
              </a:endParaRPr>
            </a:p>
          </p:txBody>
        </p:sp>
        <p:sp>
          <p:nvSpPr>
            <p:cNvPr id="122950" name="Freeform 5"/>
            <p:cNvSpPr>
              <a:spLocks/>
            </p:cNvSpPr>
            <p:nvPr/>
          </p:nvSpPr>
          <p:spPr bwMode="auto">
            <a:xfrm>
              <a:off x="3936" y="848"/>
              <a:ext cx="1296" cy="1136"/>
            </a:xfrm>
            <a:custGeom>
              <a:avLst/>
              <a:gdLst>
                <a:gd name="T0" fmla="*/ 0 w 1128"/>
                <a:gd name="T1" fmla="*/ 0 h 1136"/>
                <a:gd name="T2" fmla="*/ 0 w 1128"/>
                <a:gd name="T3" fmla="*/ 1136 h 1136"/>
                <a:gd name="T4" fmla="*/ 1296 w 1128"/>
                <a:gd name="T5" fmla="*/ 1136 h 1136"/>
                <a:gd name="T6" fmla="*/ 0 60000 65536"/>
                <a:gd name="T7" fmla="*/ 0 60000 65536"/>
                <a:gd name="T8" fmla="*/ 0 60000 65536"/>
                <a:gd name="T9" fmla="*/ 0 w 1128"/>
                <a:gd name="T10" fmla="*/ 0 h 1136"/>
                <a:gd name="T11" fmla="*/ 1128 w 1128"/>
                <a:gd name="T12" fmla="*/ 1136 h 1136"/>
              </a:gdLst>
              <a:ahLst/>
              <a:cxnLst>
                <a:cxn ang="T6">
                  <a:pos x="T0" y="T1"/>
                </a:cxn>
                <a:cxn ang="T7">
                  <a:pos x="T2" y="T3"/>
                </a:cxn>
                <a:cxn ang="T8">
                  <a:pos x="T4" y="T5"/>
                </a:cxn>
              </a:cxnLst>
              <a:rect l="T9" t="T10" r="T11" b="T12"/>
              <a:pathLst>
                <a:path w="1128" h="1136">
                  <a:moveTo>
                    <a:pt x="0" y="0"/>
                  </a:moveTo>
                  <a:lnTo>
                    <a:pt x="0" y="1136"/>
                  </a:lnTo>
                  <a:lnTo>
                    <a:pt x="1128" y="1136"/>
                  </a:lnTo>
                </a:path>
              </a:pathLst>
            </a:custGeom>
            <a:noFill/>
            <a:ln w="38100" cmpd="sng">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dirty="0"/>
            </a:p>
          </p:txBody>
        </p:sp>
        <p:sp>
          <p:nvSpPr>
            <p:cNvPr id="122951" name="Line 6"/>
            <p:cNvSpPr>
              <a:spLocks noChangeShapeType="1"/>
            </p:cNvSpPr>
            <p:nvPr/>
          </p:nvSpPr>
          <p:spPr bwMode="auto">
            <a:xfrm flipV="1">
              <a:off x="3936" y="1040"/>
              <a:ext cx="1272" cy="456"/>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dirty="0"/>
            </a:p>
          </p:txBody>
        </p:sp>
        <p:sp>
          <p:nvSpPr>
            <p:cNvPr id="122952" name="Rectangle 7"/>
            <p:cNvSpPr>
              <a:spLocks noChangeArrowheads="1"/>
            </p:cNvSpPr>
            <p:nvPr/>
          </p:nvSpPr>
          <p:spPr bwMode="auto">
            <a:xfrm>
              <a:off x="4148" y="1649"/>
              <a:ext cx="770" cy="19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algn="ctr">
                <a:lnSpc>
                  <a:spcPct val="85000"/>
                </a:lnSpc>
              </a:pPr>
              <a:r>
                <a:rPr lang="en-US" sz="1600" dirty="0"/>
                <a:t>Fixed costs</a:t>
              </a:r>
            </a:p>
          </p:txBody>
        </p:sp>
        <p:sp>
          <p:nvSpPr>
            <p:cNvPr id="122953" name="Rectangle 8"/>
            <p:cNvSpPr>
              <a:spLocks noChangeArrowheads="1"/>
            </p:cNvSpPr>
            <p:nvPr/>
          </p:nvSpPr>
          <p:spPr bwMode="auto">
            <a:xfrm>
              <a:off x="4643" y="1231"/>
              <a:ext cx="985" cy="19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algn="ctr">
                <a:lnSpc>
                  <a:spcPct val="85000"/>
                </a:lnSpc>
              </a:pPr>
              <a:r>
                <a:rPr lang="en-US" sz="1600" dirty="0"/>
                <a:t>Variable costs</a:t>
              </a:r>
            </a:p>
          </p:txBody>
        </p:sp>
        <p:sp>
          <p:nvSpPr>
            <p:cNvPr id="122954" name="Rectangle 9"/>
            <p:cNvSpPr>
              <a:spLocks noChangeArrowheads="1"/>
            </p:cNvSpPr>
            <p:nvPr/>
          </p:nvSpPr>
          <p:spPr bwMode="auto">
            <a:xfrm>
              <a:off x="3694" y="1221"/>
              <a:ext cx="241" cy="3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2800" dirty="0"/>
                <a:t>$</a:t>
              </a:r>
            </a:p>
          </p:txBody>
        </p:sp>
        <p:sp>
          <p:nvSpPr>
            <p:cNvPr id="122955" name="Rectangle 10"/>
            <p:cNvSpPr>
              <a:spLocks noChangeArrowheads="1"/>
            </p:cNvSpPr>
            <p:nvPr/>
          </p:nvSpPr>
          <p:spPr bwMode="auto">
            <a:xfrm>
              <a:off x="3886" y="1971"/>
              <a:ext cx="1352" cy="33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algn="ctr"/>
              <a:r>
                <a:rPr lang="en-US" sz="1400" dirty="0"/>
                <a:t>High volume, low variety</a:t>
              </a:r>
            </a:p>
            <a:p>
              <a:pPr algn="ctr"/>
              <a:r>
                <a:rPr lang="en-US" sz="1400" dirty="0"/>
                <a:t>Process C</a:t>
              </a:r>
            </a:p>
          </p:txBody>
        </p:sp>
        <p:sp>
          <p:nvSpPr>
            <p:cNvPr id="122956" name="Line 11"/>
            <p:cNvSpPr>
              <a:spLocks noChangeShapeType="1"/>
            </p:cNvSpPr>
            <p:nvPr/>
          </p:nvSpPr>
          <p:spPr bwMode="auto">
            <a:xfrm rot="16200000" flipH="1">
              <a:off x="4860" y="1434"/>
              <a:ext cx="121" cy="5"/>
            </a:xfrm>
            <a:prstGeom prst="line">
              <a:avLst/>
            </a:prstGeom>
            <a:noFill/>
            <a:ln w="57150">
              <a:solidFill>
                <a:schemeClr val="tx1"/>
              </a:solidFill>
              <a:round/>
              <a:headEnd/>
              <a:tailEnd type="triangle" w="sm" len="sm"/>
            </a:ln>
            <a:extLst>
              <a:ext uri="{909E8E84-426E-40dd-AFC4-6F175D3DCCD1}">
                <a14:hiddenFill xmlns="" xmlns:a14="http://schemas.microsoft.com/office/drawing/2010/main">
                  <a:noFill/>
                </a14:hiddenFill>
              </a:ext>
            </a:extLst>
          </p:spPr>
          <p:txBody>
            <a:bodyPr wrap="none" anchor="ctr"/>
            <a:lstStyle/>
            <a:p>
              <a:endParaRPr lang="en-US" dirty="0"/>
            </a:p>
          </p:txBody>
        </p:sp>
        <p:sp>
          <p:nvSpPr>
            <p:cNvPr id="122957" name="Line 12"/>
            <p:cNvSpPr>
              <a:spLocks noChangeShapeType="1"/>
            </p:cNvSpPr>
            <p:nvPr/>
          </p:nvSpPr>
          <p:spPr bwMode="auto">
            <a:xfrm rot="5400000" flipH="1">
              <a:off x="4851" y="1194"/>
              <a:ext cx="96" cy="38"/>
            </a:xfrm>
            <a:prstGeom prst="line">
              <a:avLst/>
            </a:prstGeom>
            <a:noFill/>
            <a:ln w="57150">
              <a:solidFill>
                <a:schemeClr val="tx1"/>
              </a:solidFill>
              <a:round/>
              <a:headEnd/>
              <a:tailEnd type="triangle" w="sm" len="sm"/>
            </a:ln>
            <a:extLst>
              <a:ext uri="{909E8E84-426E-40dd-AFC4-6F175D3DCCD1}">
                <a14:hiddenFill xmlns="" xmlns:a14="http://schemas.microsoft.com/office/drawing/2010/main">
                  <a:noFill/>
                </a14:hiddenFill>
              </a:ext>
            </a:extLst>
          </p:spPr>
          <p:txBody>
            <a:bodyPr wrap="none" anchor="ctr"/>
            <a:lstStyle/>
            <a:p>
              <a:endParaRPr lang="en-US" dirty="0"/>
            </a:p>
          </p:txBody>
        </p:sp>
        <p:sp>
          <p:nvSpPr>
            <p:cNvPr id="122958" name="AutoShape 13"/>
            <p:cNvSpPr>
              <a:spLocks/>
            </p:cNvSpPr>
            <p:nvPr/>
          </p:nvSpPr>
          <p:spPr bwMode="auto">
            <a:xfrm>
              <a:off x="4000" y="1523"/>
              <a:ext cx="133" cy="445"/>
            </a:xfrm>
            <a:prstGeom prst="rightBrace">
              <a:avLst>
                <a:gd name="adj1" fmla="val 27882"/>
                <a:gd name="adj2" fmla="val 50000"/>
              </a:avLst>
            </a:prstGeom>
            <a:noFill/>
            <a:ln w="38100">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dirty="0"/>
            </a:p>
          </p:txBody>
        </p:sp>
      </p:grpSp>
      <p:grpSp>
        <p:nvGrpSpPr>
          <p:cNvPr id="69646" name="Group 14"/>
          <p:cNvGrpSpPr>
            <a:grpSpLocks/>
          </p:cNvGrpSpPr>
          <p:nvPr/>
        </p:nvGrpSpPr>
        <p:grpSpPr bwMode="auto">
          <a:xfrm>
            <a:off x="3171825" y="1130300"/>
            <a:ext cx="2495550" cy="2332038"/>
            <a:chOff x="1998" y="832"/>
            <a:chExt cx="1572" cy="1469"/>
          </a:xfrm>
        </p:grpSpPr>
        <p:sp>
          <p:nvSpPr>
            <p:cNvPr id="122939" name="Rectangle 15"/>
            <p:cNvSpPr>
              <a:spLocks noChangeArrowheads="1"/>
            </p:cNvSpPr>
            <p:nvPr/>
          </p:nvSpPr>
          <p:spPr bwMode="auto">
            <a:xfrm>
              <a:off x="2244" y="1600"/>
              <a:ext cx="1272" cy="384"/>
            </a:xfrm>
            <a:prstGeom prst="rect">
              <a:avLst/>
            </a:prstGeom>
            <a:solidFill>
              <a:srgbClr val="92D3CB"/>
            </a:solidFill>
            <a:ln w="38100">
              <a:solidFill>
                <a:schemeClr val="tx1"/>
              </a:solidFill>
              <a:miter lim="800000"/>
              <a:headEnd/>
              <a:tailEnd/>
            </a:ln>
          </p:spPr>
          <p:txBody>
            <a:bodyPr wrap="none" anchor="ctr"/>
            <a:lstStyle/>
            <a:p>
              <a:endParaRPr lang="en-US" dirty="0"/>
            </a:p>
          </p:txBody>
        </p:sp>
        <p:sp>
          <p:nvSpPr>
            <p:cNvPr id="122940" name="Freeform 16"/>
            <p:cNvSpPr>
              <a:spLocks/>
            </p:cNvSpPr>
            <p:nvPr/>
          </p:nvSpPr>
          <p:spPr bwMode="auto">
            <a:xfrm>
              <a:off x="2244" y="848"/>
              <a:ext cx="1296" cy="1136"/>
            </a:xfrm>
            <a:custGeom>
              <a:avLst/>
              <a:gdLst>
                <a:gd name="T0" fmla="*/ 0 w 1128"/>
                <a:gd name="T1" fmla="*/ 0 h 1136"/>
                <a:gd name="T2" fmla="*/ 0 w 1128"/>
                <a:gd name="T3" fmla="*/ 1136 h 1136"/>
                <a:gd name="T4" fmla="*/ 1296 w 1128"/>
                <a:gd name="T5" fmla="*/ 1136 h 1136"/>
                <a:gd name="T6" fmla="*/ 0 60000 65536"/>
                <a:gd name="T7" fmla="*/ 0 60000 65536"/>
                <a:gd name="T8" fmla="*/ 0 60000 65536"/>
                <a:gd name="T9" fmla="*/ 0 w 1128"/>
                <a:gd name="T10" fmla="*/ 0 h 1136"/>
                <a:gd name="T11" fmla="*/ 1128 w 1128"/>
                <a:gd name="T12" fmla="*/ 1136 h 1136"/>
              </a:gdLst>
              <a:ahLst/>
              <a:cxnLst>
                <a:cxn ang="T6">
                  <a:pos x="T0" y="T1"/>
                </a:cxn>
                <a:cxn ang="T7">
                  <a:pos x="T2" y="T3"/>
                </a:cxn>
                <a:cxn ang="T8">
                  <a:pos x="T4" y="T5"/>
                </a:cxn>
              </a:cxnLst>
              <a:rect l="T9" t="T10" r="T11" b="T12"/>
              <a:pathLst>
                <a:path w="1128" h="1136">
                  <a:moveTo>
                    <a:pt x="0" y="0"/>
                  </a:moveTo>
                  <a:lnTo>
                    <a:pt x="0" y="1136"/>
                  </a:lnTo>
                  <a:lnTo>
                    <a:pt x="1128" y="1136"/>
                  </a:lnTo>
                </a:path>
              </a:pathLst>
            </a:custGeom>
            <a:noFill/>
            <a:ln w="38100" cmpd="sng">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dirty="0"/>
            </a:p>
          </p:txBody>
        </p:sp>
        <p:sp>
          <p:nvSpPr>
            <p:cNvPr id="122941" name="Line 17"/>
            <p:cNvSpPr>
              <a:spLocks noChangeShapeType="1"/>
            </p:cNvSpPr>
            <p:nvPr/>
          </p:nvSpPr>
          <p:spPr bwMode="auto">
            <a:xfrm flipV="1">
              <a:off x="2248" y="832"/>
              <a:ext cx="1192" cy="768"/>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dirty="0"/>
            </a:p>
          </p:txBody>
        </p:sp>
        <p:sp>
          <p:nvSpPr>
            <p:cNvPr id="122942" name="Rectangle 18"/>
            <p:cNvSpPr>
              <a:spLocks noChangeArrowheads="1"/>
            </p:cNvSpPr>
            <p:nvPr/>
          </p:nvSpPr>
          <p:spPr bwMode="auto">
            <a:xfrm>
              <a:off x="2457" y="1699"/>
              <a:ext cx="770" cy="19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algn="ctr">
                <a:lnSpc>
                  <a:spcPct val="85000"/>
                </a:lnSpc>
              </a:pPr>
              <a:r>
                <a:rPr lang="en-US" sz="1600" dirty="0"/>
                <a:t>Fixed costs</a:t>
              </a:r>
            </a:p>
          </p:txBody>
        </p:sp>
        <p:sp>
          <p:nvSpPr>
            <p:cNvPr id="122943" name="Rectangle 19"/>
            <p:cNvSpPr>
              <a:spLocks noChangeArrowheads="1"/>
            </p:cNvSpPr>
            <p:nvPr/>
          </p:nvSpPr>
          <p:spPr bwMode="auto">
            <a:xfrm>
              <a:off x="2898" y="1153"/>
              <a:ext cx="672" cy="32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pPr algn="ctr">
                <a:lnSpc>
                  <a:spcPct val="85000"/>
                </a:lnSpc>
              </a:pPr>
              <a:r>
                <a:rPr lang="en-US" sz="1600" dirty="0"/>
                <a:t>Variable costs</a:t>
              </a:r>
            </a:p>
          </p:txBody>
        </p:sp>
        <p:sp>
          <p:nvSpPr>
            <p:cNvPr id="122944" name="Rectangle 20"/>
            <p:cNvSpPr>
              <a:spLocks noChangeArrowheads="1"/>
            </p:cNvSpPr>
            <p:nvPr/>
          </p:nvSpPr>
          <p:spPr bwMode="auto">
            <a:xfrm>
              <a:off x="1998" y="1221"/>
              <a:ext cx="241" cy="3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2800" dirty="0"/>
                <a:t>$</a:t>
              </a:r>
            </a:p>
          </p:txBody>
        </p:sp>
        <p:sp>
          <p:nvSpPr>
            <p:cNvPr id="122945" name="Rectangle 21"/>
            <p:cNvSpPr>
              <a:spLocks noChangeArrowheads="1"/>
            </p:cNvSpPr>
            <p:nvPr/>
          </p:nvSpPr>
          <p:spPr bwMode="auto">
            <a:xfrm>
              <a:off x="2564" y="1971"/>
              <a:ext cx="632" cy="33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algn="ctr"/>
              <a:r>
                <a:rPr lang="en-US" sz="1400" dirty="0"/>
                <a:t>Repetitive</a:t>
              </a:r>
            </a:p>
            <a:p>
              <a:pPr algn="ctr"/>
              <a:r>
                <a:rPr lang="en-US" sz="1400" dirty="0"/>
                <a:t>Process B</a:t>
              </a:r>
            </a:p>
          </p:txBody>
        </p:sp>
        <p:sp>
          <p:nvSpPr>
            <p:cNvPr id="122946" name="Line 22"/>
            <p:cNvSpPr>
              <a:spLocks noChangeShapeType="1"/>
            </p:cNvSpPr>
            <p:nvPr/>
          </p:nvSpPr>
          <p:spPr bwMode="auto">
            <a:xfrm rot="16200000" flipV="1">
              <a:off x="3127" y="1072"/>
              <a:ext cx="148" cy="41"/>
            </a:xfrm>
            <a:prstGeom prst="line">
              <a:avLst/>
            </a:prstGeom>
            <a:noFill/>
            <a:ln w="57150">
              <a:solidFill>
                <a:schemeClr val="tx1"/>
              </a:solidFill>
              <a:round/>
              <a:headEnd/>
              <a:tailEnd type="triangle" w="sm" len="sm"/>
            </a:ln>
            <a:extLst>
              <a:ext uri="{909E8E84-426E-40dd-AFC4-6F175D3DCCD1}">
                <a14:hiddenFill xmlns="" xmlns:a14="http://schemas.microsoft.com/office/drawing/2010/main">
                  <a:noFill/>
                </a14:hiddenFill>
              </a:ext>
            </a:extLst>
          </p:spPr>
          <p:txBody>
            <a:bodyPr wrap="none" anchor="ctr"/>
            <a:lstStyle/>
            <a:p>
              <a:endParaRPr lang="en-US" dirty="0"/>
            </a:p>
          </p:txBody>
        </p:sp>
        <p:sp>
          <p:nvSpPr>
            <p:cNvPr id="122947" name="Line 23"/>
            <p:cNvSpPr>
              <a:spLocks noChangeShapeType="1"/>
            </p:cNvSpPr>
            <p:nvPr/>
          </p:nvSpPr>
          <p:spPr bwMode="auto">
            <a:xfrm rot="16200000" flipH="1">
              <a:off x="3180" y="1516"/>
              <a:ext cx="146" cy="2"/>
            </a:xfrm>
            <a:prstGeom prst="line">
              <a:avLst/>
            </a:prstGeom>
            <a:noFill/>
            <a:ln w="57150">
              <a:solidFill>
                <a:schemeClr val="tx1"/>
              </a:solidFill>
              <a:round/>
              <a:headEnd/>
              <a:tailEnd type="triangle" w="sm" len="sm"/>
            </a:ln>
            <a:extLst>
              <a:ext uri="{909E8E84-426E-40dd-AFC4-6F175D3DCCD1}">
                <a14:hiddenFill xmlns="" xmlns:a14="http://schemas.microsoft.com/office/drawing/2010/main">
                  <a:noFill/>
                </a14:hiddenFill>
              </a:ext>
            </a:extLst>
          </p:spPr>
          <p:txBody>
            <a:bodyPr wrap="none" anchor="ctr"/>
            <a:lstStyle/>
            <a:p>
              <a:endParaRPr lang="en-US" dirty="0"/>
            </a:p>
          </p:txBody>
        </p:sp>
        <p:sp>
          <p:nvSpPr>
            <p:cNvPr id="122948" name="AutoShape 24"/>
            <p:cNvSpPr>
              <a:spLocks/>
            </p:cNvSpPr>
            <p:nvPr/>
          </p:nvSpPr>
          <p:spPr bwMode="auto">
            <a:xfrm>
              <a:off x="2312" y="1618"/>
              <a:ext cx="133" cy="349"/>
            </a:xfrm>
            <a:prstGeom prst="rightBrace">
              <a:avLst>
                <a:gd name="adj1" fmla="val 21867"/>
                <a:gd name="adj2" fmla="val 50000"/>
              </a:avLst>
            </a:prstGeom>
            <a:noFill/>
            <a:ln w="38100">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dirty="0"/>
            </a:p>
          </p:txBody>
        </p:sp>
      </p:grpSp>
      <p:grpSp>
        <p:nvGrpSpPr>
          <p:cNvPr id="69657" name="Group 25"/>
          <p:cNvGrpSpPr>
            <a:grpSpLocks/>
          </p:cNvGrpSpPr>
          <p:nvPr/>
        </p:nvGrpSpPr>
        <p:grpSpPr bwMode="auto">
          <a:xfrm>
            <a:off x="492125" y="1155700"/>
            <a:ext cx="2460625" cy="2314575"/>
            <a:chOff x="310" y="848"/>
            <a:chExt cx="1550" cy="1458"/>
          </a:xfrm>
        </p:grpSpPr>
        <p:sp>
          <p:nvSpPr>
            <p:cNvPr id="122929" name="Rectangle 26"/>
            <p:cNvSpPr>
              <a:spLocks noChangeArrowheads="1"/>
            </p:cNvSpPr>
            <p:nvPr/>
          </p:nvSpPr>
          <p:spPr bwMode="auto">
            <a:xfrm>
              <a:off x="560" y="1728"/>
              <a:ext cx="1272" cy="256"/>
            </a:xfrm>
            <a:prstGeom prst="rect">
              <a:avLst/>
            </a:prstGeom>
            <a:solidFill>
              <a:schemeClr val="accent2"/>
            </a:solidFill>
            <a:ln w="38100">
              <a:solidFill>
                <a:schemeClr val="tx1"/>
              </a:solidFill>
              <a:miter lim="800000"/>
              <a:headEnd/>
              <a:tailEnd/>
            </a:ln>
          </p:spPr>
          <p:txBody>
            <a:bodyPr wrap="none" anchor="ctr"/>
            <a:lstStyle/>
            <a:p>
              <a:endParaRPr lang="en-US" dirty="0"/>
            </a:p>
          </p:txBody>
        </p:sp>
        <p:sp>
          <p:nvSpPr>
            <p:cNvPr id="122930" name="Freeform 27"/>
            <p:cNvSpPr>
              <a:spLocks/>
            </p:cNvSpPr>
            <p:nvPr/>
          </p:nvSpPr>
          <p:spPr bwMode="auto">
            <a:xfrm>
              <a:off x="560" y="848"/>
              <a:ext cx="1296" cy="1136"/>
            </a:xfrm>
            <a:custGeom>
              <a:avLst/>
              <a:gdLst>
                <a:gd name="T0" fmla="*/ 0 w 1128"/>
                <a:gd name="T1" fmla="*/ 0 h 1136"/>
                <a:gd name="T2" fmla="*/ 0 w 1128"/>
                <a:gd name="T3" fmla="*/ 1136 h 1136"/>
                <a:gd name="T4" fmla="*/ 1296 w 1128"/>
                <a:gd name="T5" fmla="*/ 1136 h 1136"/>
                <a:gd name="T6" fmla="*/ 0 60000 65536"/>
                <a:gd name="T7" fmla="*/ 0 60000 65536"/>
                <a:gd name="T8" fmla="*/ 0 60000 65536"/>
                <a:gd name="T9" fmla="*/ 0 w 1128"/>
                <a:gd name="T10" fmla="*/ 0 h 1136"/>
                <a:gd name="T11" fmla="*/ 1128 w 1128"/>
                <a:gd name="T12" fmla="*/ 1136 h 1136"/>
              </a:gdLst>
              <a:ahLst/>
              <a:cxnLst>
                <a:cxn ang="T6">
                  <a:pos x="T0" y="T1"/>
                </a:cxn>
                <a:cxn ang="T7">
                  <a:pos x="T2" y="T3"/>
                </a:cxn>
                <a:cxn ang="T8">
                  <a:pos x="T4" y="T5"/>
                </a:cxn>
              </a:cxnLst>
              <a:rect l="T9" t="T10" r="T11" b="T12"/>
              <a:pathLst>
                <a:path w="1128" h="1136">
                  <a:moveTo>
                    <a:pt x="0" y="0"/>
                  </a:moveTo>
                  <a:lnTo>
                    <a:pt x="0" y="1136"/>
                  </a:lnTo>
                  <a:lnTo>
                    <a:pt x="1128" y="1136"/>
                  </a:lnTo>
                </a:path>
              </a:pathLst>
            </a:custGeom>
            <a:noFill/>
            <a:ln w="38100" cmpd="sng">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dirty="0"/>
            </a:p>
          </p:txBody>
        </p:sp>
        <p:sp>
          <p:nvSpPr>
            <p:cNvPr id="122931" name="Line 28"/>
            <p:cNvSpPr>
              <a:spLocks noChangeShapeType="1"/>
            </p:cNvSpPr>
            <p:nvPr/>
          </p:nvSpPr>
          <p:spPr bwMode="auto">
            <a:xfrm flipV="1">
              <a:off x="560" y="880"/>
              <a:ext cx="672" cy="848"/>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dirty="0"/>
            </a:p>
          </p:txBody>
        </p:sp>
        <p:sp>
          <p:nvSpPr>
            <p:cNvPr id="122932" name="Rectangle 29"/>
            <p:cNvSpPr>
              <a:spLocks noChangeArrowheads="1"/>
            </p:cNvSpPr>
            <p:nvPr/>
          </p:nvSpPr>
          <p:spPr bwMode="auto">
            <a:xfrm>
              <a:off x="764" y="1763"/>
              <a:ext cx="770" cy="19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algn="ctr">
                <a:lnSpc>
                  <a:spcPct val="85000"/>
                </a:lnSpc>
              </a:pPr>
              <a:r>
                <a:rPr lang="en-US" sz="1600" dirty="0"/>
                <a:t>Fixed costs</a:t>
              </a:r>
            </a:p>
          </p:txBody>
        </p:sp>
        <p:sp>
          <p:nvSpPr>
            <p:cNvPr id="122933" name="Rectangle 30"/>
            <p:cNvSpPr>
              <a:spLocks noChangeArrowheads="1"/>
            </p:cNvSpPr>
            <p:nvPr/>
          </p:nvSpPr>
          <p:spPr bwMode="auto">
            <a:xfrm>
              <a:off x="1101" y="1186"/>
              <a:ext cx="672" cy="32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pPr algn="ctr">
                <a:lnSpc>
                  <a:spcPct val="85000"/>
                </a:lnSpc>
              </a:pPr>
              <a:r>
                <a:rPr lang="en-US" sz="1600" dirty="0"/>
                <a:t>Variable costs</a:t>
              </a:r>
            </a:p>
          </p:txBody>
        </p:sp>
        <p:sp>
          <p:nvSpPr>
            <p:cNvPr id="122934" name="Rectangle 31"/>
            <p:cNvSpPr>
              <a:spLocks noChangeArrowheads="1"/>
            </p:cNvSpPr>
            <p:nvPr/>
          </p:nvSpPr>
          <p:spPr bwMode="auto">
            <a:xfrm>
              <a:off x="310" y="1221"/>
              <a:ext cx="241" cy="3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2800" dirty="0"/>
                <a:t>$</a:t>
              </a:r>
            </a:p>
          </p:txBody>
        </p:sp>
        <p:sp>
          <p:nvSpPr>
            <p:cNvPr id="122935" name="Rectangle 32"/>
            <p:cNvSpPr>
              <a:spLocks noChangeArrowheads="1"/>
            </p:cNvSpPr>
            <p:nvPr/>
          </p:nvSpPr>
          <p:spPr bwMode="auto">
            <a:xfrm>
              <a:off x="492" y="1976"/>
              <a:ext cx="1368" cy="33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algn="ctr"/>
              <a:r>
                <a:rPr lang="en-US" sz="1400" dirty="0"/>
                <a:t>Low volume, high variety</a:t>
              </a:r>
            </a:p>
            <a:p>
              <a:pPr algn="ctr"/>
              <a:r>
                <a:rPr lang="en-US" sz="1400" dirty="0"/>
                <a:t>Process A</a:t>
              </a:r>
            </a:p>
          </p:txBody>
        </p:sp>
        <p:sp>
          <p:nvSpPr>
            <p:cNvPr id="122936" name="Line 33"/>
            <p:cNvSpPr>
              <a:spLocks noChangeShapeType="1"/>
            </p:cNvSpPr>
            <p:nvPr/>
          </p:nvSpPr>
          <p:spPr bwMode="auto">
            <a:xfrm>
              <a:off x="1437" y="1475"/>
              <a:ext cx="27" cy="237"/>
            </a:xfrm>
            <a:prstGeom prst="line">
              <a:avLst/>
            </a:prstGeom>
            <a:noFill/>
            <a:ln w="57150">
              <a:solidFill>
                <a:schemeClr val="tx1"/>
              </a:solidFill>
              <a:round/>
              <a:headEnd/>
              <a:tailEnd type="triangle" w="sm" len="sm"/>
            </a:ln>
            <a:extLst>
              <a:ext uri="{909E8E84-426E-40dd-AFC4-6F175D3DCCD1}">
                <a14:hiddenFill xmlns="" xmlns:a14="http://schemas.microsoft.com/office/drawing/2010/main">
                  <a:noFill/>
                </a14:hiddenFill>
              </a:ext>
            </a:extLst>
          </p:spPr>
          <p:txBody>
            <a:bodyPr wrap="none" anchor="ctr"/>
            <a:lstStyle/>
            <a:p>
              <a:endParaRPr lang="en-US" dirty="0"/>
            </a:p>
          </p:txBody>
        </p:sp>
        <p:sp>
          <p:nvSpPr>
            <p:cNvPr id="122937" name="Line 34"/>
            <p:cNvSpPr>
              <a:spLocks noChangeShapeType="1"/>
            </p:cNvSpPr>
            <p:nvPr/>
          </p:nvSpPr>
          <p:spPr bwMode="auto">
            <a:xfrm rot="16200000" flipV="1">
              <a:off x="1144" y="1022"/>
              <a:ext cx="183" cy="194"/>
            </a:xfrm>
            <a:prstGeom prst="line">
              <a:avLst/>
            </a:prstGeom>
            <a:noFill/>
            <a:ln w="57150">
              <a:solidFill>
                <a:schemeClr val="tx1"/>
              </a:solidFill>
              <a:round/>
              <a:headEnd/>
              <a:tailEnd type="triangle" w="sm" len="sm"/>
            </a:ln>
            <a:extLst>
              <a:ext uri="{909E8E84-426E-40dd-AFC4-6F175D3DCCD1}">
                <a14:hiddenFill xmlns="" xmlns:a14="http://schemas.microsoft.com/office/drawing/2010/main">
                  <a:noFill/>
                </a14:hiddenFill>
              </a:ext>
            </a:extLst>
          </p:spPr>
          <p:txBody>
            <a:bodyPr wrap="none" anchor="ctr"/>
            <a:lstStyle/>
            <a:p>
              <a:endParaRPr lang="en-US" dirty="0"/>
            </a:p>
          </p:txBody>
        </p:sp>
        <p:sp>
          <p:nvSpPr>
            <p:cNvPr id="122938" name="AutoShape 35"/>
            <p:cNvSpPr>
              <a:spLocks/>
            </p:cNvSpPr>
            <p:nvPr/>
          </p:nvSpPr>
          <p:spPr bwMode="auto">
            <a:xfrm>
              <a:off x="621" y="1746"/>
              <a:ext cx="133" cy="221"/>
            </a:xfrm>
            <a:prstGeom prst="rightBrace">
              <a:avLst>
                <a:gd name="adj1" fmla="val 13847"/>
                <a:gd name="adj2" fmla="val 50000"/>
              </a:avLst>
            </a:prstGeom>
            <a:noFill/>
            <a:ln w="38100">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dirty="0"/>
            </a:p>
          </p:txBody>
        </p:sp>
      </p:grpSp>
      <p:grpSp>
        <p:nvGrpSpPr>
          <p:cNvPr id="69668" name="Group 36"/>
          <p:cNvGrpSpPr>
            <a:grpSpLocks/>
          </p:cNvGrpSpPr>
          <p:nvPr/>
        </p:nvGrpSpPr>
        <p:grpSpPr bwMode="auto">
          <a:xfrm>
            <a:off x="3600450" y="5505450"/>
            <a:ext cx="1301750" cy="615950"/>
            <a:chOff x="2268" y="3516"/>
            <a:chExt cx="820" cy="388"/>
          </a:xfrm>
        </p:grpSpPr>
        <p:sp>
          <p:nvSpPr>
            <p:cNvPr id="122927" name="Rectangle 37"/>
            <p:cNvSpPr>
              <a:spLocks noChangeArrowheads="1"/>
            </p:cNvSpPr>
            <p:nvPr/>
          </p:nvSpPr>
          <p:spPr bwMode="auto">
            <a:xfrm>
              <a:off x="2367" y="3536"/>
              <a:ext cx="721" cy="349"/>
            </a:xfrm>
            <a:prstGeom prst="rect">
              <a:avLst/>
            </a:prstGeom>
            <a:solidFill>
              <a:schemeClr val="accent2"/>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tIns="90000" bIns="90000">
              <a:spAutoFit/>
            </a:bodyPr>
            <a:lstStyle/>
            <a:p>
              <a:pPr algn="ctr">
                <a:lnSpc>
                  <a:spcPct val="85000"/>
                </a:lnSpc>
              </a:pPr>
              <a:r>
                <a:rPr lang="en-US" sz="1400" dirty="0"/>
                <a:t>Fixed cost Process A</a:t>
              </a:r>
            </a:p>
          </p:txBody>
        </p:sp>
        <p:sp>
          <p:nvSpPr>
            <p:cNvPr id="122928" name="AutoShape 38"/>
            <p:cNvSpPr>
              <a:spLocks/>
            </p:cNvSpPr>
            <p:nvPr/>
          </p:nvSpPr>
          <p:spPr bwMode="auto">
            <a:xfrm>
              <a:off x="2268" y="3516"/>
              <a:ext cx="92" cy="388"/>
            </a:xfrm>
            <a:prstGeom prst="rightBrace">
              <a:avLst>
                <a:gd name="adj1" fmla="val 35145"/>
                <a:gd name="adj2" fmla="val 50000"/>
              </a:avLst>
            </a:prstGeom>
            <a:noFill/>
            <a:ln w="38100">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dirty="0"/>
            </a:p>
          </p:txBody>
        </p:sp>
      </p:grpSp>
      <p:grpSp>
        <p:nvGrpSpPr>
          <p:cNvPr id="69671" name="Group 39"/>
          <p:cNvGrpSpPr>
            <a:grpSpLocks/>
          </p:cNvGrpSpPr>
          <p:nvPr/>
        </p:nvGrpSpPr>
        <p:grpSpPr bwMode="auto">
          <a:xfrm>
            <a:off x="4870450" y="5181600"/>
            <a:ext cx="1314450" cy="952500"/>
            <a:chOff x="3068" y="3312"/>
            <a:chExt cx="828" cy="600"/>
          </a:xfrm>
        </p:grpSpPr>
        <p:sp>
          <p:nvSpPr>
            <p:cNvPr id="122925" name="Rectangle 40"/>
            <p:cNvSpPr>
              <a:spLocks noChangeArrowheads="1"/>
            </p:cNvSpPr>
            <p:nvPr/>
          </p:nvSpPr>
          <p:spPr bwMode="auto">
            <a:xfrm>
              <a:off x="3175" y="3341"/>
              <a:ext cx="721" cy="547"/>
            </a:xfrm>
            <a:prstGeom prst="rect">
              <a:avLst/>
            </a:prstGeom>
            <a:solidFill>
              <a:srgbClr val="92D3CB"/>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tIns="82800">
              <a:spAutoFit/>
            </a:bodyPr>
            <a:lstStyle/>
            <a:p>
              <a:pPr algn="ctr">
                <a:lnSpc>
                  <a:spcPct val="85000"/>
                </a:lnSpc>
              </a:pPr>
              <a:endParaRPr lang="en-US" sz="1400" dirty="0"/>
            </a:p>
            <a:p>
              <a:pPr algn="ctr">
                <a:lnSpc>
                  <a:spcPct val="85000"/>
                </a:lnSpc>
              </a:pPr>
              <a:endParaRPr lang="en-US" sz="1400" dirty="0"/>
            </a:p>
            <a:p>
              <a:pPr algn="ctr">
                <a:lnSpc>
                  <a:spcPct val="85000"/>
                </a:lnSpc>
              </a:pPr>
              <a:r>
                <a:rPr lang="en-US" sz="1400" dirty="0"/>
                <a:t>Fixed cost Process B</a:t>
              </a:r>
            </a:p>
          </p:txBody>
        </p:sp>
        <p:sp>
          <p:nvSpPr>
            <p:cNvPr id="122926" name="AutoShape 41"/>
            <p:cNvSpPr>
              <a:spLocks/>
            </p:cNvSpPr>
            <p:nvPr/>
          </p:nvSpPr>
          <p:spPr bwMode="auto">
            <a:xfrm>
              <a:off x="3068" y="3312"/>
              <a:ext cx="92" cy="600"/>
            </a:xfrm>
            <a:prstGeom prst="rightBrace">
              <a:avLst>
                <a:gd name="adj1" fmla="val 54348"/>
                <a:gd name="adj2" fmla="val 54000"/>
              </a:avLst>
            </a:prstGeom>
            <a:noFill/>
            <a:ln w="38100">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dirty="0"/>
            </a:p>
          </p:txBody>
        </p:sp>
      </p:grpSp>
      <p:grpSp>
        <p:nvGrpSpPr>
          <p:cNvPr id="69674" name="Group 42"/>
          <p:cNvGrpSpPr>
            <a:grpSpLocks/>
          </p:cNvGrpSpPr>
          <p:nvPr/>
        </p:nvGrpSpPr>
        <p:grpSpPr bwMode="auto">
          <a:xfrm>
            <a:off x="6159500" y="4870450"/>
            <a:ext cx="1308100" cy="1257300"/>
            <a:chOff x="3880" y="3116"/>
            <a:chExt cx="824" cy="792"/>
          </a:xfrm>
        </p:grpSpPr>
        <p:sp>
          <p:nvSpPr>
            <p:cNvPr id="69675" name="Rectangle 43"/>
            <p:cNvSpPr>
              <a:spLocks noChangeArrowheads="1"/>
            </p:cNvSpPr>
            <p:nvPr/>
          </p:nvSpPr>
          <p:spPr bwMode="auto">
            <a:xfrm>
              <a:off x="3983" y="3136"/>
              <a:ext cx="721" cy="754"/>
            </a:xfrm>
            <a:prstGeom prst="rect">
              <a:avLst/>
            </a:prstGeom>
            <a:solidFill>
              <a:schemeClr val="accent4"/>
            </a:solidFill>
            <a:ln>
              <a:noFill/>
            </a:ln>
            <a:effectLst/>
          </p:spPr>
          <p:txBody>
            <a:bodyPr>
              <a:spAutoFit/>
            </a:bodyPr>
            <a:lstStyle/>
            <a:p>
              <a:pPr algn="ctr" fontAlgn="auto">
                <a:lnSpc>
                  <a:spcPct val="85000"/>
                </a:lnSpc>
                <a:spcBef>
                  <a:spcPts val="0"/>
                </a:spcBef>
                <a:spcAft>
                  <a:spcPts val="0"/>
                </a:spcAft>
                <a:defRPr/>
              </a:pPr>
              <a:endParaRPr lang="en-US" sz="1400" dirty="0">
                <a:latin typeface="Arial"/>
                <a:ea typeface="+mn-ea"/>
                <a:cs typeface="Arial"/>
              </a:endParaRPr>
            </a:p>
            <a:p>
              <a:pPr algn="ctr" fontAlgn="auto">
                <a:lnSpc>
                  <a:spcPct val="85000"/>
                </a:lnSpc>
                <a:spcBef>
                  <a:spcPts val="0"/>
                </a:spcBef>
                <a:spcAft>
                  <a:spcPts val="0"/>
                </a:spcAft>
                <a:defRPr/>
              </a:pPr>
              <a:endParaRPr lang="en-US" sz="1400" dirty="0">
                <a:latin typeface="Arial"/>
                <a:ea typeface="+mn-ea"/>
                <a:cs typeface="Arial"/>
              </a:endParaRPr>
            </a:p>
            <a:p>
              <a:pPr algn="ctr" fontAlgn="auto">
                <a:lnSpc>
                  <a:spcPct val="85000"/>
                </a:lnSpc>
                <a:spcBef>
                  <a:spcPts val="0"/>
                </a:spcBef>
                <a:spcAft>
                  <a:spcPts val="0"/>
                </a:spcAft>
                <a:defRPr/>
              </a:pPr>
              <a:endParaRPr lang="en-US" sz="1400" dirty="0">
                <a:latin typeface="Arial"/>
                <a:ea typeface="+mn-ea"/>
                <a:cs typeface="Arial"/>
              </a:endParaRPr>
            </a:p>
            <a:p>
              <a:pPr algn="ctr" fontAlgn="auto">
                <a:lnSpc>
                  <a:spcPct val="85000"/>
                </a:lnSpc>
                <a:spcBef>
                  <a:spcPts val="0"/>
                </a:spcBef>
                <a:spcAft>
                  <a:spcPts val="0"/>
                </a:spcAft>
                <a:defRPr/>
              </a:pPr>
              <a:endParaRPr lang="en-US" sz="1400" dirty="0">
                <a:latin typeface="Arial"/>
                <a:ea typeface="+mn-ea"/>
                <a:cs typeface="Arial"/>
              </a:endParaRPr>
            </a:p>
            <a:p>
              <a:pPr algn="ctr" fontAlgn="auto">
                <a:lnSpc>
                  <a:spcPct val="85000"/>
                </a:lnSpc>
                <a:spcBef>
                  <a:spcPts val="0"/>
                </a:spcBef>
                <a:spcAft>
                  <a:spcPts val="0"/>
                </a:spcAft>
                <a:defRPr/>
              </a:pPr>
              <a:r>
                <a:rPr lang="en-US" sz="1400" dirty="0">
                  <a:latin typeface="Arial"/>
                  <a:ea typeface="+mn-ea"/>
                  <a:cs typeface="Arial"/>
                </a:rPr>
                <a:t>Fixed cost Process C</a:t>
              </a:r>
            </a:p>
          </p:txBody>
        </p:sp>
        <p:sp>
          <p:nvSpPr>
            <p:cNvPr id="122924" name="AutoShape 44"/>
            <p:cNvSpPr>
              <a:spLocks/>
            </p:cNvSpPr>
            <p:nvPr/>
          </p:nvSpPr>
          <p:spPr bwMode="auto">
            <a:xfrm>
              <a:off x="3880" y="3116"/>
              <a:ext cx="92" cy="792"/>
            </a:xfrm>
            <a:prstGeom prst="rightBrace">
              <a:avLst>
                <a:gd name="adj1" fmla="val 71739"/>
                <a:gd name="adj2" fmla="val 64144"/>
              </a:avLst>
            </a:prstGeom>
            <a:noFill/>
            <a:ln w="38100">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dirty="0"/>
            </a:p>
          </p:txBody>
        </p:sp>
      </p:grpSp>
      <p:grpSp>
        <p:nvGrpSpPr>
          <p:cNvPr id="69677" name="Group 45"/>
          <p:cNvGrpSpPr>
            <a:grpSpLocks/>
          </p:cNvGrpSpPr>
          <p:nvPr/>
        </p:nvGrpSpPr>
        <p:grpSpPr bwMode="auto">
          <a:xfrm>
            <a:off x="2362200" y="3098800"/>
            <a:ext cx="1206500" cy="2374900"/>
            <a:chOff x="1488" y="2000"/>
            <a:chExt cx="760" cy="1496"/>
          </a:xfrm>
        </p:grpSpPr>
        <p:grpSp>
          <p:nvGrpSpPr>
            <p:cNvPr id="122919" name="Group 46"/>
            <p:cNvGrpSpPr>
              <a:grpSpLocks/>
            </p:cNvGrpSpPr>
            <p:nvPr/>
          </p:nvGrpSpPr>
          <p:grpSpPr bwMode="auto">
            <a:xfrm>
              <a:off x="1488" y="2000"/>
              <a:ext cx="760" cy="1496"/>
              <a:chOff x="1488" y="2000"/>
              <a:chExt cx="760" cy="1496"/>
            </a:xfrm>
          </p:grpSpPr>
          <p:sp>
            <p:nvSpPr>
              <p:cNvPr id="122921" name="Line 47"/>
              <p:cNvSpPr>
                <a:spLocks noChangeShapeType="1"/>
              </p:cNvSpPr>
              <p:nvPr/>
            </p:nvSpPr>
            <p:spPr bwMode="auto">
              <a:xfrm flipV="1">
                <a:off x="1488" y="2512"/>
                <a:ext cx="760" cy="984"/>
              </a:xfrm>
              <a:prstGeom prst="line">
                <a:avLst/>
              </a:prstGeom>
              <a:noFill/>
              <a:ln w="76200">
                <a:solidFill>
                  <a:srgbClr val="9FACC7"/>
                </a:solidFill>
                <a:round/>
                <a:headEnd/>
                <a:tailEnd/>
              </a:ln>
              <a:extLst>
                <a:ext uri="{909E8E84-426E-40dd-AFC4-6F175D3DCCD1}">
                  <a14:hiddenFill xmlns="" xmlns:a14="http://schemas.microsoft.com/office/drawing/2010/main">
                    <a:noFill/>
                  </a14:hiddenFill>
                </a:ext>
              </a:extLst>
            </p:spPr>
            <p:txBody>
              <a:bodyPr wrap="none" anchor="ctr"/>
              <a:lstStyle/>
              <a:p>
                <a:endParaRPr lang="en-US" dirty="0"/>
              </a:p>
            </p:txBody>
          </p:sp>
          <p:sp>
            <p:nvSpPr>
              <p:cNvPr id="122922" name="Freeform 48"/>
              <p:cNvSpPr>
                <a:spLocks/>
              </p:cNvSpPr>
              <p:nvPr/>
            </p:nvSpPr>
            <p:spPr bwMode="auto">
              <a:xfrm>
                <a:off x="1928" y="2000"/>
                <a:ext cx="182" cy="368"/>
              </a:xfrm>
              <a:custGeom>
                <a:avLst/>
                <a:gdLst>
                  <a:gd name="T0" fmla="*/ 0 w 313"/>
                  <a:gd name="T1" fmla="*/ 0 h 448"/>
                  <a:gd name="T2" fmla="*/ 154 w 313"/>
                  <a:gd name="T3" fmla="*/ 177 h 448"/>
                  <a:gd name="T4" fmla="*/ 172 w 313"/>
                  <a:gd name="T5" fmla="*/ 368 h 448"/>
                  <a:gd name="T6" fmla="*/ 0 60000 65536"/>
                  <a:gd name="T7" fmla="*/ 0 60000 65536"/>
                  <a:gd name="T8" fmla="*/ 0 60000 65536"/>
                  <a:gd name="T9" fmla="*/ 0 w 313"/>
                  <a:gd name="T10" fmla="*/ 0 h 448"/>
                  <a:gd name="T11" fmla="*/ 313 w 313"/>
                  <a:gd name="T12" fmla="*/ 448 h 448"/>
                </a:gdLst>
                <a:ahLst/>
                <a:cxnLst>
                  <a:cxn ang="T6">
                    <a:pos x="T0" y="T1"/>
                  </a:cxn>
                  <a:cxn ang="T7">
                    <a:pos x="T2" y="T3"/>
                  </a:cxn>
                  <a:cxn ang="T8">
                    <a:pos x="T4" y="T5"/>
                  </a:cxn>
                </a:cxnLst>
                <a:rect l="T9" t="T10" r="T11" b="T12"/>
                <a:pathLst>
                  <a:path w="313" h="448">
                    <a:moveTo>
                      <a:pt x="0" y="0"/>
                    </a:moveTo>
                    <a:cubicBezTo>
                      <a:pt x="107" y="70"/>
                      <a:pt x="215" y="141"/>
                      <a:pt x="264" y="216"/>
                    </a:cubicBezTo>
                    <a:cubicBezTo>
                      <a:pt x="313" y="291"/>
                      <a:pt x="304" y="369"/>
                      <a:pt x="296" y="448"/>
                    </a:cubicBezTo>
                  </a:path>
                </a:pathLst>
              </a:custGeom>
              <a:noFill/>
              <a:ln w="57150" cmpd="sng">
                <a:solidFill>
                  <a:schemeClr val="accent2"/>
                </a:solidFill>
                <a:round/>
                <a:headEnd/>
                <a:tailEnd type="triangle" w="sm" len="sm"/>
              </a:ln>
              <a:extLst>
                <a:ext uri="{909E8E84-426E-40dd-AFC4-6F175D3DCCD1}">
                  <a14:hiddenFill xmlns="" xmlns:a14="http://schemas.microsoft.com/office/drawing/2010/main">
                    <a:solidFill>
                      <a:srgbClr val="FFFFFF"/>
                    </a:solidFill>
                  </a14:hiddenFill>
                </a:ext>
              </a:extLst>
            </p:spPr>
            <p:txBody>
              <a:bodyPr wrap="none" anchor="ctr"/>
              <a:lstStyle/>
              <a:p>
                <a:endParaRPr lang="en-US" dirty="0"/>
              </a:p>
            </p:txBody>
          </p:sp>
        </p:grpSp>
        <p:sp>
          <p:nvSpPr>
            <p:cNvPr id="122920" name="Rectangle 49"/>
            <p:cNvSpPr>
              <a:spLocks noChangeArrowheads="1"/>
            </p:cNvSpPr>
            <p:nvPr/>
          </p:nvSpPr>
          <p:spPr bwMode="auto">
            <a:xfrm rot="-3147956">
              <a:off x="1587" y="2452"/>
              <a:ext cx="1022" cy="17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1200" dirty="0"/>
                <a:t>Total process A costs</a:t>
              </a:r>
            </a:p>
          </p:txBody>
        </p:sp>
      </p:grpSp>
      <p:grpSp>
        <p:nvGrpSpPr>
          <p:cNvPr id="69682" name="Group 50"/>
          <p:cNvGrpSpPr>
            <a:grpSpLocks/>
          </p:cNvGrpSpPr>
          <p:nvPr/>
        </p:nvGrpSpPr>
        <p:grpSpPr bwMode="auto">
          <a:xfrm>
            <a:off x="2374900" y="3187700"/>
            <a:ext cx="3049588" cy="1968500"/>
            <a:chOff x="1496" y="2056"/>
            <a:chExt cx="1921" cy="1240"/>
          </a:xfrm>
        </p:grpSpPr>
        <p:grpSp>
          <p:nvGrpSpPr>
            <p:cNvPr id="122915" name="Group 51"/>
            <p:cNvGrpSpPr>
              <a:grpSpLocks/>
            </p:cNvGrpSpPr>
            <p:nvPr/>
          </p:nvGrpSpPr>
          <p:grpSpPr bwMode="auto">
            <a:xfrm>
              <a:off x="1496" y="2056"/>
              <a:ext cx="1921" cy="1240"/>
              <a:chOff x="1496" y="2056"/>
              <a:chExt cx="1921" cy="1240"/>
            </a:xfrm>
          </p:grpSpPr>
          <p:sp>
            <p:nvSpPr>
              <p:cNvPr id="122917" name="Line 52"/>
              <p:cNvSpPr>
                <a:spLocks noChangeShapeType="1"/>
              </p:cNvSpPr>
              <p:nvPr/>
            </p:nvSpPr>
            <p:spPr bwMode="auto">
              <a:xfrm flipV="1">
                <a:off x="1496" y="2472"/>
                <a:ext cx="1272" cy="824"/>
              </a:xfrm>
              <a:prstGeom prst="line">
                <a:avLst/>
              </a:prstGeom>
              <a:noFill/>
              <a:ln w="76200">
                <a:solidFill>
                  <a:srgbClr val="92D3CB"/>
                </a:solidFill>
                <a:round/>
                <a:headEnd/>
                <a:tailEnd/>
              </a:ln>
              <a:extLst>
                <a:ext uri="{909E8E84-426E-40dd-AFC4-6F175D3DCCD1}">
                  <a14:hiddenFill xmlns="" xmlns:a14="http://schemas.microsoft.com/office/drawing/2010/main">
                    <a:noFill/>
                  </a14:hiddenFill>
                </a:ext>
              </a:extLst>
            </p:spPr>
            <p:txBody>
              <a:bodyPr wrap="none" anchor="ctr"/>
              <a:lstStyle/>
              <a:p>
                <a:endParaRPr lang="en-US" dirty="0"/>
              </a:p>
            </p:txBody>
          </p:sp>
          <p:sp>
            <p:nvSpPr>
              <p:cNvPr id="122918" name="Freeform 53"/>
              <p:cNvSpPr>
                <a:spLocks/>
              </p:cNvSpPr>
              <p:nvPr/>
            </p:nvSpPr>
            <p:spPr bwMode="auto">
              <a:xfrm>
                <a:off x="2896" y="2056"/>
                <a:ext cx="521" cy="393"/>
              </a:xfrm>
              <a:custGeom>
                <a:avLst/>
                <a:gdLst>
                  <a:gd name="T0" fmla="*/ 488 w 521"/>
                  <a:gd name="T1" fmla="*/ 0 h 360"/>
                  <a:gd name="T2" fmla="*/ 440 w 521"/>
                  <a:gd name="T3" fmla="*/ 157 h 360"/>
                  <a:gd name="T4" fmla="*/ 0 w 521"/>
                  <a:gd name="T5" fmla="*/ 393 h 360"/>
                  <a:gd name="T6" fmla="*/ 0 60000 65536"/>
                  <a:gd name="T7" fmla="*/ 0 60000 65536"/>
                  <a:gd name="T8" fmla="*/ 0 60000 65536"/>
                  <a:gd name="T9" fmla="*/ 0 w 521"/>
                  <a:gd name="T10" fmla="*/ 0 h 360"/>
                  <a:gd name="T11" fmla="*/ 521 w 521"/>
                  <a:gd name="T12" fmla="*/ 360 h 360"/>
                </a:gdLst>
                <a:ahLst/>
                <a:cxnLst>
                  <a:cxn ang="T6">
                    <a:pos x="T0" y="T1"/>
                  </a:cxn>
                  <a:cxn ang="T7">
                    <a:pos x="T2" y="T3"/>
                  </a:cxn>
                  <a:cxn ang="T8">
                    <a:pos x="T4" y="T5"/>
                  </a:cxn>
                </a:cxnLst>
                <a:rect l="T9" t="T10" r="T11" b="T12"/>
                <a:pathLst>
                  <a:path w="521" h="360">
                    <a:moveTo>
                      <a:pt x="488" y="0"/>
                    </a:moveTo>
                    <a:cubicBezTo>
                      <a:pt x="504" y="42"/>
                      <a:pt x="521" y="84"/>
                      <a:pt x="440" y="144"/>
                    </a:cubicBezTo>
                    <a:cubicBezTo>
                      <a:pt x="359" y="204"/>
                      <a:pt x="179" y="282"/>
                      <a:pt x="0" y="360"/>
                    </a:cubicBezTo>
                  </a:path>
                </a:pathLst>
              </a:custGeom>
              <a:noFill/>
              <a:ln w="57150" cmpd="sng">
                <a:solidFill>
                  <a:srgbClr val="92D3CB"/>
                </a:solidFill>
                <a:round/>
                <a:headEnd/>
                <a:tailEnd type="triangle" w="sm" len="sm"/>
              </a:ln>
              <a:extLst>
                <a:ext uri="{909E8E84-426E-40dd-AFC4-6F175D3DCCD1}">
                  <a14:hiddenFill xmlns="" xmlns:a14="http://schemas.microsoft.com/office/drawing/2010/main">
                    <a:solidFill>
                      <a:srgbClr val="FFFFFF"/>
                    </a:solidFill>
                  </a14:hiddenFill>
                </a:ext>
              </a:extLst>
            </p:spPr>
            <p:txBody>
              <a:bodyPr wrap="none" anchor="ctr"/>
              <a:lstStyle/>
              <a:p>
                <a:endParaRPr lang="en-US" dirty="0"/>
              </a:p>
            </p:txBody>
          </p:sp>
        </p:grpSp>
        <p:sp>
          <p:nvSpPr>
            <p:cNvPr id="122916" name="Rectangle 54"/>
            <p:cNvSpPr>
              <a:spLocks noChangeArrowheads="1"/>
            </p:cNvSpPr>
            <p:nvPr/>
          </p:nvSpPr>
          <p:spPr bwMode="auto">
            <a:xfrm rot="-2010484">
              <a:off x="1983" y="2448"/>
              <a:ext cx="1032" cy="17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1200" dirty="0"/>
                <a:t>Total process B costs</a:t>
              </a:r>
            </a:p>
          </p:txBody>
        </p:sp>
      </p:grpSp>
      <p:grpSp>
        <p:nvGrpSpPr>
          <p:cNvPr id="69687" name="Group 55"/>
          <p:cNvGrpSpPr>
            <a:grpSpLocks/>
          </p:cNvGrpSpPr>
          <p:nvPr/>
        </p:nvGrpSpPr>
        <p:grpSpPr bwMode="auto">
          <a:xfrm>
            <a:off x="2362200" y="3568700"/>
            <a:ext cx="4876800" cy="1244600"/>
            <a:chOff x="1488" y="2296"/>
            <a:chExt cx="3072" cy="784"/>
          </a:xfrm>
        </p:grpSpPr>
        <p:grpSp>
          <p:nvGrpSpPr>
            <p:cNvPr id="122911" name="Group 56"/>
            <p:cNvGrpSpPr>
              <a:grpSpLocks/>
            </p:cNvGrpSpPr>
            <p:nvPr/>
          </p:nvGrpSpPr>
          <p:grpSpPr bwMode="auto">
            <a:xfrm>
              <a:off x="1488" y="2296"/>
              <a:ext cx="3072" cy="784"/>
              <a:chOff x="1488" y="2296"/>
              <a:chExt cx="3072" cy="784"/>
            </a:xfrm>
          </p:grpSpPr>
          <p:sp>
            <p:nvSpPr>
              <p:cNvPr id="69689" name="Line 57"/>
              <p:cNvSpPr>
                <a:spLocks noChangeShapeType="1"/>
              </p:cNvSpPr>
              <p:nvPr/>
            </p:nvSpPr>
            <p:spPr bwMode="auto">
              <a:xfrm flipV="1">
                <a:off x="1488" y="2496"/>
                <a:ext cx="1680" cy="584"/>
              </a:xfrm>
              <a:prstGeom prst="line">
                <a:avLst/>
              </a:prstGeom>
              <a:noFill/>
              <a:ln w="76200" cmpd="sng">
                <a:solidFill>
                  <a:schemeClr val="accent4"/>
                </a:solidFill>
                <a:round/>
                <a:headEnd/>
                <a:tailEnd/>
              </a:ln>
              <a:effectLst/>
            </p:spPr>
            <p:txBody>
              <a:bodyPr wrap="none" anchor="ctr"/>
              <a:lstStyle/>
              <a:p>
                <a:pPr fontAlgn="auto">
                  <a:spcBef>
                    <a:spcPts val="0"/>
                  </a:spcBef>
                  <a:spcAft>
                    <a:spcPts val="0"/>
                  </a:spcAft>
                  <a:defRPr/>
                </a:pPr>
                <a:endParaRPr lang="en-US" dirty="0">
                  <a:latin typeface="+mn-lt"/>
                  <a:ea typeface="+mn-ea"/>
                  <a:cs typeface="+mn-cs"/>
                </a:endParaRPr>
              </a:p>
            </p:txBody>
          </p:sp>
          <p:sp>
            <p:nvSpPr>
              <p:cNvPr id="122914" name="Freeform 58"/>
              <p:cNvSpPr>
                <a:spLocks/>
              </p:cNvSpPr>
              <p:nvPr/>
            </p:nvSpPr>
            <p:spPr bwMode="auto">
              <a:xfrm>
                <a:off x="3232" y="2296"/>
                <a:ext cx="1328" cy="245"/>
              </a:xfrm>
              <a:custGeom>
                <a:avLst/>
                <a:gdLst>
                  <a:gd name="T0" fmla="*/ 1328 w 1328"/>
                  <a:gd name="T1" fmla="*/ 0 h 245"/>
                  <a:gd name="T2" fmla="*/ 896 w 1328"/>
                  <a:gd name="T3" fmla="*/ 208 h 245"/>
                  <a:gd name="T4" fmla="*/ 0 w 1328"/>
                  <a:gd name="T5" fmla="*/ 224 h 245"/>
                  <a:gd name="T6" fmla="*/ 0 60000 65536"/>
                  <a:gd name="T7" fmla="*/ 0 60000 65536"/>
                  <a:gd name="T8" fmla="*/ 0 60000 65536"/>
                  <a:gd name="T9" fmla="*/ 0 w 1328"/>
                  <a:gd name="T10" fmla="*/ 0 h 245"/>
                  <a:gd name="T11" fmla="*/ 1328 w 1328"/>
                  <a:gd name="T12" fmla="*/ 245 h 245"/>
                </a:gdLst>
                <a:ahLst/>
                <a:cxnLst>
                  <a:cxn ang="T6">
                    <a:pos x="T0" y="T1"/>
                  </a:cxn>
                  <a:cxn ang="T7">
                    <a:pos x="T2" y="T3"/>
                  </a:cxn>
                  <a:cxn ang="T8">
                    <a:pos x="T4" y="T5"/>
                  </a:cxn>
                </a:cxnLst>
                <a:rect l="T9" t="T10" r="T11" b="T12"/>
                <a:pathLst>
                  <a:path w="1328" h="245">
                    <a:moveTo>
                      <a:pt x="1328" y="0"/>
                    </a:moveTo>
                    <a:cubicBezTo>
                      <a:pt x="1222" y="85"/>
                      <a:pt x="1117" y="171"/>
                      <a:pt x="896" y="208"/>
                    </a:cubicBezTo>
                    <a:cubicBezTo>
                      <a:pt x="675" y="245"/>
                      <a:pt x="337" y="234"/>
                      <a:pt x="0" y="224"/>
                    </a:cubicBezTo>
                  </a:path>
                </a:pathLst>
              </a:custGeom>
              <a:noFill/>
              <a:ln w="57150" cmpd="sng">
                <a:solidFill>
                  <a:srgbClr val="BDD6AE"/>
                </a:solidFill>
                <a:round/>
                <a:headEnd/>
                <a:tailEnd type="triangle" w="sm" len="sm"/>
              </a:ln>
              <a:extLst>
                <a:ext uri="{909E8E84-426E-40dd-AFC4-6F175D3DCCD1}">
                  <a14:hiddenFill xmlns="" xmlns:a14="http://schemas.microsoft.com/office/drawing/2010/main">
                    <a:solidFill>
                      <a:srgbClr val="FFFFFF"/>
                    </a:solidFill>
                  </a14:hiddenFill>
                </a:ext>
              </a:extLst>
            </p:spPr>
            <p:txBody>
              <a:bodyPr wrap="none" anchor="ctr"/>
              <a:lstStyle/>
              <a:p>
                <a:endParaRPr lang="en-US" dirty="0"/>
              </a:p>
            </p:txBody>
          </p:sp>
        </p:grpSp>
        <p:sp>
          <p:nvSpPr>
            <p:cNvPr id="122912" name="Rectangle 59"/>
            <p:cNvSpPr>
              <a:spLocks noChangeArrowheads="1"/>
            </p:cNvSpPr>
            <p:nvPr/>
          </p:nvSpPr>
          <p:spPr bwMode="auto">
            <a:xfrm rot="-1127829">
              <a:off x="2242" y="2643"/>
              <a:ext cx="1038" cy="17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1200" dirty="0"/>
                <a:t>Total process C costs</a:t>
              </a:r>
            </a:p>
          </p:txBody>
        </p:sp>
      </p:grpSp>
      <p:grpSp>
        <p:nvGrpSpPr>
          <p:cNvPr id="69692" name="Group 60"/>
          <p:cNvGrpSpPr>
            <a:grpSpLocks/>
          </p:cNvGrpSpPr>
          <p:nvPr/>
        </p:nvGrpSpPr>
        <p:grpSpPr bwMode="auto">
          <a:xfrm>
            <a:off x="1978025" y="4876800"/>
            <a:ext cx="1071563" cy="1625600"/>
            <a:chOff x="1246" y="3120"/>
            <a:chExt cx="675" cy="1024"/>
          </a:xfrm>
        </p:grpSpPr>
        <p:sp>
          <p:nvSpPr>
            <p:cNvPr id="122908" name="Line 61"/>
            <p:cNvSpPr>
              <a:spLocks noChangeShapeType="1"/>
            </p:cNvSpPr>
            <p:nvPr/>
          </p:nvSpPr>
          <p:spPr bwMode="auto">
            <a:xfrm>
              <a:off x="1778" y="3120"/>
              <a:ext cx="0" cy="808"/>
            </a:xfrm>
            <a:prstGeom prst="line">
              <a:avLst/>
            </a:prstGeom>
            <a:noFill/>
            <a:ln w="38100">
              <a:solidFill>
                <a:schemeClr val="tx1"/>
              </a:solidFill>
              <a:prstDash val="sysDot"/>
              <a:round/>
              <a:headEnd/>
              <a:tailEnd/>
            </a:ln>
            <a:extLst>
              <a:ext uri="{909E8E84-426E-40dd-AFC4-6F175D3DCCD1}">
                <a14:hiddenFill xmlns="" xmlns:a14="http://schemas.microsoft.com/office/drawing/2010/main">
                  <a:noFill/>
                </a14:hiddenFill>
              </a:ext>
            </a:extLst>
          </p:spPr>
          <p:txBody>
            <a:bodyPr wrap="none" anchor="ctr"/>
            <a:lstStyle/>
            <a:p>
              <a:endParaRPr lang="en-US" dirty="0"/>
            </a:p>
          </p:txBody>
        </p:sp>
        <p:sp>
          <p:nvSpPr>
            <p:cNvPr id="122909" name="Rectangle 62"/>
            <p:cNvSpPr>
              <a:spLocks noChangeArrowheads="1"/>
            </p:cNvSpPr>
            <p:nvPr/>
          </p:nvSpPr>
          <p:spPr bwMode="auto">
            <a:xfrm>
              <a:off x="1646" y="3911"/>
              <a:ext cx="275" cy="23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dirty="0"/>
                <a:t>V</a:t>
              </a:r>
              <a:r>
                <a:rPr lang="en-US" baseline="-25000" dirty="0"/>
                <a:t>1</a:t>
              </a:r>
              <a:endParaRPr lang="en-US" dirty="0"/>
            </a:p>
          </p:txBody>
        </p:sp>
        <p:sp>
          <p:nvSpPr>
            <p:cNvPr id="122910" name="Rectangle 63"/>
            <p:cNvSpPr>
              <a:spLocks noChangeArrowheads="1"/>
            </p:cNvSpPr>
            <p:nvPr/>
          </p:nvSpPr>
          <p:spPr bwMode="auto">
            <a:xfrm>
              <a:off x="1246" y="3931"/>
              <a:ext cx="475" cy="19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1400" dirty="0"/>
                <a:t>(2,857)</a:t>
              </a:r>
            </a:p>
          </p:txBody>
        </p:sp>
      </p:grpSp>
      <p:grpSp>
        <p:nvGrpSpPr>
          <p:cNvPr id="69696" name="Group 64"/>
          <p:cNvGrpSpPr>
            <a:grpSpLocks/>
          </p:cNvGrpSpPr>
          <p:nvPr/>
        </p:nvGrpSpPr>
        <p:grpSpPr bwMode="auto">
          <a:xfrm>
            <a:off x="3349625" y="4394200"/>
            <a:ext cx="1058863" cy="2108200"/>
            <a:chOff x="2110" y="2816"/>
            <a:chExt cx="667" cy="1328"/>
          </a:xfrm>
        </p:grpSpPr>
        <p:sp>
          <p:nvSpPr>
            <p:cNvPr id="122905" name="Line 65"/>
            <p:cNvSpPr>
              <a:spLocks noChangeShapeType="1"/>
            </p:cNvSpPr>
            <p:nvPr/>
          </p:nvSpPr>
          <p:spPr bwMode="auto">
            <a:xfrm>
              <a:off x="2240" y="2816"/>
              <a:ext cx="0" cy="1088"/>
            </a:xfrm>
            <a:prstGeom prst="line">
              <a:avLst/>
            </a:prstGeom>
            <a:noFill/>
            <a:ln w="38100">
              <a:solidFill>
                <a:schemeClr val="tx1"/>
              </a:solidFill>
              <a:prstDash val="sysDot"/>
              <a:round/>
              <a:headEnd/>
              <a:tailEnd/>
            </a:ln>
            <a:extLst>
              <a:ext uri="{909E8E84-426E-40dd-AFC4-6F175D3DCCD1}">
                <a14:hiddenFill xmlns="" xmlns:a14="http://schemas.microsoft.com/office/drawing/2010/main">
                  <a:noFill/>
                </a14:hiddenFill>
              </a:ext>
            </a:extLst>
          </p:spPr>
          <p:txBody>
            <a:bodyPr wrap="none" anchor="ctr"/>
            <a:lstStyle/>
            <a:p>
              <a:endParaRPr lang="en-US" dirty="0"/>
            </a:p>
          </p:txBody>
        </p:sp>
        <p:sp>
          <p:nvSpPr>
            <p:cNvPr id="122906" name="Rectangle 66"/>
            <p:cNvSpPr>
              <a:spLocks noChangeArrowheads="1"/>
            </p:cNvSpPr>
            <p:nvPr/>
          </p:nvSpPr>
          <p:spPr bwMode="auto">
            <a:xfrm>
              <a:off x="2110" y="3911"/>
              <a:ext cx="275" cy="23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dirty="0"/>
                <a:t>V</a:t>
              </a:r>
              <a:r>
                <a:rPr lang="en-US" baseline="-25000" dirty="0"/>
                <a:t>2</a:t>
              </a:r>
              <a:endParaRPr lang="en-US" dirty="0"/>
            </a:p>
          </p:txBody>
        </p:sp>
        <p:sp>
          <p:nvSpPr>
            <p:cNvPr id="122907" name="Rectangle 67"/>
            <p:cNvSpPr>
              <a:spLocks noChangeArrowheads="1"/>
            </p:cNvSpPr>
            <p:nvPr/>
          </p:nvSpPr>
          <p:spPr bwMode="auto">
            <a:xfrm>
              <a:off x="2302" y="3930"/>
              <a:ext cx="475" cy="19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1400" dirty="0"/>
                <a:t>(6,666)</a:t>
              </a:r>
            </a:p>
          </p:txBody>
        </p:sp>
      </p:grpSp>
      <p:grpSp>
        <p:nvGrpSpPr>
          <p:cNvPr id="69700" name="Group 68"/>
          <p:cNvGrpSpPr>
            <a:grpSpLocks/>
          </p:cNvGrpSpPr>
          <p:nvPr/>
        </p:nvGrpSpPr>
        <p:grpSpPr bwMode="auto">
          <a:xfrm>
            <a:off x="1431925" y="3811588"/>
            <a:ext cx="6149975" cy="2695575"/>
            <a:chOff x="902" y="2449"/>
            <a:chExt cx="3874" cy="1698"/>
          </a:xfrm>
        </p:grpSpPr>
        <p:grpSp>
          <p:nvGrpSpPr>
            <p:cNvPr id="122895" name="Group 69"/>
            <p:cNvGrpSpPr>
              <a:grpSpLocks/>
            </p:cNvGrpSpPr>
            <p:nvPr/>
          </p:nvGrpSpPr>
          <p:grpSpPr bwMode="auto">
            <a:xfrm>
              <a:off x="902" y="2937"/>
              <a:ext cx="3863" cy="655"/>
              <a:chOff x="902" y="2937"/>
              <a:chExt cx="3863" cy="655"/>
            </a:xfrm>
          </p:grpSpPr>
          <p:sp>
            <p:nvSpPr>
              <p:cNvPr id="122900" name="Rectangle 70"/>
              <p:cNvSpPr>
                <a:spLocks noChangeArrowheads="1"/>
              </p:cNvSpPr>
              <p:nvPr/>
            </p:nvSpPr>
            <p:spPr bwMode="auto">
              <a:xfrm>
                <a:off x="902" y="2937"/>
                <a:ext cx="584" cy="65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a:lnSpc>
                    <a:spcPct val="130000"/>
                  </a:lnSpc>
                </a:pPr>
                <a:r>
                  <a:rPr lang="en-US" sz="1600" dirty="0"/>
                  <a:t>400,000 </a:t>
                </a:r>
              </a:p>
              <a:p>
                <a:pPr>
                  <a:lnSpc>
                    <a:spcPct val="130000"/>
                  </a:lnSpc>
                </a:pPr>
                <a:r>
                  <a:rPr lang="en-US" sz="1600" dirty="0"/>
                  <a:t>300,000 </a:t>
                </a:r>
              </a:p>
              <a:p>
                <a:pPr>
                  <a:lnSpc>
                    <a:spcPct val="130000"/>
                  </a:lnSpc>
                </a:pPr>
                <a:r>
                  <a:rPr lang="en-US" sz="1600" dirty="0"/>
                  <a:t>200,000 </a:t>
                </a:r>
              </a:p>
            </p:txBody>
          </p:sp>
          <p:grpSp>
            <p:nvGrpSpPr>
              <p:cNvPr id="122901" name="Group 71"/>
              <p:cNvGrpSpPr>
                <a:grpSpLocks/>
              </p:cNvGrpSpPr>
              <p:nvPr/>
            </p:nvGrpSpPr>
            <p:grpSpPr bwMode="auto">
              <a:xfrm>
                <a:off x="1485" y="3097"/>
                <a:ext cx="3280" cy="396"/>
                <a:chOff x="1485" y="3097"/>
                <a:chExt cx="3112" cy="396"/>
              </a:xfrm>
            </p:grpSpPr>
            <p:sp>
              <p:nvSpPr>
                <p:cNvPr id="122902" name="Line 72"/>
                <p:cNvSpPr>
                  <a:spLocks noChangeShapeType="1"/>
                </p:cNvSpPr>
                <p:nvPr/>
              </p:nvSpPr>
              <p:spPr bwMode="auto">
                <a:xfrm>
                  <a:off x="1485" y="3097"/>
                  <a:ext cx="3112" cy="0"/>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dirty="0"/>
                </a:p>
              </p:txBody>
            </p:sp>
            <p:sp>
              <p:nvSpPr>
                <p:cNvPr id="122903" name="Line 73"/>
                <p:cNvSpPr>
                  <a:spLocks noChangeShapeType="1"/>
                </p:cNvSpPr>
                <p:nvPr/>
              </p:nvSpPr>
              <p:spPr bwMode="auto">
                <a:xfrm>
                  <a:off x="1485" y="3293"/>
                  <a:ext cx="3112" cy="0"/>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dirty="0"/>
                </a:p>
              </p:txBody>
            </p:sp>
            <p:sp>
              <p:nvSpPr>
                <p:cNvPr id="122904" name="Line 74"/>
                <p:cNvSpPr>
                  <a:spLocks noChangeShapeType="1"/>
                </p:cNvSpPr>
                <p:nvPr/>
              </p:nvSpPr>
              <p:spPr bwMode="auto">
                <a:xfrm>
                  <a:off x="1485" y="3493"/>
                  <a:ext cx="3112" cy="0"/>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wrap="none" anchor="ctr"/>
                <a:lstStyle/>
                <a:p>
                  <a:endParaRPr lang="en-US" dirty="0"/>
                </a:p>
              </p:txBody>
            </p:sp>
          </p:grpSp>
        </p:grpSp>
        <p:grpSp>
          <p:nvGrpSpPr>
            <p:cNvPr id="122896" name="Group 75"/>
            <p:cNvGrpSpPr>
              <a:grpSpLocks/>
            </p:cNvGrpSpPr>
            <p:nvPr/>
          </p:nvGrpSpPr>
          <p:grpSpPr bwMode="auto">
            <a:xfrm>
              <a:off x="1222" y="2449"/>
              <a:ext cx="3554" cy="1698"/>
              <a:chOff x="1222" y="2449"/>
              <a:chExt cx="3554" cy="1698"/>
            </a:xfrm>
          </p:grpSpPr>
          <p:sp>
            <p:nvSpPr>
              <p:cNvPr id="122897" name="Freeform 76"/>
              <p:cNvSpPr>
                <a:spLocks/>
              </p:cNvSpPr>
              <p:nvPr/>
            </p:nvSpPr>
            <p:spPr bwMode="auto">
              <a:xfrm>
                <a:off x="1488" y="2472"/>
                <a:ext cx="3288" cy="1456"/>
              </a:xfrm>
              <a:custGeom>
                <a:avLst/>
                <a:gdLst>
                  <a:gd name="T0" fmla="*/ 0 w 3160"/>
                  <a:gd name="T1" fmla="*/ 0 h 1456"/>
                  <a:gd name="T2" fmla="*/ 0 w 3160"/>
                  <a:gd name="T3" fmla="*/ 1456 h 1456"/>
                  <a:gd name="T4" fmla="*/ 3288 w 3160"/>
                  <a:gd name="T5" fmla="*/ 1456 h 1456"/>
                  <a:gd name="T6" fmla="*/ 0 60000 65536"/>
                  <a:gd name="T7" fmla="*/ 0 60000 65536"/>
                  <a:gd name="T8" fmla="*/ 0 60000 65536"/>
                  <a:gd name="T9" fmla="*/ 0 w 3160"/>
                  <a:gd name="T10" fmla="*/ 0 h 1456"/>
                  <a:gd name="T11" fmla="*/ 3160 w 3160"/>
                  <a:gd name="T12" fmla="*/ 1456 h 1456"/>
                </a:gdLst>
                <a:ahLst/>
                <a:cxnLst>
                  <a:cxn ang="T6">
                    <a:pos x="T0" y="T1"/>
                  </a:cxn>
                  <a:cxn ang="T7">
                    <a:pos x="T2" y="T3"/>
                  </a:cxn>
                  <a:cxn ang="T8">
                    <a:pos x="T4" y="T5"/>
                  </a:cxn>
                </a:cxnLst>
                <a:rect l="T9" t="T10" r="T11" b="T12"/>
                <a:pathLst>
                  <a:path w="3160" h="1456">
                    <a:moveTo>
                      <a:pt x="0" y="0"/>
                    </a:moveTo>
                    <a:lnTo>
                      <a:pt x="0" y="1456"/>
                    </a:lnTo>
                    <a:lnTo>
                      <a:pt x="3160" y="1456"/>
                    </a:lnTo>
                  </a:path>
                </a:pathLst>
              </a:custGeom>
              <a:noFill/>
              <a:ln w="38100" cmpd="sng">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dirty="0"/>
              </a:p>
            </p:txBody>
          </p:sp>
          <p:sp>
            <p:nvSpPr>
              <p:cNvPr id="122898" name="Rectangle 77"/>
              <p:cNvSpPr>
                <a:spLocks noChangeArrowheads="1"/>
              </p:cNvSpPr>
              <p:nvPr/>
            </p:nvSpPr>
            <p:spPr bwMode="auto">
              <a:xfrm>
                <a:off x="4102" y="3934"/>
                <a:ext cx="547" cy="2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1600" dirty="0"/>
                  <a:t>Volume</a:t>
                </a:r>
              </a:p>
            </p:txBody>
          </p:sp>
          <p:sp>
            <p:nvSpPr>
              <p:cNvPr id="122899" name="Rectangle 78"/>
              <p:cNvSpPr>
                <a:spLocks noChangeArrowheads="1"/>
              </p:cNvSpPr>
              <p:nvPr/>
            </p:nvSpPr>
            <p:spPr bwMode="auto">
              <a:xfrm>
                <a:off x="1222" y="2449"/>
                <a:ext cx="197" cy="23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dirty="0"/>
                  <a:t>$</a:t>
                </a:r>
              </a:p>
            </p:txBody>
          </p:sp>
        </p:grpSp>
      </p:grpSp>
      <p:sp>
        <p:nvSpPr>
          <p:cNvPr id="69711" name="Rectangle 79"/>
          <p:cNvSpPr>
            <a:spLocks noChangeArrowheads="1"/>
          </p:cNvSpPr>
          <p:nvPr/>
        </p:nvSpPr>
        <p:spPr bwMode="auto">
          <a:xfrm>
            <a:off x="339725" y="5851525"/>
            <a:ext cx="1108075" cy="3381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1600" dirty="0"/>
              <a:t>Figure </a:t>
            </a:r>
            <a:r>
              <a:rPr lang="en-US" sz="1600" dirty="0">
                <a:solidFill>
                  <a:schemeClr val="tx2"/>
                </a:solidFill>
              </a:rPr>
              <a:t>7.3</a:t>
            </a:r>
          </a:p>
        </p:txBody>
      </p:sp>
    </p:spTree>
    <p:extLst>
      <p:ext uri="{BB962C8B-B14F-4D97-AF65-F5344CB8AC3E}">
        <p14:creationId xmlns:p14="http://schemas.microsoft.com/office/powerpoint/2010/main" val="1141975994"/>
      </p:ext>
    </p:extLst>
  </p:cSld>
  <p:clrMapOvr>
    <a:masterClrMapping/>
  </p:clrMapOvr>
  <p:transition>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1000"/>
                                  </p:stCondLst>
                                  <p:childTnLst>
                                    <p:set>
                                      <p:cBhvr>
                                        <p:cTn id="6" dur="1" fill="hold">
                                          <p:stCondLst>
                                            <p:cond delay="0"/>
                                          </p:stCondLst>
                                        </p:cTn>
                                        <p:tgtEl>
                                          <p:spTgt spid="69657"/>
                                        </p:tgtEl>
                                        <p:attrNameLst>
                                          <p:attrName>style.visibility</p:attrName>
                                        </p:attrNameLst>
                                      </p:cBhvr>
                                      <p:to>
                                        <p:strVal val="visible"/>
                                      </p:to>
                                    </p:set>
                                    <p:animEffect transition="in" filter="wipe(left)">
                                      <p:cBhvr>
                                        <p:cTn id="7" dur="1000"/>
                                        <p:tgtEl>
                                          <p:spTgt spid="69657"/>
                                        </p:tgtEl>
                                      </p:cBhvr>
                                    </p:animEffect>
                                  </p:childTnLst>
                                </p:cTn>
                              </p:par>
                            </p:childTnLst>
                          </p:cTn>
                        </p:par>
                        <p:par>
                          <p:cTn id="8" fill="hold" nodeType="afterGroup">
                            <p:stCondLst>
                              <p:cond delay="2000"/>
                            </p:stCondLst>
                            <p:childTnLst>
                              <p:par>
                                <p:cTn id="9" presetID="22" presetClass="entr" presetSubtype="8" fill="hold" nodeType="afterEffect">
                                  <p:stCondLst>
                                    <p:cond delay="1000"/>
                                  </p:stCondLst>
                                  <p:childTnLst>
                                    <p:set>
                                      <p:cBhvr>
                                        <p:cTn id="10" dur="1" fill="hold">
                                          <p:stCondLst>
                                            <p:cond delay="0"/>
                                          </p:stCondLst>
                                        </p:cTn>
                                        <p:tgtEl>
                                          <p:spTgt spid="69646"/>
                                        </p:tgtEl>
                                        <p:attrNameLst>
                                          <p:attrName>style.visibility</p:attrName>
                                        </p:attrNameLst>
                                      </p:cBhvr>
                                      <p:to>
                                        <p:strVal val="visible"/>
                                      </p:to>
                                    </p:set>
                                    <p:animEffect transition="in" filter="wipe(left)">
                                      <p:cBhvr>
                                        <p:cTn id="11" dur="1000"/>
                                        <p:tgtEl>
                                          <p:spTgt spid="69646"/>
                                        </p:tgtEl>
                                      </p:cBhvr>
                                    </p:animEffect>
                                  </p:childTnLst>
                                </p:cTn>
                              </p:par>
                            </p:childTnLst>
                          </p:cTn>
                        </p:par>
                        <p:par>
                          <p:cTn id="12" fill="hold" nodeType="afterGroup">
                            <p:stCondLst>
                              <p:cond delay="4000"/>
                            </p:stCondLst>
                            <p:childTnLst>
                              <p:par>
                                <p:cTn id="13" presetID="22" presetClass="entr" presetSubtype="8" fill="hold" nodeType="afterEffect">
                                  <p:stCondLst>
                                    <p:cond delay="1000"/>
                                  </p:stCondLst>
                                  <p:childTnLst>
                                    <p:set>
                                      <p:cBhvr>
                                        <p:cTn id="14" dur="1" fill="hold">
                                          <p:stCondLst>
                                            <p:cond delay="0"/>
                                          </p:stCondLst>
                                        </p:cTn>
                                        <p:tgtEl>
                                          <p:spTgt spid="69635"/>
                                        </p:tgtEl>
                                        <p:attrNameLst>
                                          <p:attrName>style.visibility</p:attrName>
                                        </p:attrNameLst>
                                      </p:cBhvr>
                                      <p:to>
                                        <p:strVal val="visible"/>
                                      </p:to>
                                    </p:set>
                                    <p:animEffect transition="in" filter="wipe(left)">
                                      <p:cBhvr>
                                        <p:cTn id="15" dur="1000"/>
                                        <p:tgtEl>
                                          <p:spTgt spid="69635"/>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69700"/>
                                        </p:tgtEl>
                                        <p:attrNameLst>
                                          <p:attrName>style.visibility</p:attrName>
                                        </p:attrNameLst>
                                      </p:cBhvr>
                                      <p:to>
                                        <p:strVal val="visible"/>
                                      </p:to>
                                    </p:set>
                                    <p:animEffect transition="in" filter="wipe(left)">
                                      <p:cBhvr>
                                        <p:cTn id="20" dur="1000"/>
                                        <p:tgtEl>
                                          <p:spTgt spid="69700"/>
                                        </p:tgtEl>
                                      </p:cBhvr>
                                    </p:animEffect>
                                  </p:childTnLst>
                                </p:cTn>
                              </p:par>
                            </p:childTnLst>
                          </p:cTn>
                        </p:par>
                        <p:par>
                          <p:cTn id="21" fill="hold" nodeType="afterGroup">
                            <p:stCondLst>
                              <p:cond delay="1000"/>
                            </p:stCondLst>
                            <p:childTnLst>
                              <p:par>
                                <p:cTn id="22" presetID="22" presetClass="entr" presetSubtype="2" fill="hold" nodeType="afterEffect">
                                  <p:stCondLst>
                                    <p:cond delay="1000"/>
                                  </p:stCondLst>
                                  <p:childTnLst>
                                    <p:set>
                                      <p:cBhvr>
                                        <p:cTn id="23" dur="1" fill="hold">
                                          <p:stCondLst>
                                            <p:cond delay="0"/>
                                          </p:stCondLst>
                                        </p:cTn>
                                        <p:tgtEl>
                                          <p:spTgt spid="69677"/>
                                        </p:tgtEl>
                                        <p:attrNameLst>
                                          <p:attrName>style.visibility</p:attrName>
                                        </p:attrNameLst>
                                      </p:cBhvr>
                                      <p:to>
                                        <p:strVal val="visible"/>
                                      </p:to>
                                    </p:set>
                                    <p:animEffect transition="in" filter="wipe(right)">
                                      <p:cBhvr>
                                        <p:cTn id="24" dur="1000"/>
                                        <p:tgtEl>
                                          <p:spTgt spid="69677"/>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2" fill="hold" nodeType="clickEffect">
                                  <p:stCondLst>
                                    <p:cond delay="0"/>
                                  </p:stCondLst>
                                  <p:childTnLst>
                                    <p:set>
                                      <p:cBhvr>
                                        <p:cTn id="28" dur="1" fill="hold">
                                          <p:stCondLst>
                                            <p:cond delay="0"/>
                                          </p:stCondLst>
                                        </p:cTn>
                                        <p:tgtEl>
                                          <p:spTgt spid="69682"/>
                                        </p:tgtEl>
                                        <p:attrNameLst>
                                          <p:attrName>style.visibility</p:attrName>
                                        </p:attrNameLst>
                                      </p:cBhvr>
                                      <p:to>
                                        <p:strVal val="visible"/>
                                      </p:to>
                                    </p:set>
                                    <p:animEffect transition="in" filter="wipe(right)">
                                      <p:cBhvr>
                                        <p:cTn id="29" dur="1000"/>
                                        <p:tgtEl>
                                          <p:spTgt spid="69682"/>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2" fill="hold" nodeType="clickEffect">
                                  <p:stCondLst>
                                    <p:cond delay="0"/>
                                  </p:stCondLst>
                                  <p:childTnLst>
                                    <p:set>
                                      <p:cBhvr>
                                        <p:cTn id="33" dur="1" fill="hold">
                                          <p:stCondLst>
                                            <p:cond delay="0"/>
                                          </p:stCondLst>
                                        </p:cTn>
                                        <p:tgtEl>
                                          <p:spTgt spid="69687"/>
                                        </p:tgtEl>
                                        <p:attrNameLst>
                                          <p:attrName>style.visibility</p:attrName>
                                        </p:attrNameLst>
                                      </p:cBhvr>
                                      <p:to>
                                        <p:strVal val="visible"/>
                                      </p:to>
                                    </p:set>
                                    <p:animEffect transition="in" filter="wipe(right)">
                                      <p:cBhvr>
                                        <p:cTn id="34" dur="1000"/>
                                        <p:tgtEl>
                                          <p:spTgt spid="69687"/>
                                        </p:tgtEl>
                                      </p:cBhvr>
                                    </p:animEffect>
                                  </p:childTnLst>
                                </p:cTn>
                              </p:par>
                            </p:childTnLst>
                          </p:cTn>
                        </p:par>
                        <p:par>
                          <p:cTn id="35" fill="hold" nodeType="afterGroup">
                            <p:stCondLst>
                              <p:cond delay="1000"/>
                            </p:stCondLst>
                            <p:childTnLst>
                              <p:par>
                                <p:cTn id="36" presetID="22" presetClass="entr" presetSubtype="4" fill="hold" nodeType="afterEffect">
                                  <p:stCondLst>
                                    <p:cond delay="1000"/>
                                  </p:stCondLst>
                                  <p:childTnLst>
                                    <p:set>
                                      <p:cBhvr>
                                        <p:cTn id="37" dur="1" fill="hold">
                                          <p:stCondLst>
                                            <p:cond delay="0"/>
                                          </p:stCondLst>
                                        </p:cTn>
                                        <p:tgtEl>
                                          <p:spTgt spid="69692"/>
                                        </p:tgtEl>
                                        <p:attrNameLst>
                                          <p:attrName>style.visibility</p:attrName>
                                        </p:attrNameLst>
                                      </p:cBhvr>
                                      <p:to>
                                        <p:strVal val="visible"/>
                                      </p:to>
                                    </p:set>
                                    <p:animEffect transition="in" filter="wipe(down)">
                                      <p:cBhvr>
                                        <p:cTn id="38" dur="1000"/>
                                        <p:tgtEl>
                                          <p:spTgt spid="69692"/>
                                        </p:tgtEl>
                                      </p:cBhvr>
                                    </p:animEffect>
                                  </p:childTnLst>
                                </p:cTn>
                              </p:par>
                            </p:childTnLst>
                          </p:cTn>
                        </p:par>
                        <p:par>
                          <p:cTn id="39" fill="hold" nodeType="afterGroup">
                            <p:stCondLst>
                              <p:cond delay="3000"/>
                            </p:stCondLst>
                            <p:childTnLst>
                              <p:par>
                                <p:cTn id="40" presetID="22" presetClass="entr" presetSubtype="4" fill="hold" nodeType="afterEffect">
                                  <p:stCondLst>
                                    <p:cond delay="1000"/>
                                  </p:stCondLst>
                                  <p:childTnLst>
                                    <p:set>
                                      <p:cBhvr>
                                        <p:cTn id="41" dur="1" fill="hold">
                                          <p:stCondLst>
                                            <p:cond delay="0"/>
                                          </p:stCondLst>
                                        </p:cTn>
                                        <p:tgtEl>
                                          <p:spTgt spid="69696"/>
                                        </p:tgtEl>
                                        <p:attrNameLst>
                                          <p:attrName>style.visibility</p:attrName>
                                        </p:attrNameLst>
                                      </p:cBhvr>
                                      <p:to>
                                        <p:strVal val="visible"/>
                                      </p:to>
                                    </p:set>
                                    <p:animEffect transition="in" filter="wipe(down)">
                                      <p:cBhvr>
                                        <p:cTn id="42" dur="1000"/>
                                        <p:tgtEl>
                                          <p:spTgt spid="69696"/>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69668"/>
                                        </p:tgtEl>
                                        <p:attrNameLst>
                                          <p:attrName>style.visibility</p:attrName>
                                        </p:attrNameLst>
                                      </p:cBhvr>
                                      <p:to>
                                        <p:strVal val="visible"/>
                                      </p:to>
                                    </p:set>
                                    <p:animEffect transition="in" filter="wipe(left)">
                                      <p:cBhvr>
                                        <p:cTn id="47" dur="1000"/>
                                        <p:tgtEl>
                                          <p:spTgt spid="69668"/>
                                        </p:tgtEl>
                                      </p:cBhvr>
                                    </p:animEffect>
                                  </p:childTnLst>
                                </p:cTn>
                              </p:par>
                            </p:childTnLst>
                          </p:cTn>
                        </p:par>
                        <p:par>
                          <p:cTn id="48" fill="hold" nodeType="afterGroup">
                            <p:stCondLst>
                              <p:cond delay="1000"/>
                            </p:stCondLst>
                            <p:childTnLst>
                              <p:par>
                                <p:cTn id="49" presetID="22" presetClass="entr" presetSubtype="8" fill="hold" nodeType="afterEffect">
                                  <p:stCondLst>
                                    <p:cond delay="1000"/>
                                  </p:stCondLst>
                                  <p:childTnLst>
                                    <p:set>
                                      <p:cBhvr>
                                        <p:cTn id="50" dur="1" fill="hold">
                                          <p:stCondLst>
                                            <p:cond delay="0"/>
                                          </p:stCondLst>
                                        </p:cTn>
                                        <p:tgtEl>
                                          <p:spTgt spid="69671"/>
                                        </p:tgtEl>
                                        <p:attrNameLst>
                                          <p:attrName>style.visibility</p:attrName>
                                        </p:attrNameLst>
                                      </p:cBhvr>
                                      <p:to>
                                        <p:strVal val="visible"/>
                                      </p:to>
                                    </p:set>
                                    <p:animEffect transition="in" filter="wipe(left)">
                                      <p:cBhvr>
                                        <p:cTn id="51" dur="1000"/>
                                        <p:tgtEl>
                                          <p:spTgt spid="69671"/>
                                        </p:tgtEl>
                                      </p:cBhvr>
                                    </p:animEffect>
                                  </p:childTnLst>
                                </p:cTn>
                              </p:par>
                            </p:childTnLst>
                          </p:cTn>
                        </p:par>
                        <p:par>
                          <p:cTn id="52" fill="hold" nodeType="afterGroup">
                            <p:stCondLst>
                              <p:cond delay="3000"/>
                            </p:stCondLst>
                            <p:childTnLst>
                              <p:par>
                                <p:cTn id="53" presetID="22" presetClass="entr" presetSubtype="8" fill="hold" nodeType="afterEffect">
                                  <p:stCondLst>
                                    <p:cond delay="1000"/>
                                  </p:stCondLst>
                                  <p:childTnLst>
                                    <p:set>
                                      <p:cBhvr>
                                        <p:cTn id="54" dur="1" fill="hold">
                                          <p:stCondLst>
                                            <p:cond delay="0"/>
                                          </p:stCondLst>
                                        </p:cTn>
                                        <p:tgtEl>
                                          <p:spTgt spid="69674"/>
                                        </p:tgtEl>
                                        <p:attrNameLst>
                                          <p:attrName>style.visibility</p:attrName>
                                        </p:attrNameLst>
                                      </p:cBhvr>
                                      <p:to>
                                        <p:strVal val="visible"/>
                                      </p:to>
                                    </p:set>
                                    <p:animEffect transition="in" filter="wipe(left)">
                                      <p:cBhvr>
                                        <p:cTn id="55" dur="1000"/>
                                        <p:tgtEl>
                                          <p:spTgt spid="69674"/>
                                        </p:tgtEl>
                                      </p:cBhvr>
                                    </p:animEffect>
                                  </p:childTnLst>
                                </p:cTn>
                              </p:par>
                            </p:childTnLst>
                          </p:cTn>
                        </p:par>
                        <p:par>
                          <p:cTn id="56" fill="hold" nodeType="afterGroup">
                            <p:stCondLst>
                              <p:cond delay="5000"/>
                            </p:stCondLst>
                            <p:childTnLst>
                              <p:par>
                                <p:cTn id="57" presetID="22" presetClass="entr" presetSubtype="8" fill="hold" grpId="0" nodeType="afterEffect">
                                  <p:stCondLst>
                                    <p:cond delay="0"/>
                                  </p:stCondLst>
                                  <p:childTnLst>
                                    <p:set>
                                      <p:cBhvr>
                                        <p:cTn id="58" dur="1" fill="hold">
                                          <p:stCondLst>
                                            <p:cond delay="0"/>
                                          </p:stCondLst>
                                        </p:cTn>
                                        <p:tgtEl>
                                          <p:spTgt spid="69711"/>
                                        </p:tgtEl>
                                        <p:attrNameLst>
                                          <p:attrName>style.visibility</p:attrName>
                                        </p:attrNameLst>
                                      </p:cBhvr>
                                      <p:to>
                                        <p:strVal val="visible"/>
                                      </p:to>
                                    </p:set>
                                    <p:animEffect transition="in" filter="wipe(left)">
                                      <p:cBhvr>
                                        <p:cTn id="59" dur="1000"/>
                                        <p:tgtEl>
                                          <p:spTgt spid="697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711"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3C2D6-FD22-4A81-8342-E868C91D0889}"/>
              </a:ext>
            </a:extLst>
          </p:cNvPr>
          <p:cNvSpPr>
            <a:spLocks noGrp="1"/>
          </p:cNvSpPr>
          <p:nvPr>
            <p:ph type="ctrTitle"/>
          </p:nvPr>
        </p:nvSpPr>
        <p:spPr/>
        <p:txBody>
          <a:bodyPr/>
          <a:lstStyle/>
          <a:p>
            <a:r>
              <a:rPr lang="en-US" dirty="0"/>
              <a:t>Process Choice Based On Capacity</a:t>
            </a:r>
          </a:p>
        </p:txBody>
      </p:sp>
      <p:sp>
        <p:nvSpPr>
          <p:cNvPr id="3" name="Subtitle 2">
            <a:extLst>
              <a:ext uri="{FF2B5EF4-FFF2-40B4-BE49-F238E27FC236}">
                <a16:creationId xmlns:a16="http://schemas.microsoft.com/office/drawing/2014/main" id="{6B9F8506-E762-4A15-9691-ED6D47F25D42}"/>
              </a:ext>
            </a:extLst>
          </p:cNvPr>
          <p:cNvSpPr>
            <a:spLocks noGrp="1"/>
          </p:cNvSpPr>
          <p:nvPr>
            <p:ph type="subTitle" idx="1"/>
          </p:nvPr>
        </p:nvSpPr>
        <p:spPr/>
        <p:txBody>
          <a:bodyPr/>
          <a:lstStyle/>
          <a:p>
            <a:r>
              <a:rPr lang="en-US" dirty="0"/>
              <a:t>Bottleneck Analysis</a:t>
            </a:r>
          </a:p>
        </p:txBody>
      </p:sp>
    </p:spTree>
    <p:extLst>
      <p:ext uri="{BB962C8B-B14F-4D97-AF65-F5344CB8AC3E}">
        <p14:creationId xmlns:p14="http://schemas.microsoft.com/office/powerpoint/2010/main" val="9497802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5" name="Rectangle 2"/>
          <p:cNvSpPr>
            <a:spLocks noGrp="1" noChangeArrowheads="1"/>
          </p:cNvSpPr>
          <p:nvPr>
            <p:ph type="title"/>
          </p:nvPr>
        </p:nvSpPr>
        <p:spPr>
          <a:xfrm>
            <a:off x="685800" y="434975"/>
            <a:ext cx="7772400" cy="762000"/>
          </a:xfrm>
        </p:spPr>
        <p:txBody>
          <a:bodyPr anchorCtr="1"/>
          <a:lstStyle/>
          <a:p>
            <a:r>
              <a:rPr lang="en-US" dirty="0">
                <a:latin typeface="Arial" charset="0"/>
                <a:cs typeface="Arial" charset="0"/>
              </a:rPr>
              <a:t>Outline</a:t>
            </a:r>
          </a:p>
        </p:txBody>
      </p:sp>
      <p:sp>
        <p:nvSpPr>
          <p:cNvPr id="16387" name="Rectangle 3"/>
          <p:cNvSpPr>
            <a:spLocks noGrp="1" noChangeArrowheads="1"/>
          </p:cNvSpPr>
          <p:nvPr>
            <p:ph type="body" idx="1"/>
          </p:nvPr>
        </p:nvSpPr>
        <p:spPr>
          <a:xfrm>
            <a:off x="990600" y="1574800"/>
            <a:ext cx="7302500" cy="4584700"/>
          </a:xfrm>
        </p:spPr>
        <p:txBody>
          <a:bodyPr/>
          <a:lstStyle/>
          <a:p>
            <a:pPr marL="444500" indent="-444500" defTabSz="836613">
              <a:buClr>
                <a:srgbClr val="BF0922"/>
              </a:buClr>
              <a:buSzPct val="60000"/>
              <a:buFont typeface="Lucida Grande" charset="0"/>
              <a:buChar char="►"/>
            </a:pPr>
            <a:r>
              <a:rPr lang="en-US" dirty="0">
                <a:latin typeface="Arial" charset="0"/>
                <a:cs typeface="Arial" charset="0"/>
              </a:rPr>
              <a:t>Capacity</a:t>
            </a:r>
          </a:p>
          <a:p>
            <a:pPr marL="444500" indent="-444500" defTabSz="836613">
              <a:buClr>
                <a:srgbClr val="BF0922"/>
              </a:buClr>
              <a:buSzPct val="60000"/>
              <a:buFont typeface="Lucida Grande" charset="0"/>
              <a:buChar char="►"/>
            </a:pPr>
            <a:r>
              <a:rPr lang="en-US" dirty="0">
                <a:latin typeface="Arial" charset="0"/>
                <a:cs typeface="Arial" charset="0"/>
              </a:rPr>
              <a:t>Bottleneck Analysis and the Theory of Constraints</a:t>
            </a:r>
          </a:p>
        </p:txBody>
      </p:sp>
    </p:spTree>
    <p:extLst>
      <p:ext uri="{BB962C8B-B14F-4D97-AF65-F5344CB8AC3E}">
        <p14:creationId xmlns:p14="http://schemas.microsoft.com/office/powerpoint/2010/main" val="1129434785"/>
      </p:ext>
    </p:extLst>
  </p:cSld>
  <p:clrMapOvr>
    <a:masterClrMapping/>
  </p:clrMapOvr>
  <p:transition>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grpId="0" nodeType="afterEffect">
                                  <p:stCondLst>
                                    <p:cond delay="1000"/>
                                  </p:stCondLst>
                                  <p:childTnLst>
                                    <p:set>
                                      <p:cBhvr>
                                        <p:cTn id="6" dur="1" fill="hold">
                                          <p:stCondLst>
                                            <p:cond delay="0"/>
                                          </p:stCondLst>
                                        </p:cTn>
                                        <p:tgtEl>
                                          <p:spTgt spid="16387"/>
                                        </p:tgtEl>
                                        <p:attrNameLst>
                                          <p:attrName>style.visibility</p:attrName>
                                        </p:attrNameLst>
                                      </p:cBhvr>
                                      <p:to>
                                        <p:strVal val="visible"/>
                                      </p:to>
                                    </p:set>
                                    <p:animEffect transition="in" filter="strips(downRight)">
                                      <p:cBhvr>
                                        <p:cTn id="7" dur="1000"/>
                                        <p:tgtEl>
                                          <p:spTgt spid="163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p:cNvSpPr>
            <a:spLocks noGrp="1" noChangeArrowheads="1"/>
          </p:cNvSpPr>
          <p:nvPr>
            <p:ph type="title"/>
          </p:nvPr>
        </p:nvSpPr>
        <p:spPr>
          <a:xfrm>
            <a:off x="685800" y="434975"/>
            <a:ext cx="7772400" cy="914400"/>
          </a:xfrm>
        </p:spPr>
        <p:txBody>
          <a:bodyPr/>
          <a:lstStyle/>
          <a:p>
            <a:r>
              <a:rPr lang="en-US" dirty="0">
                <a:latin typeface="Arial" charset="0"/>
                <a:cs typeface="Arial" charset="0"/>
              </a:rPr>
              <a:t>Capacity</a:t>
            </a:r>
          </a:p>
        </p:txBody>
      </p:sp>
      <p:sp>
        <p:nvSpPr>
          <p:cNvPr id="24579" name="Rectangle 3"/>
          <p:cNvSpPr>
            <a:spLocks noChangeArrowheads="1"/>
          </p:cNvSpPr>
          <p:nvPr/>
        </p:nvSpPr>
        <p:spPr bwMode="auto">
          <a:xfrm>
            <a:off x="733525" y="1522413"/>
            <a:ext cx="7791450" cy="447507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pPr marL="533400" indent="-533400">
              <a:lnSpc>
                <a:spcPct val="90000"/>
              </a:lnSpc>
              <a:spcAft>
                <a:spcPct val="40000"/>
              </a:spcAft>
              <a:buClr>
                <a:srgbClr val="BF0922"/>
              </a:buClr>
              <a:buSzPct val="60000"/>
              <a:buFont typeface="Lucida Grande" charset="0"/>
              <a:buChar char="►"/>
            </a:pPr>
            <a:r>
              <a:rPr lang="en-US" sz="3200" dirty="0"/>
              <a:t>The throughput, or the number of units a facility can hold, receive, store, or produce in a period of time</a:t>
            </a:r>
          </a:p>
          <a:p>
            <a:pPr marL="533400" indent="-533400">
              <a:lnSpc>
                <a:spcPct val="90000"/>
              </a:lnSpc>
              <a:spcAft>
                <a:spcPct val="40000"/>
              </a:spcAft>
              <a:buClr>
                <a:srgbClr val="BF0922"/>
              </a:buClr>
              <a:buSzPct val="60000"/>
              <a:buFont typeface="Lucida Grande" charset="0"/>
              <a:buChar char="►"/>
            </a:pPr>
            <a:r>
              <a:rPr lang="en-US" sz="3200" dirty="0"/>
              <a:t>Determines </a:t>
            </a:r>
            <a:br>
              <a:rPr lang="en-US" sz="3200" dirty="0"/>
            </a:br>
            <a:r>
              <a:rPr lang="en-US" sz="3200" dirty="0"/>
              <a:t>fixed costs</a:t>
            </a:r>
          </a:p>
          <a:p>
            <a:pPr marL="533400" indent="-533400">
              <a:lnSpc>
                <a:spcPct val="90000"/>
              </a:lnSpc>
              <a:spcAft>
                <a:spcPct val="40000"/>
              </a:spcAft>
              <a:buClr>
                <a:srgbClr val="BF0922"/>
              </a:buClr>
              <a:buSzPct val="60000"/>
              <a:buFont typeface="Lucida Grande" charset="0"/>
              <a:buChar char="►"/>
            </a:pPr>
            <a:r>
              <a:rPr lang="en-US" sz="3200" dirty="0"/>
              <a:t>Determines if </a:t>
            </a:r>
            <a:br>
              <a:rPr lang="en-US" sz="3200" dirty="0"/>
            </a:br>
            <a:r>
              <a:rPr lang="en-US" sz="3200" dirty="0"/>
              <a:t>demand will </a:t>
            </a:r>
            <a:br>
              <a:rPr lang="en-US" sz="3200" dirty="0"/>
            </a:br>
            <a:r>
              <a:rPr lang="en-US" sz="3200" dirty="0"/>
              <a:t>be satisfied</a:t>
            </a:r>
          </a:p>
        </p:txBody>
      </p:sp>
      <p:pic>
        <p:nvPicPr>
          <p:cNvPr id="2" name="Picture 1" descr="crowd.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24248" y="2971964"/>
            <a:ext cx="3933952" cy="2632800"/>
          </a:xfrm>
          <a:prstGeom prst="rect">
            <a:avLst/>
          </a:prstGeom>
        </p:spPr>
      </p:pic>
    </p:spTree>
    <p:extLst>
      <p:ext uri="{BB962C8B-B14F-4D97-AF65-F5344CB8AC3E}">
        <p14:creationId xmlns:p14="http://schemas.microsoft.com/office/powerpoint/2010/main" val="3698158155"/>
      </p:ext>
    </p:extLst>
  </p:cSld>
  <p:clrMapOvr>
    <a:masterClrMapping/>
  </p:clrMapOvr>
  <p:transition>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grpId="0" nodeType="afterEffect">
                                  <p:stCondLst>
                                    <p:cond delay="1000"/>
                                  </p:stCondLst>
                                  <p:childTnLst>
                                    <p:set>
                                      <p:cBhvr>
                                        <p:cTn id="6" dur="1" fill="hold">
                                          <p:stCondLst>
                                            <p:cond delay="0"/>
                                          </p:stCondLst>
                                        </p:cTn>
                                        <p:tgtEl>
                                          <p:spTgt spid="24579"/>
                                        </p:tgtEl>
                                        <p:attrNameLst>
                                          <p:attrName>style.visibility</p:attrName>
                                        </p:attrNameLst>
                                      </p:cBhvr>
                                      <p:to>
                                        <p:strVal val="visible"/>
                                      </p:to>
                                    </p:set>
                                    <p:animEffect transition="in" filter="strips(downRight)">
                                      <p:cBhvr>
                                        <p:cTn id="7" dur="1000"/>
                                        <p:tgtEl>
                                          <p:spTgt spid="24579"/>
                                        </p:tgtEl>
                                      </p:cBhvr>
                                    </p:animEffect>
                                  </p:childTnLst>
                                </p:cTn>
                              </p:par>
                              <p:par>
                                <p:cTn id="8" presetID="23" presetClass="entr" presetSubtype="272" fill="hold" nodeType="withEffect">
                                  <p:stCondLst>
                                    <p:cond delay="1000"/>
                                  </p:stCondLst>
                                  <p:childTnLst>
                                    <p:set>
                                      <p:cBhvr>
                                        <p:cTn id="9" dur="1" fill="hold">
                                          <p:stCondLst>
                                            <p:cond delay="0"/>
                                          </p:stCondLst>
                                        </p:cTn>
                                        <p:tgtEl>
                                          <p:spTgt spid="2"/>
                                        </p:tgtEl>
                                        <p:attrNameLst>
                                          <p:attrName>style.visibility</p:attrName>
                                        </p:attrNameLst>
                                      </p:cBhvr>
                                      <p:to>
                                        <p:strVal val="visible"/>
                                      </p:to>
                                    </p:set>
                                    <p:anim calcmode="lin" valueType="num">
                                      <p:cBhvr>
                                        <p:cTn id="10" dur="1000" fill="hold"/>
                                        <p:tgtEl>
                                          <p:spTgt spid="2"/>
                                        </p:tgtEl>
                                        <p:attrNameLst>
                                          <p:attrName>ppt_w</p:attrName>
                                        </p:attrNameLst>
                                      </p:cBhvr>
                                      <p:tavLst>
                                        <p:tav tm="0">
                                          <p:val>
                                            <p:strVal val="2/3*#ppt_w"/>
                                          </p:val>
                                        </p:tav>
                                        <p:tav tm="100000">
                                          <p:val>
                                            <p:strVal val="#ppt_w"/>
                                          </p:val>
                                        </p:tav>
                                      </p:tavLst>
                                    </p:anim>
                                    <p:anim calcmode="lin" valueType="num">
                                      <p:cBhvr>
                                        <p:cTn id="11" dur="1000" fill="hold"/>
                                        <p:tgtEl>
                                          <p:spTgt spid="2"/>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527050" y="447675"/>
            <a:ext cx="8089900" cy="902823"/>
          </a:xfrm>
        </p:spPr>
        <p:txBody>
          <a:bodyPr rtlCol="0">
            <a:normAutofit/>
          </a:bodyPr>
          <a:lstStyle/>
          <a:p>
            <a:pPr fontAlgn="auto">
              <a:spcAft>
                <a:spcPts val="0"/>
              </a:spcAft>
              <a:defRPr/>
            </a:pPr>
            <a:r>
              <a:rPr lang="en-US" dirty="0">
                <a:ea typeface="+mj-ea"/>
              </a:rPr>
              <a:t>Design and Effective Capacity</a:t>
            </a:r>
          </a:p>
        </p:txBody>
      </p:sp>
      <p:sp>
        <p:nvSpPr>
          <p:cNvPr id="27651" name="Rectangle 3"/>
          <p:cNvSpPr>
            <a:spLocks noChangeArrowheads="1"/>
          </p:cNvSpPr>
          <p:nvPr/>
        </p:nvSpPr>
        <p:spPr bwMode="auto">
          <a:xfrm>
            <a:off x="587375" y="1897063"/>
            <a:ext cx="7969250" cy="37846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pPr marL="444500" indent="-444500">
              <a:lnSpc>
                <a:spcPct val="90000"/>
              </a:lnSpc>
              <a:spcAft>
                <a:spcPct val="40000"/>
              </a:spcAft>
              <a:buClr>
                <a:srgbClr val="BF0922"/>
              </a:buClr>
              <a:buSzPct val="60000"/>
              <a:buFont typeface="Lucida Grande" charset="0"/>
              <a:buChar char="►"/>
            </a:pPr>
            <a:r>
              <a:rPr lang="en-US" sz="3200" b="1" dirty="0">
                <a:solidFill>
                  <a:schemeClr val="tx2"/>
                </a:solidFill>
              </a:rPr>
              <a:t>Design capacity </a:t>
            </a:r>
            <a:r>
              <a:rPr lang="en-US" sz="3200" dirty="0"/>
              <a:t>is the maximum theoretical output of a system</a:t>
            </a:r>
          </a:p>
          <a:p>
            <a:pPr marL="1079500" lvl="1" indent="-368300">
              <a:lnSpc>
                <a:spcPct val="90000"/>
              </a:lnSpc>
              <a:spcAft>
                <a:spcPct val="40000"/>
              </a:spcAft>
              <a:buClr>
                <a:srgbClr val="BF0922"/>
              </a:buClr>
              <a:buSzPct val="60000"/>
              <a:buFont typeface="Lucida Grande" charset="0"/>
              <a:buChar char="►"/>
            </a:pPr>
            <a:r>
              <a:rPr lang="en-US" sz="2800" dirty="0"/>
              <a:t>Normally expressed as a rate</a:t>
            </a:r>
            <a:endParaRPr lang="en-US" sz="3200" dirty="0"/>
          </a:p>
          <a:p>
            <a:pPr marL="444500" indent="-444500">
              <a:lnSpc>
                <a:spcPct val="90000"/>
              </a:lnSpc>
              <a:spcAft>
                <a:spcPct val="40000"/>
              </a:spcAft>
              <a:buClr>
                <a:srgbClr val="BF0922"/>
              </a:buClr>
              <a:buSzPct val="60000"/>
              <a:buFont typeface="Lucida Grande" charset="0"/>
              <a:buChar char="►"/>
            </a:pPr>
            <a:r>
              <a:rPr lang="en-US" sz="3200" b="1" dirty="0">
                <a:solidFill>
                  <a:srgbClr val="255898"/>
                </a:solidFill>
              </a:rPr>
              <a:t>Effective capacity </a:t>
            </a:r>
            <a:r>
              <a:rPr lang="en-US" sz="3200" dirty="0"/>
              <a:t>is the capacity a firm expects to achieve given current operating constraints</a:t>
            </a:r>
          </a:p>
          <a:p>
            <a:pPr marL="1079500" lvl="1" indent="-368300">
              <a:lnSpc>
                <a:spcPct val="90000"/>
              </a:lnSpc>
              <a:spcAft>
                <a:spcPct val="40000"/>
              </a:spcAft>
              <a:buClr>
                <a:srgbClr val="BF0922"/>
              </a:buClr>
              <a:buSzPct val="60000"/>
              <a:buFont typeface="Lucida Grande" charset="0"/>
              <a:buChar char="►"/>
            </a:pPr>
            <a:r>
              <a:rPr lang="en-US" sz="2800" dirty="0"/>
              <a:t>Often lower than design capacity</a:t>
            </a:r>
            <a:endParaRPr lang="en-US" sz="3200" dirty="0"/>
          </a:p>
        </p:txBody>
      </p:sp>
    </p:spTree>
    <p:extLst>
      <p:ext uri="{BB962C8B-B14F-4D97-AF65-F5344CB8AC3E}">
        <p14:creationId xmlns:p14="http://schemas.microsoft.com/office/powerpoint/2010/main" val="1447604281"/>
      </p:ext>
    </p:extLst>
  </p:cSld>
  <p:clrMapOvr>
    <a:masterClrMapping/>
  </p:clrMapOvr>
  <p:transition>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grpId="0" nodeType="afterEffect">
                                  <p:stCondLst>
                                    <p:cond delay="1000"/>
                                  </p:stCondLst>
                                  <p:childTnLst>
                                    <p:set>
                                      <p:cBhvr>
                                        <p:cTn id="6" dur="1" fill="hold">
                                          <p:stCondLst>
                                            <p:cond delay="0"/>
                                          </p:stCondLst>
                                        </p:cTn>
                                        <p:tgtEl>
                                          <p:spTgt spid="27651"/>
                                        </p:tgtEl>
                                        <p:attrNameLst>
                                          <p:attrName>style.visibility</p:attrName>
                                        </p:attrNameLst>
                                      </p:cBhvr>
                                      <p:to>
                                        <p:strVal val="visible"/>
                                      </p:to>
                                    </p:set>
                                    <p:animEffect transition="in" filter="strips(downRight)">
                                      <p:cBhvr>
                                        <p:cTn id="7" dur="1000"/>
                                        <p:tgtEl>
                                          <p:spTgt spid="276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527050" y="447675"/>
            <a:ext cx="8089900" cy="921580"/>
          </a:xfrm>
        </p:spPr>
        <p:txBody>
          <a:bodyPr rtlCol="0">
            <a:normAutofit/>
          </a:bodyPr>
          <a:lstStyle/>
          <a:p>
            <a:pPr fontAlgn="auto">
              <a:spcAft>
                <a:spcPts val="0"/>
              </a:spcAft>
              <a:defRPr/>
            </a:pPr>
            <a:r>
              <a:rPr lang="en-US" dirty="0">
                <a:ea typeface="+mj-ea"/>
              </a:rPr>
              <a:t>Design and Effective Capacity</a:t>
            </a:r>
          </a:p>
        </p:txBody>
      </p:sp>
      <p:graphicFrame>
        <p:nvGraphicFramePr>
          <p:cNvPr id="4" name="Table 3"/>
          <p:cNvGraphicFramePr>
            <a:graphicFrameLocks noGrp="1"/>
          </p:cNvGraphicFramePr>
          <p:nvPr/>
        </p:nvGraphicFramePr>
        <p:xfrm>
          <a:off x="342900" y="1760538"/>
          <a:ext cx="8458200" cy="2481262"/>
        </p:xfrm>
        <a:graphic>
          <a:graphicData uri="http://schemas.openxmlformats.org/drawingml/2006/table">
            <a:tbl>
              <a:tblPr firstRow="1" bandRow="1">
                <a:tableStyleId>{2D5ABB26-0587-4C30-8999-92F81FD0307C}</a:tableStyleId>
              </a:tblPr>
              <a:tblGrid>
                <a:gridCol w="1816100">
                  <a:extLst>
                    <a:ext uri="{9D8B030D-6E8A-4147-A177-3AD203B41FA5}">
                      <a16:colId xmlns:a16="http://schemas.microsoft.com/office/drawing/2014/main" val="20000"/>
                    </a:ext>
                  </a:extLst>
                </a:gridCol>
                <a:gridCol w="116840">
                  <a:extLst>
                    <a:ext uri="{9D8B030D-6E8A-4147-A177-3AD203B41FA5}">
                      <a16:colId xmlns:a16="http://schemas.microsoft.com/office/drawing/2014/main" val="20001"/>
                    </a:ext>
                  </a:extLst>
                </a:gridCol>
                <a:gridCol w="2184400">
                  <a:extLst>
                    <a:ext uri="{9D8B030D-6E8A-4147-A177-3AD203B41FA5}">
                      <a16:colId xmlns:a16="http://schemas.microsoft.com/office/drawing/2014/main" val="20002"/>
                    </a:ext>
                  </a:extLst>
                </a:gridCol>
                <a:gridCol w="4340860">
                  <a:extLst>
                    <a:ext uri="{9D8B030D-6E8A-4147-A177-3AD203B41FA5}">
                      <a16:colId xmlns:a16="http://schemas.microsoft.com/office/drawing/2014/main" val="20003"/>
                    </a:ext>
                  </a:extLst>
                </a:gridCol>
              </a:tblGrid>
              <a:tr h="335416">
                <a:tc>
                  <a:txBody>
                    <a:bodyPr/>
                    <a:lstStyle/>
                    <a:p>
                      <a:pPr algn="ctr"/>
                      <a:r>
                        <a:rPr lang="en-US" sz="1600" dirty="0">
                          <a:solidFill>
                            <a:schemeClr val="bg1"/>
                          </a:solidFill>
                          <a:latin typeface="Arial"/>
                          <a:cs typeface="Arial"/>
                        </a:rPr>
                        <a:t>TABLE S7.1</a:t>
                      </a:r>
                    </a:p>
                  </a:txBody>
                  <a:tcPr marT="45739" marB="45739">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tx1"/>
                    </a:solidFill>
                  </a:tcPr>
                </a:tc>
                <a:tc gridSpan="3">
                  <a:txBody>
                    <a:bodyPr/>
                    <a:lstStyle/>
                    <a:p>
                      <a:r>
                        <a:rPr lang="en-US" sz="1600" dirty="0">
                          <a:latin typeface="Arial"/>
                          <a:cs typeface="Arial"/>
                        </a:rPr>
                        <a:t>Capacity Measurements</a:t>
                      </a:r>
                    </a:p>
                  </a:txBody>
                  <a:tcPr marT="45739" marB="45739">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a:p>
                  </a:txBody>
                  <a:tcPr/>
                </a:tc>
                <a:tc hMerge="1">
                  <a:txBody>
                    <a:bodyPr/>
                    <a:lstStyle/>
                    <a:p>
                      <a:endParaRPr lang="en-US"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extLst>
                  <a:ext uri="{0D108BD9-81ED-4DB2-BD59-A6C34878D82A}">
                    <a16:rowId xmlns:a16="http://schemas.microsoft.com/office/drawing/2014/main" val="10000"/>
                  </a:ext>
                </a:extLst>
              </a:tr>
              <a:tr h="335416">
                <a:tc gridSpan="2">
                  <a:txBody>
                    <a:bodyPr/>
                    <a:lstStyle/>
                    <a:p>
                      <a:pPr algn="ctr"/>
                      <a:r>
                        <a:rPr lang="en-US" sz="1600" b="1" dirty="0">
                          <a:solidFill>
                            <a:schemeClr val="bg1"/>
                          </a:solidFill>
                          <a:latin typeface="Arial"/>
                          <a:cs typeface="Arial"/>
                        </a:rPr>
                        <a:t>MEASURE</a:t>
                      </a:r>
                    </a:p>
                  </a:txBody>
                  <a:tcPr marT="45739" marB="45739">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1"/>
                    </a:solidFill>
                  </a:tcPr>
                </a:tc>
                <a:tc hMerge="1">
                  <a:txBody>
                    <a:bodyPr/>
                    <a:lstStyle/>
                    <a:p>
                      <a:endParaRPr lang="en-US"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b="1" dirty="0">
                          <a:solidFill>
                            <a:schemeClr val="bg1"/>
                          </a:solidFill>
                          <a:latin typeface="Arial"/>
                          <a:cs typeface="Arial"/>
                        </a:rPr>
                        <a:t>DEFINITION</a:t>
                      </a:r>
                    </a:p>
                  </a:txBody>
                  <a:tcPr marT="45739" marB="45739">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1"/>
                    </a:solidFill>
                  </a:tcPr>
                </a:tc>
                <a:tc>
                  <a:txBody>
                    <a:bodyPr/>
                    <a:lstStyle/>
                    <a:p>
                      <a:pPr algn="ctr"/>
                      <a:r>
                        <a:rPr lang="en-US" sz="1600" b="1" dirty="0">
                          <a:solidFill>
                            <a:schemeClr val="bg1"/>
                          </a:solidFill>
                          <a:latin typeface="Arial"/>
                          <a:cs typeface="Arial"/>
                        </a:rPr>
                        <a:t>EXAMPLE</a:t>
                      </a:r>
                    </a:p>
                  </a:txBody>
                  <a:tcPr marT="45739" marB="45739">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1"/>
                    </a:solidFill>
                  </a:tcPr>
                </a:tc>
                <a:extLst>
                  <a:ext uri="{0D108BD9-81ED-4DB2-BD59-A6C34878D82A}">
                    <a16:rowId xmlns:a16="http://schemas.microsoft.com/office/drawing/2014/main" val="10001"/>
                  </a:ext>
                </a:extLst>
              </a:tr>
              <a:tr h="1810430">
                <a:tc gridSpan="2">
                  <a:txBody>
                    <a:bodyPr/>
                    <a:lstStyle/>
                    <a:p>
                      <a:pPr algn="l"/>
                      <a:r>
                        <a:rPr lang="en-US" sz="1600" dirty="0">
                          <a:latin typeface="Arial"/>
                          <a:cs typeface="Arial"/>
                        </a:rPr>
                        <a:t>Design capacity </a:t>
                      </a:r>
                    </a:p>
                    <a:p>
                      <a:pPr algn="l"/>
                      <a:endParaRPr lang="en-US" sz="1600" dirty="0">
                        <a:latin typeface="Arial"/>
                        <a:cs typeface="Arial"/>
                      </a:endParaRPr>
                    </a:p>
                    <a:p>
                      <a:pPr algn="l"/>
                      <a:endParaRPr lang="en-US" sz="1600" dirty="0">
                        <a:latin typeface="Arial"/>
                        <a:cs typeface="Arial"/>
                      </a:endParaRPr>
                    </a:p>
                  </a:txBody>
                  <a:tcPr marT="45739" marB="45739">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l"/>
                      <a:r>
                        <a:rPr lang="en-US" sz="1600" dirty="0">
                          <a:latin typeface="Arial"/>
                          <a:cs typeface="Arial"/>
                        </a:rPr>
                        <a:t>Ideal conditions exist during the time that the system is available</a:t>
                      </a:r>
                    </a:p>
                  </a:txBody>
                  <a:tcPr marT="45739" marB="45739">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l"/>
                      <a:r>
                        <a:rPr lang="en-US" sz="1600" dirty="0">
                          <a:latin typeface="Arial"/>
                          <a:cs typeface="Arial"/>
                        </a:rPr>
                        <a:t>Machines</a:t>
                      </a:r>
                      <a:r>
                        <a:rPr lang="en-US" sz="1600" baseline="0" dirty="0">
                          <a:latin typeface="Arial"/>
                          <a:cs typeface="Arial"/>
                        </a:rPr>
                        <a:t> a</a:t>
                      </a:r>
                      <a:r>
                        <a:rPr lang="en-US" sz="1600" dirty="0">
                          <a:latin typeface="Arial"/>
                          <a:cs typeface="Arial"/>
                        </a:rPr>
                        <a:t>t Frito-Lay are designed to produce</a:t>
                      </a:r>
                      <a:r>
                        <a:rPr lang="en-US" sz="1600" baseline="0" dirty="0">
                          <a:latin typeface="Arial"/>
                          <a:cs typeface="Arial"/>
                        </a:rPr>
                        <a:t> </a:t>
                      </a:r>
                      <a:r>
                        <a:rPr lang="en-US" sz="1600" dirty="0">
                          <a:latin typeface="Arial"/>
                          <a:cs typeface="Arial"/>
                        </a:rPr>
                        <a:t>1,000 bags of chips/hr., and the plant operates 16 hrs./day. </a:t>
                      </a:r>
                    </a:p>
                    <a:p>
                      <a:pPr algn="l">
                        <a:tabLst>
                          <a:tab pos="1612900" algn="l"/>
                        </a:tabLst>
                      </a:pPr>
                      <a:r>
                        <a:rPr lang="en-US" sz="1600" b="1" dirty="0">
                          <a:latin typeface="Arial"/>
                          <a:cs typeface="Arial"/>
                        </a:rPr>
                        <a:t>Design Capacity	= 1,000 bags/hr.</a:t>
                      </a:r>
                      <a:r>
                        <a:rPr lang="en-US" sz="1600" b="1" baseline="0" dirty="0">
                          <a:latin typeface="Arial"/>
                          <a:cs typeface="Arial"/>
                        </a:rPr>
                        <a:t> ×</a:t>
                      </a:r>
                      <a:r>
                        <a:rPr lang="en-US" sz="1600" b="1" dirty="0">
                          <a:latin typeface="Arial"/>
                          <a:cs typeface="Arial"/>
                        </a:rPr>
                        <a:t> 16 hrs.</a:t>
                      </a:r>
                    </a:p>
                    <a:p>
                      <a:pPr algn="l">
                        <a:tabLst>
                          <a:tab pos="1612900" algn="l"/>
                        </a:tabLst>
                      </a:pPr>
                      <a:r>
                        <a:rPr lang="en-US" sz="1600" b="1" dirty="0">
                          <a:latin typeface="Arial"/>
                          <a:cs typeface="Arial"/>
                        </a:rPr>
                        <a:t> 	= 16,000 bags/day</a:t>
                      </a:r>
                      <a:r>
                        <a:rPr lang="en-US" sz="1600" dirty="0">
                          <a:latin typeface="Arial"/>
                          <a:cs typeface="Arial"/>
                        </a:rPr>
                        <a:t> </a:t>
                      </a:r>
                    </a:p>
                  </a:txBody>
                  <a:tcPr marT="45739" marB="45739">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pic>
        <p:nvPicPr>
          <p:cNvPr id="3" name="Picture 2" descr="design S7-1.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6250" y="2867454"/>
            <a:ext cx="1714500" cy="1158446"/>
          </a:xfrm>
          <a:prstGeom prst="rect">
            <a:avLst/>
          </a:prstGeom>
        </p:spPr>
      </p:pic>
    </p:spTree>
    <p:extLst>
      <p:ext uri="{BB962C8B-B14F-4D97-AF65-F5344CB8AC3E}">
        <p14:creationId xmlns:p14="http://schemas.microsoft.com/office/powerpoint/2010/main" val="952646473"/>
      </p:ext>
    </p:extLst>
  </p:cSld>
  <p:clrMapOvr>
    <a:masterClrMapping/>
  </p:clrMapOvr>
  <p:transition>
    <p:pull dir="l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72" fill="hold" nodeType="afterEffect">
                                  <p:stCondLst>
                                    <p:cond delay="100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strVal val="2/3*#ppt_w"/>
                                          </p:val>
                                        </p:tav>
                                        <p:tav tm="100000">
                                          <p:val>
                                            <p:strVal val="#ppt_w"/>
                                          </p:val>
                                        </p:tav>
                                      </p:tavLst>
                                    </p:anim>
                                    <p:anim calcmode="lin" valueType="num">
                                      <p:cBhvr>
                                        <p:cTn id="8" dur="1000" fill="hold"/>
                                        <p:tgtEl>
                                          <p:spTgt spid="4"/>
                                        </p:tgtEl>
                                        <p:attrNameLst>
                                          <p:attrName>ppt_h</p:attrName>
                                        </p:attrNameLst>
                                      </p:cBhvr>
                                      <p:tavLst>
                                        <p:tav tm="0">
                                          <p:val>
                                            <p:strVal val="2/3*#ppt_h"/>
                                          </p:val>
                                        </p:tav>
                                        <p:tav tm="100000">
                                          <p:val>
                                            <p:strVal val="#ppt_h"/>
                                          </p:val>
                                        </p:tav>
                                      </p:tavLst>
                                    </p:anim>
                                  </p:childTnLst>
                                </p:cTn>
                              </p:par>
                              <p:par>
                                <p:cTn id="9" presetID="9" presetClass="entr" presetSubtype="0" fill="hold" nodeType="withEffect">
                                  <p:stCondLst>
                                    <p:cond delay="1000"/>
                                  </p:stCondLst>
                                  <p:childTnLst>
                                    <p:set>
                                      <p:cBhvr>
                                        <p:cTn id="10" dur="1" fill="hold">
                                          <p:stCondLst>
                                            <p:cond delay="0"/>
                                          </p:stCondLst>
                                        </p:cTn>
                                        <p:tgtEl>
                                          <p:spTgt spid="3"/>
                                        </p:tgtEl>
                                        <p:attrNameLst>
                                          <p:attrName>style.visibility</p:attrName>
                                        </p:attrNameLst>
                                      </p:cBhvr>
                                      <p:to>
                                        <p:strVal val="visible"/>
                                      </p:to>
                                    </p:set>
                                    <p:animEffect transition="in" filter="dissolve">
                                      <p:cBhvr>
                                        <p:cTn id="11"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527050" y="447675"/>
            <a:ext cx="8089900" cy="961397"/>
          </a:xfrm>
        </p:spPr>
        <p:txBody>
          <a:bodyPr rtlCol="0">
            <a:normAutofit/>
          </a:bodyPr>
          <a:lstStyle/>
          <a:p>
            <a:pPr fontAlgn="auto">
              <a:spcAft>
                <a:spcPts val="0"/>
              </a:spcAft>
              <a:defRPr/>
            </a:pPr>
            <a:r>
              <a:rPr lang="en-US" dirty="0">
                <a:ea typeface="+mj-ea"/>
              </a:rPr>
              <a:t>Design and Effective Capacity</a:t>
            </a:r>
          </a:p>
        </p:txBody>
      </p:sp>
      <p:graphicFrame>
        <p:nvGraphicFramePr>
          <p:cNvPr id="4" name="Table 3"/>
          <p:cNvGraphicFramePr>
            <a:graphicFrameLocks noGrp="1"/>
          </p:cNvGraphicFramePr>
          <p:nvPr/>
        </p:nvGraphicFramePr>
        <p:xfrm>
          <a:off x="330200" y="1760538"/>
          <a:ext cx="8470900" cy="3688390"/>
        </p:xfrm>
        <a:graphic>
          <a:graphicData uri="http://schemas.openxmlformats.org/drawingml/2006/table">
            <a:tbl>
              <a:tblPr firstRow="1" bandRow="1">
                <a:tableStyleId>{2D5ABB26-0587-4C30-8999-92F81FD0307C}</a:tableStyleId>
              </a:tblPr>
              <a:tblGrid>
                <a:gridCol w="1816100">
                  <a:extLst>
                    <a:ext uri="{9D8B030D-6E8A-4147-A177-3AD203B41FA5}">
                      <a16:colId xmlns:a16="http://schemas.microsoft.com/office/drawing/2014/main" val="20000"/>
                    </a:ext>
                  </a:extLst>
                </a:gridCol>
                <a:gridCol w="116840">
                  <a:extLst>
                    <a:ext uri="{9D8B030D-6E8A-4147-A177-3AD203B41FA5}">
                      <a16:colId xmlns:a16="http://schemas.microsoft.com/office/drawing/2014/main" val="20001"/>
                    </a:ext>
                  </a:extLst>
                </a:gridCol>
                <a:gridCol w="2184400">
                  <a:extLst>
                    <a:ext uri="{9D8B030D-6E8A-4147-A177-3AD203B41FA5}">
                      <a16:colId xmlns:a16="http://schemas.microsoft.com/office/drawing/2014/main" val="20002"/>
                    </a:ext>
                  </a:extLst>
                </a:gridCol>
                <a:gridCol w="4353560">
                  <a:extLst>
                    <a:ext uri="{9D8B030D-6E8A-4147-A177-3AD203B41FA5}">
                      <a16:colId xmlns:a16="http://schemas.microsoft.com/office/drawing/2014/main" val="20003"/>
                    </a:ext>
                  </a:extLst>
                </a:gridCol>
              </a:tblGrid>
              <a:tr h="335416">
                <a:tc>
                  <a:txBody>
                    <a:bodyPr/>
                    <a:lstStyle/>
                    <a:p>
                      <a:pPr algn="ctr"/>
                      <a:r>
                        <a:rPr lang="en-US" sz="1600" dirty="0">
                          <a:solidFill>
                            <a:schemeClr val="bg1"/>
                          </a:solidFill>
                          <a:latin typeface="Arial"/>
                          <a:cs typeface="Arial"/>
                        </a:rPr>
                        <a:t>TABLE S7.1</a:t>
                      </a:r>
                    </a:p>
                  </a:txBody>
                  <a:tcPr marT="45739" marB="45739">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tx1"/>
                    </a:solidFill>
                  </a:tcPr>
                </a:tc>
                <a:tc gridSpan="3">
                  <a:txBody>
                    <a:bodyPr/>
                    <a:lstStyle/>
                    <a:p>
                      <a:r>
                        <a:rPr lang="en-US" sz="1600" dirty="0">
                          <a:latin typeface="Arial"/>
                          <a:cs typeface="Arial"/>
                        </a:rPr>
                        <a:t>Capacity Measurements</a:t>
                      </a:r>
                    </a:p>
                  </a:txBody>
                  <a:tcPr marT="45739" marB="45739">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a:p>
                  </a:txBody>
                  <a:tcPr/>
                </a:tc>
                <a:tc hMerge="1">
                  <a:txBody>
                    <a:bodyPr/>
                    <a:lstStyle/>
                    <a:p>
                      <a:endParaRPr lang="en-US"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extLst>
                  <a:ext uri="{0D108BD9-81ED-4DB2-BD59-A6C34878D82A}">
                    <a16:rowId xmlns:a16="http://schemas.microsoft.com/office/drawing/2014/main" val="10000"/>
                  </a:ext>
                </a:extLst>
              </a:tr>
              <a:tr h="335416">
                <a:tc gridSpan="2">
                  <a:txBody>
                    <a:bodyPr/>
                    <a:lstStyle/>
                    <a:p>
                      <a:pPr algn="ctr"/>
                      <a:r>
                        <a:rPr lang="en-US" sz="1600" b="1" dirty="0">
                          <a:solidFill>
                            <a:schemeClr val="bg1"/>
                          </a:solidFill>
                          <a:latin typeface="Arial"/>
                          <a:cs typeface="Arial"/>
                        </a:rPr>
                        <a:t>MEASURE</a:t>
                      </a:r>
                    </a:p>
                  </a:txBody>
                  <a:tcPr marT="45739" marB="45739">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1"/>
                    </a:solidFill>
                  </a:tcPr>
                </a:tc>
                <a:tc hMerge="1">
                  <a:txBody>
                    <a:bodyPr/>
                    <a:lstStyle/>
                    <a:p>
                      <a:endParaRPr lang="en-US"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b="1" dirty="0">
                          <a:solidFill>
                            <a:schemeClr val="bg1"/>
                          </a:solidFill>
                          <a:latin typeface="Arial"/>
                          <a:cs typeface="Arial"/>
                        </a:rPr>
                        <a:t>DEFINITION</a:t>
                      </a:r>
                    </a:p>
                  </a:txBody>
                  <a:tcPr marT="45739" marB="45739">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1"/>
                    </a:solidFill>
                  </a:tcPr>
                </a:tc>
                <a:tc>
                  <a:txBody>
                    <a:bodyPr/>
                    <a:lstStyle/>
                    <a:p>
                      <a:pPr algn="ctr"/>
                      <a:r>
                        <a:rPr lang="en-US" sz="1600" b="1" dirty="0">
                          <a:solidFill>
                            <a:schemeClr val="bg1"/>
                          </a:solidFill>
                          <a:latin typeface="Arial"/>
                          <a:cs typeface="Arial"/>
                        </a:rPr>
                        <a:t>EXAMPLE</a:t>
                      </a:r>
                    </a:p>
                  </a:txBody>
                  <a:tcPr marT="45739" marB="45739">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1"/>
                    </a:solidFill>
                  </a:tcPr>
                </a:tc>
                <a:extLst>
                  <a:ext uri="{0D108BD9-81ED-4DB2-BD59-A6C34878D82A}">
                    <a16:rowId xmlns:a16="http://schemas.microsoft.com/office/drawing/2014/main" val="10001"/>
                  </a:ext>
                </a:extLst>
              </a:tr>
              <a:tr h="335416">
                <a:tc gridSpan="2">
                  <a:txBody>
                    <a:bodyPr/>
                    <a:lstStyle/>
                    <a:p>
                      <a:pPr algn="l"/>
                      <a:r>
                        <a:rPr lang="en-US" sz="1600" dirty="0">
                          <a:latin typeface="Arial"/>
                          <a:cs typeface="Arial"/>
                        </a:rPr>
                        <a:t>Effective capacity </a:t>
                      </a:r>
                    </a:p>
                  </a:txBody>
                  <a:tcPr marT="45739" marB="45739">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l"/>
                      <a:r>
                        <a:rPr lang="en-US" sz="1600" dirty="0">
                          <a:latin typeface="Arial"/>
                          <a:cs typeface="Arial"/>
                        </a:rPr>
                        <a:t>Design capacity minus lost output because of </a:t>
                      </a:r>
                      <a:r>
                        <a:rPr lang="en-US" sz="1600" i="1" dirty="0">
                          <a:latin typeface="Arial"/>
                          <a:cs typeface="Arial"/>
                        </a:rPr>
                        <a:t>planned</a:t>
                      </a:r>
                      <a:r>
                        <a:rPr lang="en-US" sz="1600" dirty="0">
                          <a:latin typeface="Arial"/>
                          <a:cs typeface="Arial"/>
                        </a:rPr>
                        <a:t> resource unavailability (e.g., preventive maintenance, machine setups/changeovers, changes in product mix, scheduled breaks) </a:t>
                      </a:r>
                    </a:p>
                  </a:txBody>
                  <a:tcPr marT="45739" marB="45739">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l">
                        <a:tabLst>
                          <a:tab pos="1879600" algn="l"/>
                          <a:tab pos="2057400" algn="l"/>
                        </a:tabLst>
                      </a:pPr>
                      <a:r>
                        <a:rPr lang="en-US" sz="1600" dirty="0">
                          <a:latin typeface="Arial"/>
                          <a:cs typeface="Arial"/>
                        </a:rPr>
                        <a:t>Frito-Lay loses 3 hours of output per day </a:t>
                      </a:r>
                    </a:p>
                    <a:p>
                      <a:pPr algn="l">
                        <a:tabLst>
                          <a:tab pos="1879600" algn="l"/>
                          <a:tab pos="2057400" algn="l"/>
                        </a:tabLst>
                      </a:pPr>
                      <a:r>
                        <a:rPr lang="en-US" sz="1600" dirty="0">
                          <a:latin typeface="Arial"/>
                          <a:cs typeface="Arial"/>
                        </a:rPr>
                        <a:t>(= 0.5 hrs./day on preventive maintenance, </a:t>
                      </a:r>
                    </a:p>
                    <a:p>
                      <a:pPr algn="l">
                        <a:tabLst>
                          <a:tab pos="1879600" algn="l"/>
                          <a:tab pos="2057400" algn="l"/>
                        </a:tabLst>
                      </a:pPr>
                      <a:r>
                        <a:rPr lang="en-US" sz="1600" dirty="0">
                          <a:latin typeface="Arial"/>
                          <a:cs typeface="Arial"/>
                        </a:rPr>
                        <a:t>1 hr./day on employee breaks, and 1.5 hrs./day setting up machines for different products).</a:t>
                      </a:r>
                      <a:br>
                        <a:rPr lang="en-US" sz="1600" dirty="0">
                          <a:latin typeface="Arial"/>
                          <a:cs typeface="Arial"/>
                        </a:rPr>
                      </a:br>
                      <a:r>
                        <a:rPr lang="en-US" sz="1600" b="1" dirty="0">
                          <a:latin typeface="Arial"/>
                          <a:cs typeface="Arial"/>
                        </a:rPr>
                        <a:t>Effective Capacity 	= 16,000 bags/day </a:t>
                      </a:r>
                    </a:p>
                    <a:p>
                      <a:pPr algn="l">
                        <a:tabLst>
                          <a:tab pos="1879600" algn="l"/>
                          <a:tab pos="2057400" algn="l"/>
                        </a:tabLst>
                      </a:pPr>
                      <a:r>
                        <a:rPr lang="en-US" sz="1600" b="1" dirty="0">
                          <a:latin typeface="Arial"/>
                          <a:cs typeface="Arial"/>
                        </a:rPr>
                        <a:t>		– (1,000 bags/hr.)</a:t>
                      </a:r>
                      <a:br>
                        <a:rPr lang="en-US" sz="1600" b="1" dirty="0">
                          <a:latin typeface="Arial"/>
                          <a:cs typeface="Arial"/>
                        </a:rPr>
                      </a:br>
                      <a:r>
                        <a:rPr lang="en-US" sz="1600" b="1" dirty="0">
                          <a:latin typeface="Arial"/>
                          <a:cs typeface="Arial"/>
                        </a:rPr>
                        <a:t>		(3 hrs./day) </a:t>
                      </a:r>
                    </a:p>
                    <a:p>
                      <a:pPr algn="l">
                        <a:tabLst>
                          <a:tab pos="1879600" algn="l"/>
                          <a:tab pos="2057400" algn="l"/>
                        </a:tabLst>
                      </a:pPr>
                      <a:r>
                        <a:rPr lang="en-US" sz="1600" b="1" dirty="0">
                          <a:latin typeface="Arial"/>
                          <a:cs typeface="Arial"/>
                        </a:rPr>
                        <a:t>	= 16,000 bags/day </a:t>
                      </a:r>
                    </a:p>
                    <a:p>
                      <a:pPr algn="l">
                        <a:tabLst>
                          <a:tab pos="1879600" algn="l"/>
                          <a:tab pos="2057400" algn="l"/>
                        </a:tabLst>
                      </a:pPr>
                      <a:r>
                        <a:rPr lang="en-US" sz="1600" b="1" dirty="0">
                          <a:latin typeface="Arial"/>
                          <a:cs typeface="Arial"/>
                        </a:rPr>
                        <a:t>		–</a:t>
                      </a:r>
                      <a:r>
                        <a:rPr lang="en-US" sz="1600" b="1" baseline="0" dirty="0">
                          <a:latin typeface="Arial"/>
                          <a:cs typeface="Arial"/>
                        </a:rPr>
                        <a:t> </a:t>
                      </a:r>
                      <a:r>
                        <a:rPr lang="en-US" sz="1600" b="1" dirty="0">
                          <a:latin typeface="Arial"/>
                          <a:cs typeface="Arial"/>
                        </a:rPr>
                        <a:t>3,000 bags/day </a:t>
                      </a:r>
                    </a:p>
                    <a:p>
                      <a:pPr algn="l">
                        <a:tabLst>
                          <a:tab pos="1879600" algn="l"/>
                          <a:tab pos="2057400" algn="l"/>
                        </a:tabLst>
                      </a:pPr>
                      <a:r>
                        <a:rPr lang="en-US" sz="1600" b="1" dirty="0">
                          <a:latin typeface="Arial"/>
                          <a:cs typeface="Arial"/>
                        </a:rPr>
                        <a:t>	= 13,000 bags/day </a:t>
                      </a:r>
                    </a:p>
                  </a:txBody>
                  <a:tcPr marT="45739" marB="45739">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pic>
        <p:nvPicPr>
          <p:cNvPr id="6" name="Picture 5" descr="effective cap S7-1.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7999" y="2949447"/>
            <a:ext cx="1799101" cy="1203453"/>
          </a:xfrm>
          <a:prstGeom prst="rect">
            <a:avLst/>
          </a:prstGeom>
        </p:spPr>
      </p:pic>
    </p:spTree>
    <p:extLst>
      <p:ext uri="{BB962C8B-B14F-4D97-AF65-F5344CB8AC3E}">
        <p14:creationId xmlns:p14="http://schemas.microsoft.com/office/powerpoint/2010/main" val="2775192798"/>
      </p:ext>
    </p:extLst>
  </p:cSld>
  <p:clrMapOvr>
    <a:masterClrMapping/>
  </p:clrMapOvr>
  <p:transition>
    <p:pull dir="l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72" fill="hold" nodeType="afterEffect">
                                  <p:stCondLst>
                                    <p:cond delay="100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strVal val="2/3*#ppt_w"/>
                                          </p:val>
                                        </p:tav>
                                        <p:tav tm="100000">
                                          <p:val>
                                            <p:strVal val="#ppt_w"/>
                                          </p:val>
                                        </p:tav>
                                      </p:tavLst>
                                    </p:anim>
                                    <p:anim calcmode="lin" valueType="num">
                                      <p:cBhvr>
                                        <p:cTn id="8" dur="1000" fill="hold"/>
                                        <p:tgtEl>
                                          <p:spTgt spid="4"/>
                                        </p:tgtEl>
                                        <p:attrNameLst>
                                          <p:attrName>ppt_h</p:attrName>
                                        </p:attrNameLst>
                                      </p:cBhvr>
                                      <p:tavLst>
                                        <p:tav tm="0">
                                          <p:val>
                                            <p:strVal val="2/3*#ppt_h"/>
                                          </p:val>
                                        </p:tav>
                                        <p:tav tm="100000">
                                          <p:val>
                                            <p:strVal val="#ppt_h"/>
                                          </p:val>
                                        </p:tav>
                                      </p:tavLst>
                                    </p:anim>
                                  </p:childTnLst>
                                </p:cTn>
                              </p:par>
                              <p:par>
                                <p:cTn id="9" presetID="9" presetClass="entr" presetSubtype="0" fill="hold" nodeType="withEffect">
                                  <p:stCondLst>
                                    <p:cond delay="1000"/>
                                  </p:stCondLst>
                                  <p:childTnLst>
                                    <p:set>
                                      <p:cBhvr>
                                        <p:cTn id="10" dur="1" fill="hold">
                                          <p:stCondLst>
                                            <p:cond delay="0"/>
                                          </p:stCondLst>
                                        </p:cTn>
                                        <p:tgtEl>
                                          <p:spTgt spid="6"/>
                                        </p:tgtEl>
                                        <p:attrNameLst>
                                          <p:attrName>style.visibility</p:attrName>
                                        </p:attrNameLst>
                                      </p:cBhvr>
                                      <p:to>
                                        <p:strVal val="visible"/>
                                      </p:to>
                                    </p:set>
                                    <p:animEffect transition="in" filter="dissolve">
                                      <p:cBhvr>
                                        <p:cTn id="11"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527050" y="447675"/>
            <a:ext cx="8089900" cy="968473"/>
          </a:xfrm>
        </p:spPr>
        <p:txBody>
          <a:bodyPr rtlCol="0">
            <a:normAutofit/>
          </a:bodyPr>
          <a:lstStyle/>
          <a:p>
            <a:pPr fontAlgn="auto">
              <a:spcAft>
                <a:spcPts val="0"/>
              </a:spcAft>
              <a:defRPr/>
            </a:pPr>
            <a:r>
              <a:rPr lang="en-US" dirty="0">
                <a:ea typeface="+mj-ea"/>
              </a:rPr>
              <a:t>Design and Effective Capacity</a:t>
            </a:r>
          </a:p>
        </p:txBody>
      </p:sp>
      <p:graphicFrame>
        <p:nvGraphicFramePr>
          <p:cNvPr id="4" name="Table 3"/>
          <p:cNvGraphicFramePr>
            <a:graphicFrameLocks noGrp="1"/>
          </p:cNvGraphicFramePr>
          <p:nvPr/>
        </p:nvGraphicFramePr>
        <p:xfrm>
          <a:off x="330200" y="1760538"/>
          <a:ext cx="8470900" cy="2956870"/>
        </p:xfrm>
        <a:graphic>
          <a:graphicData uri="http://schemas.openxmlformats.org/drawingml/2006/table">
            <a:tbl>
              <a:tblPr firstRow="1" bandRow="1">
                <a:tableStyleId>{2D5ABB26-0587-4C30-8999-92F81FD0307C}</a:tableStyleId>
              </a:tblPr>
              <a:tblGrid>
                <a:gridCol w="1816100">
                  <a:extLst>
                    <a:ext uri="{9D8B030D-6E8A-4147-A177-3AD203B41FA5}">
                      <a16:colId xmlns:a16="http://schemas.microsoft.com/office/drawing/2014/main" val="20000"/>
                    </a:ext>
                  </a:extLst>
                </a:gridCol>
                <a:gridCol w="116840">
                  <a:extLst>
                    <a:ext uri="{9D8B030D-6E8A-4147-A177-3AD203B41FA5}">
                      <a16:colId xmlns:a16="http://schemas.microsoft.com/office/drawing/2014/main" val="20001"/>
                    </a:ext>
                  </a:extLst>
                </a:gridCol>
                <a:gridCol w="2184400">
                  <a:extLst>
                    <a:ext uri="{9D8B030D-6E8A-4147-A177-3AD203B41FA5}">
                      <a16:colId xmlns:a16="http://schemas.microsoft.com/office/drawing/2014/main" val="20002"/>
                    </a:ext>
                  </a:extLst>
                </a:gridCol>
                <a:gridCol w="4353560">
                  <a:extLst>
                    <a:ext uri="{9D8B030D-6E8A-4147-A177-3AD203B41FA5}">
                      <a16:colId xmlns:a16="http://schemas.microsoft.com/office/drawing/2014/main" val="20003"/>
                    </a:ext>
                  </a:extLst>
                </a:gridCol>
              </a:tblGrid>
              <a:tr h="335416">
                <a:tc>
                  <a:txBody>
                    <a:bodyPr/>
                    <a:lstStyle/>
                    <a:p>
                      <a:pPr algn="ctr"/>
                      <a:r>
                        <a:rPr lang="en-US" sz="1600" dirty="0">
                          <a:solidFill>
                            <a:schemeClr val="bg1"/>
                          </a:solidFill>
                          <a:latin typeface="Arial"/>
                          <a:cs typeface="Arial"/>
                        </a:rPr>
                        <a:t>TABLE S7.1</a:t>
                      </a:r>
                    </a:p>
                  </a:txBody>
                  <a:tcPr marT="45739" marB="45739">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tx1"/>
                    </a:solidFill>
                  </a:tcPr>
                </a:tc>
                <a:tc gridSpan="3">
                  <a:txBody>
                    <a:bodyPr/>
                    <a:lstStyle/>
                    <a:p>
                      <a:r>
                        <a:rPr lang="en-US" sz="1600" dirty="0">
                          <a:latin typeface="Arial"/>
                          <a:cs typeface="Arial"/>
                        </a:rPr>
                        <a:t>Capacity Measurements</a:t>
                      </a:r>
                    </a:p>
                  </a:txBody>
                  <a:tcPr marT="45739" marB="45739">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a:p>
                  </a:txBody>
                  <a:tcPr/>
                </a:tc>
                <a:tc hMerge="1">
                  <a:txBody>
                    <a:bodyPr/>
                    <a:lstStyle/>
                    <a:p>
                      <a:endParaRPr lang="en-US"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extLst>
                  <a:ext uri="{0D108BD9-81ED-4DB2-BD59-A6C34878D82A}">
                    <a16:rowId xmlns:a16="http://schemas.microsoft.com/office/drawing/2014/main" val="10000"/>
                  </a:ext>
                </a:extLst>
              </a:tr>
              <a:tr h="335416">
                <a:tc gridSpan="2">
                  <a:txBody>
                    <a:bodyPr/>
                    <a:lstStyle/>
                    <a:p>
                      <a:pPr algn="ctr"/>
                      <a:r>
                        <a:rPr lang="en-US" sz="1600" b="1" dirty="0">
                          <a:solidFill>
                            <a:schemeClr val="bg1"/>
                          </a:solidFill>
                          <a:latin typeface="Arial"/>
                          <a:cs typeface="Arial"/>
                        </a:rPr>
                        <a:t>MEASURE</a:t>
                      </a:r>
                    </a:p>
                  </a:txBody>
                  <a:tcPr marT="45739" marB="45739">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1"/>
                    </a:solidFill>
                  </a:tcPr>
                </a:tc>
                <a:tc hMerge="1">
                  <a:txBody>
                    <a:bodyPr/>
                    <a:lstStyle/>
                    <a:p>
                      <a:endParaRPr lang="en-US"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b="1" dirty="0">
                          <a:solidFill>
                            <a:schemeClr val="bg1"/>
                          </a:solidFill>
                          <a:latin typeface="Arial"/>
                          <a:cs typeface="Arial"/>
                        </a:rPr>
                        <a:t>DEFINITION</a:t>
                      </a:r>
                    </a:p>
                  </a:txBody>
                  <a:tcPr marT="45739" marB="45739">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1"/>
                    </a:solidFill>
                  </a:tcPr>
                </a:tc>
                <a:tc>
                  <a:txBody>
                    <a:bodyPr/>
                    <a:lstStyle/>
                    <a:p>
                      <a:pPr algn="ctr"/>
                      <a:r>
                        <a:rPr lang="en-US" sz="1600" b="1" dirty="0">
                          <a:solidFill>
                            <a:schemeClr val="bg1"/>
                          </a:solidFill>
                          <a:latin typeface="Arial"/>
                          <a:cs typeface="Arial"/>
                        </a:rPr>
                        <a:t>EXAMPLE</a:t>
                      </a:r>
                    </a:p>
                  </a:txBody>
                  <a:tcPr marT="45739" marB="45739">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1"/>
                    </a:solidFill>
                  </a:tcPr>
                </a:tc>
                <a:extLst>
                  <a:ext uri="{0D108BD9-81ED-4DB2-BD59-A6C34878D82A}">
                    <a16:rowId xmlns:a16="http://schemas.microsoft.com/office/drawing/2014/main" val="10001"/>
                  </a:ext>
                </a:extLst>
              </a:tr>
              <a:tr h="335416">
                <a:tc gridSpan="2">
                  <a:txBody>
                    <a:bodyPr/>
                    <a:lstStyle/>
                    <a:p>
                      <a:pPr algn="l"/>
                      <a:r>
                        <a:rPr lang="en-US" sz="1600" dirty="0">
                          <a:latin typeface="Arial"/>
                          <a:cs typeface="Arial"/>
                        </a:rPr>
                        <a:t>Actual output </a:t>
                      </a:r>
                    </a:p>
                  </a:txBody>
                  <a:tcPr marT="45739" marB="45739">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b="0" kern="1200" dirty="0">
                          <a:solidFill>
                            <a:schemeClr val="tx1"/>
                          </a:solidFill>
                          <a:effectLst/>
                          <a:latin typeface="Arial"/>
                          <a:ea typeface="+mn-ea"/>
                          <a:cs typeface="Arial"/>
                        </a:rPr>
                        <a:t>Effective capacity minus lost output during </a:t>
                      </a:r>
                      <a:r>
                        <a:rPr lang="en-US" sz="1600" b="0" i="1" kern="1200" dirty="0">
                          <a:solidFill>
                            <a:schemeClr val="tx1"/>
                          </a:solidFill>
                          <a:effectLst/>
                          <a:latin typeface="Arial"/>
                          <a:ea typeface="+mn-ea"/>
                          <a:cs typeface="Arial"/>
                        </a:rPr>
                        <a:t>unplanned </a:t>
                      </a:r>
                      <a:r>
                        <a:rPr lang="en-US" sz="1600" b="0" kern="1200" dirty="0">
                          <a:solidFill>
                            <a:schemeClr val="tx1"/>
                          </a:solidFill>
                          <a:effectLst/>
                          <a:latin typeface="Arial"/>
                          <a:ea typeface="+mn-ea"/>
                          <a:cs typeface="Arial"/>
                        </a:rPr>
                        <a:t>resource idleness (e.g., absenteeism, machine breakdowns, unavailable parts, quality problems) </a:t>
                      </a:r>
                      <a:endParaRPr lang="en-US" sz="1600" dirty="0">
                        <a:latin typeface="Arial"/>
                        <a:cs typeface="Arial"/>
                      </a:endParaRPr>
                    </a:p>
                  </a:txBody>
                  <a:tcPr marT="45739" marB="45739">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l">
                        <a:tabLst>
                          <a:tab pos="1435100" algn="l"/>
                          <a:tab pos="1612900" algn="l"/>
                        </a:tabLst>
                      </a:pPr>
                      <a:r>
                        <a:rPr lang="en-US" sz="1600" dirty="0">
                          <a:latin typeface="Arial"/>
                          <a:cs typeface="Arial"/>
                        </a:rPr>
                        <a:t>On average, machines at Frito-Lay are not running 0.25 hr./day due to late parts and machine breakdowns.</a:t>
                      </a:r>
                      <a:br>
                        <a:rPr lang="en-US" sz="1600" dirty="0">
                          <a:latin typeface="Arial"/>
                          <a:cs typeface="Arial"/>
                        </a:rPr>
                      </a:br>
                      <a:r>
                        <a:rPr lang="en-US" sz="1600" b="1" dirty="0">
                          <a:latin typeface="Arial"/>
                          <a:cs typeface="Arial"/>
                        </a:rPr>
                        <a:t>Actual Output 	= 13,000 bags/day </a:t>
                      </a:r>
                    </a:p>
                    <a:p>
                      <a:pPr algn="l">
                        <a:tabLst>
                          <a:tab pos="1435100" algn="l"/>
                          <a:tab pos="1612900" algn="l"/>
                        </a:tabLst>
                      </a:pPr>
                      <a:r>
                        <a:rPr lang="en-US" sz="1600" b="1" dirty="0">
                          <a:latin typeface="Arial"/>
                          <a:cs typeface="Arial"/>
                        </a:rPr>
                        <a:t>		– (1,000 bags/hr.)</a:t>
                      </a:r>
                      <a:br>
                        <a:rPr lang="en-US" sz="1600" b="1" dirty="0">
                          <a:latin typeface="Arial"/>
                          <a:cs typeface="Arial"/>
                        </a:rPr>
                      </a:br>
                      <a:r>
                        <a:rPr lang="en-US" sz="1600" b="1" dirty="0">
                          <a:latin typeface="Arial"/>
                          <a:cs typeface="Arial"/>
                        </a:rPr>
                        <a:t>		(0.25 hr./day)</a:t>
                      </a:r>
                    </a:p>
                    <a:p>
                      <a:pPr algn="l">
                        <a:tabLst>
                          <a:tab pos="1435100" algn="l"/>
                          <a:tab pos="1612900" algn="l"/>
                        </a:tabLst>
                      </a:pPr>
                      <a:r>
                        <a:rPr lang="en-US" sz="1600" b="1" dirty="0">
                          <a:latin typeface="Arial"/>
                          <a:cs typeface="Arial"/>
                        </a:rPr>
                        <a:t>	= 13,000 bags/day </a:t>
                      </a:r>
                    </a:p>
                    <a:p>
                      <a:pPr algn="l">
                        <a:tabLst>
                          <a:tab pos="1435100" algn="l"/>
                          <a:tab pos="1612900" algn="l"/>
                        </a:tabLst>
                      </a:pPr>
                      <a:r>
                        <a:rPr lang="en-US" sz="1600" b="1" dirty="0">
                          <a:latin typeface="Arial"/>
                          <a:cs typeface="Arial"/>
                        </a:rPr>
                        <a:t>		– 250 bags/day </a:t>
                      </a:r>
                    </a:p>
                    <a:p>
                      <a:pPr algn="l">
                        <a:tabLst>
                          <a:tab pos="1435100" algn="l"/>
                          <a:tab pos="1612900" algn="l"/>
                        </a:tabLst>
                      </a:pPr>
                      <a:r>
                        <a:rPr lang="en-US" sz="1600" b="1" dirty="0">
                          <a:latin typeface="Arial"/>
                          <a:cs typeface="Arial"/>
                        </a:rPr>
                        <a:t>	= 12,750 bags/day </a:t>
                      </a:r>
                    </a:p>
                  </a:txBody>
                  <a:tcPr marT="45739" marB="45739">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pic>
        <p:nvPicPr>
          <p:cNvPr id="5" name="Picture 4" descr="actual S7-1.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4650" y="2832100"/>
            <a:ext cx="1823212" cy="1231900"/>
          </a:xfrm>
          <a:prstGeom prst="rect">
            <a:avLst/>
          </a:prstGeom>
        </p:spPr>
      </p:pic>
    </p:spTree>
    <p:extLst>
      <p:ext uri="{BB962C8B-B14F-4D97-AF65-F5344CB8AC3E}">
        <p14:creationId xmlns:p14="http://schemas.microsoft.com/office/powerpoint/2010/main" val="286651236"/>
      </p:ext>
    </p:extLst>
  </p:cSld>
  <p:clrMapOvr>
    <a:masterClrMapping/>
  </p:clrMapOvr>
  <p:transition spd="slow">
    <p:strip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72" fill="hold" nodeType="afterEffect">
                                  <p:stCondLst>
                                    <p:cond delay="100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strVal val="2/3*#ppt_w"/>
                                          </p:val>
                                        </p:tav>
                                        <p:tav tm="100000">
                                          <p:val>
                                            <p:strVal val="#ppt_w"/>
                                          </p:val>
                                        </p:tav>
                                      </p:tavLst>
                                    </p:anim>
                                    <p:anim calcmode="lin" valueType="num">
                                      <p:cBhvr>
                                        <p:cTn id="8" dur="1000" fill="hold"/>
                                        <p:tgtEl>
                                          <p:spTgt spid="4"/>
                                        </p:tgtEl>
                                        <p:attrNameLst>
                                          <p:attrName>ppt_h</p:attrName>
                                        </p:attrNameLst>
                                      </p:cBhvr>
                                      <p:tavLst>
                                        <p:tav tm="0">
                                          <p:val>
                                            <p:strVal val="2/3*#ppt_h"/>
                                          </p:val>
                                        </p:tav>
                                        <p:tav tm="100000">
                                          <p:val>
                                            <p:strVal val="#ppt_h"/>
                                          </p:val>
                                        </p:tav>
                                      </p:tavLst>
                                    </p:anim>
                                  </p:childTnLst>
                                </p:cTn>
                              </p:par>
                              <p:par>
                                <p:cTn id="9" presetID="9" presetClass="entr" presetSubtype="0" fill="hold" nodeType="withEffect">
                                  <p:stCondLst>
                                    <p:cond delay="1000"/>
                                  </p:stCondLst>
                                  <p:childTnLst>
                                    <p:set>
                                      <p:cBhvr>
                                        <p:cTn id="10" dur="1" fill="hold">
                                          <p:stCondLst>
                                            <p:cond delay="0"/>
                                          </p:stCondLst>
                                        </p:cTn>
                                        <p:tgtEl>
                                          <p:spTgt spid="5"/>
                                        </p:tgtEl>
                                        <p:attrNameLst>
                                          <p:attrName>style.visibility</p:attrName>
                                        </p:attrNameLst>
                                      </p:cBhvr>
                                      <p:to>
                                        <p:strVal val="visible"/>
                                      </p:to>
                                    </p:set>
                                    <p:animEffect transition="in" filter="dissolve">
                                      <p:cBhvr>
                                        <p:cTn id="11"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a:spLocks noGrp="1" noChangeArrowheads="1"/>
          </p:cNvSpPr>
          <p:nvPr>
            <p:ph type="title"/>
          </p:nvPr>
        </p:nvSpPr>
        <p:spPr>
          <a:xfrm>
            <a:off x="685800" y="434975"/>
            <a:ext cx="7772400" cy="1003300"/>
          </a:xfrm>
        </p:spPr>
        <p:txBody>
          <a:bodyPr/>
          <a:lstStyle/>
          <a:p>
            <a:r>
              <a:rPr lang="en-US" dirty="0">
                <a:latin typeface="Arial" charset="0"/>
                <a:cs typeface="Arial" charset="0"/>
              </a:rPr>
              <a:t>Utilization and Efficiency</a:t>
            </a:r>
          </a:p>
        </p:txBody>
      </p:sp>
      <p:sp>
        <p:nvSpPr>
          <p:cNvPr id="29699" name="Rectangle 3"/>
          <p:cNvSpPr>
            <a:spLocks noChangeArrowheads="1"/>
          </p:cNvSpPr>
          <p:nvPr/>
        </p:nvSpPr>
        <p:spPr bwMode="auto">
          <a:xfrm>
            <a:off x="685800" y="1774825"/>
            <a:ext cx="7758113" cy="75713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pPr>
              <a:lnSpc>
                <a:spcPct val="90000"/>
              </a:lnSpc>
            </a:pPr>
            <a:r>
              <a:rPr lang="en-US" sz="2400" b="1" dirty="0">
                <a:solidFill>
                  <a:schemeClr val="tx2"/>
                </a:solidFill>
              </a:rPr>
              <a:t>Utilization</a:t>
            </a:r>
            <a:r>
              <a:rPr lang="en-US" sz="2400" b="1" dirty="0"/>
              <a:t> </a:t>
            </a:r>
            <a:r>
              <a:rPr lang="en-US" sz="2400" dirty="0"/>
              <a:t>is the percentage of design capacity actually achieved</a:t>
            </a:r>
          </a:p>
        </p:txBody>
      </p:sp>
      <p:sp>
        <p:nvSpPr>
          <p:cNvPr id="29700" name="Rectangle 4"/>
          <p:cNvSpPr>
            <a:spLocks noChangeArrowheads="1"/>
          </p:cNvSpPr>
          <p:nvPr/>
        </p:nvSpPr>
        <p:spPr bwMode="auto">
          <a:xfrm>
            <a:off x="685800" y="4098925"/>
            <a:ext cx="7824788" cy="75713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pPr>
              <a:lnSpc>
                <a:spcPct val="90000"/>
              </a:lnSpc>
            </a:pPr>
            <a:r>
              <a:rPr lang="en-US" sz="2400" b="1" dirty="0">
                <a:solidFill>
                  <a:srgbClr val="255898"/>
                </a:solidFill>
              </a:rPr>
              <a:t>Efficiency</a:t>
            </a:r>
            <a:r>
              <a:rPr lang="en-US" sz="2400" b="1" dirty="0">
                <a:solidFill>
                  <a:srgbClr val="000000"/>
                </a:solidFill>
              </a:rPr>
              <a:t> </a:t>
            </a:r>
            <a:r>
              <a:rPr lang="en-US" sz="2400" dirty="0">
                <a:solidFill>
                  <a:srgbClr val="000000"/>
                </a:solidFill>
              </a:rPr>
              <a:t>is the percentage of effective capacity actually achieved</a:t>
            </a:r>
          </a:p>
        </p:txBody>
      </p:sp>
      <p:sp>
        <p:nvSpPr>
          <p:cNvPr id="29701" name="Rectangle 5"/>
          <p:cNvSpPr>
            <a:spLocks noChangeArrowheads="1"/>
          </p:cNvSpPr>
          <p:nvPr/>
        </p:nvSpPr>
        <p:spPr bwMode="auto">
          <a:xfrm>
            <a:off x="1363663" y="2970213"/>
            <a:ext cx="6845272" cy="4247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a:lnSpc>
                <a:spcPct val="90000"/>
              </a:lnSpc>
            </a:pPr>
            <a:r>
              <a:rPr lang="en-US" sz="2400" dirty="0"/>
              <a:t>Utilization = Actual output/Design capacity</a:t>
            </a:r>
          </a:p>
        </p:txBody>
      </p:sp>
      <p:sp>
        <p:nvSpPr>
          <p:cNvPr id="29702" name="Rectangle 6"/>
          <p:cNvSpPr>
            <a:spLocks noChangeArrowheads="1"/>
          </p:cNvSpPr>
          <p:nvPr/>
        </p:nvSpPr>
        <p:spPr bwMode="auto">
          <a:xfrm>
            <a:off x="1239838" y="5262563"/>
            <a:ext cx="7041351" cy="4247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a:lnSpc>
                <a:spcPct val="90000"/>
              </a:lnSpc>
            </a:pPr>
            <a:r>
              <a:rPr lang="en-US" sz="2400" dirty="0"/>
              <a:t>Efficiency = Actual output/Effective capacity</a:t>
            </a:r>
          </a:p>
        </p:txBody>
      </p:sp>
    </p:spTree>
    <p:extLst>
      <p:ext uri="{BB962C8B-B14F-4D97-AF65-F5344CB8AC3E}">
        <p14:creationId xmlns:p14="http://schemas.microsoft.com/office/powerpoint/2010/main" val="1976145679"/>
      </p:ext>
    </p:extLst>
  </p:cSld>
  <p:clrMapOvr>
    <a:masterClrMapping/>
  </p:clrMapOvr>
  <p:transition>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1000"/>
                                  </p:stCondLst>
                                  <p:childTnLst>
                                    <p:set>
                                      <p:cBhvr>
                                        <p:cTn id="6" dur="1" fill="hold">
                                          <p:stCondLst>
                                            <p:cond delay="0"/>
                                          </p:stCondLst>
                                        </p:cTn>
                                        <p:tgtEl>
                                          <p:spTgt spid="29699"/>
                                        </p:tgtEl>
                                        <p:attrNameLst>
                                          <p:attrName>style.visibility</p:attrName>
                                        </p:attrNameLst>
                                      </p:cBhvr>
                                      <p:to>
                                        <p:strVal val="visible"/>
                                      </p:to>
                                    </p:set>
                                    <p:animEffect transition="in" filter="wipe(left)">
                                      <p:cBhvr>
                                        <p:cTn id="7" dur="1000"/>
                                        <p:tgtEl>
                                          <p:spTgt spid="29699"/>
                                        </p:tgtEl>
                                      </p:cBhvr>
                                    </p:animEffect>
                                  </p:childTnLst>
                                </p:cTn>
                              </p:par>
                            </p:childTnLst>
                          </p:cTn>
                        </p:par>
                        <p:par>
                          <p:cTn id="8" fill="hold" nodeType="afterGroup">
                            <p:stCondLst>
                              <p:cond delay="2000"/>
                            </p:stCondLst>
                            <p:childTnLst>
                              <p:par>
                                <p:cTn id="9" presetID="22" presetClass="entr" presetSubtype="8" fill="hold" grpId="0" nodeType="afterEffect">
                                  <p:stCondLst>
                                    <p:cond delay="1000"/>
                                  </p:stCondLst>
                                  <p:childTnLst>
                                    <p:set>
                                      <p:cBhvr>
                                        <p:cTn id="10" dur="1" fill="hold">
                                          <p:stCondLst>
                                            <p:cond delay="0"/>
                                          </p:stCondLst>
                                        </p:cTn>
                                        <p:tgtEl>
                                          <p:spTgt spid="29701"/>
                                        </p:tgtEl>
                                        <p:attrNameLst>
                                          <p:attrName>style.visibility</p:attrName>
                                        </p:attrNameLst>
                                      </p:cBhvr>
                                      <p:to>
                                        <p:strVal val="visible"/>
                                      </p:to>
                                    </p:set>
                                    <p:animEffect transition="in" filter="wipe(left)">
                                      <p:cBhvr>
                                        <p:cTn id="11" dur="1000"/>
                                        <p:tgtEl>
                                          <p:spTgt spid="29701"/>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9700"/>
                                        </p:tgtEl>
                                        <p:attrNameLst>
                                          <p:attrName>style.visibility</p:attrName>
                                        </p:attrNameLst>
                                      </p:cBhvr>
                                      <p:to>
                                        <p:strVal val="visible"/>
                                      </p:to>
                                    </p:set>
                                    <p:animEffect transition="in" filter="wipe(left)">
                                      <p:cBhvr>
                                        <p:cTn id="16" dur="1000"/>
                                        <p:tgtEl>
                                          <p:spTgt spid="29700"/>
                                        </p:tgtEl>
                                      </p:cBhvr>
                                    </p:animEffect>
                                  </p:childTnLst>
                                </p:cTn>
                              </p:par>
                            </p:childTnLst>
                          </p:cTn>
                        </p:par>
                        <p:par>
                          <p:cTn id="17" fill="hold" nodeType="afterGroup">
                            <p:stCondLst>
                              <p:cond delay="1000"/>
                            </p:stCondLst>
                            <p:childTnLst>
                              <p:par>
                                <p:cTn id="18" presetID="22" presetClass="entr" presetSubtype="8" fill="hold" grpId="0" nodeType="afterEffect">
                                  <p:stCondLst>
                                    <p:cond delay="1000"/>
                                  </p:stCondLst>
                                  <p:childTnLst>
                                    <p:set>
                                      <p:cBhvr>
                                        <p:cTn id="19" dur="1" fill="hold">
                                          <p:stCondLst>
                                            <p:cond delay="0"/>
                                          </p:stCondLst>
                                        </p:cTn>
                                        <p:tgtEl>
                                          <p:spTgt spid="29702"/>
                                        </p:tgtEl>
                                        <p:attrNameLst>
                                          <p:attrName>style.visibility</p:attrName>
                                        </p:attrNameLst>
                                      </p:cBhvr>
                                      <p:to>
                                        <p:strVal val="visible"/>
                                      </p:to>
                                    </p:set>
                                    <p:animEffect transition="in" filter="wipe(left)">
                                      <p:cBhvr>
                                        <p:cTn id="20" dur="1000"/>
                                        <p:tgtEl>
                                          <p:spTgt spid="297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 grpId="0" autoUpdateAnimBg="0"/>
      <p:bldP spid="29700" grpId="0" autoUpdateAnimBg="0"/>
      <p:bldP spid="29701" grpId="0" autoUpdateAnimBg="0"/>
      <p:bldP spid="29702"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p:cNvSpPr>
            <a:spLocks noGrp="1" noChangeArrowheads="1"/>
          </p:cNvSpPr>
          <p:nvPr>
            <p:ph type="title"/>
          </p:nvPr>
        </p:nvSpPr>
        <p:spPr/>
        <p:txBody>
          <a:bodyPr/>
          <a:lstStyle/>
          <a:p>
            <a:pPr algn="l"/>
            <a:r>
              <a:rPr lang="en-US" dirty="0">
                <a:latin typeface="Arial" charset="0"/>
                <a:cs typeface="Arial" charset="0"/>
              </a:rPr>
              <a:t>Bakery Example </a:t>
            </a:r>
          </a:p>
        </p:txBody>
      </p:sp>
      <p:sp>
        <p:nvSpPr>
          <p:cNvPr id="45059" name="Rectangle 3"/>
          <p:cNvSpPr>
            <a:spLocks noChangeArrowheads="1"/>
          </p:cNvSpPr>
          <p:nvPr/>
        </p:nvSpPr>
        <p:spPr bwMode="auto">
          <a:xfrm>
            <a:off x="947738" y="1692275"/>
            <a:ext cx="7905113" cy="156966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2400" dirty="0"/>
              <a:t>Actual </a:t>
            </a:r>
            <a:r>
              <a:rPr lang="en-US" sz="2000" dirty="0"/>
              <a:t>production</a:t>
            </a:r>
            <a:r>
              <a:rPr lang="en-US" sz="2400" dirty="0"/>
              <a:t> last week = 148,000 rolls</a:t>
            </a:r>
          </a:p>
          <a:p>
            <a:r>
              <a:rPr lang="en-US" sz="2400" dirty="0"/>
              <a:t>Effective capacity = 175,000 rolls</a:t>
            </a:r>
          </a:p>
          <a:p>
            <a:r>
              <a:rPr lang="en-US" sz="2400" dirty="0"/>
              <a:t>Design capacity = 1,200 rolls per hour</a:t>
            </a:r>
          </a:p>
          <a:p>
            <a:r>
              <a:rPr lang="en-US" sz="2400" dirty="0"/>
              <a:t>Bakery operates 7 days/week, three 8-hour shifts</a:t>
            </a:r>
          </a:p>
        </p:txBody>
      </p:sp>
      <p:sp>
        <p:nvSpPr>
          <p:cNvPr id="6" name="Rectangle 4"/>
          <p:cNvSpPr>
            <a:spLocks noChangeArrowheads="1"/>
          </p:cNvSpPr>
          <p:nvPr/>
        </p:nvSpPr>
        <p:spPr bwMode="auto">
          <a:xfrm>
            <a:off x="787400" y="3976688"/>
            <a:ext cx="7388882"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2000" dirty="0"/>
              <a:t>Design capacity = (7 x 3 x 8) x (1,200) = 201,600 rolls</a:t>
            </a:r>
          </a:p>
        </p:txBody>
      </p:sp>
      <p:grpSp>
        <p:nvGrpSpPr>
          <p:cNvPr id="2" name="Group 1"/>
          <p:cNvGrpSpPr>
            <a:grpSpLocks/>
          </p:cNvGrpSpPr>
          <p:nvPr/>
        </p:nvGrpSpPr>
        <p:grpSpPr bwMode="auto">
          <a:xfrm>
            <a:off x="3416300" y="2468563"/>
            <a:ext cx="3219450" cy="1595437"/>
            <a:chOff x="3416300" y="2468563"/>
            <a:chExt cx="3219450" cy="1595437"/>
          </a:xfrm>
        </p:grpSpPr>
        <p:sp>
          <p:nvSpPr>
            <p:cNvPr id="32773" name="Line 6"/>
            <p:cNvSpPr>
              <a:spLocks noChangeShapeType="1"/>
            </p:cNvSpPr>
            <p:nvPr/>
          </p:nvSpPr>
          <p:spPr bwMode="auto">
            <a:xfrm>
              <a:off x="3416300" y="3261934"/>
              <a:ext cx="114300" cy="776665"/>
            </a:xfrm>
            <a:prstGeom prst="line">
              <a:avLst/>
            </a:prstGeom>
            <a:noFill/>
            <a:ln w="57150">
              <a:solidFill>
                <a:schemeClr val="accent1"/>
              </a:solidFill>
              <a:round/>
              <a:headEnd/>
              <a:tailEnd type="triangle" w="sm" len="sm"/>
            </a:ln>
            <a:extLst>
              <a:ext uri="{909E8E84-426E-40dd-AFC4-6F175D3DCCD1}">
                <a14:hiddenFill xmlns="" xmlns:a14="http://schemas.microsoft.com/office/drawing/2010/main">
                  <a:noFill/>
                </a14:hiddenFill>
              </a:ext>
            </a:extLst>
          </p:spPr>
          <p:txBody>
            <a:bodyPr wrap="none" anchor="ctr"/>
            <a:lstStyle/>
            <a:p>
              <a:endParaRPr lang="en-US" dirty="0"/>
            </a:p>
          </p:txBody>
        </p:sp>
        <p:sp>
          <p:nvSpPr>
            <p:cNvPr id="32774" name="Line 7"/>
            <p:cNvSpPr>
              <a:spLocks noChangeShapeType="1"/>
            </p:cNvSpPr>
            <p:nvPr/>
          </p:nvSpPr>
          <p:spPr bwMode="auto">
            <a:xfrm flipH="1">
              <a:off x="4102100" y="3261935"/>
              <a:ext cx="1117600" cy="802065"/>
            </a:xfrm>
            <a:prstGeom prst="line">
              <a:avLst/>
            </a:prstGeom>
            <a:noFill/>
            <a:ln w="57150">
              <a:solidFill>
                <a:schemeClr val="accent1"/>
              </a:solidFill>
              <a:round/>
              <a:headEnd/>
              <a:tailEnd type="triangle" w="sm" len="sm"/>
            </a:ln>
            <a:extLst>
              <a:ext uri="{909E8E84-426E-40dd-AFC4-6F175D3DCCD1}">
                <a14:hiddenFill xmlns="" xmlns:a14="http://schemas.microsoft.com/office/drawing/2010/main">
                  <a:noFill/>
                </a14:hiddenFill>
              </a:ext>
            </a:extLst>
          </p:spPr>
          <p:txBody>
            <a:bodyPr wrap="none" anchor="ctr"/>
            <a:lstStyle/>
            <a:p>
              <a:endParaRPr lang="en-US" dirty="0"/>
            </a:p>
          </p:txBody>
        </p:sp>
        <p:sp>
          <p:nvSpPr>
            <p:cNvPr id="32775" name="Line 8"/>
            <p:cNvSpPr>
              <a:spLocks noChangeShapeType="1"/>
            </p:cNvSpPr>
            <p:nvPr/>
          </p:nvSpPr>
          <p:spPr bwMode="auto">
            <a:xfrm flipH="1">
              <a:off x="4673600" y="3261935"/>
              <a:ext cx="1028700" cy="776665"/>
            </a:xfrm>
            <a:prstGeom prst="line">
              <a:avLst/>
            </a:prstGeom>
            <a:noFill/>
            <a:ln w="57150">
              <a:solidFill>
                <a:schemeClr val="accent1"/>
              </a:solidFill>
              <a:round/>
              <a:headEnd/>
              <a:tailEnd type="triangle" w="sm" len="sm"/>
            </a:ln>
            <a:extLst>
              <a:ext uri="{909E8E84-426E-40dd-AFC4-6F175D3DCCD1}">
                <a14:hiddenFill xmlns="" xmlns:a14="http://schemas.microsoft.com/office/drawing/2010/main">
                  <a:noFill/>
                </a14:hiddenFill>
              </a:ext>
            </a:extLst>
          </p:spPr>
          <p:txBody>
            <a:bodyPr wrap="none" anchor="ctr"/>
            <a:lstStyle/>
            <a:p>
              <a:endParaRPr lang="en-US" dirty="0"/>
            </a:p>
          </p:txBody>
        </p:sp>
        <p:sp>
          <p:nvSpPr>
            <p:cNvPr id="32776" name="Freeform 9"/>
            <p:cNvSpPr>
              <a:spLocks/>
            </p:cNvSpPr>
            <p:nvPr/>
          </p:nvSpPr>
          <p:spPr bwMode="auto">
            <a:xfrm>
              <a:off x="4356100" y="2468563"/>
              <a:ext cx="2279650" cy="1595437"/>
            </a:xfrm>
            <a:custGeom>
              <a:avLst/>
              <a:gdLst>
                <a:gd name="T0" fmla="*/ 0 w 1436"/>
                <a:gd name="T1" fmla="*/ 261518 h 909"/>
                <a:gd name="T2" fmla="*/ 1752600 w 1436"/>
                <a:gd name="T3" fmla="*/ 64941 h 909"/>
                <a:gd name="T4" fmla="*/ 2247900 w 1436"/>
                <a:gd name="T5" fmla="*/ 654673 h 909"/>
                <a:gd name="T6" fmla="*/ 1562100 w 1436"/>
                <a:gd name="T7" fmla="*/ 1595437 h 909"/>
                <a:gd name="T8" fmla="*/ 0 60000 65536"/>
                <a:gd name="T9" fmla="*/ 0 60000 65536"/>
                <a:gd name="T10" fmla="*/ 0 60000 65536"/>
                <a:gd name="T11" fmla="*/ 0 60000 65536"/>
                <a:gd name="T12" fmla="*/ 0 w 1436"/>
                <a:gd name="T13" fmla="*/ 0 h 909"/>
                <a:gd name="T14" fmla="*/ 1436 w 1436"/>
                <a:gd name="T15" fmla="*/ 909 h 909"/>
              </a:gdLst>
              <a:ahLst/>
              <a:cxnLst>
                <a:cxn ang="T8">
                  <a:pos x="T0" y="T1"/>
                </a:cxn>
                <a:cxn ang="T9">
                  <a:pos x="T2" y="T3"/>
                </a:cxn>
                <a:cxn ang="T10">
                  <a:pos x="T4" y="T5"/>
                </a:cxn>
                <a:cxn ang="T11">
                  <a:pos x="T6" y="T7"/>
                </a:cxn>
              </a:cxnLst>
              <a:rect l="T12" t="T13" r="T14" b="T15"/>
              <a:pathLst>
                <a:path w="1436" h="909">
                  <a:moveTo>
                    <a:pt x="0" y="149"/>
                  </a:moveTo>
                  <a:cubicBezTo>
                    <a:pt x="418" y="71"/>
                    <a:pt x="868" y="0"/>
                    <a:pt x="1104" y="37"/>
                  </a:cubicBezTo>
                  <a:cubicBezTo>
                    <a:pt x="1340" y="74"/>
                    <a:pt x="1436" y="228"/>
                    <a:pt x="1416" y="373"/>
                  </a:cubicBezTo>
                  <a:cubicBezTo>
                    <a:pt x="1396" y="518"/>
                    <a:pt x="1074" y="797"/>
                    <a:pt x="984" y="909"/>
                  </a:cubicBezTo>
                </a:path>
              </a:pathLst>
            </a:custGeom>
            <a:noFill/>
            <a:ln w="57150" cmpd="sng">
              <a:solidFill>
                <a:schemeClr val="accent1"/>
              </a:solidFill>
              <a:round/>
              <a:headEnd/>
              <a:tailEnd type="triangle" w="sm" len="sm"/>
            </a:ln>
            <a:extLst>
              <a:ext uri="{909E8E84-426E-40dd-AFC4-6F175D3DCCD1}">
                <a14:hiddenFill xmlns="" xmlns:a14="http://schemas.microsoft.com/office/drawing/2010/main">
                  <a:solidFill>
                    <a:srgbClr val="FFFFFF"/>
                  </a:solidFill>
                </a14:hiddenFill>
              </a:ext>
            </a:extLst>
          </p:spPr>
          <p:txBody>
            <a:bodyPr wrap="none" anchor="ctr"/>
            <a:lstStyle/>
            <a:p>
              <a:endParaRPr lang="en-US" dirty="0"/>
            </a:p>
          </p:txBody>
        </p:sp>
      </p:grpSp>
      <p:sp>
        <p:nvSpPr>
          <p:cNvPr id="3" name="TextBox 2"/>
          <p:cNvSpPr txBox="1"/>
          <p:nvPr/>
        </p:nvSpPr>
        <p:spPr>
          <a:xfrm>
            <a:off x="5702300" y="279400"/>
            <a:ext cx="2781300" cy="1200329"/>
          </a:xfrm>
          <a:prstGeom prst="rect">
            <a:avLst/>
          </a:prstGeom>
          <a:noFill/>
        </p:spPr>
        <p:txBody>
          <a:bodyPr wrap="square" rtlCol="0">
            <a:spAutoFit/>
          </a:bodyPr>
          <a:lstStyle/>
          <a:p>
            <a:pPr algn="ctr"/>
            <a:r>
              <a:rPr lang="en-US" sz="3600" b="1" dirty="0"/>
              <a:t>Design Capacity</a:t>
            </a:r>
          </a:p>
        </p:txBody>
      </p:sp>
    </p:spTree>
    <p:extLst>
      <p:ext uri="{BB962C8B-B14F-4D97-AF65-F5344CB8AC3E}">
        <p14:creationId xmlns:p14="http://schemas.microsoft.com/office/powerpoint/2010/main" val="2013253629"/>
      </p:ext>
    </p:extLst>
  </p:cSld>
  <p:clrMapOvr>
    <a:masterClrMapping/>
  </p:clrMapOvr>
  <p:transition spd="slow">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1000"/>
                                  </p:stCondLst>
                                  <p:childTnLst>
                                    <p:set>
                                      <p:cBhvr>
                                        <p:cTn id="6" dur="1" fill="hold">
                                          <p:stCondLst>
                                            <p:cond delay="0"/>
                                          </p:stCondLst>
                                        </p:cTn>
                                        <p:tgtEl>
                                          <p:spTgt spid="45059"/>
                                        </p:tgtEl>
                                        <p:attrNameLst>
                                          <p:attrName>style.visibility</p:attrName>
                                        </p:attrNameLst>
                                      </p:cBhvr>
                                      <p:to>
                                        <p:strVal val="visible"/>
                                      </p:to>
                                    </p:set>
                                    <p:animEffect transition="in" filter="strips(downRight)">
                                      <p:cBhvr>
                                        <p:cTn id="7" dur="1000"/>
                                        <p:tgtEl>
                                          <p:spTgt spid="45059"/>
                                        </p:tgtEl>
                                      </p:cBhvr>
                                    </p:animEffect>
                                  </p:childTnLst>
                                </p:cTn>
                              </p:par>
                            </p:childTnLst>
                          </p:cTn>
                        </p:par>
                        <p:par>
                          <p:cTn id="8" fill="hold">
                            <p:stCondLst>
                              <p:cond delay="2000"/>
                            </p:stCondLst>
                            <p:childTnLst>
                              <p:par>
                                <p:cTn id="9" presetID="18" presetClass="entr" presetSubtype="6" fill="hold" grpId="0" nodeType="afterEffect">
                                  <p:stCondLst>
                                    <p:cond delay="1000"/>
                                  </p:stCondLst>
                                  <p:childTnLst>
                                    <p:set>
                                      <p:cBhvr>
                                        <p:cTn id="10" dur="1" fill="hold">
                                          <p:stCondLst>
                                            <p:cond delay="0"/>
                                          </p:stCondLst>
                                        </p:cTn>
                                        <p:tgtEl>
                                          <p:spTgt spid="6"/>
                                        </p:tgtEl>
                                        <p:attrNameLst>
                                          <p:attrName>style.visibility</p:attrName>
                                        </p:attrNameLst>
                                      </p:cBhvr>
                                      <p:to>
                                        <p:strVal val="visible"/>
                                      </p:to>
                                    </p:set>
                                    <p:animEffect transition="in" filter="strips(downRight)">
                                      <p:cBhvr>
                                        <p:cTn id="11" dur="1000"/>
                                        <p:tgtEl>
                                          <p:spTgt spid="6"/>
                                        </p:tgtEl>
                                      </p:cBhvr>
                                    </p:animEffect>
                                  </p:childTnLst>
                                </p:cTn>
                              </p:par>
                              <p:par>
                                <p:cTn id="12" presetID="22" presetClass="entr" presetSubtype="1" fill="hold" nodeType="withEffect">
                                  <p:stCondLst>
                                    <p:cond delay="1000"/>
                                  </p:stCondLst>
                                  <p:childTnLst>
                                    <p:set>
                                      <p:cBhvr>
                                        <p:cTn id="13" dur="1" fill="hold">
                                          <p:stCondLst>
                                            <p:cond delay="0"/>
                                          </p:stCondLst>
                                        </p:cTn>
                                        <p:tgtEl>
                                          <p:spTgt spid="2"/>
                                        </p:tgtEl>
                                        <p:attrNameLst>
                                          <p:attrName>style.visibility</p:attrName>
                                        </p:attrNameLst>
                                      </p:cBhvr>
                                      <p:to>
                                        <p:strVal val="visible"/>
                                      </p:to>
                                    </p:set>
                                    <p:animEffect transition="in" filter="wipe(up)">
                                      <p:cBhvr>
                                        <p:cTn id="14" dur="1000"/>
                                        <p:tgtEl>
                                          <p:spTgt spid="2"/>
                                        </p:tgtEl>
                                      </p:cBhvr>
                                    </p:animEffect>
                                  </p:childTnLst>
                                </p:cTn>
                              </p:par>
                            </p:childTnLst>
                          </p:cTn>
                        </p:par>
                        <p:par>
                          <p:cTn id="15" fill="hold">
                            <p:stCondLst>
                              <p:cond delay="4000"/>
                            </p:stCondLst>
                            <p:childTnLst>
                              <p:par>
                                <p:cTn id="16" presetID="22" presetClass="exit" presetSubtype="1" fill="hold" nodeType="afterEffect">
                                  <p:stCondLst>
                                    <p:cond delay="2000"/>
                                  </p:stCondLst>
                                  <p:childTnLst>
                                    <p:animEffect transition="out" filter="wipe(up)">
                                      <p:cBhvr>
                                        <p:cTn id="17" dur="1000"/>
                                        <p:tgtEl>
                                          <p:spTgt spid="2"/>
                                        </p:tgtEl>
                                      </p:cBhvr>
                                    </p:animEffect>
                                    <p:set>
                                      <p:cBhvr>
                                        <p:cTn id="18" dur="1" fill="hold">
                                          <p:stCondLst>
                                            <p:cond delay="9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 grpId="0"/>
      <p:bldP spid="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p:cNvSpPr>
            <a:spLocks noGrp="1" noChangeArrowheads="1"/>
          </p:cNvSpPr>
          <p:nvPr>
            <p:ph type="title"/>
          </p:nvPr>
        </p:nvSpPr>
        <p:spPr/>
        <p:txBody>
          <a:bodyPr/>
          <a:lstStyle/>
          <a:p>
            <a:pPr algn="l"/>
            <a:r>
              <a:rPr lang="en-US" dirty="0">
                <a:latin typeface="Arial" charset="0"/>
                <a:cs typeface="Arial" charset="0"/>
              </a:rPr>
              <a:t>Bakery Example</a:t>
            </a:r>
          </a:p>
        </p:txBody>
      </p:sp>
      <p:sp>
        <p:nvSpPr>
          <p:cNvPr id="36866" name="Rectangle 3"/>
          <p:cNvSpPr>
            <a:spLocks noChangeArrowheads="1"/>
          </p:cNvSpPr>
          <p:nvPr/>
        </p:nvSpPr>
        <p:spPr bwMode="auto">
          <a:xfrm>
            <a:off x="947738" y="1692275"/>
            <a:ext cx="6268704" cy="132343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2000" dirty="0"/>
              <a:t>Actual production last week = 148,000 rolls</a:t>
            </a:r>
          </a:p>
          <a:p>
            <a:r>
              <a:rPr lang="en-US" sz="2000" dirty="0"/>
              <a:t>Effective capacity = 175,000 rolls</a:t>
            </a:r>
          </a:p>
          <a:p>
            <a:r>
              <a:rPr lang="en-US" sz="2000" dirty="0"/>
              <a:t>Design capacity = 1,200 rolls per hour</a:t>
            </a:r>
          </a:p>
          <a:p>
            <a:r>
              <a:rPr lang="en-US" sz="2000" dirty="0"/>
              <a:t>Bakery operates 7 days/week, 3 - 8 hour shifts</a:t>
            </a:r>
          </a:p>
        </p:txBody>
      </p:sp>
      <p:sp>
        <p:nvSpPr>
          <p:cNvPr id="36867" name="Rectangle 4"/>
          <p:cNvSpPr>
            <a:spLocks noChangeArrowheads="1"/>
          </p:cNvSpPr>
          <p:nvPr/>
        </p:nvSpPr>
        <p:spPr bwMode="auto">
          <a:xfrm>
            <a:off x="787400" y="3976688"/>
            <a:ext cx="7388882"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2000" dirty="0"/>
              <a:t>Design capacity = (7 x 3 x 8) x (1,200) = 201,600 rolls</a:t>
            </a:r>
          </a:p>
        </p:txBody>
      </p:sp>
      <p:sp>
        <p:nvSpPr>
          <p:cNvPr id="7" name="Rectangle 5"/>
          <p:cNvSpPr>
            <a:spLocks noChangeArrowheads="1"/>
          </p:cNvSpPr>
          <p:nvPr/>
        </p:nvSpPr>
        <p:spPr bwMode="auto">
          <a:xfrm>
            <a:off x="1612900" y="4713288"/>
            <a:ext cx="5365571"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2000" dirty="0"/>
              <a:t>Utilization = 148,000/201,600 = 73.4%</a:t>
            </a:r>
          </a:p>
        </p:txBody>
      </p:sp>
      <p:grpSp>
        <p:nvGrpSpPr>
          <p:cNvPr id="8" name="Group 6"/>
          <p:cNvGrpSpPr>
            <a:grpSpLocks/>
          </p:cNvGrpSpPr>
          <p:nvPr/>
        </p:nvGrpSpPr>
        <p:grpSpPr bwMode="auto">
          <a:xfrm>
            <a:off x="4178300" y="2146300"/>
            <a:ext cx="2108200" cy="2603500"/>
            <a:chOff x="2744" y="1352"/>
            <a:chExt cx="1328" cy="1640"/>
          </a:xfrm>
        </p:grpSpPr>
        <p:sp>
          <p:nvSpPr>
            <p:cNvPr id="36870" name="Line 7"/>
            <p:cNvSpPr>
              <a:spLocks noChangeShapeType="1"/>
            </p:cNvSpPr>
            <p:nvPr/>
          </p:nvSpPr>
          <p:spPr bwMode="auto">
            <a:xfrm flipH="1">
              <a:off x="3600" y="2760"/>
              <a:ext cx="472" cy="224"/>
            </a:xfrm>
            <a:prstGeom prst="line">
              <a:avLst/>
            </a:prstGeom>
            <a:noFill/>
            <a:ln w="57150">
              <a:solidFill>
                <a:schemeClr val="accent1"/>
              </a:solidFill>
              <a:round/>
              <a:headEnd/>
              <a:tailEnd type="triangle" w="sm" len="sm"/>
            </a:ln>
            <a:extLst>
              <a:ext uri="{909E8E84-426E-40dd-AFC4-6F175D3DCCD1}">
                <a14:hiddenFill xmlns="" xmlns:a14="http://schemas.microsoft.com/office/drawing/2010/main">
                  <a:noFill/>
                </a14:hiddenFill>
              </a:ext>
            </a:extLst>
          </p:spPr>
          <p:txBody>
            <a:bodyPr wrap="none" anchor="ctr"/>
            <a:lstStyle/>
            <a:p>
              <a:endParaRPr lang="en-US" dirty="0"/>
            </a:p>
          </p:txBody>
        </p:sp>
        <p:sp>
          <p:nvSpPr>
            <p:cNvPr id="36871" name="Line 8"/>
            <p:cNvSpPr>
              <a:spLocks noChangeShapeType="1"/>
            </p:cNvSpPr>
            <p:nvPr/>
          </p:nvSpPr>
          <p:spPr bwMode="auto">
            <a:xfrm flipH="1">
              <a:off x="2744" y="1352"/>
              <a:ext cx="864" cy="1640"/>
            </a:xfrm>
            <a:prstGeom prst="line">
              <a:avLst/>
            </a:prstGeom>
            <a:noFill/>
            <a:ln w="57150">
              <a:solidFill>
                <a:schemeClr val="accent1"/>
              </a:solidFill>
              <a:round/>
              <a:headEnd/>
              <a:tailEnd type="triangle" w="sm" len="sm"/>
            </a:ln>
            <a:extLst>
              <a:ext uri="{909E8E84-426E-40dd-AFC4-6F175D3DCCD1}">
                <a14:hiddenFill xmlns="" xmlns:a14="http://schemas.microsoft.com/office/drawing/2010/main">
                  <a:noFill/>
                </a14:hiddenFill>
              </a:ext>
            </a:extLst>
          </p:spPr>
          <p:txBody>
            <a:bodyPr wrap="none" anchor="ctr"/>
            <a:lstStyle/>
            <a:p>
              <a:endParaRPr lang="en-US" dirty="0"/>
            </a:p>
          </p:txBody>
        </p:sp>
      </p:grpSp>
      <p:sp>
        <p:nvSpPr>
          <p:cNvPr id="9" name="TextBox 8"/>
          <p:cNvSpPr txBox="1"/>
          <p:nvPr/>
        </p:nvSpPr>
        <p:spPr>
          <a:xfrm>
            <a:off x="5702300" y="577165"/>
            <a:ext cx="2781300" cy="523220"/>
          </a:xfrm>
          <a:prstGeom prst="rect">
            <a:avLst/>
          </a:prstGeom>
          <a:noFill/>
        </p:spPr>
        <p:txBody>
          <a:bodyPr wrap="square" rtlCol="0">
            <a:spAutoFit/>
          </a:bodyPr>
          <a:lstStyle/>
          <a:p>
            <a:pPr algn="ctr"/>
            <a:r>
              <a:rPr lang="en-US" sz="2800" b="1" dirty="0"/>
              <a:t>Utilization</a:t>
            </a:r>
          </a:p>
        </p:txBody>
      </p:sp>
    </p:spTree>
    <p:extLst>
      <p:ext uri="{BB962C8B-B14F-4D97-AF65-F5344CB8AC3E}">
        <p14:creationId xmlns:p14="http://schemas.microsoft.com/office/powerpoint/2010/main" val="2670688477"/>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withEffect">
                                  <p:stCondLst>
                                    <p:cond delay="100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1000"/>
                                        <p:tgtEl>
                                          <p:spTgt spid="7"/>
                                        </p:tgtEl>
                                      </p:cBhvr>
                                    </p:animEffect>
                                  </p:childTnLst>
                                </p:cTn>
                              </p:par>
                              <p:par>
                                <p:cTn id="8" presetID="18" presetClass="entr" presetSubtype="12" fill="hold" nodeType="withEffect">
                                  <p:stCondLst>
                                    <p:cond delay="1000"/>
                                  </p:stCondLst>
                                  <p:childTnLst>
                                    <p:set>
                                      <p:cBhvr>
                                        <p:cTn id="9" dur="1" fill="hold">
                                          <p:stCondLst>
                                            <p:cond delay="0"/>
                                          </p:stCondLst>
                                        </p:cTn>
                                        <p:tgtEl>
                                          <p:spTgt spid="8"/>
                                        </p:tgtEl>
                                        <p:attrNameLst>
                                          <p:attrName>style.visibility</p:attrName>
                                        </p:attrNameLst>
                                      </p:cBhvr>
                                      <p:to>
                                        <p:strVal val="visible"/>
                                      </p:to>
                                    </p:set>
                                    <p:animEffect transition="in" filter="strips(downLeft)">
                                      <p:cBhvr>
                                        <p:cTn id="10" dur="1000"/>
                                        <p:tgtEl>
                                          <p:spTgt spid="8"/>
                                        </p:tgtEl>
                                      </p:cBhvr>
                                    </p:animEffect>
                                  </p:childTnLst>
                                </p:cTn>
                              </p:par>
                            </p:childTnLst>
                          </p:cTn>
                        </p:par>
                        <p:par>
                          <p:cTn id="11" fill="hold">
                            <p:stCondLst>
                              <p:cond delay="2000"/>
                            </p:stCondLst>
                            <p:childTnLst>
                              <p:par>
                                <p:cTn id="12" presetID="22" presetClass="exit" presetSubtype="1" fill="hold" nodeType="afterEffect">
                                  <p:stCondLst>
                                    <p:cond delay="2000"/>
                                  </p:stCondLst>
                                  <p:childTnLst>
                                    <p:animEffect transition="out" filter="wipe(up)">
                                      <p:cBhvr>
                                        <p:cTn id="13" dur="1000"/>
                                        <p:tgtEl>
                                          <p:spTgt spid="8"/>
                                        </p:tgtEl>
                                      </p:cBhvr>
                                    </p:animEffect>
                                    <p:set>
                                      <p:cBhvr>
                                        <p:cTn id="14" dur="1" fill="hold">
                                          <p:stCondLst>
                                            <p:cond delay="9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p:cNvSpPr>
            <a:spLocks noGrp="1" noChangeArrowheads="1"/>
          </p:cNvSpPr>
          <p:nvPr>
            <p:ph type="title"/>
          </p:nvPr>
        </p:nvSpPr>
        <p:spPr/>
        <p:txBody>
          <a:bodyPr/>
          <a:lstStyle/>
          <a:p>
            <a:pPr algn="l"/>
            <a:r>
              <a:rPr lang="en-US" dirty="0">
                <a:latin typeface="Arial" charset="0"/>
                <a:cs typeface="Arial" charset="0"/>
              </a:rPr>
              <a:t>Bakery Example</a:t>
            </a:r>
          </a:p>
        </p:txBody>
      </p:sp>
      <p:sp>
        <p:nvSpPr>
          <p:cNvPr id="38914" name="Rectangle 3"/>
          <p:cNvSpPr>
            <a:spLocks noChangeArrowheads="1"/>
          </p:cNvSpPr>
          <p:nvPr/>
        </p:nvSpPr>
        <p:spPr bwMode="auto">
          <a:xfrm>
            <a:off x="947738" y="1661319"/>
            <a:ext cx="6268704" cy="132343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2000" dirty="0"/>
              <a:t>Actual production last week = 148,000 rolls</a:t>
            </a:r>
          </a:p>
          <a:p>
            <a:r>
              <a:rPr lang="en-US" sz="2000" dirty="0"/>
              <a:t>Effective capacity = 175,000 rolls</a:t>
            </a:r>
          </a:p>
          <a:p>
            <a:r>
              <a:rPr lang="en-US" sz="2000" dirty="0"/>
              <a:t>Design capacity = 1,200 rolls per hour</a:t>
            </a:r>
          </a:p>
          <a:p>
            <a:r>
              <a:rPr lang="en-US" sz="2000" dirty="0"/>
              <a:t>Bakery operates 7 days/week, 3 - 8 hour shifts</a:t>
            </a:r>
          </a:p>
        </p:txBody>
      </p:sp>
      <p:sp>
        <p:nvSpPr>
          <p:cNvPr id="38915" name="Rectangle 4"/>
          <p:cNvSpPr>
            <a:spLocks noChangeArrowheads="1"/>
          </p:cNvSpPr>
          <p:nvPr/>
        </p:nvSpPr>
        <p:spPr bwMode="auto">
          <a:xfrm>
            <a:off x="787400" y="3945732"/>
            <a:ext cx="7388882"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2000" dirty="0"/>
              <a:t>Design capacity = (7 x 3 x 8) x (1,200) = 201,600 rolls</a:t>
            </a:r>
          </a:p>
        </p:txBody>
      </p:sp>
      <p:sp>
        <p:nvSpPr>
          <p:cNvPr id="38916" name="Rectangle 5"/>
          <p:cNvSpPr>
            <a:spLocks noChangeArrowheads="1"/>
          </p:cNvSpPr>
          <p:nvPr/>
        </p:nvSpPr>
        <p:spPr bwMode="auto">
          <a:xfrm>
            <a:off x="1612900" y="4691857"/>
            <a:ext cx="5365571"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2000" dirty="0"/>
              <a:t>Utilization = 148,000/201,600 = 73.4%</a:t>
            </a:r>
          </a:p>
        </p:txBody>
      </p:sp>
      <p:sp>
        <p:nvSpPr>
          <p:cNvPr id="38917" name="Rectangle 6"/>
          <p:cNvSpPr>
            <a:spLocks noChangeArrowheads="1"/>
          </p:cNvSpPr>
          <p:nvPr/>
        </p:nvSpPr>
        <p:spPr bwMode="auto">
          <a:xfrm>
            <a:off x="1627188" y="5462588"/>
            <a:ext cx="5303055"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2000" dirty="0"/>
              <a:t>Efficiency = 148,000/175,000 = 84.6%</a:t>
            </a:r>
          </a:p>
        </p:txBody>
      </p:sp>
      <p:grpSp>
        <p:nvGrpSpPr>
          <p:cNvPr id="38918" name="Group 7"/>
          <p:cNvGrpSpPr>
            <a:grpSpLocks/>
          </p:cNvGrpSpPr>
          <p:nvPr/>
        </p:nvGrpSpPr>
        <p:grpSpPr bwMode="auto">
          <a:xfrm>
            <a:off x="2752725" y="1957388"/>
            <a:ext cx="2251075" cy="3505200"/>
            <a:chOff x="1910" y="1377"/>
            <a:chExt cx="1418" cy="2064"/>
          </a:xfrm>
        </p:grpSpPr>
        <p:sp>
          <p:nvSpPr>
            <p:cNvPr id="38919" name="Freeform 8"/>
            <p:cNvSpPr>
              <a:spLocks/>
            </p:cNvSpPr>
            <p:nvPr/>
          </p:nvSpPr>
          <p:spPr bwMode="auto">
            <a:xfrm>
              <a:off x="1910" y="1377"/>
              <a:ext cx="1389" cy="2064"/>
            </a:xfrm>
            <a:custGeom>
              <a:avLst/>
              <a:gdLst>
                <a:gd name="T0" fmla="*/ 1389 w 1389"/>
                <a:gd name="T1" fmla="*/ 0 h 2064"/>
                <a:gd name="T2" fmla="*/ 237 w 1389"/>
                <a:gd name="T3" fmla="*/ 240 h 2064"/>
                <a:gd name="T4" fmla="*/ 69 w 1389"/>
                <a:gd name="T5" fmla="*/ 1277 h 2064"/>
                <a:gd name="T6" fmla="*/ 653 w 1389"/>
                <a:gd name="T7" fmla="*/ 2064 h 2064"/>
                <a:gd name="T8" fmla="*/ 0 60000 65536"/>
                <a:gd name="T9" fmla="*/ 0 60000 65536"/>
                <a:gd name="T10" fmla="*/ 0 60000 65536"/>
                <a:gd name="T11" fmla="*/ 0 60000 65536"/>
                <a:gd name="T12" fmla="*/ 0 w 1389"/>
                <a:gd name="T13" fmla="*/ 0 h 2064"/>
                <a:gd name="T14" fmla="*/ 1389 w 1389"/>
                <a:gd name="T15" fmla="*/ 2064 h 2064"/>
              </a:gdLst>
              <a:ahLst/>
              <a:cxnLst>
                <a:cxn ang="T8">
                  <a:pos x="T0" y="T1"/>
                </a:cxn>
                <a:cxn ang="T9">
                  <a:pos x="T2" y="T3"/>
                </a:cxn>
                <a:cxn ang="T10">
                  <a:pos x="T4" y="T5"/>
                </a:cxn>
                <a:cxn ang="T11">
                  <a:pos x="T6" y="T7"/>
                </a:cxn>
              </a:cxnLst>
              <a:rect l="T12" t="T13" r="T14" b="T15"/>
              <a:pathLst>
                <a:path w="1389" h="2064">
                  <a:moveTo>
                    <a:pt x="1389" y="0"/>
                  </a:moveTo>
                  <a:cubicBezTo>
                    <a:pt x="1197" y="40"/>
                    <a:pt x="457" y="27"/>
                    <a:pt x="237" y="240"/>
                  </a:cubicBezTo>
                  <a:cubicBezTo>
                    <a:pt x="17" y="453"/>
                    <a:pt x="0" y="973"/>
                    <a:pt x="69" y="1277"/>
                  </a:cubicBezTo>
                  <a:cubicBezTo>
                    <a:pt x="138" y="1581"/>
                    <a:pt x="531" y="1901"/>
                    <a:pt x="653" y="2064"/>
                  </a:cubicBezTo>
                </a:path>
              </a:pathLst>
            </a:custGeom>
            <a:noFill/>
            <a:ln w="57150">
              <a:solidFill>
                <a:schemeClr val="accent1"/>
              </a:solidFill>
              <a:round/>
              <a:headEnd/>
              <a:tailEnd type="triangle" w="sm" len="sm"/>
            </a:ln>
            <a:extLst>
              <a:ext uri="{909E8E84-426E-40dd-AFC4-6F175D3DCCD1}">
                <a14:hiddenFill xmlns="" xmlns:a14="http://schemas.microsoft.com/office/drawing/2010/main">
                  <a:solidFill>
                    <a:srgbClr val="FFFFFF"/>
                  </a:solidFill>
                </a14:hiddenFill>
              </a:ext>
            </a:extLst>
          </p:spPr>
          <p:txBody>
            <a:bodyPr wrap="none" anchor="ctr"/>
            <a:lstStyle/>
            <a:p>
              <a:endParaRPr lang="en-US" dirty="0"/>
            </a:p>
          </p:txBody>
        </p:sp>
        <p:sp>
          <p:nvSpPr>
            <p:cNvPr id="38920" name="Line 9"/>
            <p:cNvSpPr>
              <a:spLocks noChangeShapeType="1"/>
            </p:cNvSpPr>
            <p:nvPr/>
          </p:nvSpPr>
          <p:spPr bwMode="auto">
            <a:xfrm>
              <a:off x="2896" y="1664"/>
              <a:ext cx="432" cy="1776"/>
            </a:xfrm>
            <a:prstGeom prst="line">
              <a:avLst/>
            </a:prstGeom>
            <a:noFill/>
            <a:ln w="57150">
              <a:solidFill>
                <a:srgbClr val="D33320"/>
              </a:solidFill>
              <a:round/>
              <a:headEnd/>
              <a:tailEnd type="triangle" w="sm" len="sm"/>
            </a:ln>
            <a:extLst>
              <a:ext uri="{909E8E84-426E-40dd-AFC4-6F175D3DCCD1}">
                <a14:hiddenFill xmlns="" xmlns:a14="http://schemas.microsoft.com/office/drawing/2010/main">
                  <a:noFill/>
                </a14:hiddenFill>
              </a:ext>
            </a:extLst>
          </p:spPr>
          <p:txBody>
            <a:bodyPr wrap="none" anchor="ctr"/>
            <a:lstStyle/>
            <a:p>
              <a:endParaRPr lang="en-US" dirty="0"/>
            </a:p>
          </p:txBody>
        </p:sp>
      </p:grpSp>
      <p:sp>
        <p:nvSpPr>
          <p:cNvPr id="10" name="TextBox 9"/>
          <p:cNvSpPr txBox="1"/>
          <p:nvPr/>
        </p:nvSpPr>
        <p:spPr>
          <a:xfrm>
            <a:off x="5702300" y="584200"/>
            <a:ext cx="2781300" cy="646331"/>
          </a:xfrm>
          <a:prstGeom prst="rect">
            <a:avLst/>
          </a:prstGeom>
          <a:noFill/>
        </p:spPr>
        <p:txBody>
          <a:bodyPr wrap="square" rtlCol="0">
            <a:spAutoFit/>
          </a:bodyPr>
          <a:lstStyle/>
          <a:p>
            <a:pPr algn="ctr"/>
            <a:r>
              <a:rPr lang="en-US" sz="3600" b="1" dirty="0"/>
              <a:t>Efficiency</a:t>
            </a:r>
          </a:p>
        </p:txBody>
      </p:sp>
    </p:spTree>
    <p:extLst>
      <p:ext uri="{BB962C8B-B14F-4D97-AF65-F5344CB8AC3E}">
        <p14:creationId xmlns:p14="http://schemas.microsoft.com/office/powerpoint/2010/main" val="813253"/>
      </p:ext>
    </p:extLst>
  </p:cSld>
  <p:clrMapOvr>
    <a:masterClrMapping/>
  </p:clrMapOvr>
  <p:transition spd="slow">
    <p:strips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38918"/>
                                        </p:tgtEl>
                                        <p:attrNameLst>
                                          <p:attrName>style.visibility</p:attrName>
                                        </p:attrNameLst>
                                      </p:cBhvr>
                                      <p:to>
                                        <p:strVal val="visible"/>
                                      </p:to>
                                    </p:set>
                                    <p:animEffect transition="in" filter="wipe(up)">
                                      <p:cBhvr>
                                        <p:cTn id="7" dur="1000"/>
                                        <p:tgtEl>
                                          <p:spTgt spid="38918"/>
                                        </p:tgtEl>
                                      </p:cBhvr>
                                    </p:animEffect>
                                  </p:childTnLst>
                                </p:cTn>
                              </p:par>
                            </p:childTnLst>
                          </p:cTn>
                        </p:par>
                        <p:par>
                          <p:cTn id="8" fill="hold">
                            <p:stCondLst>
                              <p:cond delay="1000"/>
                            </p:stCondLst>
                            <p:childTnLst>
                              <p:par>
                                <p:cTn id="9" presetID="22" presetClass="exit" presetSubtype="1" fill="hold" nodeType="afterEffect">
                                  <p:stCondLst>
                                    <p:cond delay="2000"/>
                                  </p:stCondLst>
                                  <p:childTnLst>
                                    <p:animEffect transition="out" filter="wipe(up)">
                                      <p:cBhvr>
                                        <p:cTn id="10" dur="1000"/>
                                        <p:tgtEl>
                                          <p:spTgt spid="38918"/>
                                        </p:tgtEl>
                                      </p:cBhvr>
                                    </p:animEffect>
                                    <p:set>
                                      <p:cBhvr>
                                        <p:cTn id="11" dur="1" fill="hold">
                                          <p:stCondLst>
                                            <p:cond delay="999"/>
                                          </p:stCondLst>
                                        </p:cTn>
                                        <p:tgtEl>
                                          <p:spTgt spid="3891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p:cNvSpPr>
            <a:spLocks noGrp="1" noChangeArrowheads="1"/>
          </p:cNvSpPr>
          <p:nvPr>
            <p:ph type="title"/>
          </p:nvPr>
        </p:nvSpPr>
        <p:spPr/>
        <p:txBody>
          <a:bodyPr/>
          <a:lstStyle/>
          <a:p>
            <a:pPr algn="l"/>
            <a:r>
              <a:rPr lang="en-US" dirty="0"/>
              <a:t>Bakery Example</a:t>
            </a:r>
          </a:p>
        </p:txBody>
      </p:sp>
      <p:sp>
        <p:nvSpPr>
          <p:cNvPr id="45058" name="Rectangle 3"/>
          <p:cNvSpPr>
            <a:spLocks noChangeArrowheads="1"/>
          </p:cNvSpPr>
          <p:nvPr/>
        </p:nvSpPr>
        <p:spPr bwMode="auto">
          <a:xfrm>
            <a:off x="947738" y="1577975"/>
            <a:ext cx="6057267" cy="156966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2400" dirty="0">
                <a:latin typeface="Arial"/>
                <a:cs typeface="Arial"/>
              </a:rPr>
              <a:t>Actual production last week = 148,000 rolls</a:t>
            </a:r>
          </a:p>
          <a:p>
            <a:r>
              <a:rPr lang="en-US" sz="2400" dirty="0">
                <a:latin typeface="Arial"/>
                <a:cs typeface="Arial"/>
              </a:rPr>
              <a:t>Effective capacity = 175,000 rolls</a:t>
            </a:r>
          </a:p>
          <a:p>
            <a:r>
              <a:rPr lang="en-US" sz="2400" dirty="0">
                <a:latin typeface="Arial"/>
                <a:cs typeface="Arial"/>
              </a:rPr>
              <a:t>Design capacity = 201,600 rolls per line</a:t>
            </a:r>
          </a:p>
          <a:p>
            <a:pPr lvl="0"/>
            <a:r>
              <a:rPr lang="en-US" sz="2400" dirty="0">
                <a:solidFill>
                  <a:srgbClr val="000000"/>
                </a:solidFill>
                <a:latin typeface="Arial"/>
                <a:cs typeface="Arial"/>
              </a:rPr>
              <a:t>Efficiency = 84.6%</a:t>
            </a:r>
          </a:p>
        </p:txBody>
      </p:sp>
      <p:sp>
        <p:nvSpPr>
          <p:cNvPr id="6" name="Rectangle 4"/>
          <p:cNvSpPr>
            <a:spLocks noChangeArrowheads="1"/>
          </p:cNvSpPr>
          <p:nvPr/>
        </p:nvSpPr>
        <p:spPr bwMode="auto">
          <a:xfrm>
            <a:off x="787400" y="3582988"/>
            <a:ext cx="6800559" cy="61555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a:lnSpc>
                <a:spcPct val="150000"/>
              </a:lnSpc>
              <a:tabLst>
                <a:tab pos="2514600" algn="r"/>
                <a:tab pos="2603500" algn="l"/>
              </a:tabLst>
            </a:pPr>
            <a:r>
              <a:rPr lang="en-US" sz="2400" dirty="0">
                <a:latin typeface="Arial"/>
                <a:cs typeface="Arial"/>
              </a:rPr>
              <a:t>	Design capacity	= 201,600 x 2 = 403,200 rolls</a:t>
            </a:r>
          </a:p>
        </p:txBody>
      </p:sp>
      <p:sp>
        <p:nvSpPr>
          <p:cNvPr id="2" name="TextBox 1"/>
          <p:cNvSpPr txBox="1"/>
          <p:nvPr/>
        </p:nvSpPr>
        <p:spPr>
          <a:xfrm>
            <a:off x="947738" y="3029803"/>
            <a:ext cx="6079158" cy="461665"/>
          </a:xfrm>
          <a:prstGeom prst="rect">
            <a:avLst/>
          </a:prstGeom>
          <a:noFill/>
        </p:spPr>
        <p:txBody>
          <a:bodyPr wrap="none" rtlCol="0">
            <a:spAutoFit/>
          </a:bodyPr>
          <a:lstStyle/>
          <a:p>
            <a:pPr lvl="0"/>
            <a:r>
              <a:rPr lang="en-US" sz="2400" dirty="0">
                <a:solidFill>
                  <a:srgbClr val="000000"/>
                </a:solidFill>
                <a:latin typeface="Arial"/>
                <a:cs typeface="Arial"/>
              </a:rPr>
              <a:t>Expected output of new line = 130,000 rolls</a:t>
            </a:r>
          </a:p>
        </p:txBody>
      </p:sp>
      <p:sp>
        <p:nvSpPr>
          <p:cNvPr id="3" name="Freeform 2"/>
          <p:cNvSpPr/>
          <p:nvPr/>
        </p:nvSpPr>
        <p:spPr>
          <a:xfrm>
            <a:off x="3340081" y="2705100"/>
            <a:ext cx="355619" cy="1079500"/>
          </a:xfrm>
          <a:custGeom>
            <a:avLst/>
            <a:gdLst>
              <a:gd name="connsiteX0" fmla="*/ 342919 w 355619"/>
              <a:gd name="connsiteY0" fmla="*/ 0 h 1079500"/>
              <a:gd name="connsiteX1" fmla="*/ 19 w 355619"/>
              <a:gd name="connsiteY1" fmla="*/ 457200 h 1079500"/>
              <a:gd name="connsiteX2" fmla="*/ 355619 w 355619"/>
              <a:gd name="connsiteY2" fmla="*/ 1079500 h 1079500"/>
            </a:gdLst>
            <a:ahLst/>
            <a:cxnLst>
              <a:cxn ang="0">
                <a:pos x="connsiteX0" y="connsiteY0"/>
              </a:cxn>
              <a:cxn ang="0">
                <a:pos x="connsiteX1" y="connsiteY1"/>
              </a:cxn>
              <a:cxn ang="0">
                <a:pos x="connsiteX2" y="connsiteY2"/>
              </a:cxn>
            </a:cxnLst>
            <a:rect l="l" t="t" r="r" b="b"/>
            <a:pathLst>
              <a:path w="355619" h="1079500">
                <a:moveTo>
                  <a:pt x="342919" y="0"/>
                </a:moveTo>
                <a:cubicBezTo>
                  <a:pt x="170410" y="138641"/>
                  <a:pt x="-2098" y="277283"/>
                  <a:pt x="19" y="457200"/>
                </a:cubicBezTo>
                <a:cubicBezTo>
                  <a:pt x="2136" y="637117"/>
                  <a:pt x="355619" y="1079500"/>
                  <a:pt x="355619" y="1079500"/>
                </a:cubicBezTo>
              </a:path>
            </a:pathLst>
          </a:custGeom>
          <a:ln w="57150" cmpd="sng">
            <a:tailEnd type="triangl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latin typeface="Arial"/>
              <a:cs typeface="Arial"/>
            </a:endParaRPr>
          </a:p>
        </p:txBody>
      </p:sp>
      <p:sp>
        <p:nvSpPr>
          <p:cNvPr id="7" name="TextBox 6"/>
          <p:cNvSpPr txBox="1"/>
          <p:nvPr/>
        </p:nvSpPr>
        <p:spPr>
          <a:xfrm>
            <a:off x="5702300" y="279400"/>
            <a:ext cx="2781300" cy="1098762"/>
          </a:xfrm>
          <a:prstGeom prst="rect">
            <a:avLst/>
          </a:prstGeom>
          <a:noFill/>
        </p:spPr>
        <p:txBody>
          <a:bodyPr wrap="square" rtlCol="0">
            <a:spAutoFit/>
          </a:bodyPr>
          <a:lstStyle/>
          <a:p>
            <a:pPr algn="ctr">
              <a:lnSpc>
                <a:spcPct val="90000"/>
              </a:lnSpc>
            </a:pPr>
            <a:r>
              <a:rPr lang="en-US" sz="3600" b="1" dirty="0">
                <a:latin typeface="Arial"/>
                <a:cs typeface="Arial"/>
              </a:rPr>
              <a:t>Design Capacity</a:t>
            </a:r>
          </a:p>
        </p:txBody>
      </p:sp>
      <p:sp>
        <p:nvSpPr>
          <p:cNvPr id="4" name="TextBox 3"/>
          <p:cNvSpPr txBox="1"/>
          <p:nvPr/>
        </p:nvSpPr>
        <p:spPr>
          <a:xfrm>
            <a:off x="2053459" y="5049192"/>
            <a:ext cx="2261220" cy="461665"/>
          </a:xfrm>
          <a:prstGeom prst="rect">
            <a:avLst/>
          </a:prstGeom>
          <a:noFill/>
        </p:spPr>
        <p:txBody>
          <a:bodyPr wrap="square" rtlCol="0">
            <a:spAutoFit/>
          </a:bodyPr>
          <a:lstStyle/>
          <a:p>
            <a:r>
              <a:rPr lang="en-US" sz="2400" b="1" dirty="0">
                <a:solidFill>
                  <a:schemeClr val="tx2"/>
                </a:solidFill>
              </a:rPr>
              <a:t>Expansion</a:t>
            </a:r>
          </a:p>
        </p:txBody>
      </p:sp>
    </p:spTree>
    <p:extLst>
      <p:ext uri="{BB962C8B-B14F-4D97-AF65-F5344CB8AC3E}">
        <p14:creationId xmlns:p14="http://schemas.microsoft.com/office/powerpoint/2010/main" val="1755396901"/>
      </p:ext>
    </p:extLst>
  </p:cSld>
  <p:clrMapOvr>
    <a:masterClrMapping/>
  </p:clrMapOvr>
  <p:transition spd="slow">
    <p:pull dir="l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100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1000"/>
                                        <p:tgtEl>
                                          <p:spTgt spid="4"/>
                                        </p:tgtEl>
                                      </p:cBhvr>
                                    </p:animEffect>
                                  </p:childTnLst>
                                </p:cTn>
                              </p:par>
                            </p:childTnLst>
                          </p:cTn>
                        </p:par>
                        <p:par>
                          <p:cTn id="8" fill="hold">
                            <p:stCondLst>
                              <p:cond delay="2000"/>
                            </p:stCondLst>
                            <p:childTnLst>
                              <p:par>
                                <p:cTn id="9" presetID="18" presetClass="entr" presetSubtype="6" fill="hold" grpId="0" nodeType="afterEffect">
                                  <p:stCondLst>
                                    <p:cond delay="1000"/>
                                  </p:stCondLst>
                                  <p:childTnLst>
                                    <p:set>
                                      <p:cBhvr>
                                        <p:cTn id="10" dur="1" fill="hold">
                                          <p:stCondLst>
                                            <p:cond delay="0"/>
                                          </p:stCondLst>
                                        </p:cTn>
                                        <p:tgtEl>
                                          <p:spTgt spid="45058"/>
                                        </p:tgtEl>
                                        <p:attrNameLst>
                                          <p:attrName>style.visibility</p:attrName>
                                        </p:attrNameLst>
                                      </p:cBhvr>
                                      <p:to>
                                        <p:strVal val="visible"/>
                                      </p:to>
                                    </p:set>
                                    <p:animEffect transition="in" filter="strips(downRight)">
                                      <p:cBhvr>
                                        <p:cTn id="11" dur="1000"/>
                                        <p:tgtEl>
                                          <p:spTgt spid="45058"/>
                                        </p:tgtEl>
                                      </p:cBhvr>
                                    </p:animEffect>
                                  </p:childTnLst>
                                </p:cTn>
                              </p:par>
                            </p:childTnLst>
                          </p:cTn>
                        </p:par>
                        <p:par>
                          <p:cTn id="12" fill="hold">
                            <p:stCondLst>
                              <p:cond delay="4000"/>
                            </p:stCondLst>
                            <p:childTnLst>
                              <p:par>
                                <p:cTn id="13" presetID="18" presetClass="entr" presetSubtype="6" fill="hold" grpId="0" nodeType="afterEffect">
                                  <p:stCondLst>
                                    <p:cond delay="1000"/>
                                  </p:stCondLst>
                                  <p:childTnLst>
                                    <p:set>
                                      <p:cBhvr>
                                        <p:cTn id="14" dur="1" fill="hold">
                                          <p:stCondLst>
                                            <p:cond delay="0"/>
                                          </p:stCondLst>
                                        </p:cTn>
                                        <p:tgtEl>
                                          <p:spTgt spid="2"/>
                                        </p:tgtEl>
                                        <p:attrNameLst>
                                          <p:attrName>style.visibility</p:attrName>
                                        </p:attrNameLst>
                                      </p:cBhvr>
                                      <p:to>
                                        <p:strVal val="visible"/>
                                      </p:to>
                                    </p:set>
                                    <p:animEffect transition="in" filter="strips(downRight)">
                                      <p:cBhvr>
                                        <p:cTn id="15" dur="10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wipe(left)">
                                      <p:cBhvr>
                                        <p:cTn id="20" dur="1000"/>
                                        <p:tgtEl>
                                          <p:spTgt spid="6"/>
                                        </p:tgtEl>
                                      </p:cBhvr>
                                    </p:animEffect>
                                  </p:childTnLst>
                                </p:cTn>
                              </p:par>
                              <p:par>
                                <p:cTn id="21" presetID="22" presetClass="entr" presetSubtype="1" fill="hold" grpId="0" nodeType="with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wipe(up)">
                                      <p:cBhvr>
                                        <p:cTn id="23" dur="1000"/>
                                        <p:tgtEl>
                                          <p:spTgt spid="3"/>
                                        </p:tgtEl>
                                      </p:cBhvr>
                                    </p:animEffect>
                                  </p:childTnLst>
                                </p:cTn>
                              </p:par>
                            </p:childTnLst>
                          </p:cTn>
                        </p:par>
                        <p:par>
                          <p:cTn id="24" fill="hold">
                            <p:stCondLst>
                              <p:cond delay="1000"/>
                            </p:stCondLst>
                            <p:childTnLst>
                              <p:par>
                                <p:cTn id="25" presetID="22" presetClass="exit" presetSubtype="1" fill="hold" grpId="1" nodeType="afterEffect">
                                  <p:stCondLst>
                                    <p:cond delay="2000"/>
                                  </p:stCondLst>
                                  <p:childTnLst>
                                    <p:animEffect transition="out" filter="wipe(up)">
                                      <p:cBhvr>
                                        <p:cTn id="26" dur="1000"/>
                                        <p:tgtEl>
                                          <p:spTgt spid="3"/>
                                        </p:tgtEl>
                                      </p:cBhvr>
                                    </p:animEffect>
                                    <p:set>
                                      <p:cBhvr>
                                        <p:cTn id="27" dur="1" fill="hold">
                                          <p:stCondLst>
                                            <p:cond delay="999"/>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8" grpId="0"/>
      <p:bldP spid="6" grpId="0"/>
      <p:bldP spid="2" grpId="0"/>
      <p:bldP spid="3" grpId="0" animBg="1"/>
      <p:bldP spid="3" grpId="1" animBg="1"/>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p:cNvSpPr>
            <a:spLocks noGrp="1" noChangeArrowheads="1"/>
          </p:cNvSpPr>
          <p:nvPr>
            <p:ph type="title"/>
          </p:nvPr>
        </p:nvSpPr>
        <p:spPr/>
        <p:txBody>
          <a:bodyPr/>
          <a:lstStyle/>
          <a:p>
            <a:pPr algn="l"/>
            <a:r>
              <a:rPr lang="en-US" dirty="0"/>
              <a:t>Bakery Example</a:t>
            </a:r>
          </a:p>
        </p:txBody>
      </p:sp>
      <p:sp>
        <p:nvSpPr>
          <p:cNvPr id="45058" name="Rectangle 3"/>
          <p:cNvSpPr>
            <a:spLocks noChangeArrowheads="1"/>
          </p:cNvSpPr>
          <p:nvPr/>
        </p:nvSpPr>
        <p:spPr bwMode="auto">
          <a:xfrm>
            <a:off x="947738" y="1577975"/>
            <a:ext cx="6057267" cy="156966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2400" dirty="0">
                <a:latin typeface="Arial"/>
                <a:cs typeface="Arial"/>
              </a:rPr>
              <a:t>Actual production last week = 148,000 rolls</a:t>
            </a:r>
          </a:p>
          <a:p>
            <a:r>
              <a:rPr lang="en-US" sz="2400" dirty="0">
                <a:latin typeface="Arial"/>
                <a:cs typeface="Arial"/>
              </a:rPr>
              <a:t>Effective capacity = 175,000 rolls</a:t>
            </a:r>
          </a:p>
          <a:p>
            <a:r>
              <a:rPr lang="en-US" sz="2400" dirty="0">
                <a:latin typeface="Arial"/>
                <a:cs typeface="Arial"/>
              </a:rPr>
              <a:t>Design capacity = 201,600 rolls per line</a:t>
            </a:r>
          </a:p>
          <a:p>
            <a:pPr lvl="0"/>
            <a:r>
              <a:rPr lang="en-US" sz="2400" dirty="0">
                <a:solidFill>
                  <a:srgbClr val="000000"/>
                </a:solidFill>
                <a:latin typeface="Arial"/>
                <a:cs typeface="Arial"/>
              </a:rPr>
              <a:t>Efficiency = 84.6%</a:t>
            </a:r>
          </a:p>
        </p:txBody>
      </p:sp>
      <p:sp>
        <p:nvSpPr>
          <p:cNvPr id="6" name="Rectangle 4"/>
          <p:cNvSpPr>
            <a:spLocks noChangeArrowheads="1"/>
          </p:cNvSpPr>
          <p:nvPr/>
        </p:nvSpPr>
        <p:spPr bwMode="auto">
          <a:xfrm>
            <a:off x="787400" y="3582988"/>
            <a:ext cx="6800559" cy="61555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a:lnSpc>
                <a:spcPct val="150000"/>
              </a:lnSpc>
              <a:tabLst>
                <a:tab pos="2514600" algn="r"/>
                <a:tab pos="2603500" algn="l"/>
              </a:tabLst>
            </a:pPr>
            <a:r>
              <a:rPr lang="en-US" sz="2400" dirty="0">
                <a:latin typeface="Arial"/>
                <a:cs typeface="Arial"/>
              </a:rPr>
              <a:t>	Design capacity	= 201,600 x 2 = 403,200 rolls</a:t>
            </a:r>
          </a:p>
        </p:txBody>
      </p:sp>
      <p:sp>
        <p:nvSpPr>
          <p:cNvPr id="2" name="TextBox 1"/>
          <p:cNvSpPr txBox="1"/>
          <p:nvPr/>
        </p:nvSpPr>
        <p:spPr>
          <a:xfrm>
            <a:off x="947738" y="3029803"/>
            <a:ext cx="6079158" cy="461665"/>
          </a:xfrm>
          <a:prstGeom prst="rect">
            <a:avLst/>
          </a:prstGeom>
          <a:noFill/>
        </p:spPr>
        <p:txBody>
          <a:bodyPr wrap="none" rtlCol="0">
            <a:spAutoFit/>
          </a:bodyPr>
          <a:lstStyle/>
          <a:p>
            <a:pPr lvl="0"/>
            <a:r>
              <a:rPr lang="en-US" sz="2400" dirty="0">
                <a:solidFill>
                  <a:srgbClr val="000000"/>
                </a:solidFill>
                <a:latin typeface="Arial"/>
                <a:cs typeface="Arial"/>
              </a:rPr>
              <a:t>Expected output of new line = 130,000 rolls</a:t>
            </a:r>
          </a:p>
        </p:txBody>
      </p:sp>
      <p:sp>
        <p:nvSpPr>
          <p:cNvPr id="9" name="Freeform 8"/>
          <p:cNvSpPr/>
          <p:nvPr/>
        </p:nvSpPr>
        <p:spPr>
          <a:xfrm>
            <a:off x="4521200" y="2362200"/>
            <a:ext cx="393782" cy="1943100"/>
          </a:xfrm>
          <a:custGeom>
            <a:avLst/>
            <a:gdLst>
              <a:gd name="connsiteX0" fmla="*/ 0 w 393782"/>
              <a:gd name="connsiteY0" fmla="*/ 0 h 1943100"/>
              <a:gd name="connsiteX1" fmla="*/ 393700 w 393782"/>
              <a:gd name="connsiteY1" fmla="*/ 723900 h 1943100"/>
              <a:gd name="connsiteX2" fmla="*/ 38100 w 393782"/>
              <a:gd name="connsiteY2" fmla="*/ 1943100 h 1943100"/>
            </a:gdLst>
            <a:ahLst/>
            <a:cxnLst>
              <a:cxn ang="0">
                <a:pos x="connsiteX0" y="connsiteY0"/>
              </a:cxn>
              <a:cxn ang="0">
                <a:pos x="connsiteX1" y="connsiteY1"/>
              </a:cxn>
              <a:cxn ang="0">
                <a:pos x="connsiteX2" y="connsiteY2"/>
              </a:cxn>
            </a:cxnLst>
            <a:rect l="l" t="t" r="r" b="b"/>
            <a:pathLst>
              <a:path w="393782" h="1943100">
                <a:moveTo>
                  <a:pt x="0" y="0"/>
                </a:moveTo>
                <a:cubicBezTo>
                  <a:pt x="193675" y="200025"/>
                  <a:pt x="387350" y="400050"/>
                  <a:pt x="393700" y="723900"/>
                </a:cubicBezTo>
                <a:cubicBezTo>
                  <a:pt x="400050" y="1047750"/>
                  <a:pt x="38100" y="1943100"/>
                  <a:pt x="38100" y="1943100"/>
                </a:cubicBezTo>
              </a:path>
            </a:pathLst>
          </a:custGeom>
          <a:ln w="57150" cmpd="sng">
            <a:tailEnd type="triangl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latin typeface="Arial"/>
              <a:cs typeface="Arial"/>
            </a:endParaRPr>
          </a:p>
        </p:txBody>
      </p:sp>
      <p:sp>
        <p:nvSpPr>
          <p:cNvPr id="12" name="Rectangle 4"/>
          <p:cNvSpPr>
            <a:spLocks noChangeArrowheads="1"/>
          </p:cNvSpPr>
          <p:nvPr/>
        </p:nvSpPr>
        <p:spPr bwMode="auto">
          <a:xfrm>
            <a:off x="787400" y="4129088"/>
            <a:ext cx="6800559" cy="61555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a:lnSpc>
                <a:spcPct val="150000"/>
              </a:lnSpc>
              <a:tabLst>
                <a:tab pos="2514600" algn="r"/>
                <a:tab pos="2603500" algn="l"/>
              </a:tabLst>
            </a:pPr>
            <a:r>
              <a:rPr lang="en-US" sz="2400" dirty="0">
                <a:latin typeface="Arial"/>
                <a:cs typeface="Arial"/>
              </a:rPr>
              <a:t>	Effective capacity	= 175,000 x 2 = 350,000 rolls</a:t>
            </a:r>
          </a:p>
        </p:txBody>
      </p:sp>
      <p:sp>
        <p:nvSpPr>
          <p:cNvPr id="8" name="TextBox 7"/>
          <p:cNvSpPr txBox="1"/>
          <p:nvPr/>
        </p:nvSpPr>
        <p:spPr>
          <a:xfrm>
            <a:off x="5702300" y="279400"/>
            <a:ext cx="2781300" cy="1098762"/>
          </a:xfrm>
          <a:prstGeom prst="rect">
            <a:avLst/>
          </a:prstGeom>
          <a:noFill/>
        </p:spPr>
        <p:txBody>
          <a:bodyPr wrap="square" rtlCol="0">
            <a:spAutoFit/>
          </a:bodyPr>
          <a:lstStyle/>
          <a:p>
            <a:pPr algn="ctr">
              <a:lnSpc>
                <a:spcPct val="90000"/>
              </a:lnSpc>
            </a:pPr>
            <a:r>
              <a:rPr lang="en-US" sz="3600" b="1" dirty="0">
                <a:latin typeface="Arial"/>
                <a:cs typeface="Arial"/>
              </a:rPr>
              <a:t>Effective</a:t>
            </a:r>
          </a:p>
          <a:p>
            <a:pPr algn="ctr">
              <a:lnSpc>
                <a:spcPct val="90000"/>
              </a:lnSpc>
            </a:pPr>
            <a:r>
              <a:rPr lang="en-US" sz="3600" b="1" dirty="0">
                <a:latin typeface="Arial"/>
                <a:cs typeface="Arial"/>
              </a:rPr>
              <a:t>Capacity</a:t>
            </a:r>
          </a:p>
        </p:txBody>
      </p:sp>
      <p:sp>
        <p:nvSpPr>
          <p:cNvPr id="10" name="TextBox 9"/>
          <p:cNvSpPr txBox="1"/>
          <p:nvPr/>
        </p:nvSpPr>
        <p:spPr>
          <a:xfrm>
            <a:off x="2776655" y="5295463"/>
            <a:ext cx="2615036" cy="461665"/>
          </a:xfrm>
          <a:prstGeom prst="rect">
            <a:avLst/>
          </a:prstGeom>
          <a:noFill/>
        </p:spPr>
        <p:txBody>
          <a:bodyPr wrap="square" rtlCol="0">
            <a:spAutoFit/>
          </a:bodyPr>
          <a:lstStyle/>
          <a:p>
            <a:r>
              <a:rPr lang="en-US" sz="2400" b="1" dirty="0">
                <a:solidFill>
                  <a:schemeClr val="tx2"/>
                </a:solidFill>
              </a:rPr>
              <a:t>Expansion</a:t>
            </a:r>
          </a:p>
        </p:txBody>
      </p:sp>
    </p:spTree>
    <p:extLst>
      <p:ext uri="{BB962C8B-B14F-4D97-AF65-F5344CB8AC3E}">
        <p14:creationId xmlns:p14="http://schemas.microsoft.com/office/powerpoint/2010/main" val="1009901798"/>
      </p:ext>
    </p:extLst>
  </p:cSld>
  <p:clrMapOvr>
    <a:masterClrMapping/>
  </p:clrMapOvr>
  <p:transition spd="slow">
    <p:strip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100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1000"/>
                                        <p:tgtEl>
                                          <p:spTgt spid="12"/>
                                        </p:tgtEl>
                                      </p:cBhvr>
                                    </p:animEffect>
                                  </p:childTnLst>
                                </p:cTn>
                              </p:par>
                              <p:par>
                                <p:cTn id="8" presetID="22" presetClass="entr" presetSubtype="1" fill="hold" grpId="0" nodeType="withEffect">
                                  <p:stCondLst>
                                    <p:cond delay="1000"/>
                                  </p:stCondLst>
                                  <p:childTnLst>
                                    <p:set>
                                      <p:cBhvr>
                                        <p:cTn id="9" dur="1" fill="hold">
                                          <p:stCondLst>
                                            <p:cond delay="0"/>
                                          </p:stCondLst>
                                        </p:cTn>
                                        <p:tgtEl>
                                          <p:spTgt spid="9"/>
                                        </p:tgtEl>
                                        <p:attrNameLst>
                                          <p:attrName>style.visibility</p:attrName>
                                        </p:attrNameLst>
                                      </p:cBhvr>
                                      <p:to>
                                        <p:strVal val="visible"/>
                                      </p:to>
                                    </p:set>
                                    <p:animEffect transition="in" filter="wipe(up)">
                                      <p:cBhvr>
                                        <p:cTn id="10" dur="1000"/>
                                        <p:tgtEl>
                                          <p:spTgt spid="9"/>
                                        </p:tgtEl>
                                      </p:cBhvr>
                                    </p:animEffect>
                                  </p:childTnLst>
                                </p:cTn>
                              </p:par>
                            </p:childTnLst>
                          </p:cTn>
                        </p:par>
                        <p:par>
                          <p:cTn id="11" fill="hold">
                            <p:stCondLst>
                              <p:cond delay="2000"/>
                            </p:stCondLst>
                            <p:childTnLst>
                              <p:par>
                                <p:cTn id="12" presetID="22" presetClass="exit" presetSubtype="1" fill="hold" grpId="1" nodeType="afterEffect">
                                  <p:stCondLst>
                                    <p:cond delay="2000"/>
                                  </p:stCondLst>
                                  <p:childTnLst>
                                    <p:animEffect transition="out" filter="wipe(up)">
                                      <p:cBhvr>
                                        <p:cTn id="13" dur="1000"/>
                                        <p:tgtEl>
                                          <p:spTgt spid="9"/>
                                        </p:tgtEl>
                                      </p:cBhvr>
                                    </p:animEffect>
                                    <p:set>
                                      <p:cBhvr>
                                        <p:cTn id="14" dur="1" fill="hold">
                                          <p:stCondLst>
                                            <p:cond delay="9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1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p:cNvSpPr>
            <a:spLocks noGrp="1" noChangeArrowheads="1"/>
          </p:cNvSpPr>
          <p:nvPr>
            <p:ph type="title"/>
          </p:nvPr>
        </p:nvSpPr>
        <p:spPr/>
        <p:txBody>
          <a:bodyPr/>
          <a:lstStyle/>
          <a:p>
            <a:pPr algn="l"/>
            <a:r>
              <a:rPr lang="en-US" dirty="0"/>
              <a:t>Bakery Example</a:t>
            </a:r>
          </a:p>
        </p:txBody>
      </p:sp>
      <p:sp>
        <p:nvSpPr>
          <p:cNvPr id="45058" name="Rectangle 3"/>
          <p:cNvSpPr>
            <a:spLocks noChangeArrowheads="1"/>
          </p:cNvSpPr>
          <p:nvPr/>
        </p:nvSpPr>
        <p:spPr bwMode="auto">
          <a:xfrm>
            <a:off x="947738" y="1577975"/>
            <a:ext cx="6057267" cy="156966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2400" dirty="0">
                <a:latin typeface="Arial"/>
                <a:cs typeface="Arial"/>
              </a:rPr>
              <a:t>Actual production last week = 148,000 rolls</a:t>
            </a:r>
          </a:p>
          <a:p>
            <a:r>
              <a:rPr lang="en-US" sz="2400" dirty="0">
                <a:latin typeface="Arial"/>
                <a:cs typeface="Arial"/>
              </a:rPr>
              <a:t>Effective capacity = 175,000 rolls</a:t>
            </a:r>
          </a:p>
          <a:p>
            <a:r>
              <a:rPr lang="en-US" sz="2400" dirty="0">
                <a:latin typeface="Arial"/>
                <a:cs typeface="Arial"/>
              </a:rPr>
              <a:t>Design capacity = 201,600 rolls per line</a:t>
            </a:r>
          </a:p>
          <a:p>
            <a:pPr lvl="0"/>
            <a:r>
              <a:rPr lang="en-US" sz="2400" dirty="0">
                <a:solidFill>
                  <a:srgbClr val="000000"/>
                </a:solidFill>
                <a:latin typeface="Arial"/>
                <a:cs typeface="Arial"/>
              </a:rPr>
              <a:t>Efficiency = 84.6%</a:t>
            </a:r>
          </a:p>
        </p:txBody>
      </p:sp>
      <p:sp>
        <p:nvSpPr>
          <p:cNvPr id="6" name="Rectangle 4"/>
          <p:cNvSpPr>
            <a:spLocks noChangeArrowheads="1"/>
          </p:cNvSpPr>
          <p:nvPr/>
        </p:nvSpPr>
        <p:spPr bwMode="auto">
          <a:xfrm>
            <a:off x="787400" y="3582988"/>
            <a:ext cx="6954448" cy="11695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a:lnSpc>
                <a:spcPct val="150000"/>
              </a:lnSpc>
              <a:tabLst>
                <a:tab pos="2514600" algn="r"/>
                <a:tab pos="2603500" algn="l"/>
              </a:tabLst>
            </a:pPr>
            <a:r>
              <a:rPr lang="en-US" sz="2400" dirty="0">
                <a:latin typeface="Arial"/>
                <a:cs typeface="Arial"/>
              </a:rPr>
              <a:t>	Design capacity	= 201,600 x 2 = 403,200 rolls</a:t>
            </a:r>
          </a:p>
          <a:p>
            <a:pPr>
              <a:lnSpc>
                <a:spcPct val="150000"/>
              </a:lnSpc>
              <a:tabLst>
                <a:tab pos="2514600" algn="r"/>
                <a:tab pos="2603500" algn="l"/>
              </a:tabLst>
            </a:pPr>
            <a:r>
              <a:rPr lang="en-US" sz="2400" dirty="0">
                <a:latin typeface="Arial"/>
                <a:cs typeface="Arial"/>
              </a:rPr>
              <a:t>	Effective capacity	= 175,000 x 2 = 350,000 rolls</a:t>
            </a:r>
          </a:p>
        </p:txBody>
      </p:sp>
      <p:sp>
        <p:nvSpPr>
          <p:cNvPr id="2" name="TextBox 1"/>
          <p:cNvSpPr txBox="1"/>
          <p:nvPr/>
        </p:nvSpPr>
        <p:spPr>
          <a:xfrm>
            <a:off x="947738" y="3029803"/>
            <a:ext cx="6079158" cy="461665"/>
          </a:xfrm>
          <a:prstGeom prst="rect">
            <a:avLst/>
          </a:prstGeom>
          <a:noFill/>
        </p:spPr>
        <p:txBody>
          <a:bodyPr wrap="none" rtlCol="0">
            <a:spAutoFit/>
          </a:bodyPr>
          <a:lstStyle/>
          <a:p>
            <a:pPr lvl="0"/>
            <a:r>
              <a:rPr lang="en-US" sz="2400" dirty="0">
                <a:solidFill>
                  <a:srgbClr val="000000"/>
                </a:solidFill>
                <a:latin typeface="Arial"/>
                <a:cs typeface="Arial"/>
              </a:rPr>
              <a:t>Expected output of new line = 130,000 rolls</a:t>
            </a:r>
          </a:p>
        </p:txBody>
      </p:sp>
      <p:sp>
        <p:nvSpPr>
          <p:cNvPr id="14" name="Freeform 13"/>
          <p:cNvSpPr/>
          <p:nvPr/>
        </p:nvSpPr>
        <p:spPr>
          <a:xfrm>
            <a:off x="4775199" y="2095500"/>
            <a:ext cx="1060359" cy="2844800"/>
          </a:xfrm>
          <a:custGeom>
            <a:avLst/>
            <a:gdLst>
              <a:gd name="connsiteX0" fmla="*/ 0 w 393782"/>
              <a:gd name="connsiteY0" fmla="*/ 0 h 1943100"/>
              <a:gd name="connsiteX1" fmla="*/ 393700 w 393782"/>
              <a:gd name="connsiteY1" fmla="*/ 723900 h 1943100"/>
              <a:gd name="connsiteX2" fmla="*/ 38100 w 393782"/>
              <a:gd name="connsiteY2" fmla="*/ 1943100 h 1943100"/>
              <a:gd name="connsiteX0" fmla="*/ 1054100 w 1493352"/>
              <a:gd name="connsiteY0" fmla="*/ 0 h 2844800"/>
              <a:gd name="connsiteX1" fmla="*/ 1447800 w 1493352"/>
              <a:gd name="connsiteY1" fmla="*/ 723900 h 2844800"/>
              <a:gd name="connsiteX2" fmla="*/ 0 w 1493352"/>
              <a:gd name="connsiteY2" fmla="*/ 2844800 h 2844800"/>
              <a:gd name="connsiteX0" fmla="*/ 1054100 w 1090795"/>
              <a:gd name="connsiteY0" fmla="*/ 0 h 2844800"/>
              <a:gd name="connsiteX1" fmla="*/ 444500 w 1090795"/>
              <a:gd name="connsiteY1" fmla="*/ 685800 h 2844800"/>
              <a:gd name="connsiteX2" fmla="*/ 0 w 1090795"/>
              <a:gd name="connsiteY2" fmla="*/ 2844800 h 2844800"/>
              <a:gd name="connsiteX0" fmla="*/ 1054100 w 1054100"/>
              <a:gd name="connsiteY0" fmla="*/ 0 h 2844800"/>
              <a:gd name="connsiteX1" fmla="*/ 444500 w 1054100"/>
              <a:gd name="connsiteY1" fmla="*/ 685800 h 2844800"/>
              <a:gd name="connsiteX2" fmla="*/ 0 w 1054100"/>
              <a:gd name="connsiteY2" fmla="*/ 2844800 h 2844800"/>
              <a:gd name="connsiteX0" fmla="*/ 1054100 w 1054100"/>
              <a:gd name="connsiteY0" fmla="*/ 0 h 2844800"/>
              <a:gd name="connsiteX1" fmla="*/ 838200 w 1054100"/>
              <a:gd name="connsiteY1" fmla="*/ 1257300 h 2844800"/>
              <a:gd name="connsiteX2" fmla="*/ 0 w 1054100"/>
              <a:gd name="connsiteY2" fmla="*/ 2844800 h 2844800"/>
              <a:gd name="connsiteX0" fmla="*/ 1054100 w 1060359"/>
              <a:gd name="connsiteY0" fmla="*/ 0 h 2844800"/>
              <a:gd name="connsiteX1" fmla="*/ 838200 w 1060359"/>
              <a:gd name="connsiteY1" fmla="*/ 1257300 h 2844800"/>
              <a:gd name="connsiteX2" fmla="*/ 0 w 1060359"/>
              <a:gd name="connsiteY2" fmla="*/ 2844800 h 2844800"/>
            </a:gdLst>
            <a:ahLst/>
            <a:cxnLst>
              <a:cxn ang="0">
                <a:pos x="connsiteX0" y="connsiteY0"/>
              </a:cxn>
              <a:cxn ang="0">
                <a:pos x="connsiteX1" y="connsiteY1"/>
              </a:cxn>
              <a:cxn ang="0">
                <a:pos x="connsiteX2" y="connsiteY2"/>
              </a:cxn>
            </a:cxnLst>
            <a:rect l="l" t="t" r="r" b="b"/>
            <a:pathLst>
              <a:path w="1060359" h="2844800">
                <a:moveTo>
                  <a:pt x="1054100" y="0"/>
                </a:moveTo>
                <a:cubicBezTo>
                  <a:pt x="1082675" y="466725"/>
                  <a:pt x="1013883" y="783167"/>
                  <a:pt x="838200" y="1257300"/>
                </a:cubicBezTo>
                <a:cubicBezTo>
                  <a:pt x="662517" y="1731433"/>
                  <a:pt x="0" y="2844800"/>
                  <a:pt x="0" y="2844800"/>
                </a:cubicBezTo>
              </a:path>
            </a:pathLst>
          </a:custGeom>
          <a:ln w="57150" cmpd="sng">
            <a:tailEnd type="triangl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latin typeface="Arial"/>
              <a:cs typeface="Arial"/>
            </a:endParaRPr>
          </a:p>
        </p:txBody>
      </p:sp>
      <p:sp>
        <p:nvSpPr>
          <p:cNvPr id="12" name="Rectangle 4"/>
          <p:cNvSpPr>
            <a:spLocks noChangeArrowheads="1"/>
          </p:cNvSpPr>
          <p:nvPr/>
        </p:nvSpPr>
        <p:spPr bwMode="auto">
          <a:xfrm>
            <a:off x="787400" y="4675188"/>
            <a:ext cx="7784753" cy="61555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a:lnSpc>
                <a:spcPct val="150000"/>
              </a:lnSpc>
              <a:tabLst>
                <a:tab pos="2514600" algn="r"/>
                <a:tab pos="2603500" algn="l"/>
              </a:tabLst>
            </a:pPr>
            <a:r>
              <a:rPr lang="en-US" sz="2400" dirty="0">
                <a:latin typeface="Arial"/>
                <a:cs typeface="Arial"/>
              </a:rPr>
              <a:t>	Actual output		= 148,000 + 130,000 = 278,000 rolls</a:t>
            </a:r>
          </a:p>
        </p:txBody>
      </p:sp>
      <p:sp>
        <p:nvSpPr>
          <p:cNvPr id="8" name="TextBox 7"/>
          <p:cNvSpPr txBox="1"/>
          <p:nvPr/>
        </p:nvSpPr>
        <p:spPr>
          <a:xfrm>
            <a:off x="5702300" y="279400"/>
            <a:ext cx="2781300" cy="1098762"/>
          </a:xfrm>
          <a:prstGeom prst="rect">
            <a:avLst/>
          </a:prstGeom>
          <a:noFill/>
        </p:spPr>
        <p:txBody>
          <a:bodyPr wrap="square" rtlCol="0">
            <a:spAutoFit/>
          </a:bodyPr>
          <a:lstStyle/>
          <a:p>
            <a:pPr algn="ctr">
              <a:lnSpc>
                <a:spcPct val="90000"/>
              </a:lnSpc>
            </a:pPr>
            <a:r>
              <a:rPr lang="en-US" sz="3600" b="1" dirty="0">
                <a:latin typeface="Arial"/>
                <a:cs typeface="Arial"/>
              </a:rPr>
              <a:t>Actual Output</a:t>
            </a:r>
          </a:p>
        </p:txBody>
      </p:sp>
      <p:sp>
        <p:nvSpPr>
          <p:cNvPr id="9" name="Freeform 8"/>
          <p:cNvSpPr/>
          <p:nvPr/>
        </p:nvSpPr>
        <p:spPr>
          <a:xfrm rot="20811088">
            <a:off x="5542371" y="3463710"/>
            <a:ext cx="412618" cy="1358568"/>
          </a:xfrm>
          <a:custGeom>
            <a:avLst/>
            <a:gdLst>
              <a:gd name="connsiteX0" fmla="*/ 0 w 393782"/>
              <a:gd name="connsiteY0" fmla="*/ 0 h 1943100"/>
              <a:gd name="connsiteX1" fmla="*/ 393700 w 393782"/>
              <a:gd name="connsiteY1" fmla="*/ 723900 h 1943100"/>
              <a:gd name="connsiteX2" fmla="*/ 38100 w 393782"/>
              <a:gd name="connsiteY2" fmla="*/ 1943100 h 1943100"/>
              <a:gd name="connsiteX0" fmla="*/ 1054100 w 1493352"/>
              <a:gd name="connsiteY0" fmla="*/ 0 h 2844800"/>
              <a:gd name="connsiteX1" fmla="*/ 1447800 w 1493352"/>
              <a:gd name="connsiteY1" fmla="*/ 723900 h 2844800"/>
              <a:gd name="connsiteX2" fmla="*/ 0 w 1493352"/>
              <a:gd name="connsiteY2" fmla="*/ 2844800 h 2844800"/>
              <a:gd name="connsiteX0" fmla="*/ 1054100 w 1090795"/>
              <a:gd name="connsiteY0" fmla="*/ 0 h 2844800"/>
              <a:gd name="connsiteX1" fmla="*/ 444500 w 1090795"/>
              <a:gd name="connsiteY1" fmla="*/ 685800 h 2844800"/>
              <a:gd name="connsiteX2" fmla="*/ 0 w 1090795"/>
              <a:gd name="connsiteY2" fmla="*/ 2844800 h 2844800"/>
              <a:gd name="connsiteX0" fmla="*/ 1054100 w 1054100"/>
              <a:gd name="connsiteY0" fmla="*/ 0 h 2844800"/>
              <a:gd name="connsiteX1" fmla="*/ 444500 w 1054100"/>
              <a:gd name="connsiteY1" fmla="*/ 685800 h 2844800"/>
              <a:gd name="connsiteX2" fmla="*/ 0 w 1054100"/>
              <a:gd name="connsiteY2" fmla="*/ 2844800 h 2844800"/>
              <a:gd name="connsiteX0" fmla="*/ 1054100 w 1054100"/>
              <a:gd name="connsiteY0" fmla="*/ 0 h 2844800"/>
              <a:gd name="connsiteX1" fmla="*/ 838200 w 1054100"/>
              <a:gd name="connsiteY1" fmla="*/ 1257300 h 2844800"/>
              <a:gd name="connsiteX2" fmla="*/ 0 w 1054100"/>
              <a:gd name="connsiteY2" fmla="*/ 2844800 h 2844800"/>
              <a:gd name="connsiteX0" fmla="*/ 1054100 w 1060359"/>
              <a:gd name="connsiteY0" fmla="*/ 0 h 2844800"/>
              <a:gd name="connsiteX1" fmla="*/ 838200 w 1060359"/>
              <a:gd name="connsiteY1" fmla="*/ 1257300 h 2844800"/>
              <a:gd name="connsiteX2" fmla="*/ 0 w 1060359"/>
              <a:gd name="connsiteY2" fmla="*/ 2844800 h 2844800"/>
            </a:gdLst>
            <a:ahLst/>
            <a:cxnLst>
              <a:cxn ang="0">
                <a:pos x="connsiteX0" y="connsiteY0"/>
              </a:cxn>
              <a:cxn ang="0">
                <a:pos x="connsiteX1" y="connsiteY1"/>
              </a:cxn>
              <a:cxn ang="0">
                <a:pos x="connsiteX2" y="connsiteY2"/>
              </a:cxn>
            </a:cxnLst>
            <a:rect l="l" t="t" r="r" b="b"/>
            <a:pathLst>
              <a:path w="1060359" h="2844800">
                <a:moveTo>
                  <a:pt x="1054100" y="0"/>
                </a:moveTo>
                <a:cubicBezTo>
                  <a:pt x="1082675" y="466725"/>
                  <a:pt x="1013883" y="783167"/>
                  <a:pt x="838200" y="1257300"/>
                </a:cubicBezTo>
                <a:cubicBezTo>
                  <a:pt x="662517" y="1731433"/>
                  <a:pt x="0" y="2844800"/>
                  <a:pt x="0" y="2844800"/>
                </a:cubicBezTo>
              </a:path>
            </a:pathLst>
          </a:custGeom>
          <a:ln w="57150" cmpd="sng">
            <a:tailEnd type="triangl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latin typeface="Arial"/>
              <a:cs typeface="Arial"/>
            </a:endParaRPr>
          </a:p>
        </p:txBody>
      </p:sp>
      <p:sp>
        <p:nvSpPr>
          <p:cNvPr id="10" name="TextBox 9"/>
          <p:cNvSpPr txBox="1"/>
          <p:nvPr/>
        </p:nvSpPr>
        <p:spPr>
          <a:xfrm>
            <a:off x="1873406" y="5613906"/>
            <a:ext cx="2322974" cy="461665"/>
          </a:xfrm>
          <a:prstGeom prst="rect">
            <a:avLst/>
          </a:prstGeom>
          <a:noFill/>
        </p:spPr>
        <p:txBody>
          <a:bodyPr wrap="square" rtlCol="0">
            <a:spAutoFit/>
          </a:bodyPr>
          <a:lstStyle/>
          <a:p>
            <a:r>
              <a:rPr lang="en-US" sz="2400" b="1" dirty="0">
                <a:solidFill>
                  <a:schemeClr val="tx2"/>
                </a:solidFill>
              </a:rPr>
              <a:t>Expansion</a:t>
            </a:r>
          </a:p>
        </p:txBody>
      </p:sp>
    </p:spTree>
    <p:extLst>
      <p:ext uri="{BB962C8B-B14F-4D97-AF65-F5344CB8AC3E}">
        <p14:creationId xmlns:p14="http://schemas.microsoft.com/office/powerpoint/2010/main" val="253639455"/>
      </p:ext>
    </p:extLst>
  </p:cSld>
  <p:clrMapOvr>
    <a:masterClrMapping/>
  </p:clrMapOvr>
  <p:transition spd="slow">
    <p:strip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100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1000"/>
                                        <p:tgtEl>
                                          <p:spTgt spid="12"/>
                                        </p:tgtEl>
                                      </p:cBhvr>
                                    </p:animEffect>
                                  </p:childTnLst>
                                </p:cTn>
                              </p:par>
                              <p:par>
                                <p:cTn id="8" presetID="22" presetClass="entr" presetSubtype="1" fill="hold" grpId="0" nodeType="withEffect">
                                  <p:stCondLst>
                                    <p:cond delay="1000"/>
                                  </p:stCondLst>
                                  <p:childTnLst>
                                    <p:set>
                                      <p:cBhvr>
                                        <p:cTn id="9" dur="1" fill="hold">
                                          <p:stCondLst>
                                            <p:cond delay="0"/>
                                          </p:stCondLst>
                                        </p:cTn>
                                        <p:tgtEl>
                                          <p:spTgt spid="14"/>
                                        </p:tgtEl>
                                        <p:attrNameLst>
                                          <p:attrName>style.visibility</p:attrName>
                                        </p:attrNameLst>
                                      </p:cBhvr>
                                      <p:to>
                                        <p:strVal val="visible"/>
                                      </p:to>
                                    </p:set>
                                    <p:animEffect transition="in" filter="wipe(up)">
                                      <p:cBhvr>
                                        <p:cTn id="10" dur="1000"/>
                                        <p:tgtEl>
                                          <p:spTgt spid="14"/>
                                        </p:tgtEl>
                                      </p:cBhvr>
                                    </p:animEffect>
                                  </p:childTnLst>
                                </p:cTn>
                              </p:par>
                              <p:par>
                                <p:cTn id="11" presetID="22" presetClass="entr" presetSubtype="1" fill="hold" grpId="0" nodeType="withEffect">
                                  <p:stCondLst>
                                    <p:cond delay="1000"/>
                                  </p:stCondLst>
                                  <p:childTnLst>
                                    <p:set>
                                      <p:cBhvr>
                                        <p:cTn id="12" dur="1" fill="hold">
                                          <p:stCondLst>
                                            <p:cond delay="0"/>
                                          </p:stCondLst>
                                        </p:cTn>
                                        <p:tgtEl>
                                          <p:spTgt spid="9"/>
                                        </p:tgtEl>
                                        <p:attrNameLst>
                                          <p:attrName>style.visibility</p:attrName>
                                        </p:attrNameLst>
                                      </p:cBhvr>
                                      <p:to>
                                        <p:strVal val="visible"/>
                                      </p:to>
                                    </p:set>
                                    <p:animEffect transition="in" filter="wipe(up)">
                                      <p:cBhvr>
                                        <p:cTn id="13" dur="1000"/>
                                        <p:tgtEl>
                                          <p:spTgt spid="9"/>
                                        </p:tgtEl>
                                      </p:cBhvr>
                                    </p:animEffect>
                                  </p:childTnLst>
                                </p:cTn>
                              </p:par>
                            </p:childTnLst>
                          </p:cTn>
                        </p:par>
                        <p:par>
                          <p:cTn id="14" fill="hold">
                            <p:stCondLst>
                              <p:cond delay="2000"/>
                            </p:stCondLst>
                            <p:childTnLst>
                              <p:par>
                                <p:cTn id="15" presetID="22" presetClass="exit" presetSubtype="1" fill="hold" grpId="1" nodeType="afterEffect">
                                  <p:stCondLst>
                                    <p:cond delay="2000"/>
                                  </p:stCondLst>
                                  <p:childTnLst>
                                    <p:animEffect transition="out" filter="wipe(up)">
                                      <p:cBhvr>
                                        <p:cTn id="16" dur="1000"/>
                                        <p:tgtEl>
                                          <p:spTgt spid="14"/>
                                        </p:tgtEl>
                                      </p:cBhvr>
                                    </p:animEffect>
                                    <p:set>
                                      <p:cBhvr>
                                        <p:cTn id="17" dur="1" fill="hold">
                                          <p:stCondLst>
                                            <p:cond delay="999"/>
                                          </p:stCondLst>
                                        </p:cTn>
                                        <p:tgtEl>
                                          <p:spTgt spid="14"/>
                                        </p:tgtEl>
                                        <p:attrNameLst>
                                          <p:attrName>style.visibility</p:attrName>
                                        </p:attrNameLst>
                                      </p:cBhvr>
                                      <p:to>
                                        <p:strVal val="hidden"/>
                                      </p:to>
                                    </p:set>
                                  </p:childTnLst>
                                </p:cTn>
                              </p:par>
                              <p:par>
                                <p:cTn id="18" presetID="22" presetClass="exit" presetSubtype="1" fill="hold" grpId="1" nodeType="withEffect">
                                  <p:stCondLst>
                                    <p:cond delay="2000"/>
                                  </p:stCondLst>
                                  <p:childTnLst>
                                    <p:animEffect transition="out" filter="wipe(up)">
                                      <p:cBhvr>
                                        <p:cTn id="19" dur="1000"/>
                                        <p:tgtEl>
                                          <p:spTgt spid="9"/>
                                        </p:tgtEl>
                                      </p:cBhvr>
                                    </p:animEffect>
                                    <p:set>
                                      <p:cBhvr>
                                        <p:cTn id="20" dur="1" fill="hold">
                                          <p:stCondLst>
                                            <p:cond delay="9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4" grpId="1" animBg="1"/>
      <p:bldP spid="12" grpId="0"/>
      <p:bldP spid="9" grpId="0" animBg="1"/>
      <p:bldP spid="9" grpId="1"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p:cNvSpPr>
            <a:spLocks noGrp="1" noChangeArrowheads="1"/>
          </p:cNvSpPr>
          <p:nvPr>
            <p:ph type="title"/>
          </p:nvPr>
        </p:nvSpPr>
        <p:spPr/>
        <p:txBody>
          <a:bodyPr/>
          <a:lstStyle/>
          <a:p>
            <a:pPr algn="l"/>
            <a:r>
              <a:rPr lang="en-US" dirty="0">
                <a:latin typeface="Arial" charset="0"/>
                <a:cs typeface="Arial" charset="0"/>
              </a:rPr>
              <a:t>Bakery Example</a:t>
            </a:r>
          </a:p>
        </p:txBody>
      </p:sp>
      <p:sp>
        <p:nvSpPr>
          <p:cNvPr id="45058" name="Rectangle 3"/>
          <p:cNvSpPr>
            <a:spLocks noChangeArrowheads="1"/>
          </p:cNvSpPr>
          <p:nvPr/>
        </p:nvSpPr>
        <p:spPr bwMode="auto">
          <a:xfrm>
            <a:off x="947738" y="1577975"/>
            <a:ext cx="5835252" cy="132343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2000" dirty="0"/>
              <a:t>Actual production last week = 148,000 rolls</a:t>
            </a:r>
          </a:p>
          <a:p>
            <a:r>
              <a:rPr lang="en-US" sz="2000" dirty="0"/>
              <a:t>Effective capacity = 175,000 rolls</a:t>
            </a:r>
          </a:p>
          <a:p>
            <a:r>
              <a:rPr lang="en-US" sz="2000" dirty="0"/>
              <a:t>Design capacity = 201,600 rolls per line</a:t>
            </a:r>
          </a:p>
          <a:p>
            <a:pPr lvl="0"/>
            <a:r>
              <a:rPr lang="en-US" sz="2000" dirty="0">
                <a:solidFill>
                  <a:srgbClr val="000000"/>
                </a:solidFill>
              </a:rPr>
              <a:t>Efficiency = 84.6%</a:t>
            </a:r>
          </a:p>
        </p:txBody>
      </p:sp>
      <p:sp>
        <p:nvSpPr>
          <p:cNvPr id="6" name="Rectangle 4"/>
          <p:cNvSpPr>
            <a:spLocks noChangeArrowheads="1"/>
          </p:cNvSpPr>
          <p:nvPr/>
        </p:nvSpPr>
        <p:spPr bwMode="auto">
          <a:xfrm>
            <a:off x="787400" y="3582988"/>
            <a:ext cx="7883890" cy="141506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a:lnSpc>
                <a:spcPct val="150000"/>
              </a:lnSpc>
              <a:tabLst>
                <a:tab pos="2514600" algn="r"/>
                <a:tab pos="2603500" algn="l"/>
              </a:tabLst>
            </a:pPr>
            <a:r>
              <a:rPr lang="en-US" sz="2000" dirty="0"/>
              <a:t>	Design capacity	= 201,600 x 2 = 403,200 rolls</a:t>
            </a:r>
          </a:p>
          <a:p>
            <a:pPr>
              <a:lnSpc>
                <a:spcPct val="150000"/>
              </a:lnSpc>
              <a:tabLst>
                <a:tab pos="2514600" algn="r"/>
                <a:tab pos="2603500" algn="l"/>
              </a:tabLst>
            </a:pPr>
            <a:r>
              <a:rPr lang="en-US" sz="2000" dirty="0"/>
              <a:t>	Effective capacity	= 175,000 x 2 = 350,000 rolls</a:t>
            </a:r>
          </a:p>
          <a:p>
            <a:pPr>
              <a:lnSpc>
                <a:spcPct val="150000"/>
              </a:lnSpc>
              <a:tabLst>
                <a:tab pos="2514600" algn="r"/>
                <a:tab pos="2603500" algn="l"/>
              </a:tabLst>
            </a:pPr>
            <a:r>
              <a:rPr lang="en-US" sz="2000" dirty="0"/>
              <a:t>	Actual output		= 148,000 + 130,000 = 278,000 rolls</a:t>
            </a:r>
          </a:p>
        </p:txBody>
      </p:sp>
      <p:sp>
        <p:nvSpPr>
          <p:cNvPr id="7" name="Rectangle 5"/>
          <p:cNvSpPr>
            <a:spLocks noChangeArrowheads="1"/>
          </p:cNvSpPr>
          <p:nvPr/>
        </p:nvSpPr>
        <p:spPr bwMode="auto">
          <a:xfrm>
            <a:off x="1992818" y="5282555"/>
            <a:ext cx="5529078"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2000" dirty="0"/>
              <a:t>Utilization = 278,000/403,200 = 68.95%</a:t>
            </a:r>
          </a:p>
        </p:txBody>
      </p:sp>
      <p:sp>
        <p:nvSpPr>
          <p:cNvPr id="8" name="Rectangle 6"/>
          <p:cNvSpPr>
            <a:spLocks noChangeArrowheads="1"/>
          </p:cNvSpPr>
          <p:nvPr/>
        </p:nvSpPr>
        <p:spPr bwMode="auto">
          <a:xfrm>
            <a:off x="2007106" y="5765155"/>
            <a:ext cx="5466561"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en-US" sz="2000" dirty="0"/>
              <a:t>Efficiency = 278,000/350,000 = 79.43%</a:t>
            </a:r>
          </a:p>
        </p:txBody>
      </p:sp>
      <p:sp>
        <p:nvSpPr>
          <p:cNvPr id="2" name="TextBox 1"/>
          <p:cNvSpPr txBox="1"/>
          <p:nvPr/>
        </p:nvSpPr>
        <p:spPr>
          <a:xfrm>
            <a:off x="947738" y="3029803"/>
            <a:ext cx="5875326" cy="400110"/>
          </a:xfrm>
          <a:prstGeom prst="rect">
            <a:avLst/>
          </a:prstGeom>
          <a:noFill/>
        </p:spPr>
        <p:txBody>
          <a:bodyPr wrap="none" rtlCol="0">
            <a:spAutoFit/>
          </a:bodyPr>
          <a:lstStyle/>
          <a:p>
            <a:pPr lvl="0"/>
            <a:r>
              <a:rPr lang="en-US" sz="2000" dirty="0">
                <a:solidFill>
                  <a:srgbClr val="000000"/>
                </a:solidFill>
              </a:rPr>
              <a:t>Expected output of new line = 130,000 rolls</a:t>
            </a:r>
          </a:p>
        </p:txBody>
      </p:sp>
      <p:sp>
        <p:nvSpPr>
          <p:cNvPr id="9" name="TextBox 8"/>
          <p:cNvSpPr txBox="1"/>
          <p:nvPr/>
        </p:nvSpPr>
        <p:spPr>
          <a:xfrm>
            <a:off x="5702300" y="279400"/>
            <a:ext cx="2781300" cy="757130"/>
          </a:xfrm>
          <a:prstGeom prst="rect">
            <a:avLst/>
          </a:prstGeom>
          <a:noFill/>
        </p:spPr>
        <p:txBody>
          <a:bodyPr wrap="square" rtlCol="0">
            <a:spAutoFit/>
          </a:bodyPr>
          <a:lstStyle/>
          <a:p>
            <a:pPr algn="ctr">
              <a:lnSpc>
                <a:spcPct val="90000"/>
              </a:lnSpc>
            </a:pPr>
            <a:r>
              <a:rPr lang="en-US" sz="2400" b="1" dirty="0"/>
              <a:t>Utilization</a:t>
            </a:r>
          </a:p>
          <a:p>
            <a:pPr algn="ctr">
              <a:lnSpc>
                <a:spcPct val="90000"/>
              </a:lnSpc>
            </a:pPr>
            <a:r>
              <a:rPr lang="en-US" sz="2400" b="1" dirty="0"/>
              <a:t>Efficiency</a:t>
            </a:r>
          </a:p>
        </p:txBody>
      </p:sp>
      <p:sp>
        <p:nvSpPr>
          <p:cNvPr id="10" name="TextBox 9"/>
          <p:cNvSpPr txBox="1"/>
          <p:nvPr/>
        </p:nvSpPr>
        <p:spPr>
          <a:xfrm>
            <a:off x="6222380" y="2503943"/>
            <a:ext cx="2261220" cy="461665"/>
          </a:xfrm>
          <a:prstGeom prst="rect">
            <a:avLst/>
          </a:prstGeom>
          <a:noFill/>
        </p:spPr>
        <p:txBody>
          <a:bodyPr wrap="square" rtlCol="0">
            <a:spAutoFit/>
          </a:bodyPr>
          <a:lstStyle/>
          <a:p>
            <a:r>
              <a:rPr lang="en-US" sz="2400" b="1" dirty="0">
                <a:solidFill>
                  <a:schemeClr val="tx2"/>
                </a:solidFill>
              </a:rPr>
              <a:t>Expansion</a:t>
            </a:r>
          </a:p>
        </p:txBody>
      </p:sp>
    </p:spTree>
    <p:extLst>
      <p:ext uri="{BB962C8B-B14F-4D97-AF65-F5344CB8AC3E}">
        <p14:creationId xmlns:p14="http://schemas.microsoft.com/office/powerpoint/2010/main" val="3353868650"/>
      </p:ext>
    </p:extLst>
  </p:cSld>
  <p:clrMapOvr>
    <a:masterClrMapping/>
  </p:clrMapOvr>
  <p:transition spd="slow">
    <p:strip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100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1000"/>
                                        <p:tgtEl>
                                          <p:spTgt spid="7"/>
                                        </p:tgtEl>
                                      </p:cBhvr>
                                    </p:animEffect>
                                  </p:childTnLst>
                                </p:cTn>
                              </p:par>
                            </p:childTnLst>
                          </p:cTn>
                        </p:par>
                        <p:par>
                          <p:cTn id="8" fill="hold">
                            <p:stCondLst>
                              <p:cond delay="2000"/>
                            </p:stCondLst>
                            <p:childTnLst>
                              <p:par>
                                <p:cTn id="9" presetID="22" presetClass="entr" presetSubtype="8" fill="hold" grpId="0" nodeType="afterEffect">
                                  <p:stCondLst>
                                    <p:cond delay="100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p:cNvSpPr>
            <a:spLocks noGrp="1" noChangeArrowheads="1"/>
          </p:cNvSpPr>
          <p:nvPr>
            <p:ph type="title"/>
          </p:nvPr>
        </p:nvSpPr>
        <p:spPr>
          <a:xfrm>
            <a:off x="685800" y="434975"/>
            <a:ext cx="7772400" cy="901700"/>
          </a:xfrm>
        </p:spPr>
        <p:txBody>
          <a:bodyPr/>
          <a:lstStyle/>
          <a:p>
            <a:r>
              <a:rPr lang="en-US" sz="4000" dirty="0">
                <a:latin typeface="Arial" charset="0"/>
                <a:cs typeface="Arial" charset="0"/>
              </a:rPr>
              <a:t>Managing Capacity and Demand</a:t>
            </a:r>
          </a:p>
        </p:txBody>
      </p:sp>
      <p:sp>
        <p:nvSpPr>
          <p:cNvPr id="52227" name="Rectangle 3"/>
          <p:cNvSpPr>
            <a:spLocks noChangeArrowheads="1"/>
          </p:cNvSpPr>
          <p:nvPr/>
        </p:nvSpPr>
        <p:spPr bwMode="auto">
          <a:xfrm>
            <a:off x="909711" y="1556825"/>
            <a:ext cx="7551664" cy="424116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marL="444500" indent="-444500">
              <a:lnSpc>
                <a:spcPct val="90000"/>
              </a:lnSpc>
              <a:spcAft>
                <a:spcPct val="40000"/>
              </a:spcAft>
              <a:buClr>
                <a:srgbClr val="BF0922"/>
              </a:buClr>
              <a:buSzPct val="60000"/>
              <a:buFont typeface="Lucida Grande" charset="0"/>
              <a:buChar char="►"/>
            </a:pPr>
            <a:r>
              <a:rPr lang="en-US" sz="2400" dirty="0"/>
              <a:t>Demand exceeds capacity</a:t>
            </a:r>
          </a:p>
          <a:p>
            <a:pPr marL="1079500" lvl="1" indent="-366713">
              <a:lnSpc>
                <a:spcPct val="90000"/>
              </a:lnSpc>
              <a:spcAft>
                <a:spcPct val="40000"/>
              </a:spcAft>
              <a:buClr>
                <a:srgbClr val="BF0922"/>
              </a:buClr>
              <a:buSzPct val="60000"/>
              <a:buFont typeface="Lucida Grande" charset="0"/>
              <a:buChar char="►"/>
            </a:pPr>
            <a:r>
              <a:rPr lang="en-US" sz="2000" dirty="0"/>
              <a:t>Curtail demand by raising prices, scheduling longer lead times, discouraging marginally profitable business</a:t>
            </a:r>
          </a:p>
          <a:p>
            <a:pPr marL="1079500" lvl="1" indent="-366713">
              <a:lnSpc>
                <a:spcPct val="90000"/>
              </a:lnSpc>
              <a:spcAft>
                <a:spcPct val="40000"/>
              </a:spcAft>
              <a:buClr>
                <a:srgbClr val="BF0922"/>
              </a:buClr>
              <a:buSzPct val="60000"/>
              <a:buFont typeface="Lucida Grande" charset="0"/>
              <a:buChar char="►"/>
            </a:pPr>
            <a:r>
              <a:rPr lang="en-US" sz="2000" dirty="0"/>
              <a:t>Long-term solution is to increase capacity</a:t>
            </a:r>
          </a:p>
          <a:p>
            <a:pPr marL="444500" indent="-444500">
              <a:lnSpc>
                <a:spcPct val="90000"/>
              </a:lnSpc>
              <a:spcAft>
                <a:spcPct val="40000"/>
              </a:spcAft>
              <a:buClr>
                <a:srgbClr val="BF0922"/>
              </a:buClr>
              <a:buSzPct val="60000"/>
              <a:buFont typeface="Lucida Grande" charset="0"/>
              <a:buChar char="►"/>
            </a:pPr>
            <a:r>
              <a:rPr lang="en-US" sz="2400" dirty="0"/>
              <a:t>Capacity exceeds demand</a:t>
            </a:r>
          </a:p>
          <a:p>
            <a:pPr marL="1079500" lvl="1" indent="-366713">
              <a:lnSpc>
                <a:spcPct val="90000"/>
              </a:lnSpc>
              <a:spcAft>
                <a:spcPct val="40000"/>
              </a:spcAft>
              <a:buClr>
                <a:srgbClr val="BF0922"/>
              </a:buClr>
              <a:buSzPct val="60000"/>
              <a:buFont typeface="Lucida Grande" charset="0"/>
              <a:buChar char="►"/>
            </a:pPr>
            <a:r>
              <a:rPr lang="en-US" sz="2000" dirty="0"/>
              <a:t>Stimulate market</a:t>
            </a:r>
          </a:p>
          <a:p>
            <a:pPr marL="1079500" lvl="1" indent="-366713">
              <a:lnSpc>
                <a:spcPct val="90000"/>
              </a:lnSpc>
              <a:spcAft>
                <a:spcPct val="40000"/>
              </a:spcAft>
              <a:buClr>
                <a:srgbClr val="BF0922"/>
              </a:buClr>
              <a:buSzPct val="60000"/>
              <a:buFont typeface="Lucida Grande" charset="0"/>
              <a:buChar char="►"/>
            </a:pPr>
            <a:r>
              <a:rPr lang="en-US" sz="2000" dirty="0"/>
              <a:t>Product changes</a:t>
            </a:r>
          </a:p>
          <a:p>
            <a:pPr marL="444500" indent="-444500">
              <a:lnSpc>
                <a:spcPct val="90000"/>
              </a:lnSpc>
              <a:spcAft>
                <a:spcPct val="40000"/>
              </a:spcAft>
              <a:buClr>
                <a:srgbClr val="BF0922"/>
              </a:buClr>
              <a:buSzPct val="60000"/>
              <a:buFont typeface="Lucida Grande" charset="0"/>
              <a:buChar char="►"/>
            </a:pPr>
            <a:r>
              <a:rPr lang="en-US" sz="2400" dirty="0"/>
              <a:t>Adjusting to seasonal demands</a:t>
            </a:r>
          </a:p>
          <a:p>
            <a:pPr marL="1079500" lvl="1" indent="-366713">
              <a:lnSpc>
                <a:spcPct val="90000"/>
              </a:lnSpc>
              <a:spcAft>
                <a:spcPct val="40000"/>
              </a:spcAft>
              <a:buClr>
                <a:srgbClr val="BF0922"/>
              </a:buClr>
              <a:buSzPct val="60000"/>
              <a:buFont typeface="Lucida Grande" charset="0"/>
              <a:buChar char="►"/>
            </a:pPr>
            <a:r>
              <a:rPr lang="en-US" sz="2000" dirty="0"/>
              <a:t>Produce products with complementary demand patterns</a:t>
            </a:r>
          </a:p>
        </p:txBody>
      </p:sp>
    </p:spTree>
    <p:extLst>
      <p:ext uri="{BB962C8B-B14F-4D97-AF65-F5344CB8AC3E}">
        <p14:creationId xmlns:p14="http://schemas.microsoft.com/office/powerpoint/2010/main" val="3311256187"/>
      </p:ext>
    </p:extLst>
  </p:cSld>
  <p:clrMapOvr>
    <a:masterClrMapping/>
  </p:clrMapOvr>
  <p:transition>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grpId="0" nodeType="afterEffect">
                                  <p:stCondLst>
                                    <p:cond delay="1000"/>
                                  </p:stCondLst>
                                  <p:childTnLst>
                                    <p:set>
                                      <p:cBhvr>
                                        <p:cTn id="6" dur="1" fill="hold">
                                          <p:stCondLst>
                                            <p:cond delay="0"/>
                                          </p:stCondLst>
                                        </p:cTn>
                                        <p:tgtEl>
                                          <p:spTgt spid="52227"/>
                                        </p:tgtEl>
                                        <p:attrNameLst>
                                          <p:attrName>style.visibility</p:attrName>
                                        </p:attrNameLst>
                                      </p:cBhvr>
                                      <p:to>
                                        <p:strVal val="visible"/>
                                      </p:to>
                                    </p:set>
                                    <p:animEffect transition="in" filter="strips(downRight)">
                                      <p:cBhvr>
                                        <p:cTn id="7" dur="1000"/>
                                        <p:tgtEl>
                                          <p:spTgt spid="522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7"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2"/>
          <p:cNvSpPr>
            <a:spLocks noGrp="1" noChangeArrowheads="1"/>
          </p:cNvSpPr>
          <p:nvPr>
            <p:ph type="title"/>
          </p:nvPr>
        </p:nvSpPr>
        <p:spPr/>
        <p:txBody>
          <a:bodyPr/>
          <a:lstStyle/>
          <a:p>
            <a:pPr eaLnBrk="1" hangingPunct="1"/>
            <a:r>
              <a:rPr lang="en-US"/>
              <a:t>Process Analysis</a:t>
            </a:r>
          </a:p>
        </p:txBody>
      </p:sp>
      <p:sp>
        <p:nvSpPr>
          <p:cNvPr id="7173" name="Rectangle 3"/>
          <p:cNvSpPr>
            <a:spLocks noGrp="1" noChangeArrowheads="1"/>
          </p:cNvSpPr>
          <p:nvPr>
            <p:ph type="body" idx="1"/>
          </p:nvPr>
        </p:nvSpPr>
        <p:spPr/>
        <p:txBody>
          <a:bodyPr/>
          <a:lstStyle/>
          <a:p>
            <a:pPr eaLnBrk="1" hangingPunct="1"/>
            <a:endParaRPr lang="en-US" dirty="0">
              <a:latin typeface="Arial" panose="020B0604020202020204" pitchFamily="34" charset="0"/>
              <a:cs typeface="Arial" panose="020B0604020202020204" pitchFamily="34" charset="0"/>
            </a:endParaRPr>
          </a:p>
          <a:p>
            <a:pPr eaLnBrk="1" hangingPunct="1"/>
            <a:r>
              <a:rPr lang="en-US" dirty="0">
                <a:latin typeface="Arial" panose="020B0604020202020204" pitchFamily="34" charset="0"/>
                <a:cs typeface="Arial" panose="020B0604020202020204" pitchFamily="34" charset="0"/>
              </a:rPr>
              <a:t>Determine system capacity and throughput time</a:t>
            </a:r>
            <a:endParaRPr lang="en-US" dirty="0">
              <a:cs typeface="Arial" panose="020B0604020202020204" pitchFamily="34" charset="0"/>
            </a:endParaRPr>
          </a:p>
          <a:p>
            <a:pPr lvl="1" eaLnBrk="1" hangingPunct="1"/>
            <a:r>
              <a:rPr lang="en-US" b="1" dirty="0"/>
              <a:t>Panda Express</a:t>
            </a:r>
            <a:r>
              <a:rPr lang="en-US" dirty="0"/>
              <a:t> </a:t>
            </a:r>
            <a:r>
              <a:rPr lang="en-US" dirty="0">
                <a:latin typeface="Arial" panose="020B0604020202020204" pitchFamily="34" charset="0"/>
                <a:cs typeface="Arial" panose="020B0604020202020204" pitchFamily="34" charset="0"/>
              </a:rPr>
              <a:t>wants to know how many customers they can serve in a day</a:t>
            </a:r>
          </a:p>
          <a:p>
            <a:pPr lvl="1" eaLnBrk="1" hangingPunct="1"/>
            <a:r>
              <a:rPr lang="en-US" b="1" dirty="0">
                <a:highlight>
                  <a:srgbClr val="FFFF00"/>
                </a:highlight>
                <a:cs typeface="Arial" panose="020B0604020202020204" pitchFamily="34" charset="0"/>
              </a:rPr>
              <a:t>Amazon</a:t>
            </a:r>
            <a:r>
              <a:rPr lang="en-US" dirty="0">
                <a:highlight>
                  <a:srgbClr val="FFFF00"/>
                </a:highlight>
                <a:cs typeface="Arial" panose="020B0604020202020204" pitchFamily="34" charset="0"/>
              </a:rPr>
              <a:t> is interested in learning how many packages they can process and ship from its warehouses</a:t>
            </a:r>
          </a:p>
          <a:p>
            <a:pPr eaLnBrk="1" hangingPunct="1"/>
            <a:r>
              <a:rPr lang="en-US" dirty="0">
                <a:highlight>
                  <a:srgbClr val="FFFF00"/>
                </a:highlight>
                <a:latin typeface="Arial" panose="020B0604020202020204" pitchFamily="34" charset="0"/>
                <a:cs typeface="Arial" panose="020B0604020202020204" pitchFamily="34" charset="0"/>
              </a:rPr>
              <a:t>Identify bottlenecks in a process and understand how to manage them</a:t>
            </a:r>
          </a:p>
        </p:txBody>
      </p:sp>
    </p:spTree>
    <p:extLst>
      <p:ext uri="{BB962C8B-B14F-4D97-AF65-F5344CB8AC3E}">
        <p14:creationId xmlns:p14="http://schemas.microsoft.com/office/powerpoint/2010/main" val="3552121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8"/>
          <p:cNvSpPr>
            <a:spLocks noGrp="1" noChangeArrowheads="1"/>
          </p:cNvSpPr>
          <p:nvPr>
            <p:ph type="title" idx="4294967295"/>
          </p:nvPr>
        </p:nvSpPr>
        <p:spPr>
          <a:xfrm>
            <a:off x="268941" y="0"/>
            <a:ext cx="8153400" cy="1143000"/>
          </a:xfrm>
        </p:spPr>
        <p:txBody>
          <a:bodyPr/>
          <a:lstStyle/>
          <a:p>
            <a:pPr eaLnBrk="1" hangingPunct="1"/>
            <a:r>
              <a:rPr lang="en-US" dirty="0"/>
              <a:t>Capacity and Throughput</a:t>
            </a:r>
          </a:p>
        </p:txBody>
      </p:sp>
      <p:sp>
        <p:nvSpPr>
          <p:cNvPr id="19459" name="Text Box 2"/>
          <p:cNvSpPr txBox="1">
            <a:spLocks noChangeArrowheads="1"/>
          </p:cNvSpPr>
          <p:nvPr/>
        </p:nvSpPr>
        <p:spPr bwMode="auto">
          <a:xfrm>
            <a:off x="3443286" y="5049372"/>
            <a:ext cx="5410200" cy="1200150"/>
          </a:xfrm>
          <a:prstGeom prst="rect">
            <a:avLst/>
          </a:prstGeom>
          <a:noFill/>
          <a:ln w="9525">
            <a:noFill/>
            <a:miter lim="800000"/>
            <a:headEnd/>
            <a:tailEnd/>
          </a:ln>
        </p:spPr>
        <p:txBody>
          <a:bodyPr>
            <a:spAutoFit/>
          </a:bodyPr>
          <a:lstStyle/>
          <a:p>
            <a:pPr algn="l"/>
            <a:r>
              <a:rPr lang="en-US" sz="2400" dirty="0">
                <a:latin typeface="Arial" panose="020B0604020202020204" pitchFamily="34" charset="0"/>
                <a:cs typeface="Arial" panose="020B0604020202020204" pitchFamily="34" charset="0"/>
              </a:rPr>
              <a:t>Maximum average </a:t>
            </a:r>
            <a:r>
              <a:rPr lang="en-US" sz="2400" b="1" u="sng" dirty="0">
                <a:solidFill>
                  <a:srgbClr val="C00000"/>
                </a:solidFill>
                <a:latin typeface="Arial" panose="020B0604020202020204" pitchFamily="34" charset="0"/>
                <a:cs typeface="Arial" panose="020B0604020202020204" pitchFamily="34" charset="0"/>
              </a:rPr>
              <a:t>output rate</a:t>
            </a:r>
            <a:r>
              <a:rPr lang="en-US" sz="2400" b="1" dirty="0">
                <a:latin typeface="Arial" panose="020B0604020202020204" pitchFamily="34" charset="0"/>
                <a:cs typeface="Arial" panose="020B0604020202020204" pitchFamily="34" charset="0"/>
              </a:rPr>
              <a:t> </a:t>
            </a:r>
            <a:r>
              <a:rPr lang="en-US" sz="2400" b="1" dirty="0">
                <a:solidFill>
                  <a:srgbClr val="C00000"/>
                </a:solidFill>
                <a:latin typeface="Arial" panose="020B0604020202020204" pitchFamily="34" charset="0"/>
                <a:cs typeface="Arial" panose="020B0604020202020204" pitchFamily="34" charset="0"/>
              </a:rPr>
              <a:t>(output/unit time) </a:t>
            </a:r>
            <a:r>
              <a:rPr lang="en-US" sz="2400" dirty="0">
                <a:latin typeface="Arial" panose="020B0604020202020204" pitchFamily="34" charset="0"/>
                <a:cs typeface="Arial" panose="020B0604020202020204" pitchFamily="34" charset="0"/>
              </a:rPr>
              <a:t>that the system can maintain under normal conditions</a:t>
            </a:r>
            <a:endParaRPr lang="en-US" dirty="0">
              <a:latin typeface="Arial" panose="020B0604020202020204" pitchFamily="34" charset="0"/>
              <a:cs typeface="Arial" panose="020B0604020202020204" pitchFamily="34" charset="0"/>
            </a:endParaRPr>
          </a:p>
        </p:txBody>
      </p:sp>
      <p:sp>
        <p:nvSpPr>
          <p:cNvPr id="19460" name="Text Box 4"/>
          <p:cNvSpPr txBox="1">
            <a:spLocks noChangeArrowheads="1"/>
          </p:cNvSpPr>
          <p:nvPr/>
        </p:nvSpPr>
        <p:spPr bwMode="auto">
          <a:xfrm>
            <a:off x="3454399" y="2744322"/>
            <a:ext cx="5399087" cy="830263"/>
          </a:xfrm>
          <a:prstGeom prst="rect">
            <a:avLst/>
          </a:prstGeom>
          <a:noFill/>
          <a:ln w="9525">
            <a:noFill/>
            <a:miter lim="800000"/>
            <a:headEnd/>
            <a:tailEnd/>
          </a:ln>
        </p:spPr>
        <p:txBody>
          <a:bodyPr>
            <a:spAutoFit/>
          </a:bodyPr>
          <a:lstStyle/>
          <a:p>
            <a:pPr algn="l"/>
            <a:r>
              <a:rPr lang="en-US" sz="2400" b="1" dirty="0">
                <a:solidFill>
                  <a:srgbClr val="C00000"/>
                </a:solidFill>
                <a:latin typeface="Arial" panose="020B0604020202020204" pitchFamily="34" charset="0"/>
                <a:cs typeface="Arial" panose="020B0604020202020204" pitchFamily="34" charset="0"/>
              </a:rPr>
              <a:t>Time</a:t>
            </a:r>
            <a:r>
              <a:rPr lang="en-US" sz="2400" dirty="0">
                <a:latin typeface="Arial" panose="020B0604020202020204" pitchFamily="34" charset="0"/>
                <a:cs typeface="Arial" panose="020B0604020202020204" pitchFamily="34" charset="0"/>
              </a:rPr>
              <a:t> required to get through the </a:t>
            </a:r>
            <a:r>
              <a:rPr lang="en-US" sz="2400" dirty="0">
                <a:highlight>
                  <a:srgbClr val="FFFF00"/>
                </a:highlight>
                <a:latin typeface="Arial" panose="020B0604020202020204" pitchFamily="34" charset="0"/>
                <a:cs typeface="Arial" panose="020B0604020202020204" pitchFamily="34" charset="0"/>
              </a:rPr>
              <a:t>entire process </a:t>
            </a:r>
            <a:r>
              <a:rPr lang="en-US" sz="2400" dirty="0">
                <a:latin typeface="Arial" panose="020B0604020202020204" pitchFamily="34" charset="0"/>
                <a:cs typeface="Arial" panose="020B0604020202020204" pitchFamily="34" charset="0"/>
              </a:rPr>
              <a:t>from start to end</a:t>
            </a:r>
          </a:p>
        </p:txBody>
      </p:sp>
      <p:sp>
        <p:nvSpPr>
          <p:cNvPr id="517125" name="Rectangle 5"/>
          <p:cNvSpPr>
            <a:spLocks noChangeArrowheads="1"/>
          </p:cNvSpPr>
          <p:nvPr/>
        </p:nvSpPr>
        <p:spPr bwMode="auto">
          <a:xfrm>
            <a:off x="1023936" y="5117635"/>
            <a:ext cx="2209800" cy="895350"/>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anchor="ctr"/>
          <a:lstStyle/>
          <a:p>
            <a:r>
              <a:rPr lang="en-US" sz="2400" b="1" dirty="0">
                <a:solidFill>
                  <a:schemeClr val="tx1"/>
                </a:solidFill>
                <a:latin typeface="Arial" panose="020B0604020202020204" pitchFamily="34" charset="0"/>
                <a:cs typeface="Arial" panose="020B0604020202020204" pitchFamily="34" charset="0"/>
              </a:rPr>
              <a:t>Capacity</a:t>
            </a:r>
            <a:endParaRPr lang="en-US" b="1" dirty="0">
              <a:solidFill>
                <a:schemeClr val="tx1"/>
              </a:solidFill>
              <a:latin typeface="Arial" panose="020B0604020202020204" pitchFamily="34" charset="0"/>
              <a:cs typeface="Arial" panose="020B0604020202020204" pitchFamily="34" charset="0"/>
            </a:endParaRPr>
          </a:p>
        </p:txBody>
      </p:sp>
      <p:sp>
        <p:nvSpPr>
          <p:cNvPr id="517127" name="Rectangle 7"/>
          <p:cNvSpPr>
            <a:spLocks noChangeArrowheads="1"/>
          </p:cNvSpPr>
          <p:nvPr/>
        </p:nvSpPr>
        <p:spPr bwMode="auto">
          <a:xfrm>
            <a:off x="1035049" y="2591922"/>
            <a:ext cx="2179637" cy="1123950"/>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anchor="ctr"/>
          <a:lstStyle/>
          <a:p>
            <a:r>
              <a:rPr lang="en-US" sz="2400" b="1" dirty="0">
                <a:solidFill>
                  <a:schemeClr val="tx1"/>
                </a:solidFill>
                <a:latin typeface="Arial" panose="020B0604020202020204" pitchFamily="34" charset="0"/>
                <a:cs typeface="Arial" panose="020B0604020202020204" pitchFamily="34" charset="0"/>
              </a:rPr>
              <a:t>Throughput time </a:t>
            </a:r>
          </a:p>
          <a:p>
            <a:r>
              <a:rPr lang="en-US" sz="2400" b="1" dirty="0">
                <a:solidFill>
                  <a:schemeClr val="tx1"/>
                </a:solidFill>
                <a:latin typeface="Arial" panose="020B0604020202020204" pitchFamily="34" charset="0"/>
                <a:cs typeface="Arial" panose="020B0604020202020204" pitchFamily="34" charset="0"/>
              </a:rPr>
              <a:t>(Flow time)</a:t>
            </a:r>
            <a:endParaRPr lang="en-US" b="1" dirty="0">
              <a:solidFill>
                <a:schemeClr val="tx1"/>
              </a:solidFill>
              <a:latin typeface="Arial" panose="020B0604020202020204" pitchFamily="34" charset="0"/>
              <a:cs typeface="Arial" panose="020B0604020202020204" pitchFamily="34" charset="0"/>
            </a:endParaRPr>
          </a:p>
        </p:txBody>
      </p:sp>
      <p:sp>
        <p:nvSpPr>
          <p:cNvPr id="14" name="投影片編號版面配置區 13"/>
          <p:cNvSpPr>
            <a:spLocks noGrp="1"/>
          </p:cNvSpPr>
          <p:nvPr>
            <p:ph type="sldNum" sz="quarter" idx="11"/>
          </p:nvPr>
        </p:nvSpPr>
        <p:spPr>
          <a:xfrm>
            <a:off x="7010400" y="6547971"/>
            <a:ext cx="2133600" cy="358775"/>
          </a:xfrm>
        </p:spPr>
        <p:txBody>
          <a:bodyPr/>
          <a:lstStyle/>
          <a:p>
            <a:pPr algn="l">
              <a:defRPr/>
            </a:pPr>
            <a:r>
              <a:rPr lang="en-US" dirty="0"/>
              <a:t>9</a:t>
            </a:r>
          </a:p>
        </p:txBody>
      </p:sp>
      <p:sp>
        <p:nvSpPr>
          <p:cNvPr id="16" name="Text Box 4"/>
          <p:cNvSpPr txBox="1">
            <a:spLocks noChangeArrowheads="1"/>
          </p:cNvSpPr>
          <p:nvPr/>
        </p:nvSpPr>
        <p:spPr bwMode="auto">
          <a:xfrm>
            <a:off x="3454399" y="3963522"/>
            <a:ext cx="5399087" cy="830997"/>
          </a:xfrm>
          <a:prstGeom prst="rect">
            <a:avLst/>
          </a:prstGeom>
          <a:noFill/>
          <a:ln w="9525">
            <a:noFill/>
            <a:miter lim="800000"/>
            <a:headEnd/>
            <a:tailEnd/>
          </a:ln>
        </p:spPr>
        <p:txBody>
          <a:bodyPr>
            <a:spAutoFit/>
          </a:bodyPr>
          <a:lstStyle/>
          <a:p>
            <a:pPr algn="l"/>
            <a:r>
              <a:rPr lang="en-US" sz="2400" dirty="0">
                <a:latin typeface="Arial" panose="020B0604020202020204" pitchFamily="34" charset="0"/>
                <a:cs typeface="Arial" panose="020B0604020202020204" pitchFamily="34" charset="0"/>
              </a:rPr>
              <a:t>Average rate units actually being processed </a:t>
            </a:r>
            <a:r>
              <a:rPr lang="en-US" sz="2400" b="1" dirty="0">
                <a:solidFill>
                  <a:srgbClr val="C00000"/>
                </a:solidFill>
                <a:latin typeface="Arial" panose="020B0604020202020204" pitchFamily="34" charset="0"/>
                <a:cs typeface="Arial" panose="020B0604020202020204" pitchFamily="34" charset="0"/>
              </a:rPr>
              <a:t>(output/unit time) </a:t>
            </a:r>
            <a:endParaRPr lang="en-US" sz="2400" dirty="0">
              <a:latin typeface="Arial" panose="020B0604020202020204" pitchFamily="34" charset="0"/>
              <a:cs typeface="Arial" panose="020B0604020202020204" pitchFamily="34" charset="0"/>
            </a:endParaRPr>
          </a:p>
        </p:txBody>
      </p:sp>
      <p:sp>
        <p:nvSpPr>
          <p:cNvPr id="17" name="Rectangle 7"/>
          <p:cNvSpPr>
            <a:spLocks noChangeArrowheads="1"/>
          </p:cNvSpPr>
          <p:nvPr/>
        </p:nvSpPr>
        <p:spPr bwMode="auto">
          <a:xfrm>
            <a:off x="1035049" y="4039722"/>
            <a:ext cx="2179637" cy="762000"/>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anchor="ctr"/>
          <a:lstStyle/>
          <a:p>
            <a:r>
              <a:rPr lang="en-US" sz="2400" b="1" dirty="0">
                <a:solidFill>
                  <a:schemeClr val="tx1"/>
                </a:solidFill>
                <a:latin typeface="Arial" panose="020B0604020202020204" pitchFamily="34" charset="0"/>
                <a:cs typeface="Arial" panose="020B0604020202020204" pitchFamily="34" charset="0"/>
              </a:rPr>
              <a:t>Throughput</a:t>
            </a:r>
            <a:endParaRPr lang="en-US" b="1" dirty="0">
              <a:solidFill>
                <a:schemeClr val="tx1"/>
              </a:solidFill>
              <a:latin typeface="Arial" panose="020B0604020202020204" pitchFamily="34" charset="0"/>
              <a:cs typeface="Arial" panose="020B0604020202020204" pitchFamily="34" charset="0"/>
            </a:endParaRPr>
          </a:p>
        </p:txBody>
      </p:sp>
      <p:sp>
        <p:nvSpPr>
          <p:cNvPr id="18" name="Text Box 9"/>
          <p:cNvSpPr txBox="1">
            <a:spLocks noChangeArrowheads="1"/>
          </p:cNvSpPr>
          <p:nvPr/>
        </p:nvSpPr>
        <p:spPr bwMode="auto">
          <a:xfrm>
            <a:off x="2124868" y="6311434"/>
            <a:ext cx="5410200" cy="533400"/>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anchor="ctr" anchorCtr="1"/>
          <a:lstStyle/>
          <a:p>
            <a:pPr algn="l">
              <a:defRPr/>
            </a:pPr>
            <a:r>
              <a:rPr lang="en-US" b="1" dirty="0">
                <a:solidFill>
                  <a:srgbClr val="C00000"/>
                </a:solidFill>
                <a:latin typeface="Arial" panose="020B0604020202020204" pitchFamily="34" charset="0"/>
                <a:cs typeface="Arial" panose="020B0604020202020204" pitchFamily="34" charset="0"/>
              </a:rPr>
              <a:t>Throughput is Less Than or Equal to Capacity</a:t>
            </a:r>
          </a:p>
        </p:txBody>
      </p:sp>
      <p:sp>
        <p:nvSpPr>
          <p:cNvPr id="11" name="Text Box 4"/>
          <p:cNvSpPr txBox="1">
            <a:spLocks noChangeArrowheads="1"/>
          </p:cNvSpPr>
          <p:nvPr/>
        </p:nvSpPr>
        <p:spPr bwMode="auto">
          <a:xfrm>
            <a:off x="3443286" y="1383835"/>
            <a:ext cx="5399087" cy="1508105"/>
          </a:xfrm>
          <a:prstGeom prst="rect">
            <a:avLst/>
          </a:prstGeom>
          <a:noFill/>
          <a:ln w="9525">
            <a:noFill/>
            <a:miter lim="800000"/>
            <a:headEnd/>
            <a:tailEnd/>
          </a:ln>
        </p:spPr>
        <p:txBody>
          <a:bodyPr>
            <a:spAutoFit/>
          </a:bodyPr>
          <a:lstStyle/>
          <a:p>
            <a:pPr algn="l"/>
            <a:r>
              <a:rPr lang="en-US" sz="2400" b="1" dirty="0">
                <a:solidFill>
                  <a:srgbClr val="C00000"/>
                </a:solidFill>
                <a:latin typeface="Arial" panose="020B0604020202020204" pitchFamily="34" charset="0"/>
                <a:cs typeface="Arial" panose="020B0604020202020204" pitchFamily="34" charset="0"/>
              </a:rPr>
              <a:t>Time</a:t>
            </a:r>
            <a:r>
              <a:rPr lang="en-US" sz="2400" dirty="0">
                <a:latin typeface="Arial" panose="020B0604020202020204" pitchFamily="34" charset="0"/>
                <a:cs typeface="Arial" panose="020B0604020202020204" pitchFamily="34" charset="0"/>
              </a:rPr>
              <a:t> required to produce a unit at a </a:t>
            </a:r>
            <a:r>
              <a:rPr lang="en-US" sz="2400" dirty="0">
                <a:highlight>
                  <a:srgbClr val="FFFF00"/>
                </a:highlight>
                <a:latin typeface="Arial" panose="020B0604020202020204" pitchFamily="34" charset="0"/>
                <a:cs typeface="Arial" panose="020B0604020202020204" pitchFamily="34" charset="0"/>
              </a:rPr>
              <a:t>workstation</a:t>
            </a:r>
            <a:r>
              <a:rPr lang="en-US" sz="2400" dirty="0">
                <a:latin typeface="Arial" panose="020B0604020202020204" pitchFamily="34" charset="0"/>
                <a:cs typeface="Arial" panose="020B0604020202020204" pitchFamily="34" charset="0"/>
              </a:rPr>
              <a:t> </a:t>
            </a:r>
          </a:p>
          <a:p>
            <a:pPr marL="800100" lvl="1"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Subways have three work stations</a:t>
            </a:r>
            <a:r>
              <a:rPr lang="en-US" sz="2400" dirty="0">
                <a:latin typeface="Arial" panose="020B0604020202020204" pitchFamily="34" charset="0"/>
                <a:cs typeface="Arial" panose="020B0604020202020204" pitchFamily="34" charset="0"/>
              </a:rPr>
              <a:t>	</a:t>
            </a:r>
          </a:p>
        </p:txBody>
      </p:sp>
      <p:sp>
        <p:nvSpPr>
          <p:cNvPr id="12" name="Rectangle 7"/>
          <p:cNvSpPr>
            <a:spLocks noChangeArrowheads="1"/>
          </p:cNvSpPr>
          <p:nvPr/>
        </p:nvSpPr>
        <p:spPr bwMode="auto">
          <a:xfrm>
            <a:off x="1023936" y="1231435"/>
            <a:ext cx="2179637" cy="1123950"/>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anchor="ctr"/>
          <a:lstStyle/>
          <a:p>
            <a:r>
              <a:rPr lang="en-US" sz="2400" b="1" dirty="0">
                <a:solidFill>
                  <a:schemeClr val="tx1"/>
                </a:solidFill>
                <a:latin typeface="Arial" panose="020B0604020202020204" pitchFamily="34" charset="0"/>
                <a:cs typeface="Arial" panose="020B0604020202020204" pitchFamily="34" charset="0"/>
              </a:rPr>
              <a:t>Process time</a:t>
            </a:r>
            <a:endParaRPr lang="en-US" b="1"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437616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460"/>
                                        </p:tgtEl>
                                        <p:attrNameLst>
                                          <p:attrName>style.visibility</p:attrName>
                                        </p:attrNameLst>
                                      </p:cBhvr>
                                      <p:to>
                                        <p:strVal val="visible"/>
                                      </p:to>
                                    </p:set>
                                    <p:animEffect transition="in" filter="fade">
                                      <p:cBhvr>
                                        <p:cTn id="7" dur="500"/>
                                        <p:tgtEl>
                                          <p:spTgt spid="1946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17127"/>
                                        </p:tgtEl>
                                        <p:attrNameLst>
                                          <p:attrName>style.visibility</p:attrName>
                                        </p:attrNameLst>
                                      </p:cBhvr>
                                      <p:to>
                                        <p:strVal val="visible"/>
                                      </p:to>
                                    </p:set>
                                    <p:animEffect transition="in" filter="fade">
                                      <p:cBhvr>
                                        <p:cTn id="10" dur="500"/>
                                        <p:tgtEl>
                                          <p:spTgt spid="51712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500"/>
                                        <p:tgtEl>
                                          <p:spTgt spid="1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517125"/>
                                        </p:tgtEl>
                                        <p:attrNameLst>
                                          <p:attrName>style.visibility</p:attrName>
                                        </p:attrNameLst>
                                      </p:cBhvr>
                                      <p:to>
                                        <p:strVal val="visible"/>
                                      </p:to>
                                    </p:set>
                                    <p:animEffect transition="in" filter="fade">
                                      <p:cBhvr>
                                        <p:cTn id="23" dur="500"/>
                                        <p:tgtEl>
                                          <p:spTgt spid="51712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9459"/>
                                        </p:tgtEl>
                                        <p:attrNameLst>
                                          <p:attrName>style.visibility</p:attrName>
                                        </p:attrNameLst>
                                      </p:cBhvr>
                                      <p:to>
                                        <p:strVal val="visible"/>
                                      </p:to>
                                    </p:set>
                                    <p:animEffect transition="in" filter="fade">
                                      <p:cBhvr>
                                        <p:cTn id="26" dur="500"/>
                                        <p:tgtEl>
                                          <p:spTgt spid="19459"/>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p:bldP spid="19460" grpId="0"/>
      <p:bldP spid="517125" grpId="0" animBg="1"/>
      <p:bldP spid="517127" grpId="0" animBg="1"/>
      <p:bldP spid="16" grpId="0"/>
      <p:bldP spid="17" grpId="0" animBg="1"/>
      <p:bldP spid="18" grpId="0" animBg="1"/>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0" name="Rectangle 2"/>
          <p:cNvSpPr>
            <a:spLocks noGrp="1" noChangeArrowheads="1"/>
          </p:cNvSpPr>
          <p:nvPr>
            <p:ph type="title" idx="4294967295"/>
          </p:nvPr>
        </p:nvSpPr>
        <p:spPr>
          <a:xfrm>
            <a:off x="304800" y="0"/>
            <a:ext cx="7772400" cy="1143000"/>
          </a:xfrm>
        </p:spPr>
        <p:txBody>
          <a:bodyPr/>
          <a:lstStyle/>
          <a:p>
            <a:pPr eaLnBrk="1" hangingPunct="1"/>
            <a:r>
              <a:rPr lang="en-US"/>
              <a:t>What is a Bottleneck?</a:t>
            </a:r>
          </a:p>
        </p:txBody>
      </p:sp>
      <p:sp>
        <p:nvSpPr>
          <p:cNvPr id="22531" name="Text Box 3"/>
          <p:cNvSpPr txBox="1">
            <a:spLocks noChangeArrowheads="1"/>
          </p:cNvSpPr>
          <p:nvPr/>
        </p:nvSpPr>
        <p:spPr bwMode="auto">
          <a:xfrm>
            <a:off x="2362199" y="1827212"/>
            <a:ext cx="5043535" cy="1830388"/>
          </a:xfrm>
          <a:prstGeom prst="rect">
            <a:avLst/>
          </a:prstGeom>
          <a:noFill/>
          <a:ln w="9525">
            <a:noFill/>
            <a:miter lim="800000"/>
            <a:headEnd/>
            <a:tailEnd/>
          </a:ln>
        </p:spPr>
        <p:txBody>
          <a:bodyPr/>
          <a:lstStyle/>
          <a:p>
            <a:pPr algn="l"/>
            <a:r>
              <a:rPr lang="en-US" dirty="0">
                <a:latin typeface="Arial" panose="020B0604020202020204" pitchFamily="34" charset="0"/>
                <a:cs typeface="Arial" panose="020B0604020202020204" pitchFamily="34" charset="0"/>
              </a:rPr>
              <a:t>The step in the production/service delivery process:</a:t>
            </a:r>
          </a:p>
          <a:p>
            <a:pPr algn="l"/>
            <a:r>
              <a:rPr lang="en-US" dirty="0">
                <a:latin typeface="Arial" panose="020B0604020202020204" pitchFamily="34" charset="0"/>
                <a:cs typeface="Arial" panose="020B0604020202020204" pitchFamily="34" charset="0"/>
              </a:rPr>
              <a:t>a) that has the </a:t>
            </a:r>
            <a:r>
              <a:rPr lang="en-US" u="sng" dirty="0">
                <a:solidFill>
                  <a:srgbClr val="FF0000"/>
                </a:solidFill>
                <a:latin typeface="Arial" panose="020B0604020202020204" pitchFamily="34" charset="0"/>
                <a:cs typeface="Arial" panose="020B0604020202020204" pitchFamily="34" charset="0"/>
              </a:rPr>
              <a:t>lowest capacity </a:t>
            </a:r>
            <a:r>
              <a:rPr lang="en-US" dirty="0">
                <a:latin typeface="Arial" panose="020B0604020202020204" pitchFamily="34" charset="0"/>
                <a:cs typeface="Arial" panose="020B0604020202020204" pitchFamily="34" charset="0"/>
              </a:rPr>
              <a:t>when measured</a:t>
            </a:r>
          </a:p>
          <a:p>
            <a:pPr algn="l"/>
            <a:r>
              <a:rPr lang="en-US" b="1" dirty="0">
                <a:latin typeface="Arial" panose="020B0604020202020204" pitchFamily="34" charset="0"/>
                <a:cs typeface="Arial" panose="020B0604020202020204" pitchFamily="34" charset="0"/>
              </a:rPr>
              <a:t>using a comparable unit of measure</a:t>
            </a:r>
            <a:r>
              <a:rPr lang="en-US" dirty="0">
                <a:latin typeface="Arial" panose="020B0604020202020204" pitchFamily="34" charset="0"/>
                <a:cs typeface="Arial" panose="020B0604020202020204" pitchFamily="34" charset="0"/>
              </a:rPr>
              <a:t> and, therefore,</a:t>
            </a:r>
          </a:p>
          <a:p>
            <a:pPr algn="l"/>
            <a:r>
              <a:rPr lang="en-US" dirty="0">
                <a:latin typeface="Arial" panose="020B0604020202020204" pitchFamily="34" charset="0"/>
                <a:cs typeface="Arial" panose="020B0604020202020204" pitchFamily="34" charset="0"/>
              </a:rPr>
              <a:t>b) that </a:t>
            </a:r>
            <a:r>
              <a:rPr lang="en-US" u="sng" dirty="0">
                <a:latin typeface="Arial" panose="020B0604020202020204" pitchFamily="34" charset="0"/>
                <a:cs typeface="Arial" panose="020B0604020202020204" pitchFamily="34" charset="0"/>
              </a:rPr>
              <a:t>limits the overall output </a:t>
            </a:r>
            <a:r>
              <a:rPr lang="en-US" dirty="0">
                <a:latin typeface="Arial" panose="020B0604020202020204" pitchFamily="34" charset="0"/>
                <a:cs typeface="Arial" panose="020B0604020202020204" pitchFamily="34" charset="0"/>
              </a:rPr>
              <a:t>of the system.</a:t>
            </a:r>
          </a:p>
        </p:txBody>
      </p:sp>
      <p:sp>
        <p:nvSpPr>
          <p:cNvPr id="536582" name="AutoShape 6"/>
          <p:cNvSpPr>
            <a:spLocks noChangeArrowheads="1"/>
          </p:cNvSpPr>
          <p:nvPr/>
        </p:nvSpPr>
        <p:spPr bwMode="auto">
          <a:xfrm>
            <a:off x="304800" y="1905000"/>
            <a:ext cx="1905000" cy="1447800"/>
          </a:xfrm>
          <a:prstGeom prst="roundRect">
            <a:avLst>
              <a:gd name="adj" fmla="val 16667"/>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defRPr/>
            </a:pPr>
            <a:r>
              <a:rPr lang="en-US" sz="2400" b="1" dirty="0">
                <a:solidFill>
                  <a:schemeClr val="tx1"/>
                </a:solidFill>
                <a:latin typeface="Arial" panose="020B0604020202020204" pitchFamily="34" charset="0"/>
                <a:cs typeface="Arial" panose="020B0604020202020204" pitchFamily="34" charset="0"/>
              </a:rPr>
              <a:t>Bottleneck</a:t>
            </a:r>
          </a:p>
          <a:p>
            <a:pPr>
              <a:defRPr/>
            </a:pPr>
            <a:r>
              <a:rPr lang="en-US" sz="2400" b="1" dirty="0">
                <a:solidFill>
                  <a:schemeClr val="tx1"/>
                </a:solidFill>
                <a:latin typeface="Arial" panose="020B0604020202020204" pitchFamily="34" charset="0"/>
                <a:cs typeface="Arial" panose="020B0604020202020204" pitchFamily="34" charset="0"/>
              </a:rPr>
              <a:t>Definition</a:t>
            </a:r>
          </a:p>
        </p:txBody>
      </p:sp>
      <p:grpSp>
        <p:nvGrpSpPr>
          <p:cNvPr id="2" name="Group 8"/>
          <p:cNvGrpSpPr>
            <a:grpSpLocks/>
          </p:cNvGrpSpPr>
          <p:nvPr/>
        </p:nvGrpSpPr>
        <p:grpSpPr bwMode="auto">
          <a:xfrm>
            <a:off x="381000" y="4267200"/>
            <a:ext cx="8534400" cy="1647825"/>
            <a:chOff x="240" y="2514"/>
            <a:chExt cx="5376" cy="1038"/>
          </a:xfrm>
        </p:grpSpPr>
        <p:sp>
          <p:nvSpPr>
            <p:cNvPr id="22535" name="Text Box 4"/>
            <p:cNvSpPr txBox="1">
              <a:spLocks noChangeArrowheads="1"/>
            </p:cNvSpPr>
            <p:nvPr/>
          </p:nvSpPr>
          <p:spPr bwMode="auto">
            <a:xfrm>
              <a:off x="1488" y="2591"/>
              <a:ext cx="4128" cy="931"/>
            </a:xfrm>
            <a:prstGeom prst="rect">
              <a:avLst/>
            </a:prstGeom>
            <a:noFill/>
            <a:ln w="9525">
              <a:noFill/>
              <a:miter lim="800000"/>
              <a:headEnd/>
              <a:tailEnd/>
            </a:ln>
          </p:spPr>
          <p:txBody>
            <a:bodyPr>
              <a:spAutoFit/>
            </a:bodyPr>
            <a:lstStyle/>
            <a:p>
              <a:pPr algn="l"/>
              <a:r>
                <a:rPr lang="en-US" dirty="0">
                  <a:latin typeface="Arial" panose="020B0604020202020204" pitchFamily="34" charset="0"/>
                  <a:cs typeface="Arial" panose="020B0604020202020204" pitchFamily="34" charset="0"/>
                </a:rPr>
                <a:t>a) </a:t>
              </a:r>
              <a:r>
                <a:rPr lang="en-US" b="1" dirty="0">
                  <a:latin typeface="Arial" panose="020B0604020202020204" pitchFamily="34" charset="0"/>
                  <a:cs typeface="Arial" panose="020B0604020202020204" pitchFamily="34" charset="0"/>
                </a:rPr>
                <a:t>On paper:  </a:t>
              </a:r>
              <a:r>
                <a:rPr lang="en-US" dirty="0">
                  <a:latin typeface="Arial" panose="020B0604020202020204" pitchFamily="34" charset="0"/>
                  <a:cs typeface="Arial" panose="020B0604020202020204" pitchFamily="34" charset="0"/>
                </a:rPr>
                <a:t>Determine the capacity - </a:t>
              </a:r>
              <a:r>
                <a:rPr lang="en-US" b="1" dirty="0">
                  <a:latin typeface="Arial" panose="020B0604020202020204" pitchFamily="34" charset="0"/>
                  <a:cs typeface="Arial" panose="020B0604020202020204" pitchFamily="34" charset="0"/>
                </a:rPr>
                <a:t>using a comparable measure</a:t>
              </a:r>
              <a:r>
                <a:rPr lang="en-US" dirty="0">
                  <a:latin typeface="Arial" panose="020B0604020202020204" pitchFamily="34" charset="0"/>
                  <a:cs typeface="Arial" panose="020B0604020202020204" pitchFamily="34" charset="0"/>
                </a:rPr>
                <a:t> - of each step in the process.</a:t>
              </a:r>
            </a:p>
            <a:p>
              <a:pPr algn="l"/>
              <a:endParaRPr lang="en-US" dirty="0">
                <a:latin typeface="Arial" panose="020B0604020202020204" pitchFamily="34" charset="0"/>
                <a:cs typeface="Arial" panose="020B0604020202020204" pitchFamily="34" charset="0"/>
              </a:endParaRPr>
            </a:p>
            <a:p>
              <a:pPr algn="l"/>
              <a:r>
                <a:rPr lang="en-US" dirty="0">
                  <a:latin typeface="Arial" panose="020B0604020202020204" pitchFamily="34" charset="0"/>
                  <a:cs typeface="Arial" panose="020B0604020202020204" pitchFamily="34" charset="0"/>
                </a:rPr>
                <a:t>b) </a:t>
              </a:r>
              <a:r>
                <a:rPr lang="en-US" b="1" dirty="0">
                  <a:latin typeface="Arial" panose="020B0604020202020204" pitchFamily="34" charset="0"/>
                  <a:cs typeface="Arial" panose="020B0604020202020204" pitchFamily="34" charset="0"/>
                </a:rPr>
                <a:t>Line of sight:</a:t>
              </a:r>
              <a:r>
                <a:rPr lang="en-US" dirty="0">
                  <a:latin typeface="Arial" panose="020B0604020202020204" pitchFamily="34" charset="0"/>
                  <a:cs typeface="Arial" panose="020B0604020202020204" pitchFamily="34" charset="0"/>
                </a:rPr>
                <a:t>  Find the place in the production process that has the highest level of Work-In-Process (WIP) inventory.</a:t>
              </a:r>
            </a:p>
          </p:txBody>
        </p:sp>
        <p:sp>
          <p:nvSpPr>
            <p:cNvPr id="22536" name="Line 5"/>
            <p:cNvSpPr>
              <a:spLocks noChangeShapeType="1"/>
            </p:cNvSpPr>
            <p:nvPr/>
          </p:nvSpPr>
          <p:spPr bwMode="auto">
            <a:xfrm flipV="1">
              <a:off x="432" y="2514"/>
              <a:ext cx="4992" cy="0"/>
            </a:xfrm>
            <a:prstGeom prst="line">
              <a:avLst/>
            </a:prstGeom>
            <a:noFill/>
            <a:ln w="15875">
              <a:solidFill>
                <a:schemeClr val="tx1"/>
              </a:solidFill>
              <a:prstDash val="dash"/>
              <a:round/>
              <a:headEnd/>
              <a:tailEnd/>
            </a:ln>
          </p:spPr>
          <p:txBody>
            <a:bodyPr wrap="none" lIns="92075" tIns="46038" rIns="92075" bIns="46038" anchor="ctr"/>
            <a:lstStyle/>
            <a:p>
              <a:endParaRPr lang="en-US">
                <a:latin typeface="Arial" panose="020B0604020202020204" pitchFamily="34" charset="0"/>
                <a:cs typeface="Arial" panose="020B0604020202020204" pitchFamily="34" charset="0"/>
              </a:endParaRPr>
            </a:p>
          </p:txBody>
        </p:sp>
        <p:sp>
          <p:nvSpPr>
            <p:cNvPr id="536583" name="AutoShape 7"/>
            <p:cNvSpPr>
              <a:spLocks noChangeArrowheads="1"/>
            </p:cNvSpPr>
            <p:nvPr/>
          </p:nvSpPr>
          <p:spPr bwMode="auto">
            <a:xfrm>
              <a:off x="240" y="2592"/>
              <a:ext cx="1152" cy="960"/>
            </a:xfrm>
            <a:prstGeom prst="roundRect">
              <a:avLst>
                <a:gd name="adj" fmla="val 16667"/>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defRPr/>
              </a:pPr>
              <a:r>
                <a:rPr lang="en-US" sz="2300" b="1" dirty="0">
                  <a:solidFill>
                    <a:schemeClr val="tx1"/>
                  </a:solidFill>
                  <a:latin typeface="Arial" panose="020B0604020202020204" pitchFamily="34" charset="0"/>
                  <a:cs typeface="Arial" panose="020B0604020202020204" pitchFamily="34" charset="0"/>
                </a:rPr>
                <a:t>How Do You</a:t>
              </a:r>
            </a:p>
            <a:p>
              <a:pPr>
                <a:defRPr/>
              </a:pPr>
              <a:r>
                <a:rPr lang="en-US" sz="2300" b="1" dirty="0">
                  <a:solidFill>
                    <a:schemeClr val="tx1"/>
                  </a:solidFill>
                  <a:latin typeface="Arial" panose="020B0604020202020204" pitchFamily="34" charset="0"/>
                  <a:cs typeface="Arial" panose="020B0604020202020204" pitchFamily="34" charset="0"/>
                </a:rPr>
                <a:t>Find A</a:t>
              </a:r>
            </a:p>
            <a:p>
              <a:pPr>
                <a:defRPr/>
              </a:pPr>
              <a:r>
                <a:rPr lang="en-US" sz="2300" b="1" dirty="0">
                  <a:solidFill>
                    <a:schemeClr val="tx1"/>
                  </a:solidFill>
                  <a:latin typeface="Arial" panose="020B0604020202020204" pitchFamily="34" charset="0"/>
                  <a:cs typeface="Arial" panose="020B0604020202020204" pitchFamily="34" charset="0"/>
                </a:rPr>
                <a:t>Bottleneck?</a:t>
              </a:r>
            </a:p>
          </p:txBody>
        </p:sp>
      </p:grpSp>
      <p:pic>
        <p:nvPicPr>
          <p:cNvPr id="51202" name="Picture 2" descr="http://elcamarero.files.wordpress.com/2009/01/bottleneck_diagram.jpg"/>
          <p:cNvPicPr>
            <a:picLocks noChangeAspect="1" noChangeArrowheads="1"/>
          </p:cNvPicPr>
          <p:nvPr/>
        </p:nvPicPr>
        <p:blipFill>
          <a:blip r:embed="rId3" cstate="print"/>
          <a:srcRect r="51667" b="11111"/>
          <a:stretch>
            <a:fillRect/>
          </a:stretch>
        </p:blipFill>
        <p:spPr bwMode="auto">
          <a:xfrm>
            <a:off x="7251825" y="1408906"/>
            <a:ext cx="2052511" cy="2667000"/>
          </a:xfrm>
          <a:prstGeom prst="rect">
            <a:avLst/>
          </a:prstGeom>
          <a:noFill/>
        </p:spPr>
      </p:pic>
    </p:spTree>
    <p:extLst>
      <p:ext uri="{BB962C8B-B14F-4D97-AF65-F5344CB8AC3E}">
        <p14:creationId xmlns:p14="http://schemas.microsoft.com/office/powerpoint/2010/main" val="1966415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p:cNvSpPr>
            <a:spLocks noGrp="1" noChangeArrowheads="1"/>
          </p:cNvSpPr>
          <p:nvPr>
            <p:ph type="title"/>
          </p:nvPr>
        </p:nvSpPr>
        <p:spPr/>
        <p:txBody>
          <a:bodyPr/>
          <a:lstStyle/>
          <a:p>
            <a:r>
              <a:rPr lang="en-US" dirty="0"/>
              <a:t>Capacity Analysis</a:t>
            </a:r>
          </a:p>
        </p:txBody>
      </p:sp>
      <p:grpSp>
        <p:nvGrpSpPr>
          <p:cNvPr id="16" name="Group 15"/>
          <p:cNvGrpSpPr/>
          <p:nvPr/>
        </p:nvGrpSpPr>
        <p:grpSpPr>
          <a:xfrm>
            <a:off x="730930" y="1417638"/>
            <a:ext cx="7802442" cy="1274384"/>
            <a:chOff x="865188" y="3973890"/>
            <a:chExt cx="7802442" cy="1274384"/>
          </a:xfrm>
        </p:grpSpPr>
        <p:grpSp>
          <p:nvGrpSpPr>
            <p:cNvPr id="4" name="Group 3"/>
            <p:cNvGrpSpPr/>
            <p:nvPr/>
          </p:nvGrpSpPr>
          <p:grpSpPr>
            <a:xfrm>
              <a:off x="865188" y="4406901"/>
              <a:ext cx="7802442" cy="841373"/>
              <a:chOff x="788988" y="4406901"/>
              <a:chExt cx="7802442" cy="841373"/>
            </a:xfrm>
          </p:grpSpPr>
          <p:sp>
            <p:nvSpPr>
              <p:cNvPr id="31" name="Line 28"/>
              <p:cNvSpPr>
                <a:spLocks noChangeShapeType="1"/>
              </p:cNvSpPr>
              <p:nvPr/>
            </p:nvSpPr>
            <p:spPr bwMode="auto">
              <a:xfrm>
                <a:off x="5024887" y="4683124"/>
                <a:ext cx="544511" cy="1"/>
              </a:xfrm>
              <a:prstGeom prst="line">
                <a:avLst/>
              </a:prstGeom>
              <a:noFill/>
              <a:ln w="38100">
                <a:solidFill>
                  <a:srgbClr val="24BDB2"/>
                </a:solidFill>
                <a:round/>
                <a:headEnd/>
                <a:tailEnd type="triangle" w="med" len="med"/>
              </a:ln>
              <a:extLst>
                <a:ext uri="{909E8E84-426E-40dd-AFC4-6F175D3DCCD1}">
                  <a14:hiddenFill xmlns:a14="http://schemas.microsoft.com/office/drawing/2010/main" xmlns="">
                    <a:noFill/>
                  </a14:hiddenFill>
                </a:ext>
              </a:extLst>
            </p:spPr>
            <p:txBody>
              <a:bodyPr/>
              <a:lstStyle/>
              <a:p>
                <a:endParaRPr lang="en-US" dirty="0">
                  <a:latin typeface="Arial"/>
                  <a:cs typeface="Arial"/>
                </a:endParaRPr>
              </a:p>
            </p:txBody>
          </p:sp>
          <p:sp>
            <p:nvSpPr>
              <p:cNvPr id="65543" name="Line 25"/>
              <p:cNvSpPr>
                <a:spLocks noChangeShapeType="1"/>
              </p:cNvSpPr>
              <p:nvPr/>
            </p:nvSpPr>
            <p:spPr bwMode="auto">
              <a:xfrm>
                <a:off x="2062165" y="4683124"/>
                <a:ext cx="406400" cy="0"/>
              </a:xfrm>
              <a:prstGeom prst="line">
                <a:avLst/>
              </a:prstGeom>
              <a:noFill/>
              <a:ln w="38100">
                <a:solidFill>
                  <a:srgbClr val="24BDB2"/>
                </a:solidFill>
                <a:round/>
                <a:headEnd/>
                <a:tailEnd/>
              </a:ln>
              <a:extLst>
                <a:ext uri="{909E8E84-426E-40dd-AFC4-6F175D3DCCD1}">
                  <a14:hiddenFill xmlns:a14="http://schemas.microsoft.com/office/drawing/2010/main" xmlns="">
                    <a:noFill/>
                  </a14:hiddenFill>
                </a:ext>
              </a:extLst>
            </p:spPr>
            <p:txBody>
              <a:bodyPr/>
              <a:lstStyle/>
              <a:p>
                <a:endParaRPr lang="en-US" dirty="0">
                  <a:latin typeface="Arial"/>
                  <a:cs typeface="Arial"/>
                </a:endParaRPr>
              </a:p>
            </p:txBody>
          </p:sp>
          <p:sp>
            <p:nvSpPr>
              <p:cNvPr id="125961" name="Text Box 9"/>
              <p:cNvSpPr txBox="1">
                <a:spLocks noChangeArrowheads="1"/>
              </p:cNvSpPr>
              <p:nvPr/>
            </p:nvSpPr>
            <p:spPr bwMode="auto">
              <a:xfrm>
                <a:off x="7270059" y="4406901"/>
                <a:ext cx="1008063" cy="533398"/>
              </a:xfrm>
              <a:prstGeom prst="rect">
                <a:avLst/>
              </a:prstGeom>
              <a:solidFill>
                <a:schemeClr val="accent3"/>
              </a:solidFill>
              <a:ln w="19050">
                <a:solidFill>
                  <a:schemeClr val="tx1"/>
                </a:solidFill>
                <a:miter lim="800000"/>
                <a:headEnd/>
                <a:tailEnd/>
              </a:ln>
              <a:effectLst/>
            </p:spPr>
            <p:txBody>
              <a:bodyPr wrap="none" lIns="162000" tIns="118800" rIns="162000" bIns="118800"/>
              <a:lstStyle/>
              <a:p>
                <a:pPr algn="ctr" fontAlgn="auto">
                  <a:spcBef>
                    <a:spcPts val="0"/>
                  </a:spcBef>
                  <a:spcAft>
                    <a:spcPts val="0"/>
                  </a:spcAft>
                  <a:defRPr/>
                </a:pPr>
                <a:r>
                  <a:rPr lang="en-US" sz="1200" dirty="0">
                    <a:latin typeface="Arial"/>
                    <a:ea typeface="+mn-ea"/>
                    <a:cs typeface="Arial"/>
                  </a:rPr>
                  <a:t>Wrap/</a:t>
                </a:r>
              </a:p>
              <a:p>
                <a:pPr algn="ctr" fontAlgn="auto">
                  <a:spcBef>
                    <a:spcPts val="0"/>
                  </a:spcBef>
                  <a:spcAft>
                    <a:spcPts val="0"/>
                  </a:spcAft>
                  <a:defRPr/>
                </a:pPr>
                <a:r>
                  <a:rPr lang="en-US" sz="1200" dirty="0">
                    <a:latin typeface="Arial"/>
                    <a:ea typeface="+mn-ea"/>
                    <a:cs typeface="Arial"/>
                  </a:rPr>
                  <a:t>Deliver</a:t>
                </a:r>
              </a:p>
            </p:txBody>
          </p:sp>
          <p:sp>
            <p:nvSpPr>
              <p:cNvPr id="65564" name="Text Box 14"/>
              <p:cNvSpPr txBox="1">
                <a:spLocks noChangeArrowheads="1"/>
              </p:cNvSpPr>
              <p:nvPr/>
            </p:nvSpPr>
            <p:spPr bwMode="auto">
              <a:xfrm>
                <a:off x="6929317" y="4940299"/>
                <a:ext cx="1662113"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r>
                  <a:rPr lang="en-US" sz="1400" dirty="0">
                    <a:latin typeface="Arial"/>
                    <a:cs typeface="Arial"/>
                  </a:rPr>
                  <a:t>37.5 sec/sandwich</a:t>
                </a:r>
              </a:p>
            </p:txBody>
          </p:sp>
          <p:sp>
            <p:nvSpPr>
              <p:cNvPr id="125957" name="Text Box 5"/>
              <p:cNvSpPr txBox="1">
                <a:spLocks noChangeArrowheads="1"/>
              </p:cNvSpPr>
              <p:nvPr/>
            </p:nvSpPr>
            <p:spPr bwMode="auto">
              <a:xfrm>
                <a:off x="1056593" y="4441824"/>
                <a:ext cx="1008063" cy="482600"/>
              </a:xfrm>
              <a:prstGeom prst="rect">
                <a:avLst/>
              </a:prstGeom>
              <a:solidFill>
                <a:schemeClr val="accent3"/>
              </a:solidFill>
              <a:ln w="19050">
                <a:solidFill>
                  <a:schemeClr val="tx1"/>
                </a:solidFill>
                <a:miter lim="800000"/>
                <a:headEnd/>
                <a:tailEnd/>
              </a:ln>
              <a:effectLst/>
            </p:spPr>
            <p:txBody>
              <a:bodyPr wrap="none" lIns="162000" tIns="118800" rIns="162000" bIns="118800"/>
              <a:lstStyle/>
              <a:p>
                <a:pPr algn="ctr" fontAlgn="auto">
                  <a:spcBef>
                    <a:spcPts val="0"/>
                  </a:spcBef>
                  <a:spcAft>
                    <a:spcPts val="0"/>
                  </a:spcAft>
                  <a:defRPr/>
                </a:pPr>
                <a:r>
                  <a:rPr lang="en-US" sz="1600" dirty="0">
                    <a:latin typeface="Arial"/>
                    <a:ea typeface="+mn-ea"/>
                    <a:cs typeface="Arial"/>
                  </a:rPr>
                  <a:t>Order</a:t>
                </a:r>
              </a:p>
            </p:txBody>
          </p:sp>
          <p:sp>
            <p:nvSpPr>
              <p:cNvPr id="65562" name="Text Box 10"/>
              <p:cNvSpPr txBox="1">
                <a:spLocks noChangeArrowheads="1"/>
              </p:cNvSpPr>
              <p:nvPr/>
            </p:nvSpPr>
            <p:spPr bwMode="auto">
              <a:xfrm>
                <a:off x="788988" y="4891089"/>
                <a:ext cx="1511300"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r>
                  <a:rPr lang="en-US" sz="1400" dirty="0">
                    <a:latin typeface="Arial"/>
                    <a:cs typeface="Arial"/>
                  </a:rPr>
                  <a:t>30 sec/sandwich</a:t>
                </a:r>
              </a:p>
            </p:txBody>
          </p:sp>
          <p:sp>
            <p:nvSpPr>
              <p:cNvPr id="65548" name="Line 28"/>
              <p:cNvSpPr>
                <a:spLocks noChangeShapeType="1"/>
              </p:cNvSpPr>
              <p:nvPr/>
            </p:nvSpPr>
            <p:spPr bwMode="auto">
              <a:xfrm>
                <a:off x="3504062" y="4683124"/>
                <a:ext cx="495299" cy="1"/>
              </a:xfrm>
              <a:prstGeom prst="line">
                <a:avLst/>
              </a:prstGeom>
              <a:noFill/>
              <a:ln w="38100">
                <a:solidFill>
                  <a:srgbClr val="24BDB2"/>
                </a:solidFill>
                <a:round/>
                <a:headEnd/>
                <a:tailEnd type="triangle" w="med" len="med"/>
              </a:ln>
              <a:extLst>
                <a:ext uri="{909E8E84-426E-40dd-AFC4-6F175D3DCCD1}">
                  <a14:hiddenFill xmlns:a14="http://schemas.microsoft.com/office/drawing/2010/main" xmlns="">
                    <a:noFill/>
                  </a14:hiddenFill>
                </a:ext>
              </a:extLst>
            </p:spPr>
            <p:txBody>
              <a:bodyPr/>
              <a:lstStyle/>
              <a:p>
                <a:endParaRPr lang="en-US" dirty="0">
                  <a:latin typeface="Arial"/>
                  <a:cs typeface="Arial"/>
                </a:endParaRPr>
              </a:p>
            </p:txBody>
          </p:sp>
          <p:sp>
            <p:nvSpPr>
              <p:cNvPr id="65551" name="Text Box 6"/>
              <p:cNvSpPr txBox="1">
                <a:spLocks noChangeArrowheads="1"/>
              </p:cNvSpPr>
              <p:nvPr/>
            </p:nvSpPr>
            <p:spPr bwMode="auto">
              <a:xfrm>
                <a:off x="2484887" y="4438650"/>
                <a:ext cx="1008063" cy="482600"/>
              </a:xfrm>
              <a:prstGeom prst="rect">
                <a:avLst/>
              </a:prstGeom>
              <a:noFill/>
              <a:ln w="19050">
                <a:solidFill>
                  <a:schemeClr val="tx1"/>
                </a:solidFill>
                <a:miter lim="800000"/>
                <a:headEnd/>
                <a:tailEnd/>
              </a:ln>
            </p:spPr>
            <p:txBody>
              <a:bodyPr wrap="none" lIns="162000" tIns="118800" rIns="162000" bIns="118800"/>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pPr algn="ctr"/>
                <a:r>
                  <a:rPr lang="en-US" sz="1600" dirty="0">
                    <a:latin typeface="Arial"/>
                    <a:cs typeface="Arial"/>
                  </a:rPr>
                  <a:t>Bread</a:t>
                </a:r>
              </a:p>
            </p:txBody>
          </p:sp>
          <p:sp>
            <p:nvSpPr>
              <p:cNvPr id="65552" name="Text Box 7"/>
              <p:cNvSpPr txBox="1">
                <a:spLocks noChangeArrowheads="1"/>
              </p:cNvSpPr>
              <p:nvPr/>
            </p:nvSpPr>
            <p:spPr bwMode="auto">
              <a:xfrm>
                <a:off x="4016825" y="4438650"/>
                <a:ext cx="1008063" cy="482600"/>
              </a:xfrm>
              <a:prstGeom prst="rect">
                <a:avLst/>
              </a:prstGeom>
              <a:noFill/>
              <a:ln w="19050">
                <a:solidFill>
                  <a:schemeClr val="tx1"/>
                </a:solidFill>
                <a:miter lim="800000"/>
                <a:headEnd/>
                <a:tailEnd/>
              </a:ln>
            </p:spPr>
            <p:txBody>
              <a:bodyPr wrap="none" lIns="162000" tIns="118800" rIns="162000" bIns="118800"/>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pPr algn="ctr"/>
                <a:r>
                  <a:rPr lang="en-US" sz="1600" dirty="0">
                    <a:latin typeface="Arial"/>
                    <a:cs typeface="Arial"/>
                  </a:rPr>
                  <a:t>Fill</a:t>
                </a:r>
              </a:p>
            </p:txBody>
          </p:sp>
          <p:sp>
            <p:nvSpPr>
              <p:cNvPr id="65559" name="Text Box 18"/>
              <p:cNvSpPr txBox="1">
                <a:spLocks noChangeArrowheads="1"/>
              </p:cNvSpPr>
              <p:nvPr/>
            </p:nvSpPr>
            <p:spPr bwMode="auto">
              <a:xfrm>
                <a:off x="2199137" y="4922838"/>
                <a:ext cx="1511300"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r>
                  <a:rPr lang="en-US" sz="1400" dirty="0">
                    <a:latin typeface="Arial"/>
                    <a:cs typeface="Arial"/>
                  </a:rPr>
                  <a:t>15 sec/sandwich</a:t>
                </a:r>
              </a:p>
            </p:txBody>
          </p:sp>
          <p:sp>
            <p:nvSpPr>
              <p:cNvPr id="65560" name="Text Box 19"/>
              <p:cNvSpPr txBox="1">
                <a:spLocks noChangeArrowheads="1"/>
              </p:cNvSpPr>
              <p:nvPr/>
            </p:nvSpPr>
            <p:spPr bwMode="auto">
              <a:xfrm>
                <a:off x="3729487" y="4922838"/>
                <a:ext cx="1511300"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r>
                  <a:rPr lang="en-US" sz="1400" dirty="0">
                    <a:latin typeface="Arial"/>
                    <a:cs typeface="Arial"/>
                  </a:rPr>
                  <a:t>20 sec/sandwich</a:t>
                </a:r>
              </a:p>
            </p:txBody>
          </p:sp>
          <p:sp>
            <p:nvSpPr>
              <p:cNvPr id="65541" name="Line 27"/>
              <p:cNvSpPr>
                <a:spLocks noChangeShapeType="1"/>
              </p:cNvSpPr>
              <p:nvPr/>
            </p:nvSpPr>
            <p:spPr bwMode="auto">
              <a:xfrm flipV="1">
                <a:off x="6588575" y="4672011"/>
                <a:ext cx="681484" cy="11113"/>
              </a:xfrm>
              <a:prstGeom prst="line">
                <a:avLst/>
              </a:prstGeom>
              <a:noFill/>
              <a:ln w="38100">
                <a:solidFill>
                  <a:srgbClr val="24BDB2"/>
                </a:solidFill>
                <a:round/>
                <a:headEnd/>
                <a:tailEnd type="triangle" w="med" len="med"/>
              </a:ln>
              <a:extLst>
                <a:ext uri="{909E8E84-426E-40dd-AFC4-6F175D3DCCD1}">
                  <a14:hiddenFill xmlns:a14="http://schemas.microsoft.com/office/drawing/2010/main" xmlns="">
                    <a:noFill/>
                  </a14:hiddenFill>
                </a:ext>
              </a:extLst>
            </p:spPr>
            <p:txBody>
              <a:bodyPr/>
              <a:lstStyle/>
              <a:p>
                <a:endParaRPr lang="en-US" dirty="0">
                  <a:latin typeface="Arial"/>
                  <a:cs typeface="Arial"/>
                </a:endParaRPr>
              </a:p>
            </p:txBody>
          </p:sp>
          <p:sp>
            <p:nvSpPr>
              <p:cNvPr id="30" name="Text Box 17"/>
              <p:cNvSpPr txBox="1">
                <a:spLocks noChangeArrowheads="1"/>
              </p:cNvSpPr>
              <p:nvPr/>
            </p:nvSpPr>
            <p:spPr bwMode="auto">
              <a:xfrm>
                <a:off x="5569398" y="4430711"/>
                <a:ext cx="1008063" cy="482600"/>
              </a:xfrm>
              <a:prstGeom prst="rect">
                <a:avLst/>
              </a:prstGeom>
              <a:noFill/>
              <a:ln w="19050">
                <a:solidFill>
                  <a:schemeClr val="tx1"/>
                </a:solidFill>
                <a:miter lim="800000"/>
                <a:headEnd/>
                <a:tailEnd/>
              </a:ln>
            </p:spPr>
            <p:txBody>
              <a:bodyPr wrap="none" lIns="162000" tIns="118800" rIns="162000" bIns="118800"/>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pPr algn="ctr"/>
                <a:r>
                  <a:rPr lang="en-US" sz="1600" dirty="0">
                    <a:latin typeface="Arial"/>
                    <a:cs typeface="Arial"/>
                  </a:rPr>
                  <a:t>Toaster</a:t>
                </a:r>
              </a:p>
            </p:txBody>
          </p:sp>
          <p:sp>
            <p:nvSpPr>
              <p:cNvPr id="34" name="Text Box 13"/>
              <p:cNvSpPr txBox="1">
                <a:spLocks noChangeArrowheads="1"/>
              </p:cNvSpPr>
              <p:nvPr/>
            </p:nvSpPr>
            <p:spPr bwMode="auto">
              <a:xfrm>
                <a:off x="5329687" y="4921250"/>
                <a:ext cx="151199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r>
                  <a:rPr lang="en-US" sz="1400" dirty="0">
                    <a:latin typeface="Arial"/>
                    <a:cs typeface="Arial"/>
                  </a:rPr>
                  <a:t>40 sec/sandwich</a:t>
                </a:r>
              </a:p>
            </p:txBody>
          </p:sp>
        </p:grpSp>
        <p:sp>
          <p:nvSpPr>
            <p:cNvPr id="37" name="TextBox 36"/>
            <p:cNvSpPr txBox="1"/>
            <p:nvPr/>
          </p:nvSpPr>
          <p:spPr>
            <a:xfrm>
              <a:off x="3848084" y="3973890"/>
              <a:ext cx="1447832" cy="338554"/>
            </a:xfrm>
            <a:prstGeom prst="rect">
              <a:avLst/>
            </a:prstGeom>
            <a:noFill/>
          </p:spPr>
          <p:txBody>
            <a:bodyPr wrap="none" rtlCol="0">
              <a:spAutoFit/>
            </a:bodyPr>
            <a:lstStyle/>
            <a:p>
              <a:r>
                <a:rPr lang="en-US" sz="1600" dirty="0">
                  <a:latin typeface="Arial"/>
                  <a:cs typeface="Arial"/>
                </a:rPr>
                <a:t>Assembly line</a:t>
              </a:r>
            </a:p>
          </p:txBody>
        </p:sp>
        <p:cxnSp>
          <p:nvCxnSpPr>
            <p:cNvPr id="7" name="Straight Arrow Connector 6"/>
            <p:cNvCxnSpPr/>
            <p:nvPr/>
          </p:nvCxnSpPr>
          <p:spPr>
            <a:xfrm>
              <a:off x="5567241" y="4148098"/>
              <a:ext cx="1097534" cy="0"/>
            </a:xfrm>
            <a:prstGeom prst="straightConnector1">
              <a:avLst/>
            </a:prstGeom>
            <a:ln w="28575" cmpd="sng">
              <a:solidFill>
                <a:schemeClr val="tx1"/>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0" name="Straight Arrow Connector 39"/>
            <p:cNvCxnSpPr/>
            <p:nvPr/>
          </p:nvCxnSpPr>
          <p:spPr>
            <a:xfrm flipH="1">
              <a:off x="2561087" y="4148098"/>
              <a:ext cx="1054261" cy="0"/>
            </a:xfrm>
            <a:prstGeom prst="straightConnector1">
              <a:avLst/>
            </a:prstGeom>
            <a:ln w="28575" cmpd="sng">
              <a:solidFill>
                <a:schemeClr val="tx1"/>
              </a:solidFill>
              <a:tailEnd type="triangle" w="med" len="med"/>
            </a:ln>
            <a:effectLst/>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5" name="TextBox 4"/>
              <p:cNvSpPr txBox="1"/>
              <p:nvPr/>
            </p:nvSpPr>
            <p:spPr>
              <a:xfrm>
                <a:off x="2852731" y="4008318"/>
                <a:ext cx="5955156" cy="52597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𝐶𝑎𝑝𝑎𝑐𝑖𝑡𝑦</m:t>
                      </m:r>
                      <m:r>
                        <a:rPr lang="en-US" b="0" i="1" smtClean="0">
                          <a:latin typeface="Cambria Math" panose="02040503050406030204" pitchFamily="18" charset="0"/>
                        </a:rPr>
                        <m:t>=3600</m:t>
                      </m:r>
                      <m:f>
                        <m:fPr>
                          <m:ctrlPr>
                            <a:rPr lang="en-US" b="0" i="1" smtClean="0">
                              <a:latin typeface="Cambria Math" panose="02040503050406030204" pitchFamily="18" charset="0"/>
                            </a:rPr>
                          </m:ctrlPr>
                        </m:fPr>
                        <m:num>
                          <m:r>
                            <a:rPr lang="en-US" b="0" i="1" smtClean="0">
                              <a:latin typeface="Cambria Math" panose="02040503050406030204" pitchFamily="18" charset="0"/>
                            </a:rPr>
                            <m:t>𝑠𝑒𝑐</m:t>
                          </m:r>
                        </m:num>
                        <m:den>
                          <m:r>
                            <a:rPr lang="en-US" b="0" i="1" smtClean="0">
                              <a:latin typeface="Cambria Math" panose="02040503050406030204" pitchFamily="18" charset="0"/>
                            </a:rPr>
                            <m:t>h𝑟</m:t>
                          </m:r>
                        </m:den>
                      </m:f>
                      <m:r>
                        <a:rPr lang="en-US" b="0" i="1" smtClean="0">
                          <a:latin typeface="Cambria Math" panose="02040503050406030204" pitchFamily="18" charset="0"/>
                        </a:rPr>
                        <m:t>𝑥</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40</m:t>
                          </m:r>
                        </m:den>
                      </m:f>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𝑠𝑎𝑛𝑑𝑤𝑖𝑐h</m:t>
                          </m:r>
                        </m:num>
                        <m:den>
                          <m:r>
                            <a:rPr lang="en-US" b="0" i="1" smtClean="0">
                              <a:latin typeface="Cambria Math" panose="02040503050406030204" pitchFamily="18" charset="0"/>
                            </a:rPr>
                            <m:t>𝑠𝑒𝑐</m:t>
                          </m:r>
                        </m:den>
                      </m:f>
                      <m:r>
                        <a:rPr lang="en-US" b="0" i="1" smtClean="0">
                          <a:latin typeface="Cambria Math" panose="02040503050406030204" pitchFamily="18" charset="0"/>
                        </a:rPr>
                        <m:t>=90 </m:t>
                      </m:r>
                      <m:r>
                        <a:rPr lang="en-US" b="0" i="1" smtClean="0">
                          <a:latin typeface="Cambria Math" panose="02040503050406030204" pitchFamily="18" charset="0"/>
                        </a:rPr>
                        <m:t>𝑠𝑎𝑛𝑑𝑤𝑖𝑐h𝑒𝑠</m:t>
                      </m:r>
                      <m:r>
                        <a:rPr lang="en-US" b="0" i="1" smtClean="0">
                          <a:latin typeface="Cambria Math" panose="02040503050406030204" pitchFamily="18" charset="0"/>
                        </a:rPr>
                        <m:t>/</m:t>
                      </m:r>
                      <m:r>
                        <a:rPr lang="en-US" b="0" i="1" smtClean="0">
                          <a:latin typeface="Cambria Math" panose="02040503050406030204" pitchFamily="18" charset="0"/>
                        </a:rPr>
                        <m:t>h𝑟</m:t>
                      </m:r>
                    </m:oMath>
                  </m:oMathPara>
                </a14:m>
                <a:endParaRPr lang="en-US" dirty="0"/>
              </a:p>
            </p:txBody>
          </p:sp>
        </mc:Choice>
        <mc:Fallback xmlns="">
          <p:sp>
            <p:nvSpPr>
              <p:cNvPr id="5" name="TextBox 4"/>
              <p:cNvSpPr txBox="1">
                <a:spLocks noRot="1" noChangeAspect="1" noMove="1" noResize="1" noEditPoints="1" noAdjustHandles="1" noChangeArrowheads="1" noChangeShapeType="1" noTextEdit="1"/>
              </p:cNvSpPr>
              <p:nvPr/>
            </p:nvSpPr>
            <p:spPr>
              <a:xfrm>
                <a:off x="2852731" y="4008318"/>
                <a:ext cx="5955156" cy="525978"/>
              </a:xfrm>
              <a:prstGeom prst="rect">
                <a:avLst/>
              </a:prstGeom>
              <a:blipFill rotWithShape="0">
                <a:blip r:embed="rId3"/>
                <a:stretch>
                  <a:fillRect/>
                </a:stretch>
              </a:blipFill>
            </p:spPr>
            <p:txBody>
              <a:bodyPr/>
              <a:lstStyle/>
              <a:p>
                <a:r>
                  <a:rPr lang="en-US">
                    <a:noFill/>
                  </a:rPr>
                  <a:t> </a:t>
                </a:r>
              </a:p>
            </p:txBody>
          </p:sp>
        </mc:Fallback>
      </mc:AlternateContent>
      <p:grpSp>
        <p:nvGrpSpPr>
          <p:cNvPr id="9" name="Group 8"/>
          <p:cNvGrpSpPr/>
          <p:nvPr/>
        </p:nvGrpSpPr>
        <p:grpSpPr>
          <a:xfrm>
            <a:off x="5329016" y="1720691"/>
            <a:ext cx="1410149" cy="2111131"/>
            <a:chOff x="5329016" y="1720691"/>
            <a:chExt cx="1410149" cy="2111131"/>
          </a:xfrm>
        </p:grpSpPr>
        <p:cxnSp>
          <p:nvCxnSpPr>
            <p:cNvPr id="3" name="Straight Arrow Connector 2"/>
            <p:cNvCxnSpPr/>
            <p:nvPr/>
          </p:nvCxnSpPr>
          <p:spPr bwMode="auto">
            <a:xfrm>
              <a:off x="5967803" y="2790677"/>
              <a:ext cx="0" cy="1041145"/>
            </a:xfrm>
            <a:prstGeom prst="straightConnector1">
              <a:avLst/>
            </a:prstGeom>
            <a:solidFill>
              <a:schemeClr val="accent1"/>
            </a:solidFill>
            <a:ln w="22225" cap="flat" cmpd="sng" algn="ctr">
              <a:solidFill>
                <a:schemeClr val="tx1"/>
              </a:solidFill>
              <a:prstDash val="solid"/>
              <a:round/>
              <a:headEnd type="none" w="sm" len="sm"/>
              <a:tailEnd type="triangle"/>
            </a:ln>
            <a:effectLst/>
          </p:spPr>
        </p:cxnSp>
        <p:sp>
          <p:nvSpPr>
            <p:cNvPr id="6" name="Rounded Rectangle 5"/>
            <p:cNvSpPr/>
            <p:nvPr/>
          </p:nvSpPr>
          <p:spPr bwMode="auto">
            <a:xfrm>
              <a:off x="5329016" y="1720691"/>
              <a:ext cx="1410149" cy="1069986"/>
            </a:xfrm>
            <a:prstGeom prst="roundRect">
              <a:avLst/>
            </a:prstGeom>
            <a:noFill/>
            <a:ln w="47625" cap="flat" cmpd="sng" algn="ctr">
              <a:solidFill>
                <a:srgbClr val="C00000"/>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Verdana" pitchFamily="34" charset="0"/>
              </a:endParaRPr>
            </a:p>
          </p:txBody>
        </p:sp>
      </p:grpSp>
      <mc:AlternateContent xmlns:mc="http://schemas.openxmlformats.org/markup-compatibility/2006" xmlns:a14="http://schemas.microsoft.com/office/drawing/2010/main">
        <mc:Choice Requires="a14">
          <p:sp>
            <p:nvSpPr>
              <p:cNvPr id="46" name="TextBox 45"/>
              <p:cNvSpPr txBox="1"/>
              <p:nvPr/>
            </p:nvSpPr>
            <p:spPr>
              <a:xfrm>
                <a:off x="2966817" y="4717553"/>
                <a:ext cx="5959452" cy="276999"/>
              </a:xfrm>
              <a:prstGeom prst="rect">
                <a:avLst/>
              </a:prstGeom>
              <a:noFill/>
            </p:spPr>
            <p:txBody>
              <a:bodyPr wrap="none" lIns="0" tIns="0" rIns="0" bIns="0" rtlCol="0">
                <a:spAutoFit/>
              </a:bodyPr>
              <a:lstStyle/>
              <a:p>
                <a14:m>
                  <m:oMath xmlns:m="http://schemas.openxmlformats.org/officeDocument/2006/math">
                    <m:r>
                      <a:rPr lang="en-US" b="0" i="1" smtClean="0">
                        <a:latin typeface="Cambria Math" panose="02040503050406030204" pitchFamily="18" charset="0"/>
                      </a:rPr>
                      <m:t>𝑇h𝑟𝑜𝑢𝑔h𝑝𝑢𝑡</m:t>
                    </m:r>
                    <m:r>
                      <a:rPr lang="en-US" b="0" i="1" smtClean="0">
                        <a:latin typeface="Cambria Math" panose="02040503050406030204" pitchFamily="18" charset="0"/>
                      </a:rPr>
                      <m:t> </m:t>
                    </m:r>
                    <m:r>
                      <a:rPr lang="en-US" b="0" i="1" smtClean="0">
                        <a:latin typeface="Cambria Math" panose="02040503050406030204" pitchFamily="18" charset="0"/>
                      </a:rPr>
                      <m:t>𝑡𝑖𝑚𝑒</m:t>
                    </m:r>
                    <m:r>
                      <a:rPr lang="en-US" b="0" i="1" smtClean="0">
                        <a:latin typeface="Cambria Math" panose="02040503050406030204" pitchFamily="18" charset="0"/>
                      </a:rPr>
                      <m:t>=30+15+20+40+37.5=142.5</m:t>
                    </m:r>
                    <m:r>
                      <a:rPr lang="en-US" b="0" i="0" smtClean="0">
                        <a:latin typeface="Cambria Math" panose="02040503050406030204" pitchFamily="18" charset="0"/>
                      </a:rPr>
                      <m:t> </m:t>
                    </m:r>
                    <m:r>
                      <m:rPr>
                        <m:sty m:val="p"/>
                      </m:rPr>
                      <a:rPr lang="en-US" b="0" i="0" smtClean="0">
                        <a:latin typeface="Cambria Math" panose="02040503050406030204" pitchFamily="18" charset="0"/>
                      </a:rPr>
                      <m:t>sec</m:t>
                    </m:r>
                  </m:oMath>
                </a14:m>
                <a:r>
                  <a:rPr lang="en-US" dirty="0"/>
                  <a:t> </a:t>
                </a:r>
              </a:p>
            </p:txBody>
          </p:sp>
        </mc:Choice>
        <mc:Fallback xmlns="">
          <p:sp>
            <p:nvSpPr>
              <p:cNvPr id="46" name="TextBox 45"/>
              <p:cNvSpPr txBox="1">
                <a:spLocks noRot="1" noChangeAspect="1" noMove="1" noResize="1" noEditPoints="1" noAdjustHandles="1" noChangeArrowheads="1" noChangeShapeType="1" noTextEdit="1"/>
              </p:cNvSpPr>
              <p:nvPr/>
            </p:nvSpPr>
            <p:spPr>
              <a:xfrm>
                <a:off x="2966817" y="4717553"/>
                <a:ext cx="5959452" cy="276999"/>
              </a:xfrm>
              <a:prstGeom prst="rect">
                <a:avLst/>
              </a:prstGeom>
              <a:blipFill rotWithShape="0">
                <a:blip r:embed="rId4"/>
                <a:stretch>
                  <a:fillRect l="-1842" b="-40000"/>
                </a:stretch>
              </a:blipFill>
            </p:spPr>
            <p:txBody>
              <a:bodyPr/>
              <a:lstStyle/>
              <a:p>
                <a:r>
                  <a:rPr lang="en-US">
                    <a:noFill/>
                  </a:rPr>
                  <a:t> </a:t>
                </a:r>
              </a:p>
            </p:txBody>
          </p:sp>
        </mc:Fallback>
      </mc:AlternateContent>
      <p:sp>
        <p:nvSpPr>
          <p:cNvPr id="2" name="TextBox 1"/>
          <p:cNvSpPr txBox="1"/>
          <p:nvPr/>
        </p:nvSpPr>
        <p:spPr>
          <a:xfrm>
            <a:off x="622808" y="5665926"/>
            <a:ext cx="8303461" cy="923330"/>
          </a:xfrm>
          <a:prstGeom prst="rect">
            <a:avLst/>
          </a:prstGeom>
          <a:noFill/>
        </p:spPr>
        <p:txBody>
          <a:bodyPr wrap="square" rtlCol="0">
            <a:spAutoFit/>
          </a:bodyPr>
          <a:lstStyle/>
          <a:p>
            <a:pPr marL="285750" indent="-285750">
              <a:buClr>
                <a:srgbClr val="C00000"/>
              </a:buClr>
              <a:buFont typeface="Arial" panose="020B0604020202020204" pitchFamily="34" charset="0"/>
              <a:buChar char="•"/>
            </a:pPr>
            <a:r>
              <a:rPr lang="en-US" dirty="0"/>
              <a:t>Instead, we can convert processing times (sec/sandwich) to capacity of the individual stages (e.g. sandwiches/</a:t>
            </a:r>
            <a:r>
              <a:rPr lang="en-US" dirty="0" err="1"/>
              <a:t>hr</a:t>
            </a:r>
            <a:r>
              <a:rPr lang="en-US" dirty="0"/>
              <a:t>) and pick the stage with the lowest capacity</a:t>
            </a:r>
          </a:p>
        </p:txBody>
      </p:sp>
    </p:spTree>
    <p:extLst>
      <p:ext uri="{BB962C8B-B14F-4D97-AF65-F5344CB8AC3E}">
        <p14:creationId xmlns:p14="http://schemas.microsoft.com/office/powerpoint/2010/main" val="2723064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6"/>
                                        </p:tgtEl>
                                        <p:attrNameLst>
                                          <p:attrName>style.visibility</p:attrName>
                                        </p:attrNameLst>
                                      </p:cBhvr>
                                      <p:to>
                                        <p:strVal val="visible"/>
                                      </p:to>
                                    </p:set>
                                    <p:animEffect transition="in" filter="fade">
                                      <p:cBhvr>
                                        <p:cTn id="17" dur="500"/>
                                        <p:tgtEl>
                                          <p:spTgt spid="4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46" grpId="0"/>
      <p:bldP spid="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p:cNvSpPr>
            <a:spLocks noGrp="1" noChangeArrowheads="1"/>
          </p:cNvSpPr>
          <p:nvPr>
            <p:ph type="title"/>
          </p:nvPr>
        </p:nvSpPr>
        <p:spPr/>
        <p:txBody>
          <a:bodyPr/>
          <a:lstStyle/>
          <a:p>
            <a:r>
              <a:rPr lang="en-US" dirty="0"/>
              <a:t>Capacity Analysis: Parallel Processes</a:t>
            </a:r>
          </a:p>
        </p:txBody>
      </p:sp>
      <p:grpSp>
        <p:nvGrpSpPr>
          <p:cNvPr id="16" name="Group 15"/>
          <p:cNvGrpSpPr/>
          <p:nvPr/>
        </p:nvGrpSpPr>
        <p:grpSpPr>
          <a:xfrm>
            <a:off x="457200" y="1542224"/>
            <a:ext cx="8191501" cy="2833727"/>
            <a:chOff x="504825" y="3230007"/>
            <a:chExt cx="8191501" cy="2833727"/>
          </a:xfrm>
        </p:grpSpPr>
        <p:grpSp>
          <p:nvGrpSpPr>
            <p:cNvPr id="4" name="Group 3"/>
            <p:cNvGrpSpPr/>
            <p:nvPr/>
          </p:nvGrpSpPr>
          <p:grpSpPr>
            <a:xfrm>
              <a:off x="504825" y="3705225"/>
              <a:ext cx="8191501" cy="1985765"/>
              <a:chOff x="428625" y="3705225"/>
              <a:chExt cx="8191501" cy="1985765"/>
            </a:xfrm>
          </p:grpSpPr>
          <p:sp>
            <p:nvSpPr>
              <p:cNvPr id="31" name="Line 28"/>
              <p:cNvSpPr>
                <a:spLocks noChangeShapeType="1"/>
              </p:cNvSpPr>
              <p:nvPr/>
            </p:nvSpPr>
            <p:spPr bwMode="auto">
              <a:xfrm>
                <a:off x="4833937" y="3949700"/>
                <a:ext cx="749300" cy="0"/>
              </a:xfrm>
              <a:prstGeom prst="line">
                <a:avLst/>
              </a:prstGeom>
              <a:noFill/>
              <a:ln w="38100">
                <a:solidFill>
                  <a:srgbClr val="24BDB2"/>
                </a:solidFill>
                <a:round/>
                <a:headEnd/>
                <a:tailEnd type="triangle" w="med" len="med"/>
              </a:ln>
              <a:extLst>
                <a:ext uri="{909E8E84-426E-40dd-AFC4-6F175D3DCCD1}">
                  <a14:hiddenFill xmlns:a14="http://schemas.microsoft.com/office/drawing/2010/main" xmlns="">
                    <a:noFill/>
                  </a14:hiddenFill>
                </a:ext>
              </a:extLst>
            </p:spPr>
            <p:txBody>
              <a:bodyPr/>
              <a:lstStyle/>
              <a:p>
                <a:endParaRPr lang="en-US" dirty="0">
                  <a:latin typeface="Arial"/>
                  <a:cs typeface="Arial"/>
                </a:endParaRPr>
              </a:p>
            </p:txBody>
          </p:sp>
          <p:sp>
            <p:nvSpPr>
              <p:cNvPr id="32" name="Line 31"/>
              <p:cNvSpPr>
                <a:spLocks noChangeShapeType="1"/>
              </p:cNvSpPr>
              <p:nvPr/>
            </p:nvSpPr>
            <p:spPr bwMode="auto">
              <a:xfrm>
                <a:off x="4833937" y="5130800"/>
                <a:ext cx="749300" cy="0"/>
              </a:xfrm>
              <a:prstGeom prst="line">
                <a:avLst/>
              </a:prstGeom>
              <a:noFill/>
              <a:ln w="38100">
                <a:solidFill>
                  <a:srgbClr val="24BDB2"/>
                </a:solidFill>
                <a:round/>
                <a:headEnd/>
                <a:tailEnd type="triangle" w="med" len="med"/>
              </a:ln>
              <a:extLst>
                <a:ext uri="{909E8E84-426E-40dd-AFC4-6F175D3DCCD1}">
                  <a14:hiddenFill xmlns:a14="http://schemas.microsoft.com/office/drawing/2010/main" xmlns="">
                    <a:noFill/>
                  </a14:hiddenFill>
                </a:ext>
              </a:extLst>
            </p:spPr>
            <p:txBody>
              <a:bodyPr/>
              <a:lstStyle/>
              <a:p>
                <a:endParaRPr lang="en-US" dirty="0">
                  <a:latin typeface="Arial"/>
                  <a:cs typeface="Arial"/>
                </a:endParaRPr>
              </a:p>
            </p:txBody>
          </p:sp>
          <p:sp>
            <p:nvSpPr>
              <p:cNvPr id="65542" name="Freeform 24"/>
              <p:cNvSpPr>
                <a:spLocks/>
              </p:cNvSpPr>
              <p:nvPr/>
            </p:nvSpPr>
            <p:spPr bwMode="auto">
              <a:xfrm>
                <a:off x="2133600" y="3949700"/>
                <a:ext cx="342900" cy="1181100"/>
              </a:xfrm>
              <a:custGeom>
                <a:avLst/>
                <a:gdLst>
                  <a:gd name="T0" fmla="*/ 216 w 216"/>
                  <a:gd name="T1" fmla="*/ 0 h 744"/>
                  <a:gd name="T2" fmla="*/ 0 w 216"/>
                  <a:gd name="T3" fmla="*/ 0 h 744"/>
                  <a:gd name="T4" fmla="*/ 0 w 216"/>
                  <a:gd name="T5" fmla="*/ 744 h 744"/>
                  <a:gd name="T6" fmla="*/ 216 w 216"/>
                  <a:gd name="T7" fmla="*/ 744 h 744"/>
                  <a:gd name="T8" fmla="*/ 0 60000 65536"/>
                  <a:gd name="T9" fmla="*/ 0 60000 65536"/>
                  <a:gd name="T10" fmla="*/ 0 60000 65536"/>
                  <a:gd name="T11" fmla="*/ 0 60000 65536"/>
                  <a:gd name="T12" fmla="*/ 0 w 216"/>
                  <a:gd name="T13" fmla="*/ 0 h 744"/>
                  <a:gd name="T14" fmla="*/ 216 w 216"/>
                  <a:gd name="T15" fmla="*/ 744 h 744"/>
                </a:gdLst>
                <a:ahLst/>
                <a:cxnLst>
                  <a:cxn ang="T8">
                    <a:pos x="T0" y="T1"/>
                  </a:cxn>
                  <a:cxn ang="T9">
                    <a:pos x="T2" y="T3"/>
                  </a:cxn>
                  <a:cxn ang="T10">
                    <a:pos x="T4" y="T5"/>
                  </a:cxn>
                  <a:cxn ang="T11">
                    <a:pos x="T6" y="T7"/>
                  </a:cxn>
                </a:cxnLst>
                <a:rect l="T12" t="T13" r="T14" b="T15"/>
                <a:pathLst>
                  <a:path w="216" h="744">
                    <a:moveTo>
                      <a:pt x="216" y="0"/>
                    </a:moveTo>
                    <a:lnTo>
                      <a:pt x="0" y="0"/>
                    </a:lnTo>
                    <a:lnTo>
                      <a:pt x="0" y="744"/>
                    </a:lnTo>
                    <a:lnTo>
                      <a:pt x="216" y="744"/>
                    </a:lnTo>
                  </a:path>
                </a:pathLst>
              </a:custGeom>
              <a:noFill/>
              <a:ln w="38100" cmpd="sng">
                <a:solidFill>
                  <a:srgbClr val="24BDB2"/>
                </a:solidFill>
                <a:round/>
                <a:headEnd type="triangle" w="med" len="med"/>
                <a:tailEnd type="triangle" w="med" len="med"/>
              </a:ln>
              <a:extLst>
                <a:ext uri="{909E8E84-426E-40dd-AFC4-6F175D3DCCD1}">
                  <a14:hiddenFill xmlns:a14="http://schemas.microsoft.com/office/drawing/2010/main" xmlns="">
                    <a:solidFill>
                      <a:srgbClr val="FFFFFF"/>
                    </a:solidFill>
                  </a14:hiddenFill>
                </a:ext>
              </a:extLst>
            </p:spPr>
            <p:txBody>
              <a:bodyPr/>
              <a:lstStyle/>
              <a:p>
                <a:endParaRPr lang="en-US" dirty="0">
                  <a:latin typeface="Arial"/>
                  <a:cs typeface="Arial"/>
                </a:endParaRPr>
              </a:p>
            </p:txBody>
          </p:sp>
          <p:sp>
            <p:nvSpPr>
              <p:cNvPr id="65543" name="Line 25"/>
              <p:cNvSpPr>
                <a:spLocks noChangeShapeType="1"/>
              </p:cNvSpPr>
              <p:nvPr/>
            </p:nvSpPr>
            <p:spPr bwMode="auto">
              <a:xfrm>
                <a:off x="1714500" y="4546600"/>
                <a:ext cx="406400" cy="0"/>
              </a:xfrm>
              <a:prstGeom prst="line">
                <a:avLst/>
              </a:prstGeom>
              <a:noFill/>
              <a:ln w="38100">
                <a:solidFill>
                  <a:srgbClr val="24BDB2"/>
                </a:solidFill>
                <a:round/>
                <a:headEnd/>
                <a:tailEnd/>
              </a:ln>
              <a:extLst>
                <a:ext uri="{909E8E84-426E-40dd-AFC4-6F175D3DCCD1}">
                  <a14:hiddenFill xmlns:a14="http://schemas.microsoft.com/office/drawing/2010/main" xmlns="">
                    <a:noFill/>
                  </a14:hiddenFill>
                </a:ext>
              </a:extLst>
            </p:spPr>
            <p:txBody>
              <a:bodyPr/>
              <a:lstStyle/>
              <a:p>
                <a:endParaRPr lang="en-US" dirty="0">
                  <a:latin typeface="Arial"/>
                  <a:cs typeface="Arial"/>
                </a:endParaRPr>
              </a:p>
            </p:txBody>
          </p:sp>
          <p:sp>
            <p:nvSpPr>
              <p:cNvPr id="65544" name="Freeform 26"/>
              <p:cNvSpPr>
                <a:spLocks/>
              </p:cNvSpPr>
              <p:nvPr/>
            </p:nvSpPr>
            <p:spPr bwMode="auto">
              <a:xfrm flipH="1">
                <a:off x="6602413" y="3937000"/>
                <a:ext cx="342900" cy="1181100"/>
              </a:xfrm>
              <a:custGeom>
                <a:avLst/>
                <a:gdLst>
                  <a:gd name="T0" fmla="*/ 216 w 216"/>
                  <a:gd name="T1" fmla="*/ 0 h 744"/>
                  <a:gd name="T2" fmla="*/ 0 w 216"/>
                  <a:gd name="T3" fmla="*/ 0 h 744"/>
                  <a:gd name="T4" fmla="*/ 0 w 216"/>
                  <a:gd name="T5" fmla="*/ 744 h 744"/>
                  <a:gd name="T6" fmla="*/ 216 w 216"/>
                  <a:gd name="T7" fmla="*/ 744 h 744"/>
                  <a:gd name="T8" fmla="*/ 0 60000 65536"/>
                  <a:gd name="T9" fmla="*/ 0 60000 65536"/>
                  <a:gd name="T10" fmla="*/ 0 60000 65536"/>
                  <a:gd name="T11" fmla="*/ 0 60000 65536"/>
                  <a:gd name="T12" fmla="*/ 0 w 216"/>
                  <a:gd name="T13" fmla="*/ 0 h 744"/>
                  <a:gd name="T14" fmla="*/ 216 w 216"/>
                  <a:gd name="T15" fmla="*/ 744 h 744"/>
                </a:gdLst>
                <a:ahLst/>
                <a:cxnLst>
                  <a:cxn ang="T8">
                    <a:pos x="T0" y="T1"/>
                  </a:cxn>
                  <a:cxn ang="T9">
                    <a:pos x="T2" y="T3"/>
                  </a:cxn>
                  <a:cxn ang="T10">
                    <a:pos x="T4" y="T5"/>
                  </a:cxn>
                  <a:cxn ang="T11">
                    <a:pos x="T6" y="T7"/>
                  </a:cxn>
                </a:cxnLst>
                <a:rect l="T12" t="T13" r="T14" b="T15"/>
                <a:pathLst>
                  <a:path w="216" h="744">
                    <a:moveTo>
                      <a:pt x="216" y="0"/>
                    </a:moveTo>
                    <a:lnTo>
                      <a:pt x="0" y="0"/>
                    </a:lnTo>
                    <a:lnTo>
                      <a:pt x="0" y="744"/>
                    </a:lnTo>
                    <a:lnTo>
                      <a:pt x="216" y="744"/>
                    </a:lnTo>
                  </a:path>
                </a:pathLst>
              </a:custGeom>
              <a:noFill/>
              <a:ln w="38100" cmpd="sng">
                <a:solidFill>
                  <a:srgbClr val="24BDB2"/>
                </a:solidFill>
                <a:round/>
                <a:headEnd type="none" w="med" len="med"/>
                <a:tailEnd type="none" w="med" len="med"/>
              </a:ln>
              <a:extLst>
                <a:ext uri="{909E8E84-426E-40dd-AFC4-6F175D3DCCD1}">
                  <a14:hiddenFill xmlns:a14="http://schemas.microsoft.com/office/drawing/2010/main" xmlns="">
                    <a:solidFill>
                      <a:srgbClr val="FFFFFF"/>
                    </a:solidFill>
                  </a14:hiddenFill>
                </a:ext>
              </a:extLst>
            </p:spPr>
            <p:txBody>
              <a:bodyPr/>
              <a:lstStyle/>
              <a:p>
                <a:endParaRPr lang="en-US" dirty="0">
                  <a:latin typeface="Arial"/>
                  <a:cs typeface="Arial"/>
                </a:endParaRPr>
              </a:p>
            </p:txBody>
          </p:sp>
          <p:sp>
            <p:nvSpPr>
              <p:cNvPr id="125961" name="Text Box 9"/>
              <p:cNvSpPr txBox="1">
                <a:spLocks noChangeArrowheads="1"/>
              </p:cNvSpPr>
              <p:nvPr/>
            </p:nvSpPr>
            <p:spPr bwMode="auto">
              <a:xfrm>
                <a:off x="7318376" y="4191000"/>
                <a:ext cx="1008063" cy="733425"/>
              </a:xfrm>
              <a:prstGeom prst="rect">
                <a:avLst/>
              </a:prstGeom>
              <a:solidFill>
                <a:schemeClr val="accent3"/>
              </a:solidFill>
              <a:ln w="19050">
                <a:solidFill>
                  <a:schemeClr val="tx1"/>
                </a:solidFill>
                <a:miter lim="800000"/>
                <a:headEnd/>
                <a:tailEnd/>
              </a:ln>
              <a:effectLst/>
            </p:spPr>
            <p:txBody>
              <a:bodyPr wrap="none" lIns="162000" tIns="118800" rIns="162000" bIns="118800"/>
              <a:lstStyle/>
              <a:p>
                <a:pPr algn="ctr" fontAlgn="auto">
                  <a:spcBef>
                    <a:spcPts val="0"/>
                  </a:spcBef>
                  <a:spcAft>
                    <a:spcPts val="0"/>
                  </a:spcAft>
                  <a:defRPr/>
                </a:pPr>
                <a:r>
                  <a:rPr lang="en-US" sz="1600" dirty="0">
                    <a:latin typeface="Arial"/>
                    <a:ea typeface="+mn-ea"/>
                    <a:cs typeface="Arial"/>
                  </a:rPr>
                  <a:t>Wrap/</a:t>
                </a:r>
              </a:p>
              <a:p>
                <a:pPr algn="ctr" fontAlgn="auto">
                  <a:spcBef>
                    <a:spcPts val="0"/>
                  </a:spcBef>
                  <a:spcAft>
                    <a:spcPts val="0"/>
                  </a:spcAft>
                  <a:defRPr/>
                </a:pPr>
                <a:r>
                  <a:rPr lang="en-US" sz="1600" dirty="0">
                    <a:latin typeface="Arial"/>
                    <a:ea typeface="+mn-ea"/>
                    <a:cs typeface="Arial"/>
                  </a:rPr>
                  <a:t>Deliver</a:t>
                </a:r>
              </a:p>
            </p:txBody>
          </p:sp>
          <p:sp>
            <p:nvSpPr>
              <p:cNvPr id="65564" name="Text Box 14"/>
              <p:cNvSpPr txBox="1">
                <a:spLocks noChangeArrowheads="1"/>
              </p:cNvSpPr>
              <p:nvPr/>
            </p:nvSpPr>
            <p:spPr bwMode="auto">
              <a:xfrm>
                <a:off x="6958013" y="4951413"/>
                <a:ext cx="1662113"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r>
                  <a:rPr lang="en-US" sz="1400" dirty="0">
                    <a:latin typeface="Arial"/>
                    <a:cs typeface="Arial"/>
                  </a:rPr>
                  <a:t>37.5 sec/sandwich</a:t>
                </a:r>
              </a:p>
            </p:txBody>
          </p:sp>
          <p:sp>
            <p:nvSpPr>
              <p:cNvPr id="125957" name="Text Box 5"/>
              <p:cNvSpPr txBox="1">
                <a:spLocks noChangeArrowheads="1"/>
              </p:cNvSpPr>
              <p:nvPr/>
            </p:nvSpPr>
            <p:spPr bwMode="auto">
              <a:xfrm>
                <a:off x="714375" y="4302125"/>
                <a:ext cx="1008063" cy="482600"/>
              </a:xfrm>
              <a:prstGeom prst="rect">
                <a:avLst/>
              </a:prstGeom>
              <a:solidFill>
                <a:schemeClr val="accent3"/>
              </a:solidFill>
              <a:ln w="19050">
                <a:solidFill>
                  <a:schemeClr val="tx1"/>
                </a:solidFill>
                <a:miter lim="800000"/>
                <a:headEnd/>
                <a:tailEnd/>
              </a:ln>
              <a:effectLst/>
            </p:spPr>
            <p:txBody>
              <a:bodyPr wrap="none" lIns="162000" tIns="118800" rIns="162000" bIns="118800"/>
              <a:lstStyle/>
              <a:p>
                <a:pPr algn="ctr" fontAlgn="auto">
                  <a:spcBef>
                    <a:spcPts val="0"/>
                  </a:spcBef>
                  <a:spcAft>
                    <a:spcPts val="0"/>
                  </a:spcAft>
                  <a:defRPr/>
                </a:pPr>
                <a:r>
                  <a:rPr lang="en-US" sz="1600" dirty="0">
                    <a:latin typeface="Arial"/>
                    <a:ea typeface="+mn-ea"/>
                    <a:cs typeface="Arial"/>
                  </a:rPr>
                  <a:t>Order</a:t>
                </a:r>
              </a:p>
            </p:txBody>
          </p:sp>
          <p:sp>
            <p:nvSpPr>
              <p:cNvPr id="65562" name="Text Box 10"/>
              <p:cNvSpPr txBox="1">
                <a:spLocks noChangeArrowheads="1"/>
              </p:cNvSpPr>
              <p:nvPr/>
            </p:nvSpPr>
            <p:spPr bwMode="auto">
              <a:xfrm>
                <a:off x="428625" y="4786313"/>
                <a:ext cx="1511300"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r>
                  <a:rPr lang="en-US" sz="1400" dirty="0">
                    <a:latin typeface="Arial"/>
                    <a:cs typeface="Arial"/>
                  </a:rPr>
                  <a:t>30 sec/sandwich</a:t>
                </a:r>
              </a:p>
            </p:txBody>
          </p:sp>
          <p:sp>
            <p:nvSpPr>
              <p:cNvPr id="65548" name="Line 28"/>
              <p:cNvSpPr>
                <a:spLocks noChangeShapeType="1"/>
              </p:cNvSpPr>
              <p:nvPr/>
            </p:nvSpPr>
            <p:spPr bwMode="auto">
              <a:xfrm>
                <a:off x="3263900" y="3949700"/>
                <a:ext cx="749300" cy="0"/>
              </a:xfrm>
              <a:prstGeom prst="line">
                <a:avLst/>
              </a:prstGeom>
              <a:noFill/>
              <a:ln w="38100">
                <a:solidFill>
                  <a:srgbClr val="24BDB2"/>
                </a:solidFill>
                <a:round/>
                <a:headEnd/>
                <a:tailEnd type="triangle" w="med" len="med"/>
              </a:ln>
              <a:extLst>
                <a:ext uri="{909E8E84-426E-40dd-AFC4-6F175D3DCCD1}">
                  <a14:hiddenFill xmlns:a14="http://schemas.microsoft.com/office/drawing/2010/main" xmlns="">
                    <a:noFill/>
                  </a14:hiddenFill>
                </a:ext>
              </a:extLst>
            </p:spPr>
            <p:txBody>
              <a:bodyPr/>
              <a:lstStyle/>
              <a:p>
                <a:endParaRPr lang="en-US" dirty="0">
                  <a:latin typeface="Arial"/>
                  <a:cs typeface="Arial"/>
                </a:endParaRPr>
              </a:p>
            </p:txBody>
          </p:sp>
          <p:sp>
            <p:nvSpPr>
              <p:cNvPr id="65549" name="Line 31"/>
              <p:cNvSpPr>
                <a:spLocks noChangeShapeType="1"/>
              </p:cNvSpPr>
              <p:nvPr/>
            </p:nvSpPr>
            <p:spPr bwMode="auto">
              <a:xfrm>
                <a:off x="3263900" y="5130800"/>
                <a:ext cx="749300" cy="0"/>
              </a:xfrm>
              <a:prstGeom prst="line">
                <a:avLst/>
              </a:prstGeom>
              <a:noFill/>
              <a:ln w="38100">
                <a:solidFill>
                  <a:srgbClr val="24BDB2"/>
                </a:solidFill>
                <a:round/>
                <a:headEnd/>
                <a:tailEnd type="triangle" w="med" len="med"/>
              </a:ln>
              <a:extLst>
                <a:ext uri="{909E8E84-426E-40dd-AFC4-6F175D3DCCD1}">
                  <a14:hiddenFill xmlns:a14="http://schemas.microsoft.com/office/drawing/2010/main" xmlns="">
                    <a:noFill/>
                  </a14:hiddenFill>
                </a:ext>
              </a:extLst>
            </p:spPr>
            <p:txBody>
              <a:bodyPr/>
              <a:lstStyle/>
              <a:p>
                <a:endParaRPr lang="en-US" dirty="0">
                  <a:latin typeface="Arial"/>
                  <a:cs typeface="Arial"/>
                </a:endParaRPr>
              </a:p>
            </p:txBody>
          </p:sp>
          <p:sp>
            <p:nvSpPr>
              <p:cNvPr id="65551" name="Text Box 6"/>
              <p:cNvSpPr txBox="1">
                <a:spLocks noChangeArrowheads="1"/>
              </p:cNvSpPr>
              <p:nvPr/>
            </p:nvSpPr>
            <p:spPr bwMode="auto">
              <a:xfrm>
                <a:off x="2498725" y="3705225"/>
                <a:ext cx="1008063" cy="482600"/>
              </a:xfrm>
              <a:prstGeom prst="rect">
                <a:avLst/>
              </a:prstGeom>
              <a:solidFill>
                <a:schemeClr val="accent2"/>
              </a:solidFill>
              <a:ln w="19050">
                <a:solidFill>
                  <a:schemeClr val="tx1"/>
                </a:solidFill>
                <a:miter lim="800000"/>
                <a:headEnd/>
                <a:tailEnd/>
              </a:ln>
            </p:spPr>
            <p:txBody>
              <a:bodyPr wrap="none" lIns="162000" tIns="118800" rIns="162000" bIns="118800"/>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pPr algn="ctr"/>
                <a:r>
                  <a:rPr lang="en-US" sz="1600" dirty="0">
                    <a:latin typeface="Arial"/>
                    <a:cs typeface="Arial"/>
                  </a:rPr>
                  <a:t>Bread</a:t>
                </a:r>
              </a:p>
            </p:txBody>
          </p:sp>
          <p:sp>
            <p:nvSpPr>
              <p:cNvPr id="65552" name="Text Box 7"/>
              <p:cNvSpPr txBox="1">
                <a:spLocks noChangeArrowheads="1"/>
              </p:cNvSpPr>
              <p:nvPr/>
            </p:nvSpPr>
            <p:spPr bwMode="auto">
              <a:xfrm>
                <a:off x="4030663" y="3705225"/>
                <a:ext cx="1008063" cy="482600"/>
              </a:xfrm>
              <a:prstGeom prst="rect">
                <a:avLst/>
              </a:prstGeom>
              <a:solidFill>
                <a:schemeClr val="accent2"/>
              </a:solidFill>
              <a:ln w="19050">
                <a:solidFill>
                  <a:schemeClr val="tx1"/>
                </a:solidFill>
                <a:miter lim="800000"/>
                <a:headEnd/>
                <a:tailEnd/>
              </a:ln>
            </p:spPr>
            <p:txBody>
              <a:bodyPr wrap="none" lIns="162000" tIns="118800" rIns="162000" bIns="118800"/>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pPr algn="ctr"/>
                <a:r>
                  <a:rPr lang="en-US" sz="1600" dirty="0">
                    <a:latin typeface="Arial"/>
                    <a:cs typeface="Arial"/>
                  </a:rPr>
                  <a:t>Fill</a:t>
                </a:r>
              </a:p>
            </p:txBody>
          </p:sp>
          <p:sp>
            <p:nvSpPr>
              <p:cNvPr id="65553" name="Text Box 11"/>
              <p:cNvSpPr txBox="1">
                <a:spLocks noChangeArrowheads="1"/>
              </p:cNvSpPr>
              <p:nvPr/>
            </p:nvSpPr>
            <p:spPr bwMode="auto">
              <a:xfrm>
                <a:off x="2245196" y="5368201"/>
                <a:ext cx="1511300"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r>
                  <a:rPr lang="en-US" sz="1400" dirty="0">
                    <a:latin typeface="Arial"/>
                    <a:cs typeface="Arial"/>
                  </a:rPr>
                  <a:t>15 sec/sandwich</a:t>
                </a:r>
              </a:p>
            </p:txBody>
          </p:sp>
          <p:sp>
            <p:nvSpPr>
              <p:cNvPr id="65554" name="Text Box 12"/>
              <p:cNvSpPr txBox="1">
                <a:spLocks noChangeArrowheads="1"/>
              </p:cNvSpPr>
              <p:nvPr/>
            </p:nvSpPr>
            <p:spPr bwMode="auto">
              <a:xfrm>
                <a:off x="3779044" y="5382613"/>
                <a:ext cx="1511300"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r>
                  <a:rPr lang="en-US" sz="1400" dirty="0">
                    <a:latin typeface="Arial"/>
                    <a:cs typeface="Arial"/>
                  </a:rPr>
                  <a:t>20 sec/sandwich</a:t>
                </a:r>
              </a:p>
            </p:txBody>
          </p:sp>
          <p:sp>
            <p:nvSpPr>
              <p:cNvPr id="65555" name="Text Box 13"/>
              <p:cNvSpPr txBox="1">
                <a:spLocks noChangeArrowheads="1"/>
              </p:cNvSpPr>
              <p:nvPr/>
            </p:nvSpPr>
            <p:spPr bwMode="auto">
              <a:xfrm>
                <a:off x="5343525" y="5383213"/>
                <a:ext cx="151199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r>
                  <a:rPr lang="en-US" sz="1400" dirty="0">
                    <a:latin typeface="Arial"/>
                    <a:cs typeface="Arial"/>
                  </a:rPr>
                  <a:t>40 sec/sandwich</a:t>
                </a:r>
              </a:p>
            </p:txBody>
          </p:sp>
          <p:sp>
            <p:nvSpPr>
              <p:cNvPr id="65556" name="Text Box 15"/>
              <p:cNvSpPr txBox="1">
                <a:spLocks noChangeArrowheads="1"/>
              </p:cNvSpPr>
              <p:nvPr/>
            </p:nvSpPr>
            <p:spPr bwMode="auto">
              <a:xfrm>
                <a:off x="2498725" y="4892675"/>
                <a:ext cx="1008063" cy="482600"/>
              </a:xfrm>
              <a:prstGeom prst="rect">
                <a:avLst/>
              </a:prstGeom>
              <a:solidFill>
                <a:schemeClr val="accent2"/>
              </a:solidFill>
              <a:ln w="19050">
                <a:solidFill>
                  <a:schemeClr val="tx1"/>
                </a:solidFill>
                <a:miter lim="800000"/>
                <a:headEnd/>
                <a:tailEnd/>
              </a:ln>
            </p:spPr>
            <p:txBody>
              <a:bodyPr wrap="none" lIns="162000" tIns="118800" rIns="162000" bIns="118800"/>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pPr algn="ctr"/>
                <a:r>
                  <a:rPr lang="en-US" sz="1600" dirty="0">
                    <a:latin typeface="Arial"/>
                    <a:cs typeface="Arial"/>
                  </a:rPr>
                  <a:t>Bread</a:t>
                </a:r>
              </a:p>
            </p:txBody>
          </p:sp>
          <p:sp>
            <p:nvSpPr>
              <p:cNvPr id="65557" name="Text Box 16"/>
              <p:cNvSpPr txBox="1">
                <a:spLocks noChangeArrowheads="1"/>
              </p:cNvSpPr>
              <p:nvPr/>
            </p:nvSpPr>
            <p:spPr bwMode="auto">
              <a:xfrm>
                <a:off x="4030663" y="4892675"/>
                <a:ext cx="1008063" cy="482600"/>
              </a:xfrm>
              <a:prstGeom prst="rect">
                <a:avLst/>
              </a:prstGeom>
              <a:solidFill>
                <a:schemeClr val="accent2"/>
              </a:solidFill>
              <a:ln w="19050">
                <a:solidFill>
                  <a:schemeClr val="tx1"/>
                </a:solidFill>
                <a:miter lim="800000"/>
                <a:headEnd/>
                <a:tailEnd/>
              </a:ln>
            </p:spPr>
            <p:txBody>
              <a:bodyPr wrap="none" lIns="162000" tIns="118800" rIns="162000" bIns="118800"/>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pPr algn="ctr"/>
                <a:r>
                  <a:rPr lang="en-US" sz="1600" dirty="0">
                    <a:latin typeface="Arial"/>
                    <a:cs typeface="Arial"/>
                  </a:rPr>
                  <a:t>Fill</a:t>
                </a:r>
              </a:p>
            </p:txBody>
          </p:sp>
          <p:sp>
            <p:nvSpPr>
              <p:cNvPr id="65558" name="Text Box 17"/>
              <p:cNvSpPr txBox="1">
                <a:spLocks noChangeArrowheads="1"/>
              </p:cNvSpPr>
              <p:nvPr/>
            </p:nvSpPr>
            <p:spPr bwMode="auto">
              <a:xfrm>
                <a:off x="5583237" y="4889500"/>
                <a:ext cx="1008063" cy="482600"/>
              </a:xfrm>
              <a:prstGeom prst="rect">
                <a:avLst/>
              </a:prstGeom>
              <a:solidFill>
                <a:schemeClr val="accent2"/>
              </a:solidFill>
              <a:ln w="19050">
                <a:solidFill>
                  <a:schemeClr val="tx1"/>
                </a:solidFill>
                <a:miter lim="800000"/>
                <a:headEnd/>
                <a:tailEnd/>
              </a:ln>
            </p:spPr>
            <p:txBody>
              <a:bodyPr wrap="none" lIns="162000" tIns="118800" rIns="162000" bIns="118800"/>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pPr algn="ctr"/>
                <a:r>
                  <a:rPr lang="en-US" sz="1600" dirty="0">
                    <a:latin typeface="Arial"/>
                    <a:cs typeface="Arial"/>
                  </a:rPr>
                  <a:t>Toaster</a:t>
                </a:r>
              </a:p>
            </p:txBody>
          </p:sp>
          <p:sp>
            <p:nvSpPr>
              <p:cNvPr id="65559" name="Text Box 18"/>
              <p:cNvSpPr txBox="1">
                <a:spLocks noChangeArrowheads="1"/>
              </p:cNvSpPr>
              <p:nvPr/>
            </p:nvSpPr>
            <p:spPr bwMode="auto">
              <a:xfrm>
                <a:off x="2253194" y="4189711"/>
                <a:ext cx="1511300"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r>
                  <a:rPr lang="en-US" sz="1400" dirty="0">
                    <a:latin typeface="Arial"/>
                    <a:cs typeface="Arial"/>
                  </a:rPr>
                  <a:t>15 sec/sandwich</a:t>
                </a:r>
              </a:p>
            </p:txBody>
          </p:sp>
          <p:sp>
            <p:nvSpPr>
              <p:cNvPr id="65560" name="Text Box 19"/>
              <p:cNvSpPr txBox="1">
                <a:spLocks noChangeArrowheads="1"/>
              </p:cNvSpPr>
              <p:nvPr/>
            </p:nvSpPr>
            <p:spPr bwMode="auto">
              <a:xfrm>
                <a:off x="3788718" y="4183135"/>
                <a:ext cx="1511300"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r>
                  <a:rPr lang="en-US" sz="1400" dirty="0">
                    <a:latin typeface="Arial"/>
                    <a:cs typeface="Arial"/>
                  </a:rPr>
                  <a:t>20 sec/sandwich</a:t>
                </a:r>
              </a:p>
            </p:txBody>
          </p:sp>
          <p:sp>
            <p:nvSpPr>
              <p:cNvPr id="65541" name="Line 27"/>
              <p:cNvSpPr>
                <a:spLocks noChangeShapeType="1"/>
              </p:cNvSpPr>
              <p:nvPr/>
            </p:nvSpPr>
            <p:spPr bwMode="auto">
              <a:xfrm>
                <a:off x="6958012" y="4546600"/>
                <a:ext cx="344487" cy="0"/>
              </a:xfrm>
              <a:prstGeom prst="line">
                <a:avLst/>
              </a:prstGeom>
              <a:noFill/>
              <a:ln w="38100">
                <a:solidFill>
                  <a:srgbClr val="24BDB2"/>
                </a:solidFill>
                <a:round/>
                <a:headEnd/>
                <a:tailEnd type="triangle" w="med" len="med"/>
              </a:ln>
              <a:extLst>
                <a:ext uri="{909E8E84-426E-40dd-AFC4-6F175D3DCCD1}">
                  <a14:hiddenFill xmlns:a14="http://schemas.microsoft.com/office/drawing/2010/main" xmlns="">
                    <a:noFill/>
                  </a14:hiddenFill>
                </a:ext>
              </a:extLst>
            </p:spPr>
            <p:txBody>
              <a:bodyPr/>
              <a:lstStyle/>
              <a:p>
                <a:endParaRPr lang="en-US" dirty="0">
                  <a:latin typeface="Arial"/>
                  <a:cs typeface="Arial"/>
                </a:endParaRPr>
              </a:p>
            </p:txBody>
          </p:sp>
          <p:sp>
            <p:nvSpPr>
              <p:cNvPr id="30" name="Text Box 17"/>
              <p:cNvSpPr txBox="1">
                <a:spLocks noChangeArrowheads="1"/>
              </p:cNvSpPr>
              <p:nvPr/>
            </p:nvSpPr>
            <p:spPr bwMode="auto">
              <a:xfrm>
                <a:off x="5583237" y="3708400"/>
                <a:ext cx="1008063" cy="482600"/>
              </a:xfrm>
              <a:prstGeom prst="rect">
                <a:avLst/>
              </a:prstGeom>
              <a:solidFill>
                <a:schemeClr val="accent2"/>
              </a:solidFill>
              <a:ln w="19050">
                <a:solidFill>
                  <a:schemeClr val="tx1"/>
                </a:solidFill>
                <a:miter lim="800000"/>
                <a:headEnd/>
                <a:tailEnd/>
              </a:ln>
            </p:spPr>
            <p:txBody>
              <a:bodyPr wrap="none" lIns="162000" tIns="118800" rIns="162000" bIns="118800"/>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pPr algn="ctr"/>
                <a:r>
                  <a:rPr lang="en-US" sz="1600" dirty="0">
                    <a:latin typeface="Arial"/>
                    <a:cs typeface="Arial"/>
                  </a:rPr>
                  <a:t>Toaster</a:t>
                </a:r>
              </a:p>
            </p:txBody>
          </p:sp>
          <p:sp>
            <p:nvSpPr>
              <p:cNvPr id="34" name="Text Box 13"/>
              <p:cNvSpPr txBox="1">
                <a:spLocks noChangeArrowheads="1"/>
              </p:cNvSpPr>
              <p:nvPr/>
            </p:nvSpPr>
            <p:spPr bwMode="auto">
              <a:xfrm>
                <a:off x="5343525" y="4187825"/>
                <a:ext cx="1511990" cy="30777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Arial" charset="0"/>
                    <a:ea typeface="ＭＳ Ｐゴシック" charset="0"/>
                    <a:cs typeface="Arial" charset="0"/>
                  </a:defRPr>
                </a:lvl1pPr>
                <a:lvl2pPr marL="742950" indent="-2857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fontAlgn="base">
                  <a:spcBef>
                    <a:spcPct val="0"/>
                  </a:spcBef>
                  <a:spcAft>
                    <a:spcPct val="0"/>
                  </a:spcAft>
                  <a:defRPr>
                    <a:solidFill>
                      <a:schemeClr val="tx1"/>
                    </a:solidFill>
                    <a:latin typeface="Arial" charset="0"/>
                    <a:ea typeface="Arial" charset="0"/>
                    <a:cs typeface="Arial" charset="0"/>
                  </a:defRPr>
                </a:lvl6pPr>
                <a:lvl7pPr marL="2971800" indent="-228600" fontAlgn="base">
                  <a:spcBef>
                    <a:spcPct val="0"/>
                  </a:spcBef>
                  <a:spcAft>
                    <a:spcPct val="0"/>
                  </a:spcAft>
                  <a:defRPr>
                    <a:solidFill>
                      <a:schemeClr val="tx1"/>
                    </a:solidFill>
                    <a:latin typeface="Arial" charset="0"/>
                    <a:ea typeface="Arial" charset="0"/>
                    <a:cs typeface="Arial" charset="0"/>
                  </a:defRPr>
                </a:lvl7pPr>
                <a:lvl8pPr marL="3429000" indent="-228600" fontAlgn="base">
                  <a:spcBef>
                    <a:spcPct val="0"/>
                  </a:spcBef>
                  <a:spcAft>
                    <a:spcPct val="0"/>
                  </a:spcAft>
                  <a:defRPr>
                    <a:solidFill>
                      <a:schemeClr val="tx1"/>
                    </a:solidFill>
                    <a:latin typeface="Arial" charset="0"/>
                    <a:ea typeface="Arial" charset="0"/>
                    <a:cs typeface="Arial" charset="0"/>
                  </a:defRPr>
                </a:lvl8pPr>
                <a:lvl9pPr marL="3886200" indent="-228600" fontAlgn="base">
                  <a:spcBef>
                    <a:spcPct val="0"/>
                  </a:spcBef>
                  <a:spcAft>
                    <a:spcPct val="0"/>
                  </a:spcAft>
                  <a:defRPr>
                    <a:solidFill>
                      <a:schemeClr val="tx1"/>
                    </a:solidFill>
                    <a:latin typeface="Arial" charset="0"/>
                    <a:ea typeface="Arial" charset="0"/>
                    <a:cs typeface="Arial" charset="0"/>
                  </a:defRPr>
                </a:lvl9pPr>
              </a:lstStyle>
              <a:p>
                <a:r>
                  <a:rPr lang="en-US" sz="1400" dirty="0">
                    <a:latin typeface="Arial"/>
                    <a:cs typeface="Arial"/>
                  </a:rPr>
                  <a:t>40 sec/sandwich</a:t>
                </a:r>
              </a:p>
            </p:txBody>
          </p:sp>
        </p:grpSp>
        <p:sp>
          <p:nvSpPr>
            <p:cNvPr id="37" name="TextBox 36"/>
            <p:cNvSpPr txBox="1"/>
            <p:nvPr/>
          </p:nvSpPr>
          <p:spPr>
            <a:xfrm>
              <a:off x="3684382" y="3230007"/>
              <a:ext cx="1883549" cy="338554"/>
            </a:xfrm>
            <a:prstGeom prst="rect">
              <a:avLst/>
            </a:prstGeom>
            <a:noFill/>
          </p:spPr>
          <p:txBody>
            <a:bodyPr wrap="none" rtlCol="0">
              <a:spAutoFit/>
            </a:bodyPr>
            <a:lstStyle/>
            <a:p>
              <a:r>
                <a:rPr lang="en-US" sz="1600" dirty="0">
                  <a:latin typeface="Arial"/>
                  <a:cs typeface="Arial"/>
                </a:rPr>
                <a:t>First assembly line</a:t>
              </a:r>
            </a:p>
          </p:txBody>
        </p:sp>
        <p:cxnSp>
          <p:nvCxnSpPr>
            <p:cNvPr id="7" name="Straight Arrow Connector 6"/>
            <p:cNvCxnSpPr/>
            <p:nvPr/>
          </p:nvCxnSpPr>
          <p:spPr>
            <a:xfrm>
              <a:off x="5581079" y="3414673"/>
              <a:ext cx="1097534" cy="0"/>
            </a:xfrm>
            <a:prstGeom prst="straightConnector1">
              <a:avLst/>
            </a:prstGeom>
            <a:ln w="28575" cmpd="sng">
              <a:solidFill>
                <a:schemeClr val="tx1"/>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0" name="Straight Arrow Connector 39"/>
            <p:cNvCxnSpPr/>
            <p:nvPr/>
          </p:nvCxnSpPr>
          <p:spPr>
            <a:xfrm flipH="1">
              <a:off x="2574925" y="3414673"/>
              <a:ext cx="1054261" cy="0"/>
            </a:xfrm>
            <a:prstGeom prst="straightConnector1">
              <a:avLst/>
            </a:prstGeom>
            <a:ln w="28575" cmpd="sng">
              <a:solidFill>
                <a:schemeClr val="tx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3519282" y="5725180"/>
              <a:ext cx="2180605" cy="338554"/>
            </a:xfrm>
            <a:prstGeom prst="rect">
              <a:avLst/>
            </a:prstGeom>
            <a:noFill/>
          </p:spPr>
          <p:txBody>
            <a:bodyPr wrap="none" rtlCol="0">
              <a:spAutoFit/>
            </a:bodyPr>
            <a:lstStyle/>
            <a:p>
              <a:r>
                <a:rPr lang="en-US" sz="1600" dirty="0">
                  <a:latin typeface="Arial"/>
                  <a:cs typeface="Arial"/>
                </a:rPr>
                <a:t>Second assembly line</a:t>
              </a:r>
            </a:p>
          </p:txBody>
        </p:sp>
        <p:cxnSp>
          <p:nvCxnSpPr>
            <p:cNvPr id="44" name="Straight Arrow Connector 43"/>
            <p:cNvCxnSpPr/>
            <p:nvPr/>
          </p:nvCxnSpPr>
          <p:spPr>
            <a:xfrm>
              <a:off x="6678613" y="5909846"/>
              <a:ext cx="0" cy="0"/>
            </a:xfrm>
            <a:prstGeom prst="straightConnector1">
              <a:avLst/>
            </a:prstGeom>
            <a:ln w="28575" cmpd="sng">
              <a:solidFill>
                <a:schemeClr val="tx1"/>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5" name="Straight Arrow Connector 44"/>
            <p:cNvCxnSpPr/>
            <p:nvPr/>
          </p:nvCxnSpPr>
          <p:spPr>
            <a:xfrm flipH="1">
              <a:off x="2574925" y="5909846"/>
              <a:ext cx="917575" cy="0"/>
            </a:xfrm>
            <a:prstGeom prst="straightConnector1">
              <a:avLst/>
            </a:prstGeom>
            <a:ln w="28575" cmpd="sng">
              <a:solidFill>
                <a:schemeClr val="tx1"/>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1" name="Straight Arrow Connector 50"/>
            <p:cNvCxnSpPr/>
            <p:nvPr/>
          </p:nvCxnSpPr>
          <p:spPr>
            <a:xfrm>
              <a:off x="5710746" y="5909846"/>
              <a:ext cx="967867" cy="0"/>
            </a:xfrm>
            <a:prstGeom prst="straightConnector1">
              <a:avLst/>
            </a:prstGeom>
            <a:ln w="28575" cmpd="sng">
              <a:solidFill>
                <a:schemeClr val="tx1"/>
              </a:solidFill>
              <a:tailEnd type="triangle" w="med" len="med"/>
            </a:ln>
            <a:effectLst/>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50" name="TextBox 49"/>
              <p:cNvSpPr txBox="1"/>
              <p:nvPr/>
            </p:nvSpPr>
            <p:spPr>
              <a:xfrm>
                <a:off x="5755776" y="4700963"/>
                <a:ext cx="1627048" cy="440826"/>
              </a:xfrm>
              <a:prstGeom prst="rect">
                <a:avLst/>
              </a:prstGeom>
              <a:noFill/>
            </p:spPr>
            <p:txBody>
              <a:bodyPr wrap="none" lIns="0" tIns="0" rIns="0" bIns="0" rtlCol="0">
                <a:spAutoFit/>
              </a:bodyPr>
              <a:lstStyle/>
              <a:p>
                <a14:m>
                  <m:oMath xmlns:m="http://schemas.openxmlformats.org/officeDocument/2006/math">
                    <m:f>
                      <m:fPr>
                        <m:ctrlPr>
                          <a:rPr lang="en-US" b="0" i="1" smtClean="0">
                            <a:latin typeface="Cambria Math" panose="02040503050406030204" pitchFamily="18" charset="0"/>
                          </a:rPr>
                        </m:ctrlPr>
                      </m:fPr>
                      <m:num>
                        <m:r>
                          <m:rPr>
                            <m:nor/>
                          </m:rPr>
                          <a:rPr lang="en-US" b="0" i="0" smtClean="0">
                            <a:latin typeface="Cambria Math" panose="02040503050406030204" pitchFamily="18" charset="0"/>
                          </a:rPr>
                          <m:t>40</m:t>
                        </m:r>
                      </m:num>
                      <m:den>
                        <m:r>
                          <m:rPr>
                            <m:nor/>
                          </m:rPr>
                          <a:rPr lang="en-US" b="0" i="0" smtClean="0">
                            <a:latin typeface="Cambria Math" panose="02040503050406030204" pitchFamily="18" charset="0"/>
                          </a:rPr>
                          <m:t>2</m:t>
                        </m:r>
                      </m:den>
                    </m:f>
                    <m:r>
                      <m:rPr>
                        <m:nor/>
                      </m:rPr>
                      <a:rPr lang="en-US" b="0" i="0" smtClean="0">
                        <a:latin typeface="Cambria Math" panose="02040503050406030204" pitchFamily="18" charset="0"/>
                      </a:rPr>
                      <m:t>=20</m:t>
                    </m:r>
                  </m:oMath>
                </a14:m>
                <a:r>
                  <a:rPr lang="en-US" dirty="0"/>
                  <a:t> </a:t>
                </a:r>
                <a:r>
                  <a:rPr lang="en-US" sz="1600" dirty="0">
                    <a:latin typeface="Arial" panose="020B0604020202020204" pitchFamily="34" charset="0"/>
                    <a:cs typeface="Arial" panose="020B0604020202020204" pitchFamily="34" charset="0"/>
                  </a:rPr>
                  <a:t>sec/sand</a:t>
                </a:r>
                <a:endParaRPr lang="en-US" dirty="0">
                  <a:latin typeface="Arial" panose="020B0604020202020204" pitchFamily="34" charset="0"/>
                  <a:cs typeface="Arial" panose="020B0604020202020204" pitchFamily="34" charset="0"/>
                </a:endParaRPr>
              </a:p>
            </p:txBody>
          </p:sp>
        </mc:Choice>
        <mc:Fallback xmlns="">
          <p:sp>
            <p:nvSpPr>
              <p:cNvPr id="50" name="TextBox 49"/>
              <p:cNvSpPr txBox="1">
                <a:spLocks noRot="1" noChangeAspect="1" noMove="1" noResize="1" noEditPoints="1" noAdjustHandles="1" noChangeArrowheads="1" noChangeShapeType="1" noTextEdit="1"/>
              </p:cNvSpPr>
              <p:nvPr/>
            </p:nvSpPr>
            <p:spPr>
              <a:xfrm>
                <a:off x="5755776" y="4700963"/>
                <a:ext cx="1627048" cy="440826"/>
              </a:xfrm>
              <a:prstGeom prst="rect">
                <a:avLst/>
              </a:prstGeom>
              <a:blipFill rotWithShape="0">
                <a:blip r:embed="rId3"/>
                <a:stretch>
                  <a:fillRect r="-5618" b="-13889"/>
                </a:stretch>
              </a:blipFill>
            </p:spPr>
            <p:txBody>
              <a:bodyPr/>
              <a:lstStyle/>
              <a:p>
                <a:r>
                  <a:rPr lang="en-US">
                    <a:noFill/>
                  </a:rPr>
                  <a:t> </a:t>
                </a:r>
              </a:p>
            </p:txBody>
          </p:sp>
        </mc:Fallback>
      </mc:AlternateContent>
      <p:grpSp>
        <p:nvGrpSpPr>
          <p:cNvPr id="52" name="Group 51"/>
          <p:cNvGrpSpPr/>
          <p:nvPr/>
        </p:nvGrpSpPr>
        <p:grpSpPr>
          <a:xfrm>
            <a:off x="5402285" y="1886441"/>
            <a:ext cx="1410149" cy="2798421"/>
            <a:chOff x="5329016" y="1720686"/>
            <a:chExt cx="1410149" cy="1856264"/>
          </a:xfrm>
        </p:grpSpPr>
        <p:cxnSp>
          <p:nvCxnSpPr>
            <p:cNvPr id="53" name="Straight Arrow Connector 52"/>
            <p:cNvCxnSpPr/>
            <p:nvPr/>
          </p:nvCxnSpPr>
          <p:spPr bwMode="auto">
            <a:xfrm>
              <a:off x="5984090" y="3193233"/>
              <a:ext cx="7799" cy="383717"/>
            </a:xfrm>
            <a:prstGeom prst="straightConnector1">
              <a:avLst/>
            </a:prstGeom>
            <a:solidFill>
              <a:schemeClr val="accent1"/>
            </a:solidFill>
            <a:ln w="22225" cap="flat" cmpd="sng" algn="ctr">
              <a:solidFill>
                <a:schemeClr val="tx1"/>
              </a:solidFill>
              <a:prstDash val="solid"/>
              <a:round/>
              <a:headEnd type="none" w="sm" len="sm"/>
              <a:tailEnd type="triangle"/>
            </a:ln>
            <a:effectLst/>
            <a:scene3d>
              <a:camera prst="orthographicFront">
                <a:rot lat="0" lon="0" rev="0"/>
              </a:camera>
              <a:lightRig rig="threePt" dir="t"/>
            </a:scene3d>
          </p:spPr>
        </p:cxnSp>
        <p:sp>
          <p:nvSpPr>
            <p:cNvPr id="54" name="Rounded Rectangle 53"/>
            <p:cNvSpPr/>
            <p:nvPr/>
          </p:nvSpPr>
          <p:spPr bwMode="auto">
            <a:xfrm>
              <a:off x="5329016" y="1720686"/>
              <a:ext cx="1410149" cy="1478677"/>
            </a:xfrm>
            <a:prstGeom prst="roundRect">
              <a:avLst/>
            </a:prstGeom>
            <a:noFill/>
            <a:ln w="47625" cap="flat" cmpd="sng" algn="ctr">
              <a:solidFill>
                <a:srgbClr val="C00000"/>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Verdana" pitchFamily="34" charset="0"/>
              </a:endParaRPr>
            </a:p>
          </p:txBody>
        </p:sp>
      </p:grpSp>
      <mc:AlternateContent xmlns:mc="http://schemas.openxmlformats.org/markup-compatibility/2006" xmlns:a14="http://schemas.microsoft.com/office/drawing/2010/main">
        <mc:Choice Requires="a14">
          <p:sp>
            <p:nvSpPr>
              <p:cNvPr id="57" name="TextBox 56"/>
              <p:cNvSpPr txBox="1"/>
              <p:nvPr/>
            </p:nvSpPr>
            <p:spPr>
              <a:xfrm>
                <a:off x="2089789" y="5266157"/>
                <a:ext cx="5761193" cy="52604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en-US" b="0" i="0" smtClean="0">
                          <a:latin typeface="Cambria Math" panose="02040503050406030204" pitchFamily="18" charset="0"/>
                        </a:rPr>
                        <m:t>Capacity</m:t>
                      </m:r>
                      <m:r>
                        <m:rPr>
                          <m:nor/>
                        </m:rPr>
                        <a:rPr lang="en-US" b="0" i="0" smtClean="0">
                          <a:latin typeface="Cambria Math" panose="02040503050406030204" pitchFamily="18" charset="0"/>
                        </a:rPr>
                        <m:t>=</m:t>
                      </m:r>
                      <m:f>
                        <m:fPr>
                          <m:ctrlPr>
                            <a:rPr lang="en-US" b="0" i="1" smtClean="0">
                              <a:latin typeface="Cambria Math" panose="02040503050406030204" pitchFamily="18" charset="0"/>
                            </a:rPr>
                          </m:ctrlPr>
                        </m:fPr>
                        <m:num>
                          <m:r>
                            <m:rPr>
                              <m:nor/>
                            </m:rPr>
                            <a:rPr lang="en-US" b="0" i="0" smtClean="0">
                              <a:latin typeface="Cambria Math" panose="02040503050406030204" pitchFamily="18" charset="0"/>
                            </a:rPr>
                            <m:t>1</m:t>
                          </m:r>
                        </m:num>
                        <m:den>
                          <m:r>
                            <m:rPr>
                              <m:nor/>
                            </m:rPr>
                            <a:rPr lang="en-US" b="0" i="0" smtClean="0">
                              <a:latin typeface="Cambria Math" panose="02040503050406030204" pitchFamily="18" charset="0"/>
                            </a:rPr>
                            <m:t>37.5</m:t>
                          </m:r>
                        </m:den>
                      </m:f>
                      <m:r>
                        <m:rPr>
                          <m:nor/>
                        </m:rPr>
                        <a:rPr lang="en-US" b="0" i="0" smtClean="0">
                          <a:latin typeface="Cambria Math" panose="02040503050406030204" pitchFamily="18" charset="0"/>
                        </a:rPr>
                        <m:t>  </m:t>
                      </m:r>
                      <m:f>
                        <m:fPr>
                          <m:ctrlPr>
                            <a:rPr lang="en-US" b="0" i="1" smtClean="0">
                              <a:latin typeface="Cambria Math" panose="02040503050406030204" pitchFamily="18" charset="0"/>
                            </a:rPr>
                          </m:ctrlPr>
                        </m:fPr>
                        <m:num>
                          <m:r>
                            <m:rPr>
                              <m:nor/>
                            </m:rPr>
                            <a:rPr lang="en-US" b="0" i="0" smtClean="0">
                              <a:latin typeface="Cambria Math" panose="02040503050406030204" pitchFamily="18" charset="0"/>
                            </a:rPr>
                            <m:t>sandwich</m:t>
                          </m:r>
                        </m:num>
                        <m:den>
                          <m:r>
                            <m:rPr>
                              <m:nor/>
                            </m:rPr>
                            <a:rPr lang="en-US" b="0" i="0" smtClean="0">
                              <a:latin typeface="Cambria Math" panose="02040503050406030204" pitchFamily="18" charset="0"/>
                            </a:rPr>
                            <m:t>sec</m:t>
                          </m:r>
                        </m:den>
                      </m:f>
                      <m:r>
                        <m:rPr>
                          <m:nor/>
                        </m:rPr>
                        <a:rPr lang="en-US" i="0">
                          <a:latin typeface="Cambria Math" panose="02040503050406030204" pitchFamily="18" charset="0"/>
                        </a:rPr>
                        <m:t>x</m:t>
                      </m:r>
                      <m:r>
                        <m:rPr>
                          <m:nor/>
                        </m:rPr>
                        <a:rPr lang="en-US" b="0" i="0" smtClean="0">
                          <a:latin typeface="Cambria Math" panose="02040503050406030204" pitchFamily="18" charset="0"/>
                        </a:rPr>
                        <m:t> </m:t>
                      </m:r>
                      <m:r>
                        <m:rPr>
                          <m:nor/>
                        </m:rPr>
                        <a:rPr lang="en-US" i="0">
                          <a:latin typeface="Cambria Math" panose="02040503050406030204" pitchFamily="18" charset="0"/>
                        </a:rPr>
                        <m:t>3600</m:t>
                      </m:r>
                      <m:f>
                        <m:fPr>
                          <m:ctrlPr>
                            <a:rPr lang="en-US" i="1">
                              <a:latin typeface="Cambria Math" panose="02040503050406030204" pitchFamily="18" charset="0"/>
                            </a:rPr>
                          </m:ctrlPr>
                        </m:fPr>
                        <m:num>
                          <m:r>
                            <m:rPr>
                              <m:nor/>
                            </m:rPr>
                            <a:rPr lang="en-US" i="0">
                              <a:latin typeface="Cambria Math" panose="02040503050406030204" pitchFamily="18" charset="0"/>
                            </a:rPr>
                            <m:t>sec</m:t>
                          </m:r>
                        </m:num>
                        <m:den>
                          <m:r>
                            <m:rPr>
                              <m:nor/>
                            </m:rPr>
                            <a:rPr lang="en-US" i="0">
                              <a:latin typeface="Cambria Math" panose="02040503050406030204" pitchFamily="18" charset="0"/>
                            </a:rPr>
                            <m:t>hr</m:t>
                          </m:r>
                        </m:den>
                      </m:f>
                      <m:r>
                        <m:rPr>
                          <m:nor/>
                        </m:rPr>
                        <a:rPr lang="en-US" i="0">
                          <a:latin typeface="Cambria Math" panose="02040503050406030204" pitchFamily="18" charset="0"/>
                        </a:rPr>
                        <m:t>=96 </m:t>
                      </m:r>
                      <m:r>
                        <m:rPr>
                          <m:nor/>
                        </m:rPr>
                        <a:rPr lang="en-US" i="0">
                          <a:latin typeface="Cambria Math" panose="02040503050406030204" pitchFamily="18" charset="0"/>
                        </a:rPr>
                        <m:t>sandwiches</m:t>
                      </m:r>
                      <m:r>
                        <m:rPr>
                          <m:nor/>
                        </m:rPr>
                        <a:rPr lang="en-US" i="0">
                          <a:latin typeface="Cambria Math" panose="02040503050406030204" pitchFamily="18" charset="0"/>
                        </a:rPr>
                        <m:t>/</m:t>
                      </m:r>
                      <m:r>
                        <m:rPr>
                          <m:nor/>
                        </m:rPr>
                        <a:rPr lang="en-US" i="0">
                          <a:latin typeface="Cambria Math" panose="02040503050406030204" pitchFamily="18" charset="0"/>
                        </a:rPr>
                        <m:t>hr</m:t>
                      </m:r>
                    </m:oMath>
                  </m:oMathPara>
                </a14:m>
                <a:endParaRPr lang="en-US" dirty="0"/>
              </a:p>
            </p:txBody>
          </p:sp>
        </mc:Choice>
        <mc:Fallback xmlns="">
          <p:sp>
            <p:nvSpPr>
              <p:cNvPr id="57" name="TextBox 56"/>
              <p:cNvSpPr txBox="1">
                <a:spLocks noRot="1" noChangeAspect="1" noMove="1" noResize="1" noEditPoints="1" noAdjustHandles="1" noChangeArrowheads="1" noChangeShapeType="1" noTextEdit="1"/>
              </p:cNvSpPr>
              <p:nvPr/>
            </p:nvSpPr>
            <p:spPr>
              <a:xfrm>
                <a:off x="2089789" y="5266157"/>
                <a:ext cx="5761193" cy="526041"/>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TextBox 60"/>
              <p:cNvSpPr txBox="1"/>
              <p:nvPr/>
            </p:nvSpPr>
            <p:spPr>
              <a:xfrm>
                <a:off x="2182697" y="5819997"/>
                <a:ext cx="5180905" cy="276999"/>
              </a:xfrm>
              <a:prstGeom prst="rect">
                <a:avLst/>
              </a:prstGeom>
              <a:noFill/>
            </p:spPr>
            <p:txBody>
              <a:bodyPr wrap="none" lIns="0" tIns="0" rIns="0" bIns="0" rtlCol="0">
                <a:spAutoFit/>
              </a:bodyPr>
              <a:lstStyle/>
              <a:p>
                <a14:m>
                  <m:oMath xmlns:m="http://schemas.openxmlformats.org/officeDocument/2006/math">
                    <m:r>
                      <m:rPr>
                        <m:nor/>
                      </m:rPr>
                      <a:rPr lang="en-US" b="0" i="0" smtClean="0">
                        <a:latin typeface="Cambria Math" panose="02040503050406030204" pitchFamily="18" charset="0"/>
                      </a:rPr>
                      <m:t>Throughput</m:t>
                    </m:r>
                    <m:r>
                      <m:rPr>
                        <m:nor/>
                      </m:rPr>
                      <a:rPr lang="en-US" b="0" i="0" smtClean="0">
                        <a:latin typeface="Cambria Math" panose="02040503050406030204" pitchFamily="18" charset="0"/>
                      </a:rPr>
                      <m:t> </m:t>
                    </m:r>
                    <m:r>
                      <m:rPr>
                        <m:nor/>
                      </m:rPr>
                      <a:rPr lang="en-US" b="0" i="0" smtClean="0">
                        <a:latin typeface="Cambria Math" panose="02040503050406030204" pitchFamily="18" charset="0"/>
                      </a:rPr>
                      <m:t>time</m:t>
                    </m:r>
                    <m:r>
                      <m:rPr>
                        <m:nor/>
                      </m:rPr>
                      <a:rPr lang="en-US" b="0" i="0" smtClean="0">
                        <a:latin typeface="Cambria Math" panose="02040503050406030204" pitchFamily="18" charset="0"/>
                      </a:rPr>
                      <m:t>=30+15+20+40+37.5=142.5 </m:t>
                    </m:r>
                    <m:r>
                      <m:rPr>
                        <m:nor/>
                      </m:rPr>
                      <a:rPr lang="en-US" b="0" i="0" smtClean="0">
                        <a:latin typeface="Cambria Math" panose="02040503050406030204" pitchFamily="18" charset="0"/>
                      </a:rPr>
                      <m:t>sec</m:t>
                    </m:r>
                  </m:oMath>
                </a14:m>
                <a:r>
                  <a:rPr lang="en-US" dirty="0"/>
                  <a:t> </a:t>
                </a:r>
              </a:p>
            </p:txBody>
          </p:sp>
        </mc:Choice>
        <mc:Fallback xmlns="">
          <p:sp>
            <p:nvSpPr>
              <p:cNvPr id="61" name="TextBox 60"/>
              <p:cNvSpPr txBox="1">
                <a:spLocks noRot="1" noChangeAspect="1" noMove="1" noResize="1" noEditPoints="1" noAdjustHandles="1" noChangeArrowheads="1" noChangeShapeType="1" noTextEdit="1"/>
              </p:cNvSpPr>
              <p:nvPr/>
            </p:nvSpPr>
            <p:spPr>
              <a:xfrm>
                <a:off x="2182697" y="5819997"/>
                <a:ext cx="5180905" cy="276999"/>
              </a:xfrm>
              <a:prstGeom prst="rect">
                <a:avLst/>
              </a:prstGeom>
              <a:blipFill rotWithShape="0">
                <a:blip r:embed="rId5"/>
                <a:stretch>
                  <a:fillRect l="-2118" b="-4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p:cNvSpPr txBox="1"/>
              <p:nvPr/>
            </p:nvSpPr>
            <p:spPr>
              <a:xfrm>
                <a:off x="4048838" y="4673742"/>
                <a:ext cx="1596591" cy="440826"/>
              </a:xfrm>
              <a:prstGeom prst="rect">
                <a:avLst/>
              </a:prstGeom>
              <a:noFill/>
            </p:spPr>
            <p:txBody>
              <a:bodyPr wrap="none" lIns="0" tIns="0" rIns="0" bIns="0" rtlCol="0">
                <a:spAutoFit/>
              </a:bodyPr>
              <a:lstStyle/>
              <a:p>
                <a14:m>
                  <m:oMath xmlns:m="http://schemas.openxmlformats.org/officeDocument/2006/math">
                    <m:f>
                      <m:fPr>
                        <m:ctrlPr>
                          <a:rPr lang="en-US" b="0" i="1" smtClean="0">
                            <a:latin typeface="Cambria Math" panose="02040503050406030204" pitchFamily="18" charset="0"/>
                          </a:rPr>
                        </m:ctrlPr>
                      </m:fPr>
                      <m:num>
                        <m:r>
                          <m:rPr>
                            <m:nor/>
                          </m:rPr>
                          <a:rPr lang="en-US" b="0" i="0" smtClean="0">
                            <a:latin typeface="Cambria Math" panose="02040503050406030204" pitchFamily="18" charset="0"/>
                          </a:rPr>
                          <m:t>20</m:t>
                        </m:r>
                      </m:num>
                      <m:den>
                        <m:r>
                          <m:rPr>
                            <m:nor/>
                          </m:rPr>
                          <a:rPr lang="en-US" b="0" i="0" smtClean="0">
                            <a:latin typeface="Cambria Math" panose="02040503050406030204" pitchFamily="18" charset="0"/>
                          </a:rPr>
                          <m:t>2</m:t>
                        </m:r>
                      </m:den>
                    </m:f>
                    <m:r>
                      <m:rPr>
                        <m:nor/>
                      </m:rPr>
                      <a:rPr lang="en-US" b="0" i="0" smtClean="0">
                        <a:latin typeface="Cambria Math" panose="02040503050406030204" pitchFamily="18" charset="0"/>
                      </a:rPr>
                      <m:t>=10 </m:t>
                    </m:r>
                  </m:oMath>
                </a14:m>
                <a:r>
                  <a:rPr lang="en-US" sz="1600" dirty="0">
                    <a:latin typeface="Arial" panose="020B0604020202020204" pitchFamily="34" charset="0"/>
                    <a:cs typeface="Arial" panose="020B0604020202020204" pitchFamily="34" charset="0"/>
                  </a:rPr>
                  <a:t>sec/sand</a:t>
                </a:r>
                <a:endParaRPr lang="en-US" dirty="0">
                  <a:latin typeface="Arial" panose="020B0604020202020204" pitchFamily="34" charset="0"/>
                  <a:cs typeface="Arial" panose="020B0604020202020204" pitchFamily="34" charset="0"/>
                </a:endParaRPr>
              </a:p>
            </p:txBody>
          </p:sp>
        </mc:Choice>
        <mc:Fallback xmlns="">
          <p:sp>
            <p:nvSpPr>
              <p:cNvPr id="42" name="TextBox 41"/>
              <p:cNvSpPr txBox="1">
                <a:spLocks noRot="1" noChangeAspect="1" noMove="1" noResize="1" noEditPoints="1" noAdjustHandles="1" noChangeArrowheads="1" noChangeShapeType="1" noTextEdit="1"/>
              </p:cNvSpPr>
              <p:nvPr/>
            </p:nvSpPr>
            <p:spPr>
              <a:xfrm>
                <a:off x="4048838" y="4673742"/>
                <a:ext cx="1596591" cy="440826"/>
              </a:xfrm>
              <a:prstGeom prst="rect">
                <a:avLst/>
              </a:prstGeom>
              <a:blipFill rotWithShape="0">
                <a:blip r:embed="rId6"/>
                <a:stretch>
                  <a:fillRect r="-5725" b="-12500"/>
                </a:stretch>
              </a:blipFill>
            </p:spPr>
            <p:txBody>
              <a:bodyPr/>
              <a:lstStyle/>
              <a:p>
                <a:r>
                  <a:rPr lang="en-US">
                    <a:noFill/>
                  </a:rPr>
                  <a:t> </a:t>
                </a:r>
              </a:p>
            </p:txBody>
          </p:sp>
        </mc:Fallback>
      </mc:AlternateContent>
      <p:grpSp>
        <p:nvGrpSpPr>
          <p:cNvPr id="46" name="Group 45"/>
          <p:cNvGrpSpPr/>
          <p:nvPr/>
        </p:nvGrpSpPr>
        <p:grpSpPr>
          <a:xfrm>
            <a:off x="3829080" y="1864419"/>
            <a:ext cx="1410149" cy="2798421"/>
            <a:chOff x="5329016" y="1720686"/>
            <a:chExt cx="1410149" cy="1856264"/>
          </a:xfrm>
        </p:grpSpPr>
        <p:cxnSp>
          <p:nvCxnSpPr>
            <p:cNvPr id="47" name="Straight Arrow Connector 46"/>
            <p:cNvCxnSpPr/>
            <p:nvPr/>
          </p:nvCxnSpPr>
          <p:spPr bwMode="auto">
            <a:xfrm>
              <a:off x="5984090" y="3193233"/>
              <a:ext cx="7799" cy="383717"/>
            </a:xfrm>
            <a:prstGeom prst="straightConnector1">
              <a:avLst/>
            </a:prstGeom>
            <a:solidFill>
              <a:schemeClr val="accent1"/>
            </a:solidFill>
            <a:ln w="22225" cap="flat" cmpd="sng" algn="ctr">
              <a:solidFill>
                <a:schemeClr val="tx1"/>
              </a:solidFill>
              <a:prstDash val="solid"/>
              <a:round/>
              <a:headEnd type="none" w="sm" len="sm"/>
              <a:tailEnd type="triangle"/>
            </a:ln>
            <a:effectLst/>
            <a:scene3d>
              <a:camera prst="orthographicFront">
                <a:rot lat="0" lon="0" rev="0"/>
              </a:camera>
              <a:lightRig rig="threePt" dir="t"/>
            </a:scene3d>
          </p:spPr>
        </p:cxnSp>
        <p:sp>
          <p:nvSpPr>
            <p:cNvPr id="48" name="Rounded Rectangle 47"/>
            <p:cNvSpPr/>
            <p:nvPr/>
          </p:nvSpPr>
          <p:spPr bwMode="auto">
            <a:xfrm>
              <a:off x="5329016" y="1720686"/>
              <a:ext cx="1410149" cy="1478677"/>
            </a:xfrm>
            <a:prstGeom prst="roundRect">
              <a:avLst/>
            </a:prstGeom>
            <a:noFill/>
            <a:ln w="47625" cap="flat" cmpd="sng" algn="ctr">
              <a:solidFill>
                <a:srgbClr val="C00000"/>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Verdana" pitchFamily="34" charset="0"/>
              </a:endParaRPr>
            </a:p>
          </p:txBody>
        </p:sp>
      </p:grpSp>
      <mc:AlternateContent xmlns:mc="http://schemas.openxmlformats.org/markup-compatibility/2006" xmlns:a14="http://schemas.microsoft.com/office/drawing/2010/main">
        <mc:Choice Requires="a14">
          <p:sp>
            <p:nvSpPr>
              <p:cNvPr id="49" name="TextBox 48"/>
              <p:cNvSpPr txBox="1"/>
              <p:nvPr/>
            </p:nvSpPr>
            <p:spPr>
              <a:xfrm>
                <a:off x="2263352" y="4668164"/>
                <a:ext cx="1675139" cy="446404"/>
              </a:xfrm>
              <a:prstGeom prst="rect">
                <a:avLst/>
              </a:prstGeom>
              <a:noFill/>
            </p:spPr>
            <p:txBody>
              <a:bodyPr wrap="none" lIns="0" tIns="0" rIns="0" bIns="0" rtlCol="0">
                <a:spAutoFit/>
              </a:bodyPr>
              <a:lstStyle/>
              <a:p>
                <a14:m>
                  <m:oMath xmlns:m="http://schemas.openxmlformats.org/officeDocument/2006/math">
                    <m:f>
                      <m:fPr>
                        <m:ctrlPr>
                          <a:rPr lang="en-US" b="0" i="1" smtClean="0">
                            <a:latin typeface="Cambria Math" panose="02040503050406030204" pitchFamily="18" charset="0"/>
                          </a:rPr>
                        </m:ctrlPr>
                      </m:fPr>
                      <m:num>
                        <m:r>
                          <m:rPr>
                            <m:nor/>
                          </m:rPr>
                          <a:rPr lang="en-US" b="0" i="0" smtClean="0">
                            <a:latin typeface="Cambria Math" panose="02040503050406030204" pitchFamily="18" charset="0"/>
                          </a:rPr>
                          <m:t>15</m:t>
                        </m:r>
                      </m:num>
                      <m:den>
                        <m:r>
                          <m:rPr>
                            <m:nor/>
                          </m:rPr>
                          <a:rPr lang="en-US" b="0" i="0" smtClean="0">
                            <a:latin typeface="Cambria Math" panose="02040503050406030204" pitchFamily="18" charset="0"/>
                          </a:rPr>
                          <m:t>2</m:t>
                        </m:r>
                      </m:den>
                    </m:f>
                    <m:r>
                      <m:rPr>
                        <m:nor/>
                      </m:rPr>
                      <a:rPr lang="en-US" b="0" i="0" smtClean="0">
                        <a:latin typeface="Cambria Math" panose="02040503050406030204" pitchFamily="18" charset="0"/>
                      </a:rPr>
                      <m:t>=7.5</m:t>
                    </m:r>
                  </m:oMath>
                </a14:m>
                <a:r>
                  <a:rPr lang="en-US" dirty="0"/>
                  <a:t> </a:t>
                </a:r>
                <a:r>
                  <a:rPr lang="en-US" sz="1600" dirty="0">
                    <a:latin typeface="Arial" panose="020B0604020202020204" pitchFamily="34" charset="0"/>
                    <a:cs typeface="Arial" panose="020B0604020202020204" pitchFamily="34" charset="0"/>
                  </a:rPr>
                  <a:t>sec/sand</a:t>
                </a:r>
              </a:p>
            </p:txBody>
          </p:sp>
        </mc:Choice>
        <mc:Fallback xmlns="">
          <p:sp>
            <p:nvSpPr>
              <p:cNvPr id="49" name="TextBox 48"/>
              <p:cNvSpPr txBox="1">
                <a:spLocks noRot="1" noChangeAspect="1" noMove="1" noResize="1" noEditPoints="1" noAdjustHandles="1" noChangeArrowheads="1" noChangeShapeType="1" noTextEdit="1"/>
              </p:cNvSpPr>
              <p:nvPr/>
            </p:nvSpPr>
            <p:spPr>
              <a:xfrm>
                <a:off x="2263352" y="4668164"/>
                <a:ext cx="1675139" cy="446404"/>
              </a:xfrm>
              <a:prstGeom prst="rect">
                <a:avLst/>
              </a:prstGeom>
              <a:blipFill rotWithShape="0">
                <a:blip r:embed="rId7"/>
                <a:stretch>
                  <a:fillRect r="-5455" b="-12329"/>
                </a:stretch>
              </a:blipFill>
            </p:spPr>
            <p:txBody>
              <a:bodyPr/>
              <a:lstStyle/>
              <a:p>
                <a:r>
                  <a:rPr lang="en-US">
                    <a:noFill/>
                  </a:rPr>
                  <a:t> </a:t>
                </a:r>
              </a:p>
            </p:txBody>
          </p:sp>
        </mc:Fallback>
      </mc:AlternateContent>
      <p:grpSp>
        <p:nvGrpSpPr>
          <p:cNvPr id="55" name="Group 54"/>
          <p:cNvGrpSpPr/>
          <p:nvPr/>
        </p:nvGrpSpPr>
        <p:grpSpPr>
          <a:xfrm>
            <a:off x="2284657" y="1886441"/>
            <a:ext cx="1410149" cy="2798421"/>
            <a:chOff x="5329016" y="1720686"/>
            <a:chExt cx="1410149" cy="1856264"/>
          </a:xfrm>
        </p:grpSpPr>
        <p:cxnSp>
          <p:nvCxnSpPr>
            <p:cNvPr id="56" name="Straight Arrow Connector 55"/>
            <p:cNvCxnSpPr/>
            <p:nvPr/>
          </p:nvCxnSpPr>
          <p:spPr bwMode="auto">
            <a:xfrm>
              <a:off x="5984090" y="3193233"/>
              <a:ext cx="7799" cy="383717"/>
            </a:xfrm>
            <a:prstGeom prst="straightConnector1">
              <a:avLst/>
            </a:prstGeom>
            <a:solidFill>
              <a:schemeClr val="accent1"/>
            </a:solidFill>
            <a:ln w="22225" cap="flat" cmpd="sng" algn="ctr">
              <a:solidFill>
                <a:schemeClr val="tx1"/>
              </a:solidFill>
              <a:prstDash val="solid"/>
              <a:round/>
              <a:headEnd type="none" w="sm" len="sm"/>
              <a:tailEnd type="triangle"/>
            </a:ln>
            <a:effectLst/>
            <a:scene3d>
              <a:camera prst="orthographicFront">
                <a:rot lat="0" lon="0" rev="0"/>
              </a:camera>
              <a:lightRig rig="threePt" dir="t"/>
            </a:scene3d>
          </p:spPr>
        </p:cxnSp>
        <p:sp>
          <p:nvSpPr>
            <p:cNvPr id="58" name="Rounded Rectangle 57"/>
            <p:cNvSpPr/>
            <p:nvPr/>
          </p:nvSpPr>
          <p:spPr bwMode="auto">
            <a:xfrm>
              <a:off x="5329016" y="1720686"/>
              <a:ext cx="1410149" cy="1478677"/>
            </a:xfrm>
            <a:prstGeom prst="roundRect">
              <a:avLst/>
            </a:prstGeom>
            <a:noFill/>
            <a:ln w="47625" cap="flat" cmpd="sng" algn="ctr">
              <a:solidFill>
                <a:srgbClr val="C00000"/>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Verdana" pitchFamily="34" charset="0"/>
              </a:endParaRPr>
            </a:p>
          </p:txBody>
        </p:sp>
      </p:grpSp>
      <p:sp>
        <p:nvSpPr>
          <p:cNvPr id="2" name="TextBox 1"/>
          <p:cNvSpPr txBox="1"/>
          <p:nvPr/>
        </p:nvSpPr>
        <p:spPr>
          <a:xfrm>
            <a:off x="478292" y="6142143"/>
            <a:ext cx="8513308" cy="646331"/>
          </a:xfrm>
          <a:prstGeom prst="rect">
            <a:avLst/>
          </a:prstGeom>
          <a:noFill/>
        </p:spPr>
        <p:txBody>
          <a:bodyPr wrap="square" rtlCol="0">
            <a:spAutoFit/>
          </a:bodyPr>
          <a:lstStyle/>
          <a:p>
            <a:pPr marL="285750" indent="-285750">
              <a:buClr>
                <a:srgbClr val="C00000"/>
              </a:buClr>
              <a:buFont typeface="Arial" panose="020B0604020202020204" pitchFamily="34" charset="0"/>
              <a:buChar char="•"/>
            </a:pPr>
            <a:r>
              <a:rPr lang="en-US" dirty="0"/>
              <a:t>Has the capacity of the restaurant doubled after doubling the capacity of the (previous) bottleneck?</a:t>
            </a:r>
          </a:p>
        </p:txBody>
      </p:sp>
    </p:spTree>
    <p:extLst>
      <p:ext uri="{BB962C8B-B14F-4D97-AF65-F5344CB8AC3E}">
        <p14:creationId xmlns:p14="http://schemas.microsoft.com/office/powerpoint/2010/main" val="2815415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fade">
                                      <p:cBhvr>
                                        <p:cTn id="7" dur="500"/>
                                        <p:tgtEl>
                                          <p:spTgt spid="5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9"/>
                                        </p:tgtEl>
                                        <p:attrNameLst>
                                          <p:attrName>style.visibility</p:attrName>
                                        </p:attrNameLst>
                                      </p:cBhvr>
                                      <p:to>
                                        <p:strVal val="visible"/>
                                      </p:to>
                                    </p:set>
                                    <p:animEffect transition="in" filter="fade">
                                      <p:cBhvr>
                                        <p:cTn id="10" dur="500"/>
                                        <p:tgtEl>
                                          <p:spTgt spid="4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fade">
                                      <p:cBhvr>
                                        <p:cTn id="15" dur="500"/>
                                        <p:tgtEl>
                                          <p:spTgt spid="4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2"/>
                                        </p:tgtEl>
                                        <p:attrNameLst>
                                          <p:attrName>style.visibility</p:attrName>
                                        </p:attrNameLst>
                                      </p:cBhvr>
                                      <p:to>
                                        <p:strVal val="visible"/>
                                      </p:to>
                                    </p:set>
                                    <p:animEffect transition="in" filter="fade">
                                      <p:cBhvr>
                                        <p:cTn id="18" dur="500"/>
                                        <p:tgtEl>
                                          <p:spTgt spid="4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52"/>
                                        </p:tgtEl>
                                        <p:attrNameLst>
                                          <p:attrName>style.visibility</p:attrName>
                                        </p:attrNameLst>
                                      </p:cBhvr>
                                      <p:to>
                                        <p:strVal val="visible"/>
                                      </p:to>
                                    </p:set>
                                    <p:animEffect transition="in" filter="fade">
                                      <p:cBhvr>
                                        <p:cTn id="23" dur="500"/>
                                        <p:tgtEl>
                                          <p:spTgt spid="5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50"/>
                                        </p:tgtEl>
                                        <p:attrNameLst>
                                          <p:attrName>style.visibility</p:attrName>
                                        </p:attrNameLst>
                                      </p:cBhvr>
                                      <p:to>
                                        <p:strVal val="visible"/>
                                      </p:to>
                                    </p:set>
                                    <p:animEffect transition="in" filter="fade">
                                      <p:cBhvr>
                                        <p:cTn id="26" dur="500"/>
                                        <p:tgtEl>
                                          <p:spTgt spid="50"/>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57"/>
                                        </p:tgtEl>
                                        <p:attrNameLst>
                                          <p:attrName>style.visibility</p:attrName>
                                        </p:attrNameLst>
                                      </p:cBhvr>
                                      <p:to>
                                        <p:strVal val="visible"/>
                                      </p:to>
                                    </p:set>
                                    <p:animEffect transition="in" filter="fade">
                                      <p:cBhvr>
                                        <p:cTn id="31" dur="500"/>
                                        <p:tgtEl>
                                          <p:spTgt spid="57"/>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61"/>
                                        </p:tgtEl>
                                        <p:attrNameLst>
                                          <p:attrName>style.visibility</p:attrName>
                                        </p:attrNameLst>
                                      </p:cBhvr>
                                      <p:to>
                                        <p:strVal val="visible"/>
                                      </p:to>
                                    </p:set>
                                    <p:animEffect transition="in" filter="fade">
                                      <p:cBhvr>
                                        <p:cTn id="36" dur="500"/>
                                        <p:tgtEl>
                                          <p:spTgt spid="61"/>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2"/>
                                        </p:tgtEl>
                                        <p:attrNameLst>
                                          <p:attrName>style.visibility</p:attrName>
                                        </p:attrNameLst>
                                      </p:cBhvr>
                                      <p:to>
                                        <p:strVal val="visible"/>
                                      </p:to>
                                    </p:set>
                                    <p:animEffect transition="in" filter="fade">
                                      <p:cBhvr>
                                        <p:cTn id="4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7" grpId="0"/>
      <p:bldP spid="61" grpId="0"/>
      <p:bldP spid="42" grpId="0"/>
      <p:bldP spid="49" grpId="0"/>
      <p:bldP spid="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62"/>
        <p:cNvGrpSpPr/>
        <p:nvPr/>
      </p:nvGrpSpPr>
      <p:grpSpPr>
        <a:xfrm>
          <a:off x="0" y="0"/>
          <a:ext cx="0" cy="0"/>
          <a:chOff x="0" y="0"/>
          <a:chExt cx="0" cy="0"/>
        </a:xfrm>
      </p:grpSpPr>
      <p:sp>
        <p:nvSpPr>
          <p:cNvPr id="663" name="Google Shape;663;p57"/>
          <p:cNvSpPr txBox="1">
            <a:spLocks noGrp="1"/>
          </p:cNvSpPr>
          <p:nvPr>
            <p:ph type="title"/>
          </p:nvPr>
        </p:nvSpPr>
        <p:spPr>
          <a:xfrm>
            <a:off x="457200" y="215371"/>
            <a:ext cx="8229600" cy="1097279"/>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Clr>
                <a:srgbClr val="007FA3"/>
              </a:buClr>
              <a:buSzPts val="3400"/>
              <a:buNone/>
            </a:pPr>
            <a:r>
              <a:rPr lang="en-US">
                <a:latin typeface="Times New Roman"/>
                <a:ea typeface="Times New Roman"/>
                <a:cs typeface="Times New Roman"/>
                <a:sym typeface="Times New Roman"/>
              </a:rPr>
              <a:t>Example 1 </a:t>
            </a:r>
            <a:r>
              <a:rPr lang="en-US" sz="2000" b="0">
                <a:latin typeface="Times New Roman"/>
                <a:ea typeface="Times New Roman"/>
                <a:cs typeface="Times New Roman"/>
                <a:sym typeface="Times New Roman"/>
              </a:rPr>
              <a:t>(1 of 4)</a:t>
            </a:r>
            <a:endParaRPr sz="2000" b="0">
              <a:latin typeface="Times New Roman"/>
              <a:ea typeface="Times New Roman"/>
              <a:cs typeface="Times New Roman"/>
              <a:sym typeface="Times New Roman"/>
            </a:endParaRPr>
          </a:p>
        </p:txBody>
      </p:sp>
      <p:sp>
        <p:nvSpPr>
          <p:cNvPr id="664" name="Google Shape;664;p57"/>
          <p:cNvSpPr txBox="1">
            <a:spLocks noGrp="1"/>
          </p:cNvSpPr>
          <p:nvPr>
            <p:ph type="body" idx="1"/>
          </p:nvPr>
        </p:nvSpPr>
        <p:spPr>
          <a:xfrm>
            <a:off x="457200" y="1600200"/>
            <a:ext cx="8229600" cy="25264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400"/>
              <a:buNone/>
            </a:pPr>
            <a:r>
              <a:rPr lang="en-US" sz="1800">
                <a:solidFill>
                  <a:srgbClr val="000000"/>
                </a:solidFill>
                <a:latin typeface="Arial"/>
                <a:ea typeface="Arial"/>
                <a:cs typeface="Arial"/>
                <a:sym typeface="Arial"/>
              </a:rPr>
              <a:t>Keith’s Car Wash offers two types of washes: Standard and Deluxe. The process flow for both types of customers is shown in the following chart. Both wash types are first processed through steps A1 and A2. The Standard wash then goes through steps A3 and A4 while the Deluxe is processed through steps A5, A6, and A7. Both offerings finish at the drying station (A8). The numbers in parentheses indicate the minutes it takes for that activity to process a customer.</a:t>
            </a:r>
            <a:endParaRPr/>
          </a:p>
          <a:p>
            <a:pPr marL="0" lvl="0" indent="0" algn="l" rtl="0">
              <a:lnSpc>
                <a:spcPct val="100000"/>
              </a:lnSpc>
              <a:spcBef>
                <a:spcPts val="1500"/>
              </a:spcBef>
              <a:spcAft>
                <a:spcPts val="0"/>
              </a:spcAft>
              <a:buSzPts val="2400"/>
              <a:buNone/>
            </a:pPr>
            <a:r>
              <a:rPr lang="en-US" sz="1800" b="1">
                <a:latin typeface="Arial"/>
                <a:ea typeface="Arial"/>
                <a:cs typeface="Arial"/>
                <a:sym typeface="Arial"/>
              </a:rPr>
              <a:t>Figure 6.1 </a:t>
            </a:r>
            <a:r>
              <a:rPr lang="en-US" sz="1800">
                <a:latin typeface="Arial"/>
                <a:ea typeface="Arial"/>
                <a:cs typeface="Arial"/>
                <a:sym typeface="Arial"/>
              </a:rPr>
              <a:t>Process Flow for Keith’s Car Wash</a:t>
            </a:r>
            <a:endParaRPr/>
          </a:p>
        </p:txBody>
      </p:sp>
      <p:pic>
        <p:nvPicPr>
          <p:cNvPr id="665" name="Google Shape;665;p57" descr="A flow chart. The process initially flows through A 1, 5, and A 2, 6, to decision standard or deluxe. The path for standard flows through A 3, 12, and A 4, 15, to A 8, 10. The path for deluxe flows through A 5, 5; A 6, 20; and A 7, 12, to A 8, 10."/>
          <p:cNvPicPr preferRelativeResize="0"/>
          <p:nvPr/>
        </p:nvPicPr>
        <p:blipFill rotWithShape="1">
          <a:blip r:embed="rId3">
            <a:alphaModFix/>
          </a:blip>
          <a:srcRect/>
          <a:stretch/>
        </p:blipFill>
        <p:spPr>
          <a:xfrm>
            <a:off x="1376515" y="4212935"/>
            <a:ext cx="6390970" cy="2087548"/>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802C0-0AD1-600C-178E-ECC8C895DAD9}"/>
              </a:ext>
            </a:extLst>
          </p:cNvPr>
          <p:cNvSpPr>
            <a:spLocks noGrp="1"/>
          </p:cNvSpPr>
          <p:nvPr>
            <p:ph type="title"/>
          </p:nvPr>
        </p:nvSpPr>
        <p:spPr/>
        <p:txBody>
          <a:bodyPr/>
          <a:lstStyle/>
          <a:p>
            <a:r>
              <a:rPr lang="en-US" dirty="0"/>
              <a:t>Q1</a:t>
            </a:r>
          </a:p>
        </p:txBody>
      </p:sp>
      <p:sp>
        <p:nvSpPr>
          <p:cNvPr id="3" name="Text Placeholder 2">
            <a:extLst>
              <a:ext uri="{FF2B5EF4-FFF2-40B4-BE49-F238E27FC236}">
                <a16:creationId xmlns:a16="http://schemas.microsoft.com/office/drawing/2014/main" id="{D984E989-5C57-FC21-F891-C1B60AC2A935}"/>
              </a:ext>
            </a:extLst>
          </p:cNvPr>
          <p:cNvSpPr>
            <a:spLocks noGrp="1"/>
          </p:cNvSpPr>
          <p:nvPr>
            <p:ph type="body" idx="1"/>
          </p:nvPr>
        </p:nvSpPr>
        <p:spPr/>
        <p:txBody>
          <a:bodyPr/>
          <a:lstStyle/>
          <a:p>
            <a:pPr marL="127000" indent="0">
              <a:buNone/>
            </a:pPr>
            <a:r>
              <a:rPr lang="en-US" sz="1600" b="1" dirty="0">
                <a:solidFill>
                  <a:srgbClr val="000000"/>
                </a:solidFill>
                <a:latin typeface="Arial"/>
                <a:ea typeface="Arial"/>
                <a:cs typeface="Arial"/>
                <a:sym typeface="Arial"/>
              </a:rPr>
              <a:t>Q: Which step is the bottleneck for the Standard car wash process? For the Deluxe car wash process?</a:t>
            </a:r>
            <a:endParaRPr lang="en-US" b="1" dirty="0"/>
          </a:p>
          <a:p>
            <a:pPr marL="127000" indent="0">
              <a:buNone/>
            </a:pPr>
            <a:r>
              <a:rPr lang="en-US" sz="1600" dirty="0">
                <a:latin typeface="Arial"/>
                <a:ea typeface="Arial"/>
                <a:cs typeface="Arial"/>
                <a:sym typeface="Arial"/>
              </a:rPr>
              <a:t>A: Step A4 is the bottleneck for the Standard car wash process, and Step</a:t>
            </a:r>
            <a:r>
              <a:rPr lang="en-US" sz="1600" dirty="0">
                <a:solidFill>
                  <a:srgbClr val="FF0000"/>
                </a:solidFill>
                <a:latin typeface="Arial"/>
                <a:ea typeface="Arial"/>
                <a:cs typeface="Arial"/>
                <a:sym typeface="Arial"/>
              </a:rPr>
              <a:t> </a:t>
            </a:r>
            <a:r>
              <a:rPr lang="en-US" sz="1600" dirty="0">
                <a:latin typeface="Arial"/>
                <a:ea typeface="Arial"/>
                <a:cs typeface="Arial"/>
                <a:sym typeface="Arial"/>
              </a:rPr>
              <a:t>A6</a:t>
            </a:r>
            <a:r>
              <a:rPr lang="en-US" sz="1600" dirty="0">
                <a:solidFill>
                  <a:srgbClr val="FF0000"/>
                </a:solidFill>
                <a:latin typeface="Arial"/>
                <a:ea typeface="Arial"/>
                <a:cs typeface="Arial"/>
                <a:sym typeface="Arial"/>
              </a:rPr>
              <a:t> </a:t>
            </a:r>
            <a:r>
              <a:rPr lang="en-US" sz="1600" dirty="0">
                <a:latin typeface="Arial"/>
                <a:ea typeface="Arial"/>
                <a:cs typeface="Arial"/>
                <a:sym typeface="Arial"/>
              </a:rPr>
              <a:t>is the bottleneck for the Deluxe car wash process, because these steps take the longest time in the flow.</a:t>
            </a:r>
            <a:endParaRPr lang="en-US" dirty="0"/>
          </a:p>
          <a:p>
            <a:endParaRPr lang="en-US" dirty="0"/>
          </a:p>
        </p:txBody>
      </p:sp>
      <p:pic>
        <p:nvPicPr>
          <p:cNvPr id="4" name="Google Shape;665;p57" descr="A flow chart. The process initially flows through A 1, 5, and A 2, 6, to decision standard or deluxe. The path for standard flows through A 3, 12, and A 4, 15, to A 8, 10. The path for deluxe flows through A 5, 5; A 6, 20; and A 7, 12, to A 8, 10.">
            <a:extLst>
              <a:ext uri="{FF2B5EF4-FFF2-40B4-BE49-F238E27FC236}">
                <a16:creationId xmlns:a16="http://schemas.microsoft.com/office/drawing/2014/main" id="{FAC9701A-1DC0-233D-E857-97564AACA11D}"/>
              </a:ext>
            </a:extLst>
          </p:cNvPr>
          <p:cNvPicPr preferRelativeResize="0"/>
          <p:nvPr/>
        </p:nvPicPr>
        <p:blipFill rotWithShape="1">
          <a:blip r:embed="rId2">
            <a:alphaModFix/>
          </a:blip>
          <a:srcRect/>
          <a:stretch/>
        </p:blipFill>
        <p:spPr>
          <a:xfrm>
            <a:off x="1376515" y="3649517"/>
            <a:ext cx="6390970" cy="2087548"/>
          </a:xfrm>
          <a:prstGeom prst="rect">
            <a:avLst/>
          </a:prstGeom>
          <a:noFill/>
          <a:ln>
            <a:noFill/>
          </a:ln>
        </p:spPr>
      </p:pic>
    </p:spTree>
    <p:extLst>
      <p:ext uri="{BB962C8B-B14F-4D97-AF65-F5344CB8AC3E}">
        <p14:creationId xmlns:p14="http://schemas.microsoft.com/office/powerpoint/2010/main" val="33182413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C38662-BAEA-CE4E-9536-5CD09A9400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9FEF4B-3BCF-EE9D-F5B9-25F3BCA9A8E9}"/>
              </a:ext>
            </a:extLst>
          </p:cNvPr>
          <p:cNvSpPr>
            <a:spLocks noGrp="1"/>
          </p:cNvSpPr>
          <p:nvPr>
            <p:ph type="title"/>
          </p:nvPr>
        </p:nvSpPr>
        <p:spPr/>
        <p:txBody>
          <a:bodyPr/>
          <a:lstStyle/>
          <a:p>
            <a:r>
              <a:rPr lang="en-US" dirty="0"/>
              <a:t>Q2</a:t>
            </a:r>
          </a:p>
        </p:txBody>
      </p:sp>
      <p:sp>
        <p:nvSpPr>
          <p:cNvPr id="3" name="Text Placeholder 2">
            <a:extLst>
              <a:ext uri="{FF2B5EF4-FFF2-40B4-BE49-F238E27FC236}">
                <a16:creationId xmlns:a16="http://schemas.microsoft.com/office/drawing/2014/main" id="{A4142742-7E6A-D4F4-EE5A-493A256BE8EC}"/>
              </a:ext>
            </a:extLst>
          </p:cNvPr>
          <p:cNvSpPr>
            <a:spLocks noGrp="1"/>
          </p:cNvSpPr>
          <p:nvPr>
            <p:ph type="body" idx="1"/>
          </p:nvPr>
        </p:nvSpPr>
        <p:spPr/>
        <p:txBody>
          <a:bodyPr/>
          <a:lstStyle/>
          <a:p>
            <a:pPr marL="0" lvl="0" indent="0" algn="l" rtl="0">
              <a:lnSpc>
                <a:spcPct val="100000"/>
              </a:lnSpc>
              <a:spcBef>
                <a:spcPts val="1500"/>
              </a:spcBef>
              <a:spcAft>
                <a:spcPts val="0"/>
              </a:spcAft>
              <a:buSzPts val="2000"/>
              <a:buNone/>
            </a:pPr>
            <a:r>
              <a:rPr lang="en-US" sz="1600" b="1" dirty="0">
                <a:solidFill>
                  <a:srgbClr val="000000"/>
                </a:solidFill>
                <a:latin typeface="Arial"/>
                <a:ea typeface="Arial"/>
                <a:cs typeface="Arial"/>
                <a:sym typeface="Arial"/>
              </a:rPr>
              <a:t>Q: What is the capacity (measured as customers served per hour) of Keith’s Car Wash to process Standard and Deluxe customers? Assume that no customers are waiting at step A1, A2, or A8.</a:t>
            </a:r>
            <a:endParaRPr lang="en-US" b="1" dirty="0"/>
          </a:p>
          <a:p>
            <a:pPr marL="127000" indent="0">
              <a:buNone/>
            </a:pPr>
            <a:r>
              <a:rPr lang="en-US" sz="1600" dirty="0">
                <a:latin typeface="Arial"/>
                <a:ea typeface="Arial"/>
                <a:cs typeface="Arial"/>
                <a:sym typeface="Arial"/>
              </a:rPr>
              <a:t>A: The capacity for Standard washes is 4 customers per hour because the bottleneck step A4 can process 1 customer every 15 minutes. </a:t>
            </a:r>
            <a:r>
              <a:rPr lang="en-US" sz="1600" dirty="0">
                <a:solidFill>
                  <a:srgbClr val="000000"/>
                </a:solidFill>
                <a:latin typeface="Arial"/>
                <a:ea typeface="Arial"/>
                <a:cs typeface="Arial"/>
                <a:sym typeface="Arial"/>
              </a:rPr>
              <a:t>The capacity for Deluxe car washes is 3 customers per hour.</a:t>
            </a:r>
            <a:endParaRPr lang="en-US" sz="1600" dirty="0"/>
          </a:p>
          <a:p>
            <a:pPr marL="127000" indent="0">
              <a:buNone/>
            </a:pPr>
            <a:endParaRPr lang="en-US" dirty="0"/>
          </a:p>
        </p:txBody>
      </p:sp>
      <p:pic>
        <p:nvPicPr>
          <p:cNvPr id="4" name="Google Shape;665;p57" descr="A flow chart. The process initially flows through A 1, 5, and A 2, 6, to decision standard or deluxe. The path for standard flows through A 3, 12, and A 4, 15, to A 8, 10. The path for deluxe flows through A 5, 5; A 6, 20; and A 7, 12, to A 8, 10.">
            <a:extLst>
              <a:ext uri="{FF2B5EF4-FFF2-40B4-BE49-F238E27FC236}">
                <a16:creationId xmlns:a16="http://schemas.microsoft.com/office/drawing/2014/main" id="{BEBA9BF9-A5C2-F8F1-4A82-93C825B36A15}"/>
              </a:ext>
            </a:extLst>
          </p:cNvPr>
          <p:cNvPicPr preferRelativeResize="0"/>
          <p:nvPr/>
        </p:nvPicPr>
        <p:blipFill rotWithShape="1">
          <a:blip r:embed="rId2">
            <a:alphaModFix/>
          </a:blip>
          <a:srcRect/>
          <a:stretch/>
        </p:blipFill>
        <p:spPr>
          <a:xfrm>
            <a:off x="1376515" y="3649517"/>
            <a:ext cx="6390970" cy="2087548"/>
          </a:xfrm>
          <a:prstGeom prst="rect">
            <a:avLst/>
          </a:prstGeom>
          <a:noFill/>
          <a:ln>
            <a:noFill/>
          </a:ln>
        </p:spPr>
      </p:pic>
    </p:spTree>
    <p:extLst>
      <p:ext uri="{BB962C8B-B14F-4D97-AF65-F5344CB8AC3E}">
        <p14:creationId xmlns:p14="http://schemas.microsoft.com/office/powerpoint/2010/main" val="33714654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D6F46-4BF5-9379-4FF1-4B414C659E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415BDE-B497-ED8F-DED1-26B834E068A2}"/>
              </a:ext>
            </a:extLst>
          </p:cNvPr>
          <p:cNvSpPr>
            <a:spLocks noGrp="1"/>
          </p:cNvSpPr>
          <p:nvPr>
            <p:ph type="title"/>
          </p:nvPr>
        </p:nvSpPr>
        <p:spPr/>
        <p:txBody>
          <a:bodyPr/>
          <a:lstStyle/>
          <a:p>
            <a:r>
              <a:rPr lang="en-US" dirty="0"/>
              <a:t>Q3</a:t>
            </a:r>
          </a:p>
        </p:txBody>
      </p:sp>
      <p:sp>
        <p:nvSpPr>
          <p:cNvPr id="3" name="Text Placeholder 2">
            <a:extLst>
              <a:ext uri="{FF2B5EF4-FFF2-40B4-BE49-F238E27FC236}">
                <a16:creationId xmlns:a16="http://schemas.microsoft.com/office/drawing/2014/main" id="{A53473F5-53BA-6C75-A54B-9E3D5C326C54}"/>
              </a:ext>
            </a:extLst>
          </p:cNvPr>
          <p:cNvSpPr>
            <a:spLocks noGrp="1"/>
          </p:cNvSpPr>
          <p:nvPr>
            <p:ph type="body" idx="1"/>
          </p:nvPr>
        </p:nvSpPr>
        <p:spPr/>
        <p:txBody>
          <a:bodyPr/>
          <a:lstStyle/>
          <a:p>
            <a:pPr marL="127000" indent="0">
              <a:buNone/>
            </a:pPr>
            <a:r>
              <a:rPr lang="en-US" sz="1600" b="1" dirty="0">
                <a:solidFill>
                  <a:srgbClr val="000000"/>
                </a:solidFill>
                <a:latin typeface="Arial"/>
                <a:ea typeface="Arial"/>
                <a:cs typeface="Arial"/>
                <a:sym typeface="Arial"/>
              </a:rPr>
              <a:t>Q: If 60 percent of the customers are Standard and 40 percent are Deluxe, what is the average capacity of the car wash in customers per hour?</a:t>
            </a:r>
            <a:endParaRPr lang="en-US" b="1" dirty="0"/>
          </a:p>
          <a:p>
            <a:pPr marL="127000" indent="0">
              <a:buNone/>
            </a:pPr>
            <a:r>
              <a:rPr lang="en-US" sz="1600" dirty="0">
                <a:latin typeface="Arial"/>
                <a:ea typeface="Arial"/>
                <a:cs typeface="Arial"/>
                <a:sym typeface="Arial"/>
              </a:rPr>
              <a:t>A: </a:t>
            </a:r>
            <a:r>
              <a:rPr lang="en-US" sz="1600" dirty="0">
                <a:solidFill>
                  <a:srgbClr val="000000"/>
                </a:solidFill>
                <a:latin typeface="Arial"/>
                <a:ea typeface="Arial"/>
                <a:cs typeface="Arial"/>
                <a:sym typeface="Arial"/>
              </a:rPr>
              <a:t>The average capacity of the car wash (0.6 x 4)+(0.4 x 3) = 3.6 customers per hour </a:t>
            </a:r>
            <a:endParaRPr lang="en-US" dirty="0"/>
          </a:p>
        </p:txBody>
      </p:sp>
      <p:pic>
        <p:nvPicPr>
          <p:cNvPr id="4" name="Google Shape;665;p57" descr="A flow chart. The process initially flows through A 1, 5, and A 2, 6, to decision standard or deluxe. The path for standard flows through A 3, 12, and A 4, 15, to A 8, 10. The path for deluxe flows through A 5, 5; A 6, 20; and A 7, 12, to A 8, 10.">
            <a:extLst>
              <a:ext uri="{FF2B5EF4-FFF2-40B4-BE49-F238E27FC236}">
                <a16:creationId xmlns:a16="http://schemas.microsoft.com/office/drawing/2014/main" id="{0DCB24C8-587B-37E6-1483-6B0EA383120A}"/>
              </a:ext>
            </a:extLst>
          </p:cNvPr>
          <p:cNvPicPr preferRelativeResize="0"/>
          <p:nvPr/>
        </p:nvPicPr>
        <p:blipFill rotWithShape="1">
          <a:blip r:embed="rId2">
            <a:alphaModFix/>
          </a:blip>
          <a:srcRect/>
          <a:stretch/>
        </p:blipFill>
        <p:spPr>
          <a:xfrm>
            <a:off x="1376515" y="3649517"/>
            <a:ext cx="6390970" cy="2087548"/>
          </a:xfrm>
          <a:prstGeom prst="rect">
            <a:avLst/>
          </a:prstGeom>
          <a:noFill/>
          <a:ln>
            <a:noFill/>
          </a:ln>
        </p:spPr>
      </p:pic>
    </p:spTree>
    <p:extLst>
      <p:ext uri="{BB962C8B-B14F-4D97-AF65-F5344CB8AC3E}">
        <p14:creationId xmlns:p14="http://schemas.microsoft.com/office/powerpoint/2010/main" val="21377451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AD0BA-E055-7AB6-B7D4-357127DE92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64B711-AF45-A839-F4C0-A52FC2B2DCD9}"/>
              </a:ext>
            </a:extLst>
          </p:cNvPr>
          <p:cNvSpPr>
            <a:spLocks noGrp="1"/>
          </p:cNvSpPr>
          <p:nvPr>
            <p:ph type="title"/>
          </p:nvPr>
        </p:nvSpPr>
        <p:spPr/>
        <p:txBody>
          <a:bodyPr/>
          <a:lstStyle/>
          <a:p>
            <a:r>
              <a:rPr lang="en-US" dirty="0"/>
              <a:t>Q4</a:t>
            </a:r>
          </a:p>
        </p:txBody>
      </p:sp>
      <p:sp>
        <p:nvSpPr>
          <p:cNvPr id="3" name="Text Placeholder 2">
            <a:extLst>
              <a:ext uri="{FF2B5EF4-FFF2-40B4-BE49-F238E27FC236}">
                <a16:creationId xmlns:a16="http://schemas.microsoft.com/office/drawing/2014/main" id="{AE897DBA-0815-49EF-C1AF-CD423EC001A8}"/>
              </a:ext>
            </a:extLst>
          </p:cNvPr>
          <p:cNvSpPr>
            <a:spLocks noGrp="1"/>
          </p:cNvSpPr>
          <p:nvPr>
            <p:ph type="body" idx="1"/>
          </p:nvPr>
        </p:nvSpPr>
        <p:spPr/>
        <p:txBody>
          <a:bodyPr/>
          <a:lstStyle/>
          <a:p>
            <a:pPr marL="127000" indent="0">
              <a:buNone/>
            </a:pPr>
            <a:r>
              <a:rPr lang="en-US" sz="1400" b="1" dirty="0">
                <a:solidFill>
                  <a:srgbClr val="000000"/>
                </a:solidFill>
                <a:latin typeface="Arial"/>
                <a:ea typeface="Arial"/>
                <a:cs typeface="Arial"/>
                <a:sym typeface="Arial"/>
              </a:rPr>
              <a:t>Q: Where would you expect Standard wash customers to experience waiting lines, assuming that new customers are always entering the shop and that no Deluxe customers are in the shop? Where would the Deluxe customers have to wait, assuming no Standard customers?</a:t>
            </a:r>
            <a:endParaRPr lang="en-US" sz="1400" b="1" dirty="0"/>
          </a:p>
          <a:p>
            <a:pPr marL="127000" indent="0">
              <a:buNone/>
            </a:pPr>
            <a:r>
              <a:rPr lang="en-US" sz="1400" dirty="0">
                <a:latin typeface="Arial"/>
                <a:ea typeface="Arial"/>
                <a:cs typeface="Arial"/>
                <a:sym typeface="Arial"/>
              </a:rPr>
              <a:t>A: </a:t>
            </a:r>
            <a:r>
              <a:rPr lang="en-US" sz="1400" dirty="0">
                <a:solidFill>
                  <a:srgbClr val="000000"/>
                </a:solidFill>
                <a:latin typeface="Arial"/>
                <a:ea typeface="Arial"/>
                <a:cs typeface="Arial"/>
                <a:sym typeface="Arial"/>
              </a:rPr>
              <a:t>Standard wash customers would wait before steps A1, A2, A3, and A4 because the activities that immediately precede them have a higher rate of output (i.e., smaller processing times). Deluxe wash customers would experience a wait in front of steps A1, A2, and A6 for the same reasons. A1 is included for both types of washes because the arrival rate of customers could always exceed the capacity of A1.</a:t>
            </a:r>
            <a:endParaRPr lang="en-US" sz="1400" dirty="0"/>
          </a:p>
        </p:txBody>
      </p:sp>
      <p:pic>
        <p:nvPicPr>
          <p:cNvPr id="4" name="Google Shape;665;p57" descr="A flow chart. The process initially flows through A 1, 5, and A 2, 6, to decision standard or deluxe. The path for standard flows through A 3, 12, and A 4, 15, to A 8, 10. The path for deluxe flows through A 5, 5; A 6, 20; and A 7, 12, to A 8, 10.">
            <a:extLst>
              <a:ext uri="{FF2B5EF4-FFF2-40B4-BE49-F238E27FC236}">
                <a16:creationId xmlns:a16="http://schemas.microsoft.com/office/drawing/2014/main" id="{EF674415-FEF8-760D-C1CB-CE0E59D8BE33}"/>
              </a:ext>
            </a:extLst>
          </p:cNvPr>
          <p:cNvPicPr preferRelativeResize="0"/>
          <p:nvPr/>
        </p:nvPicPr>
        <p:blipFill rotWithShape="1">
          <a:blip r:embed="rId2">
            <a:alphaModFix/>
          </a:blip>
          <a:srcRect/>
          <a:stretch/>
        </p:blipFill>
        <p:spPr>
          <a:xfrm>
            <a:off x="1376515" y="4214026"/>
            <a:ext cx="6390970" cy="2087548"/>
          </a:xfrm>
          <a:prstGeom prst="rect">
            <a:avLst/>
          </a:prstGeom>
          <a:noFill/>
          <a:ln>
            <a:noFill/>
          </a:ln>
        </p:spPr>
      </p:pic>
    </p:spTree>
    <p:extLst>
      <p:ext uri="{BB962C8B-B14F-4D97-AF65-F5344CB8AC3E}">
        <p14:creationId xmlns:p14="http://schemas.microsoft.com/office/powerpoint/2010/main" val="19135990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727"/>
        <p:cNvGrpSpPr/>
        <p:nvPr/>
      </p:nvGrpSpPr>
      <p:grpSpPr>
        <a:xfrm>
          <a:off x="0" y="0"/>
          <a:ext cx="0" cy="0"/>
          <a:chOff x="0" y="0"/>
          <a:chExt cx="0" cy="0"/>
        </a:xfrm>
      </p:grpSpPr>
      <p:sp>
        <p:nvSpPr>
          <p:cNvPr id="728" name="Google Shape;728;p66"/>
          <p:cNvSpPr txBox="1">
            <a:spLocks noGrp="1"/>
          </p:cNvSpPr>
          <p:nvPr>
            <p:ph type="title"/>
          </p:nvPr>
        </p:nvSpPr>
        <p:spPr>
          <a:xfrm>
            <a:off x="457200" y="215371"/>
            <a:ext cx="8229600" cy="1097279"/>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Clr>
                <a:srgbClr val="007FA3"/>
              </a:buClr>
              <a:buSzPts val="3400"/>
              <a:buNone/>
            </a:pPr>
            <a:r>
              <a:rPr lang="en-US">
                <a:latin typeface="Times New Roman"/>
                <a:ea typeface="Times New Roman"/>
                <a:cs typeface="Times New Roman"/>
                <a:sym typeface="Times New Roman"/>
              </a:rPr>
              <a:t>Drum-Buffer-Rope Systems </a:t>
            </a:r>
            <a:r>
              <a:rPr lang="en-US" sz="2000" b="0">
                <a:latin typeface="Times New Roman"/>
                <a:ea typeface="Times New Roman"/>
                <a:cs typeface="Times New Roman"/>
                <a:sym typeface="Times New Roman"/>
              </a:rPr>
              <a:t>(1 of 3)</a:t>
            </a:r>
            <a:endParaRPr sz="2000" b="0">
              <a:latin typeface="Times New Roman"/>
              <a:ea typeface="Times New Roman"/>
              <a:cs typeface="Times New Roman"/>
              <a:sym typeface="Times New Roman"/>
            </a:endParaRPr>
          </a:p>
        </p:txBody>
      </p:sp>
      <p:sp>
        <p:nvSpPr>
          <p:cNvPr id="729" name="Google Shape;729;p66"/>
          <p:cNvSpPr txBox="1">
            <a:spLocks noGrp="1"/>
          </p:cNvSpPr>
          <p:nvPr>
            <p:ph type="body" idx="1"/>
          </p:nvPr>
        </p:nvSpPr>
        <p:spPr>
          <a:xfrm>
            <a:off x="457200" y="1600200"/>
            <a:ext cx="8229600" cy="1854323"/>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400"/>
              <a:buNone/>
            </a:pPr>
            <a:r>
              <a:rPr lang="en-US" sz="2400" b="1">
                <a:solidFill>
                  <a:srgbClr val="000000"/>
                </a:solidFill>
                <a:latin typeface="Arial"/>
                <a:ea typeface="Arial"/>
                <a:cs typeface="Arial"/>
                <a:sym typeface="Arial"/>
              </a:rPr>
              <a:t>Drum-Buffer-Rope</a:t>
            </a:r>
            <a:endParaRPr/>
          </a:p>
          <a:p>
            <a:pPr marL="0" lvl="0" indent="0" algn="l" rtl="0">
              <a:lnSpc>
                <a:spcPct val="100000"/>
              </a:lnSpc>
              <a:spcBef>
                <a:spcPts val="1500"/>
              </a:spcBef>
              <a:spcAft>
                <a:spcPts val="0"/>
              </a:spcAft>
              <a:buSzPts val="2400"/>
              <a:buNone/>
            </a:pPr>
            <a:r>
              <a:rPr lang="en-US" sz="2400">
                <a:solidFill>
                  <a:srgbClr val="000000"/>
                </a:solidFill>
                <a:latin typeface="Arial"/>
                <a:ea typeface="Arial"/>
                <a:cs typeface="Arial"/>
                <a:sym typeface="Arial"/>
              </a:rPr>
              <a:t>A planning and control system that regulates the flow of work-in-process materials at the bottleneck or the capacity constrained resource (C</a:t>
            </a:r>
            <a:r>
              <a:rPr lang="en-US" sz="100">
                <a:solidFill>
                  <a:srgbClr val="000000"/>
                </a:solidFill>
                <a:latin typeface="Arial"/>
                <a:ea typeface="Arial"/>
                <a:cs typeface="Arial"/>
                <a:sym typeface="Arial"/>
              </a:rPr>
              <a:t> </a:t>
            </a:r>
            <a:r>
              <a:rPr lang="en-US" sz="2400">
                <a:solidFill>
                  <a:srgbClr val="000000"/>
                </a:solidFill>
                <a:latin typeface="Arial"/>
                <a:ea typeface="Arial"/>
                <a:cs typeface="Arial"/>
                <a:sym typeface="Arial"/>
              </a:rPr>
              <a:t>C</a:t>
            </a:r>
            <a:r>
              <a:rPr lang="en-US" sz="100">
                <a:solidFill>
                  <a:srgbClr val="000000"/>
                </a:solidFill>
                <a:latin typeface="Arial"/>
                <a:ea typeface="Arial"/>
                <a:cs typeface="Arial"/>
                <a:sym typeface="Arial"/>
              </a:rPr>
              <a:t> </a:t>
            </a:r>
            <a:r>
              <a:rPr lang="en-US" sz="2400">
                <a:solidFill>
                  <a:srgbClr val="000000"/>
                </a:solidFill>
                <a:latin typeface="Arial"/>
                <a:ea typeface="Arial"/>
                <a:cs typeface="Arial"/>
                <a:sym typeface="Arial"/>
              </a:rPr>
              <a:t>R) in a productive system</a:t>
            </a:r>
            <a:endParaRPr sz="2400">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733"/>
        <p:cNvGrpSpPr/>
        <p:nvPr/>
      </p:nvGrpSpPr>
      <p:grpSpPr>
        <a:xfrm>
          <a:off x="0" y="0"/>
          <a:ext cx="0" cy="0"/>
          <a:chOff x="0" y="0"/>
          <a:chExt cx="0" cy="0"/>
        </a:xfrm>
      </p:grpSpPr>
      <p:sp>
        <p:nvSpPr>
          <p:cNvPr id="734" name="Google Shape;734;p67"/>
          <p:cNvSpPr txBox="1">
            <a:spLocks noGrp="1"/>
          </p:cNvSpPr>
          <p:nvPr>
            <p:ph type="title"/>
          </p:nvPr>
        </p:nvSpPr>
        <p:spPr>
          <a:xfrm>
            <a:off x="457200" y="215371"/>
            <a:ext cx="8229600" cy="1097279"/>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Clr>
                <a:srgbClr val="007FA3"/>
              </a:buClr>
              <a:buSzPts val="3400"/>
              <a:buNone/>
            </a:pPr>
            <a:r>
              <a:rPr lang="en-US">
                <a:latin typeface="Times New Roman"/>
                <a:ea typeface="Times New Roman"/>
                <a:cs typeface="Times New Roman"/>
                <a:sym typeface="Times New Roman"/>
              </a:rPr>
              <a:t>Drum-Buffer-Rope Systems </a:t>
            </a:r>
            <a:r>
              <a:rPr lang="en-US" sz="2000" b="0">
                <a:latin typeface="Times New Roman"/>
                <a:ea typeface="Times New Roman"/>
                <a:cs typeface="Times New Roman"/>
                <a:sym typeface="Times New Roman"/>
              </a:rPr>
              <a:t>(2 of 3)</a:t>
            </a:r>
            <a:endParaRPr sz="2000" b="0">
              <a:latin typeface="Times New Roman"/>
              <a:ea typeface="Times New Roman"/>
              <a:cs typeface="Times New Roman"/>
              <a:sym typeface="Times New Roman"/>
            </a:endParaRPr>
          </a:p>
        </p:txBody>
      </p:sp>
      <p:sp>
        <p:nvSpPr>
          <p:cNvPr id="735" name="Google Shape;735;p67"/>
          <p:cNvSpPr txBox="1">
            <a:spLocks noGrp="1"/>
          </p:cNvSpPr>
          <p:nvPr>
            <p:ph type="body" idx="1"/>
          </p:nvPr>
        </p:nvSpPr>
        <p:spPr>
          <a:xfrm>
            <a:off x="457200" y="1600200"/>
            <a:ext cx="8229600" cy="3524011"/>
          </a:xfrm>
          <a:prstGeom prst="rect">
            <a:avLst/>
          </a:prstGeom>
          <a:noFill/>
          <a:ln>
            <a:noFill/>
          </a:ln>
        </p:spPr>
        <p:txBody>
          <a:bodyPr spcFirstLastPara="1" wrap="square" lIns="91425" tIns="91425" rIns="91425" bIns="91425" anchor="t" anchorCtr="0">
            <a:noAutofit/>
          </a:bodyPr>
          <a:lstStyle/>
          <a:p>
            <a:pPr marL="255650" lvl="0" indent="-255650" algn="l" rtl="0">
              <a:lnSpc>
                <a:spcPct val="100000"/>
              </a:lnSpc>
              <a:spcBef>
                <a:spcPts val="0"/>
              </a:spcBef>
              <a:spcAft>
                <a:spcPts val="0"/>
              </a:spcAft>
              <a:buSzPts val="2400"/>
              <a:buChar char="•"/>
            </a:pPr>
            <a:r>
              <a:rPr lang="en-US" sz="2400">
                <a:solidFill>
                  <a:srgbClr val="000000"/>
                </a:solidFill>
                <a:latin typeface="Arial"/>
                <a:ea typeface="Arial"/>
                <a:cs typeface="Arial"/>
                <a:sym typeface="Arial"/>
              </a:rPr>
              <a:t>The bottleneck schedule is the </a:t>
            </a:r>
            <a:r>
              <a:rPr lang="en-US" sz="2400" b="1">
                <a:solidFill>
                  <a:srgbClr val="000000"/>
                </a:solidFill>
                <a:latin typeface="Arial"/>
                <a:ea typeface="Arial"/>
                <a:cs typeface="Arial"/>
                <a:sym typeface="Arial"/>
              </a:rPr>
              <a:t>drum</a:t>
            </a:r>
            <a:r>
              <a:rPr lang="en-US" sz="2400">
                <a:solidFill>
                  <a:srgbClr val="000000"/>
                </a:solidFill>
                <a:latin typeface="Arial"/>
                <a:ea typeface="Arial"/>
                <a:cs typeface="Arial"/>
                <a:sym typeface="Arial"/>
              </a:rPr>
              <a:t> because it sets the beat or the production rate for the entire plant and is linked to market demand.</a:t>
            </a:r>
            <a:endParaRPr/>
          </a:p>
          <a:p>
            <a:pPr marL="255650" lvl="0" indent="-255650" algn="l" rtl="0">
              <a:lnSpc>
                <a:spcPct val="100000"/>
              </a:lnSpc>
              <a:spcBef>
                <a:spcPts val="1500"/>
              </a:spcBef>
              <a:spcAft>
                <a:spcPts val="0"/>
              </a:spcAft>
              <a:buSzPts val="2400"/>
              <a:buChar char="•"/>
            </a:pPr>
            <a:r>
              <a:rPr lang="en-US" sz="2400">
                <a:solidFill>
                  <a:srgbClr val="000000"/>
                </a:solidFill>
                <a:latin typeface="Arial"/>
                <a:ea typeface="Arial"/>
                <a:cs typeface="Arial"/>
                <a:sym typeface="Arial"/>
              </a:rPr>
              <a:t>The </a:t>
            </a:r>
            <a:r>
              <a:rPr lang="en-US" sz="2400" b="1">
                <a:solidFill>
                  <a:srgbClr val="000000"/>
                </a:solidFill>
                <a:latin typeface="Arial"/>
                <a:ea typeface="Arial"/>
                <a:cs typeface="Arial"/>
                <a:sym typeface="Arial"/>
              </a:rPr>
              <a:t>buffer</a:t>
            </a:r>
            <a:r>
              <a:rPr lang="en-US" sz="2400">
                <a:solidFill>
                  <a:srgbClr val="000000"/>
                </a:solidFill>
                <a:latin typeface="Arial"/>
                <a:ea typeface="Arial"/>
                <a:cs typeface="Arial"/>
                <a:sym typeface="Arial"/>
              </a:rPr>
              <a:t> is the time buffer that plans early flows into the bottleneck and thus protects it from disruption.</a:t>
            </a:r>
            <a:endParaRPr/>
          </a:p>
          <a:p>
            <a:pPr marL="255650" lvl="0" indent="-255650" algn="l" rtl="0">
              <a:lnSpc>
                <a:spcPct val="100000"/>
              </a:lnSpc>
              <a:spcBef>
                <a:spcPts val="1500"/>
              </a:spcBef>
              <a:spcAft>
                <a:spcPts val="0"/>
              </a:spcAft>
              <a:buSzPts val="2400"/>
              <a:buChar char="•"/>
            </a:pPr>
            <a:r>
              <a:rPr lang="en-US" sz="2400">
                <a:solidFill>
                  <a:srgbClr val="000000"/>
                </a:solidFill>
                <a:latin typeface="Arial"/>
                <a:ea typeface="Arial"/>
                <a:cs typeface="Arial"/>
                <a:sym typeface="Arial"/>
              </a:rPr>
              <a:t>The </a:t>
            </a:r>
            <a:r>
              <a:rPr lang="en-US" sz="2400" b="1">
                <a:solidFill>
                  <a:srgbClr val="000000"/>
                </a:solidFill>
                <a:latin typeface="Arial"/>
                <a:ea typeface="Arial"/>
                <a:cs typeface="Arial"/>
                <a:sym typeface="Arial"/>
              </a:rPr>
              <a:t>rope</a:t>
            </a:r>
            <a:r>
              <a:rPr lang="en-US" sz="2400">
                <a:solidFill>
                  <a:srgbClr val="000000"/>
                </a:solidFill>
                <a:latin typeface="Arial"/>
                <a:ea typeface="Arial"/>
                <a:cs typeface="Arial"/>
                <a:sym typeface="Arial"/>
              </a:rPr>
              <a:t> represents the tying of material release to the drumbeat, which is the rate at which the bottleneck controls the throughput of the entire plant.</a:t>
            </a:r>
            <a:endParaRPr/>
          </a:p>
          <a:p>
            <a:pPr marL="255650" lvl="0" indent="-255650" algn="l" rtl="0">
              <a:lnSpc>
                <a:spcPct val="100000"/>
              </a:lnSpc>
              <a:spcBef>
                <a:spcPts val="1500"/>
              </a:spcBef>
              <a:spcAft>
                <a:spcPts val="0"/>
              </a:spcAft>
              <a:buSzPts val="2400"/>
              <a:buChar char="•"/>
            </a:pPr>
            <a:r>
              <a:rPr lang="en-US" sz="2400" b="1">
                <a:solidFill>
                  <a:srgbClr val="000000"/>
                </a:solidFill>
                <a:latin typeface="Arial"/>
                <a:ea typeface="Arial"/>
                <a:cs typeface="Arial"/>
                <a:sym typeface="Arial"/>
              </a:rPr>
              <a:t>Buffer management </a:t>
            </a:r>
            <a:r>
              <a:rPr lang="en-US" sz="2400">
                <a:solidFill>
                  <a:srgbClr val="000000"/>
                </a:solidFill>
                <a:latin typeface="Arial"/>
                <a:ea typeface="Arial"/>
                <a:cs typeface="Arial"/>
                <a:sym typeface="Arial"/>
              </a:rPr>
              <a:t>constantly monitors the execution of incoming bottleneck work.</a:t>
            </a:r>
            <a:endParaRPr sz="2400">
              <a:solidFill>
                <a:srgbClr val="000000"/>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739"/>
        <p:cNvGrpSpPr/>
        <p:nvPr/>
      </p:nvGrpSpPr>
      <p:grpSpPr>
        <a:xfrm>
          <a:off x="0" y="0"/>
          <a:ext cx="0" cy="0"/>
          <a:chOff x="0" y="0"/>
          <a:chExt cx="0" cy="0"/>
        </a:xfrm>
      </p:grpSpPr>
      <p:sp>
        <p:nvSpPr>
          <p:cNvPr id="740" name="Google Shape;740;p68"/>
          <p:cNvSpPr txBox="1">
            <a:spLocks noGrp="1"/>
          </p:cNvSpPr>
          <p:nvPr>
            <p:ph type="title"/>
          </p:nvPr>
        </p:nvSpPr>
        <p:spPr>
          <a:xfrm>
            <a:off x="457200" y="215371"/>
            <a:ext cx="8229600" cy="1097279"/>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Clr>
                <a:srgbClr val="007FA3"/>
              </a:buClr>
              <a:buSzPts val="3400"/>
              <a:buNone/>
            </a:pPr>
            <a:r>
              <a:rPr lang="en-US">
                <a:latin typeface="Times New Roman"/>
                <a:ea typeface="Times New Roman"/>
                <a:cs typeface="Times New Roman"/>
                <a:sym typeface="Times New Roman"/>
              </a:rPr>
              <a:t>Drum-Buffer-Rope Systems </a:t>
            </a:r>
            <a:r>
              <a:rPr lang="en-US" sz="2000" b="0">
                <a:latin typeface="Times New Roman"/>
                <a:ea typeface="Times New Roman"/>
                <a:cs typeface="Times New Roman"/>
                <a:sym typeface="Times New Roman"/>
              </a:rPr>
              <a:t>(3 of 3)</a:t>
            </a:r>
            <a:endParaRPr sz="2000" b="0">
              <a:latin typeface="Times New Roman"/>
              <a:ea typeface="Times New Roman"/>
              <a:cs typeface="Times New Roman"/>
              <a:sym typeface="Times New Roman"/>
            </a:endParaRPr>
          </a:p>
        </p:txBody>
      </p:sp>
      <p:sp>
        <p:nvSpPr>
          <p:cNvPr id="741" name="Google Shape;741;p68"/>
          <p:cNvSpPr txBox="1">
            <a:spLocks noGrp="1"/>
          </p:cNvSpPr>
          <p:nvPr>
            <p:ph type="body" idx="1"/>
          </p:nvPr>
        </p:nvSpPr>
        <p:spPr>
          <a:xfrm>
            <a:off x="457200" y="1600200"/>
            <a:ext cx="8229600" cy="461513"/>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400"/>
              <a:buNone/>
            </a:pPr>
            <a:r>
              <a:rPr lang="en-US" sz="2200" b="1">
                <a:solidFill>
                  <a:srgbClr val="000000"/>
                </a:solidFill>
                <a:latin typeface="Arial"/>
                <a:ea typeface="Arial"/>
                <a:cs typeface="Arial"/>
                <a:sym typeface="Arial"/>
              </a:rPr>
              <a:t>Figure 6.3</a:t>
            </a:r>
            <a:r>
              <a:rPr lang="en-US" sz="2200">
                <a:solidFill>
                  <a:srgbClr val="000000"/>
                </a:solidFill>
                <a:latin typeface="Arial"/>
                <a:ea typeface="Arial"/>
                <a:cs typeface="Arial"/>
                <a:sym typeface="Arial"/>
              </a:rPr>
              <a:t> Drum-Buffer-Rope System</a:t>
            </a:r>
            <a:endParaRPr/>
          </a:p>
        </p:txBody>
      </p:sp>
      <p:pic>
        <p:nvPicPr>
          <p:cNvPr id="742" name="Google Shape;742;p68" descr="The flow chart for drum buffer rope systems shows the following sequence. The material release schedule leads to process A with a capacity of 800 units per week. Process A is a non-constraint, but it flows to time buffer inventory, which is a constraint buffer. Time buffer inventory then feeds back to the material release schedule via a rope. The time buffer inventory also flows forward to process B. Process B has a capacity of 500 units per week, making it a C C R bottleneck, attached to a drum. Process B leads to process C, which is a non-constraint, at 700 units per week. Process C flows through the shipping buffer, finished goods inventory, to the shipping schedule, and the shipping schedule serves a market demand of 650 units per week."/>
          <p:cNvPicPr preferRelativeResize="0"/>
          <p:nvPr/>
        </p:nvPicPr>
        <p:blipFill rotWithShape="1">
          <a:blip r:embed="rId3">
            <a:alphaModFix/>
          </a:blip>
          <a:srcRect/>
          <a:stretch/>
        </p:blipFill>
        <p:spPr>
          <a:xfrm>
            <a:off x="504677" y="2534022"/>
            <a:ext cx="8169150" cy="1703697"/>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909"/>
        <p:cNvGrpSpPr/>
        <p:nvPr/>
      </p:nvGrpSpPr>
      <p:grpSpPr>
        <a:xfrm>
          <a:off x="0" y="0"/>
          <a:ext cx="0" cy="0"/>
          <a:chOff x="0" y="0"/>
          <a:chExt cx="0" cy="0"/>
        </a:xfrm>
      </p:grpSpPr>
      <p:sp>
        <p:nvSpPr>
          <p:cNvPr id="910" name="Google Shape;910;p90"/>
          <p:cNvSpPr txBox="1">
            <a:spLocks noGrp="1"/>
          </p:cNvSpPr>
          <p:nvPr>
            <p:ph type="title"/>
          </p:nvPr>
        </p:nvSpPr>
        <p:spPr>
          <a:xfrm>
            <a:off x="457200" y="215371"/>
            <a:ext cx="8229600" cy="1097279"/>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7FA3"/>
              </a:buClr>
              <a:buSzPts val="3400"/>
              <a:buFont typeface="Times New Roman"/>
              <a:buNone/>
            </a:pPr>
            <a:r>
              <a:rPr lang="en-US"/>
              <a:t>Summary	</a:t>
            </a:r>
            <a:endParaRPr/>
          </a:p>
        </p:txBody>
      </p:sp>
      <p:sp>
        <p:nvSpPr>
          <p:cNvPr id="911" name="Google Shape;911;p90"/>
          <p:cNvSpPr txBox="1">
            <a:spLocks noGrp="1"/>
          </p:cNvSpPr>
          <p:nvPr>
            <p:ph type="body" idx="1"/>
          </p:nvPr>
        </p:nvSpPr>
        <p:spPr>
          <a:xfrm>
            <a:off x="457200" y="1600200"/>
            <a:ext cx="8229600" cy="4525963"/>
          </a:xfrm>
          <a:prstGeom prst="rect">
            <a:avLst/>
          </a:prstGeom>
          <a:noFill/>
          <a:ln>
            <a:noFill/>
          </a:ln>
        </p:spPr>
        <p:txBody>
          <a:bodyPr spcFirstLastPara="1" wrap="square" lIns="91425" tIns="91425" rIns="91425" bIns="91425" anchor="t" anchorCtr="0">
            <a:noAutofit/>
          </a:bodyPr>
          <a:lstStyle/>
          <a:p>
            <a:pPr marL="255600" marR="0" lvl="0" indent="-255600" algn="l" rtl="0">
              <a:lnSpc>
                <a:spcPct val="100000"/>
              </a:lnSpc>
              <a:spcBef>
                <a:spcPts val="0"/>
              </a:spcBef>
              <a:spcAft>
                <a:spcPts val="0"/>
              </a:spcAft>
              <a:buClr>
                <a:srgbClr val="007FA3"/>
              </a:buClr>
              <a:buSzPts val="1600"/>
              <a:buFont typeface="Arial"/>
              <a:buChar char="•"/>
            </a:pPr>
            <a:r>
              <a:rPr lang="en-US"/>
              <a:t>A bottleneck is a point in the production process where work slows down or stalls, creating a constraint on the overall flow. It's like the narrowest part of a bottle – it determines the maximum rate at which liquid can flow out.</a:t>
            </a:r>
            <a:endParaRPr/>
          </a:p>
          <a:p>
            <a:pPr marL="255600" marR="0" lvl="0" indent="-154000" algn="l" rtl="0">
              <a:lnSpc>
                <a:spcPct val="100000"/>
              </a:lnSpc>
              <a:spcBef>
                <a:spcPts val="1500"/>
              </a:spcBef>
              <a:spcAft>
                <a:spcPts val="0"/>
              </a:spcAft>
              <a:buClr>
                <a:srgbClr val="007FA3"/>
              </a:buClr>
              <a:buSzPts val="1600"/>
              <a:buFont typeface="Arial"/>
              <a:buNone/>
            </a:pPr>
            <a:endParaRPr/>
          </a:p>
          <a:p>
            <a:pPr marL="255600" marR="0" lvl="0" indent="-255600" algn="l" rtl="0">
              <a:lnSpc>
                <a:spcPct val="100000"/>
              </a:lnSpc>
              <a:spcBef>
                <a:spcPts val="1500"/>
              </a:spcBef>
              <a:spcAft>
                <a:spcPts val="0"/>
              </a:spcAft>
              <a:buClr>
                <a:srgbClr val="007FA3"/>
              </a:buClr>
              <a:buSzPts val="1600"/>
              <a:buFont typeface="Arial"/>
              <a:buChar char="•"/>
            </a:pPr>
            <a:r>
              <a:rPr lang="en-US"/>
              <a:t>Bottlenecks can occur anywhere in the production chain, from machines breaking down to inefficient processes or even a lack of skilled labor.</a:t>
            </a:r>
            <a:endParaRPr/>
          </a:p>
          <a:p>
            <a:pPr marL="255600" marR="0" lvl="0" indent="-154000" algn="l" rtl="0">
              <a:lnSpc>
                <a:spcPct val="100000"/>
              </a:lnSpc>
              <a:spcBef>
                <a:spcPts val="1500"/>
              </a:spcBef>
              <a:spcAft>
                <a:spcPts val="0"/>
              </a:spcAft>
              <a:buClr>
                <a:srgbClr val="007FA3"/>
              </a:buClr>
              <a:buSzPts val="1600"/>
              <a:buFont typeface="Arial"/>
              <a:buNone/>
            </a:pPr>
            <a:endParaRPr/>
          </a:p>
          <a:p>
            <a:pPr marL="255600" marR="0" lvl="0" indent="-255600" algn="l" rtl="0">
              <a:lnSpc>
                <a:spcPct val="100000"/>
              </a:lnSpc>
              <a:spcBef>
                <a:spcPts val="1500"/>
              </a:spcBef>
              <a:spcAft>
                <a:spcPts val="0"/>
              </a:spcAft>
              <a:buClr>
                <a:srgbClr val="007FA3"/>
              </a:buClr>
              <a:buSzPts val="1600"/>
              <a:buFont typeface="Arial"/>
              <a:buChar char="•"/>
            </a:pPr>
            <a:r>
              <a:rPr lang="en-US" b="1"/>
              <a:t>Identify the bottleneck:</a:t>
            </a:r>
            <a:r>
              <a:rPr lang="en-US"/>
              <a:t> Thoroughly analyze your production process to pinpoint where the slowdown is occurring.</a:t>
            </a:r>
            <a:endParaRPr/>
          </a:p>
        </p:txBody>
      </p:sp>
    </p:spTree>
  </p:cSld>
  <p:clrMapOvr>
    <a:masterClrMapping/>
  </p:clrMapOvr>
</p:sld>
</file>

<file path=ppt/theme/theme1.xml><?xml version="1.0" encoding="utf-8"?>
<a:theme xmlns:a="http://schemas.openxmlformats.org/drawingml/2006/main" name="Level">
  <a:themeElements>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Level">
      <a:majorFont>
        <a:latin typeface="Garamond"/>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none" lIns="91440" tIns="45720" rIns="91440" bIns="45720" numCol="1" anchor="ctr" anchorCtr="0" compatLnSpc="1">
        <a:prstTxWarp prst="textNoShape">
          <a:avLst/>
        </a:prstTxWarp>
        <a:spAutoFit/>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none" lIns="91440" tIns="45720" rIns="91440" bIns="45720" numCol="1" anchor="ctr" anchorCtr="0" compatLnSpc="1">
        <a:prstTxWarp prst="textNoShape">
          <a:avLst/>
        </a:prstTxWarp>
        <a:spAutoFit/>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lnDef>
  </a:objectDefaults>
  <a:extraClrSchemeLst>
    <a:extraClrScheme>
      <a:clrScheme name="Level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Level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Level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Level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Level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Lecture01</Template>
  <TotalTime>6747</TotalTime>
  <Pages>21</Pages>
  <Words>2983</Words>
  <Application>Microsoft Macintosh PowerPoint</Application>
  <PresentationFormat>On-screen Show (4:3)</PresentationFormat>
  <Paragraphs>407</Paragraphs>
  <Slides>37</Slides>
  <Notes>29</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37</vt:i4>
      </vt:variant>
    </vt:vector>
  </HeadingPairs>
  <TitlesOfParts>
    <vt:vector size="49" baseType="lpstr">
      <vt:lpstr>Arial Unicode MS</vt:lpstr>
      <vt:lpstr>Arial</vt:lpstr>
      <vt:lpstr>Calibri</vt:lpstr>
      <vt:lpstr>Cambria Math</vt:lpstr>
      <vt:lpstr>Garamond</vt:lpstr>
      <vt:lpstr>Lucida Grande</vt:lpstr>
      <vt:lpstr>Noto Sans Symbols</vt:lpstr>
      <vt:lpstr>Times New Roman</vt:lpstr>
      <vt:lpstr>Verdana</vt:lpstr>
      <vt:lpstr>Wingdings</vt:lpstr>
      <vt:lpstr>Level</vt:lpstr>
      <vt:lpstr>Clip</vt:lpstr>
      <vt:lpstr>MGT 207 Production and Operations Management</vt:lpstr>
      <vt:lpstr>Agenda</vt:lpstr>
      <vt:lpstr>Process Strategy</vt:lpstr>
      <vt:lpstr>Process, Volume, and Variety</vt:lpstr>
      <vt:lpstr>Process Choice Based on Costs</vt:lpstr>
      <vt:lpstr>Crossover Chart Example</vt:lpstr>
      <vt:lpstr>Crossover Charts</vt:lpstr>
      <vt:lpstr>Process Choice Based On Capacity</vt:lpstr>
      <vt:lpstr>Outline</vt:lpstr>
      <vt:lpstr>Capacity</vt:lpstr>
      <vt:lpstr>Design and Effective Capacity</vt:lpstr>
      <vt:lpstr>Design and Effective Capacity</vt:lpstr>
      <vt:lpstr>Design and Effective Capacity</vt:lpstr>
      <vt:lpstr>Design and Effective Capacity</vt:lpstr>
      <vt:lpstr>Utilization and Efficiency</vt:lpstr>
      <vt:lpstr>Bakery Example </vt:lpstr>
      <vt:lpstr>Bakery Example</vt:lpstr>
      <vt:lpstr>Bakery Example</vt:lpstr>
      <vt:lpstr>Bakery Example</vt:lpstr>
      <vt:lpstr>Bakery Example</vt:lpstr>
      <vt:lpstr>Bakery Example</vt:lpstr>
      <vt:lpstr>Bakery Example</vt:lpstr>
      <vt:lpstr>Managing Capacity and Demand</vt:lpstr>
      <vt:lpstr>Process Analysis</vt:lpstr>
      <vt:lpstr>Capacity and Throughput</vt:lpstr>
      <vt:lpstr>What is a Bottleneck?</vt:lpstr>
      <vt:lpstr>Capacity Analysis</vt:lpstr>
      <vt:lpstr>Capacity Analysis: Parallel Processes</vt:lpstr>
      <vt:lpstr>Example 1 (1 of 4)</vt:lpstr>
      <vt:lpstr>Q1</vt:lpstr>
      <vt:lpstr>Q2</vt:lpstr>
      <vt:lpstr>Q3</vt:lpstr>
      <vt:lpstr>Q4</vt:lpstr>
      <vt:lpstr>Drum-Buffer-Rope Systems (1 of 3)</vt:lpstr>
      <vt:lpstr>Drum-Buffer-Rope Systems (2 of 3)</vt:lpstr>
      <vt:lpstr>Drum-Buffer-Rope Systems (3 of 3)</vt:lpstr>
      <vt:lpstr>Summary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Mohsen</dc:creator>
  <cp:keywords>Production Operations Management</cp:keywords>
  <cp:lastModifiedBy>Danko Turcic</cp:lastModifiedBy>
  <cp:revision>434</cp:revision>
  <cp:lastPrinted>2015-04-14T17:06:15Z</cp:lastPrinted>
  <dcterms:created xsi:type="dcterms:W3CDTF">1995-09-02T08:28:06Z</dcterms:created>
  <dcterms:modified xsi:type="dcterms:W3CDTF">2025-05-12T13:00:37Z</dcterms:modified>
</cp:coreProperties>
</file>