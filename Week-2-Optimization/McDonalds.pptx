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6" r:id="rId3"/>
    <p:sldId id="297" r:id="rId4"/>
    <p:sldId id="298" r:id="rId5"/>
    <p:sldId id="304" r:id="rId6"/>
    <p:sldId id="305" r:id="rId7"/>
    <p:sldId id="309" r:id="rId8"/>
    <p:sldId id="313" r:id="rId9"/>
    <p:sldId id="300" r:id="rId10"/>
    <p:sldId id="301" r:id="rId11"/>
    <p:sldId id="302" r:id="rId12"/>
  </p:sldIdLst>
  <p:sldSz cx="6858000" cy="9144000" type="screen4x3"/>
  <p:notesSz cx="9601200" cy="7315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3">
          <p15:clr>
            <a:srgbClr val="A4A3A4"/>
          </p15:clr>
        </p15:guide>
        <p15:guide id="2" pos="30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clrMru>
    <a:srgbClr val="FFFF66"/>
    <a:srgbClr val="FFFFFF"/>
    <a:srgbClr val="0000CC"/>
    <a:srgbClr val="FF3300"/>
    <a:srgbClr val="00CC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72" autoAdjust="0"/>
  </p:normalViewPr>
  <p:slideViewPr>
    <p:cSldViewPr>
      <p:cViewPr varScale="1">
        <p:scale>
          <a:sx n="57" d="100"/>
          <a:sy n="57" d="100"/>
        </p:scale>
        <p:origin x="1954" y="3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870" y="-264"/>
      </p:cViewPr>
      <p:guideLst>
        <p:guide orient="horz" pos="2303"/>
        <p:guide pos="302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8623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795" tIns="47897" rIns="95795" bIns="47897" numCol="1" anchor="ctr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363" y="0"/>
            <a:ext cx="41846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795" tIns="47897" rIns="95795" bIns="47897" numCol="1" anchor="ctr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67538"/>
            <a:ext cx="4186238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795" tIns="47897" rIns="95795" bIns="47897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363" y="6967538"/>
            <a:ext cx="41846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795" tIns="47897" rIns="95795" bIns="47897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8178B86-491F-1A45-9FC7-2BBE038C9D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58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7403" tIns="48702" rIns="97403" bIns="48702" numCol="1" anchor="ctr" anchorCtr="0" compatLnSpc="1">
            <a:prstTxWarp prst="textNoShape">
              <a:avLst/>
            </a:prstTxWarp>
          </a:bodyPr>
          <a:lstStyle>
            <a:lvl1pPr algn="l" defTabSz="973138">
              <a:defRPr sz="1300"/>
            </a:lvl1pPr>
          </a:lstStyle>
          <a:p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363" y="0"/>
            <a:ext cx="4160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7403" tIns="48702" rIns="97403" bIns="48702" numCol="1" anchor="ctr" anchorCtr="0" compatLnSpc="1">
            <a:prstTxWarp prst="textNoShape">
              <a:avLst/>
            </a:prstTxWarp>
          </a:bodyPr>
          <a:lstStyle>
            <a:lvl1pPr algn="r" defTabSz="973138">
              <a:defRPr sz="130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775075" y="547688"/>
            <a:ext cx="2055813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525" y="3473450"/>
            <a:ext cx="7042150" cy="329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7403" tIns="48702" rIns="97403" bIns="4870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50075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7403" tIns="48702" rIns="97403" bIns="48702" numCol="1" anchor="b" anchorCtr="0" compatLnSpc="1">
            <a:prstTxWarp prst="textNoShape">
              <a:avLst/>
            </a:prstTxWarp>
          </a:bodyPr>
          <a:lstStyle>
            <a:lvl1pPr algn="l" defTabSz="973138">
              <a:defRPr sz="1300"/>
            </a:lvl1pPr>
          </a:lstStyle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363" y="6950075"/>
            <a:ext cx="4160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7403" tIns="48702" rIns="97403" bIns="48702" numCol="1" anchor="b" anchorCtr="0" compatLnSpc="1">
            <a:prstTxWarp prst="textNoShape">
              <a:avLst/>
            </a:prstTxWarp>
          </a:bodyPr>
          <a:lstStyle>
            <a:lvl1pPr algn="r" defTabSz="973138">
              <a:defRPr sz="1300"/>
            </a:lvl1pPr>
          </a:lstStyle>
          <a:p>
            <a:fld id="{10930E1C-759A-3349-944C-AAE8C86E90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005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800F81-4D5B-1D44-AB6B-85FDB80DB6AD}" type="slidenum">
              <a:rPr lang="en-US"/>
              <a:pPr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anchor="t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338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FBFAE1-7D57-9D41-8230-5A1E0D52250B}" type="slidenum">
              <a:rPr lang="en-US"/>
              <a:pPr/>
              <a:t>2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602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E939FD-02CC-374C-9228-2998244EE614}" type="slidenum">
              <a:rPr lang="en-US"/>
              <a:pPr/>
              <a:t>3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2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2B73FD-F4E6-E947-ABBA-D098CC01B6F0}" type="slidenum">
              <a:rPr lang="en-US"/>
              <a:pPr/>
              <a:t>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779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E3234A-451A-2A45-8BBC-A32F55FBE1A6}" type="slidenum">
              <a:rPr lang="en-US"/>
              <a:pPr/>
              <a:t>9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01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DED18A-6984-F242-ABB7-5FE751A03FC6}" type="slidenum">
              <a:rPr lang="en-US"/>
              <a:pPr/>
              <a:t>10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95" tIns="47897" rIns="95795" bIns="47897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75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15F41F-80D0-5241-9125-EB42713BC86D}" type="slidenum">
              <a:rPr lang="en-US"/>
              <a:pPr/>
              <a:t>11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95" tIns="47897" rIns="95795" bIns="47897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latin typeface="Century Gothic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8EDB33-486C-1A41-839B-C6199E5E0056}" type="datetime1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fld id="{170F7F47-E7D6-DA40-8319-CEA2724C90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endParaRPr lang="en-US"/>
          </a:p>
          <a:p>
            <a:fld id="{812B160F-D601-724E-BB09-F4B5CBA3F1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2BDF911-2245-CC47-B8A3-EA3EDEAA28C3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905000"/>
            <a:ext cx="2838450" cy="6172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4250" y="1905000"/>
            <a:ext cx="2838450" cy="6172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endParaRPr lang="en-US"/>
          </a:p>
          <a:p>
            <a:fld id="{456433C8-BE32-E94B-BA36-A3445F3C7C7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01CB1450-8FCE-0643-BE05-CFA31A281B4F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endParaRPr lang="en-US"/>
          </a:p>
          <a:p>
            <a:fld id="{C722DA4B-7278-3647-BFE2-3582DC769F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290E034-6A43-2C4E-A17C-0CEFE1C89A62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58293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905000"/>
            <a:ext cx="2838450" cy="617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4250" y="1905000"/>
            <a:ext cx="2838450" cy="617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2C1FCE-932D-E84C-9EC1-7316A40CA670}" type="datetime1">
              <a:rPr lang="en-US" smtClean="0"/>
              <a:pPr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endParaRPr lang="en-US"/>
          </a:p>
          <a:p>
            <a:fld id="{1A090D8C-5C19-2849-811C-C39A625467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304800"/>
            <a:ext cx="5829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905000"/>
            <a:ext cx="58293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058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Century Gothic" charset="0"/>
              </a:defRPr>
            </a:lvl1pPr>
          </a:lstStyle>
          <a:p>
            <a:fld id="{2B31E354-D5E9-B243-9BA1-F28BAF07BA32}" type="datetime1">
              <a:rPr lang="en-US" smtClean="0"/>
              <a:pPr/>
              <a:t>4/1/2022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52600" y="8305800"/>
            <a:ext cx="3352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Century Gothic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058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entury Gothic" charset="0"/>
              </a:defRPr>
            </a:lvl1pPr>
          </a:lstStyle>
          <a:p>
            <a:endParaRPr lang="en-US"/>
          </a:p>
          <a:p>
            <a:fld id="{93B8A318-5214-A342-954E-C6A2B1C8926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514350" y="1524000"/>
            <a:ext cx="5829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Century Gothic" pitchFamily="34" charset="0"/>
            </a:endParaRPr>
          </a:p>
        </p:txBody>
      </p:sp>
      <p:pic>
        <p:nvPicPr>
          <p:cNvPr id="6154" name="Picture 13" descr="j0149719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0" y="685800"/>
            <a:ext cx="1447800" cy="108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entury Gothic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entury Gothic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entury Gothic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entury Gothic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entury Gothic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entury Gothic" pitchFamily="34" charset="0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entury Gothic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entury Gothic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entury Gothic" pitchFamily="34" charset="0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2743200"/>
            <a:ext cx="6248400" cy="1524000"/>
          </a:xfrm>
        </p:spPr>
        <p:txBody>
          <a:bodyPr/>
          <a:lstStyle/>
          <a:p>
            <a:pPr algn="ctr"/>
            <a:r>
              <a:rPr lang="en-US" b="1" dirty="0">
                <a:latin typeface="Century Gothic" charset="0"/>
              </a:rPr>
              <a:t>Solving the Diet Problem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entury Gothic" charset="0"/>
              </a:rPr>
              <a:t>MGT 207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Date Placeholder 2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6966E941-C05B-3444-B4BF-89C2C6B44E2B}" type="datetime1">
              <a:rPr lang="en-US" smtClean="0"/>
              <a:pPr/>
              <a:t>4/1/2022</a:t>
            </a:fld>
            <a:endParaRPr lang="en-US"/>
          </a:p>
        </p:txBody>
      </p:sp>
      <p:sp>
        <p:nvSpPr>
          <p:cNvPr id="10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266C461B-A781-C54B-9225-46493F17A032}" type="slidenum">
              <a:rPr lang="en-US">
                <a:latin typeface="Century Gothic" charset="0"/>
              </a:rPr>
              <a:pPr/>
              <a:t>2</a:t>
            </a:fld>
            <a:endParaRPr lang="en-US">
              <a:latin typeface="Century Gothic" charset="0"/>
            </a:endParaRPr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Century Gothic" charset="0"/>
              </a:rPr>
              <a:t>Revisit McDonald’s Diet Problem</a:t>
            </a:r>
          </a:p>
        </p:txBody>
      </p:sp>
      <p:sp>
        <p:nvSpPr>
          <p:cNvPr id="1031" name="Text Box 3"/>
          <p:cNvSpPr txBox="1">
            <a:spLocks noChangeArrowheads="1"/>
          </p:cNvSpPr>
          <p:nvPr/>
        </p:nvSpPr>
        <p:spPr bwMode="auto">
          <a:xfrm>
            <a:off x="457201" y="1692275"/>
            <a:ext cx="5943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Century Gothic" charset="0"/>
              </a:rPr>
              <a:t>You want your diet to meet some nutritional standards. </a:t>
            </a:r>
          </a:p>
          <a:p>
            <a:pPr algn="l"/>
            <a:r>
              <a:rPr lang="en-US" dirty="0">
                <a:latin typeface="Century Gothic" charset="0"/>
              </a:rPr>
              <a:t>According to your daily diet plan you need to have </a:t>
            </a:r>
          </a:p>
          <a:p>
            <a:pPr algn="l"/>
            <a:endParaRPr lang="en-US" dirty="0">
              <a:latin typeface="Century Gothic" charset="0"/>
            </a:endParaRPr>
          </a:p>
          <a:p>
            <a:pPr algn="l"/>
            <a:r>
              <a:rPr lang="en-US" dirty="0">
                <a:solidFill>
                  <a:schemeClr val="accent2"/>
                </a:solidFill>
                <a:latin typeface="Century Gothic" charset="0"/>
              </a:rPr>
              <a:t>at least 100 percent of the U.S. RDA of vitamin C and calcium;</a:t>
            </a:r>
          </a:p>
          <a:p>
            <a:pPr algn="l"/>
            <a:r>
              <a:rPr lang="en-US" dirty="0">
                <a:solidFill>
                  <a:schemeClr val="accent2"/>
                </a:solidFill>
                <a:latin typeface="Century Gothic" charset="0"/>
              </a:rPr>
              <a:t>at least 55 grams of protein; and at most 2000 calories.</a:t>
            </a:r>
          </a:p>
          <a:p>
            <a:pPr algn="l"/>
            <a:endParaRPr lang="en-US" dirty="0">
              <a:solidFill>
                <a:schemeClr val="accent2"/>
              </a:solidFill>
              <a:latin typeface="Century Gothic" charset="0"/>
            </a:endParaRPr>
          </a:p>
          <a:p>
            <a:pPr algn="l"/>
            <a:r>
              <a:rPr lang="en-US" dirty="0">
                <a:latin typeface="Century Gothic" charset="0"/>
              </a:rPr>
              <a:t>You are wondering if this can be accomplished by eating at McDonald’s. </a:t>
            </a:r>
          </a:p>
          <a:p>
            <a:pPr algn="l"/>
            <a:r>
              <a:rPr lang="en-US" dirty="0">
                <a:latin typeface="Century Gothic" charset="0"/>
              </a:rPr>
              <a:t>Can you design a least-cost McDonald’s daily meal plan that meets your </a:t>
            </a:r>
          </a:p>
          <a:p>
            <a:pPr algn="l"/>
            <a:r>
              <a:rPr lang="en-US" dirty="0">
                <a:latin typeface="Century Gothic" charset="0"/>
              </a:rPr>
              <a:t>daily nutritious standard?</a:t>
            </a:r>
          </a:p>
          <a:p>
            <a:pPr algn="l"/>
            <a:endParaRPr lang="en-US" dirty="0">
              <a:latin typeface="Century Gothic" charset="0"/>
            </a:endParaRP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533400" y="5867400"/>
          <a:ext cx="57785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ocument" r:id="rId4" imgW="5867400" imgH="2273300" progId="Word.Document.8">
                  <p:embed/>
                </p:oleObj>
              </mc:Choice>
              <mc:Fallback>
                <p:oleObj name="Document" r:id="rId4" imgW="5867400" imgH="22733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867400"/>
                        <a:ext cx="5778500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5" descr="sandfri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24400" y="5257800"/>
            <a:ext cx="10287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2C741275-C043-684C-8407-97DFD6A3EA42}" type="datetime1">
              <a:rPr lang="en-US" smtClean="0"/>
              <a:pPr/>
              <a:t>4/1/2022</a:t>
            </a:fld>
            <a:endParaRPr lang="en-US"/>
          </a:p>
        </p:txBody>
      </p:sp>
      <p:sp>
        <p:nvSpPr>
          <p:cNvPr id="2053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EBD63F92-7D4B-3F46-8EE2-6153EE509C79}" type="slidenum">
              <a:rPr lang="en-US">
                <a:latin typeface="Century Gothic" charset="0"/>
              </a:rPr>
              <a:pPr/>
              <a:t>3</a:t>
            </a:fld>
            <a:endParaRPr lang="en-US">
              <a:latin typeface="Century Gothic" charset="0"/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McDonald’s Diet Problem Formulation</a:t>
            </a:r>
          </a:p>
        </p:txBody>
      </p:sp>
      <p:sp>
        <p:nvSpPr>
          <p:cNvPr id="20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5829300" cy="6705600"/>
          </a:xfrm>
        </p:spPr>
        <p:txBody>
          <a:bodyPr/>
          <a:lstStyle/>
          <a:p>
            <a:pPr>
              <a:buFontTx/>
              <a:buNone/>
            </a:pPr>
            <a:r>
              <a:rPr lang="en-US">
                <a:latin typeface="Century Gothic" charset="0"/>
              </a:rPr>
              <a:t>Data for the McDonald’s Diet Problem</a:t>
            </a:r>
          </a:p>
          <a:p>
            <a:pPr algn="ctr">
              <a:buFontTx/>
              <a:buNone/>
            </a:pPr>
            <a:endParaRPr lang="en-US">
              <a:latin typeface="Century Gothic" charset="0"/>
            </a:endParaRPr>
          </a:p>
          <a:p>
            <a:pPr algn="ctr">
              <a:buFontTx/>
              <a:buNone/>
            </a:pPr>
            <a:endParaRPr lang="en-US">
              <a:latin typeface="Century Gothic" charset="0"/>
            </a:endParaRPr>
          </a:p>
          <a:p>
            <a:pPr>
              <a:buFontTx/>
              <a:buNone/>
            </a:pPr>
            <a:endParaRPr lang="en-US">
              <a:latin typeface="Century Gothic" charset="0"/>
            </a:endParaRPr>
          </a:p>
          <a:p>
            <a:pPr>
              <a:buFontTx/>
              <a:buNone/>
            </a:pPr>
            <a:endParaRPr lang="en-US">
              <a:latin typeface="Century Gothic" charset="0"/>
            </a:endParaRPr>
          </a:p>
          <a:p>
            <a:pPr>
              <a:buFontTx/>
              <a:buNone/>
            </a:pPr>
            <a:endParaRPr lang="en-US">
              <a:latin typeface="Century Gothic" charset="0"/>
            </a:endParaRPr>
          </a:p>
          <a:p>
            <a:pPr>
              <a:buFontTx/>
              <a:buNone/>
            </a:pPr>
            <a:r>
              <a:rPr lang="en-US">
                <a:latin typeface="Century Gothic" charset="0"/>
              </a:rPr>
              <a:t>1. What must be decided?</a:t>
            </a:r>
          </a:p>
          <a:p>
            <a:pPr>
              <a:buFontTx/>
              <a:buNone/>
            </a:pPr>
            <a:r>
              <a:rPr lang="en-US" b="1">
                <a:latin typeface="Century Gothic" charset="0"/>
              </a:rPr>
              <a:t>  </a:t>
            </a:r>
          </a:p>
          <a:p>
            <a:pPr>
              <a:buFontTx/>
              <a:buNone/>
            </a:pPr>
            <a:endParaRPr lang="en-US" b="1">
              <a:latin typeface="Century Gothic" charset="0"/>
            </a:endParaRPr>
          </a:p>
          <a:p>
            <a:pPr>
              <a:buFontTx/>
              <a:buNone/>
            </a:pPr>
            <a:endParaRPr lang="en-US" b="1">
              <a:latin typeface="Century Gothic" charset="0"/>
            </a:endParaRPr>
          </a:p>
          <a:p>
            <a:pPr>
              <a:buFontTx/>
              <a:buNone/>
            </a:pPr>
            <a:r>
              <a:rPr lang="en-US">
                <a:latin typeface="Century Gothic" charset="0"/>
              </a:rPr>
              <a:t>2. What measure should we use to compare alternative sets of decisions?</a:t>
            </a:r>
          </a:p>
          <a:p>
            <a:pPr>
              <a:buFontTx/>
              <a:buNone/>
            </a:pPr>
            <a:endParaRPr lang="en-US">
              <a:latin typeface="Century Gothic" charset="0"/>
            </a:endParaRPr>
          </a:p>
          <a:p>
            <a:pPr>
              <a:buFontTx/>
              <a:buNone/>
            </a:pPr>
            <a:r>
              <a:rPr lang="en-US">
                <a:latin typeface="Century Gothic" charset="0"/>
              </a:rPr>
              <a:t>	 	</a:t>
            </a:r>
          </a:p>
          <a:p>
            <a:pPr>
              <a:buFontTx/>
              <a:buNone/>
            </a:pPr>
            <a:r>
              <a:rPr lang="en-US">
                <a:latin typeface="Century Gothic" charset="0"/>
              </a:rPr>
              <a:t>3. What restrictions limit our choices?</a:t>
            </a:r>
          </a:p>
          <a:p>
            <a:pPr>
              <a:buFontTx/>
              <a:buNone/>
            </a:pPr>
            <a:r>
              <a:rPr lang="en-US" b="1">
                <a:latin typeface="Century Gothic" charset="0"/>
              </a:rPr>
              <a:t>   </a:t>
            </a:r>
          </a:p>
          <a:p>
            <a:pPr>
              <a:buFontTx/>
              <a:buNone/>
            </a:pPr>
            <a:endParaRPr lang="en-US">
              <a:latin typeface="Century Gothic" charset="0"/>
            </a:endParaRPr>
          </a:p>
          <a:p>
            <a:pPr algn="ctr"/>
            <a:endParaRPr lang="en-US">
              <a:latin typeface="Century Gothic" charset="0"/>
            </a:endParaRPr>
          </a:p>
          <a:p>
            <a:pPr algn="ctr"/>
            <a:endParaRPr lang="en-US">
              <a:latin typeface="Century Gothic" charset="0"/>
            </a:endParaRPr>
          </a:p>
          <a:p>
            <a:endParaRPr lang="en-US">
              <a:latin typeface="Century Gothic" charset="0"/>
            </a:endParaRPr>
          </a:p>
        </p:txBody>
      </p:sp>
      <p:pic>
        <p:nvPicPr>
          <p:cNvPr id="2056" name="Picture 10" descr="sandfries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38800" y="7772400"/>
            <a:ext cx="10287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09" name="Text Box 1029"/>
          <p:cNvSpPr txBox="1">
            <a:spLocks noChangeArrowheads="1"/>
          </p:cNvSpPr>
          <p:nvPr/>
        </p:nvSpPr>
        <p:spPr bwMode="auto">
          <a:xfrm>
            <a:off x="152400" y="4114800"/>
            <a:ext cx="6477000" cy="1139825"/>
          </a:xfrm>
          <a:prstGeom prst="rect">
            <a:avLst/>
          </a:prstGeom>
          <a:solidFill>
            <a:srgbClr val="FFFF66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rgbClr val="0000CC"/>
                </a:solidFill>
                <a:latin typeface="Lucida Sans" charset="0"/>
              </a:rPr>
              <a:t>Diet Plan</a:t>
            </a:r>
          </a:p>
          <a:p>
            <a:pPr algn="l"/>
            <a:r>
              <a:rPr lang="en-US" sz="1600" b="1">
                <a:solidFill>
                  <a:srgbClr val="0000CC"/>
                </a:solidFill>
                <a:latin typeface="Lucida Sans" charset="0"/>
              </a:rPr>
              <a:t>x1 = # of hamburgers               x4 = # of Garden Salads</a:t>
            </a:r>
          </a:p>
          <a:p>
            <a:pPr algn="l"/>
            <a:r>
              <a:rPr lang="en-US" sz="1600" b="1">
                <a:solidFill>
                  <a:srgbClr val="0000CC"/>
                </a:solidFill>
                <a:latin typeface="Lucida Sans" charset="0"/>
              </a:rPr>
              <a:t>x2 = # of Big Macs                     x5 = # of Baked Apple Pies</a:t>
            </a:r>
          </a:p>
          <a:p>
            <a:pPr algn="l"/>
            <a:r>
              <a:rPr lang="en-US" sz="1600" b="1">
                <a:solidFill>
                  <a:srgbClr val="0000CC"/>
                </a:solidFill>
                <a:latin typeface="Lucida Sans" charset="0"/>
              </a:rPr>
              <a:t>x3 = # of Chicken McNuggets       </a:t>
            </a:r>
          </a:p>
        </p:txBody>
      </p:sp>
      <p:sp>
        <p:nvSpPr>
          <p:cNvPr id="98310" name="Text Box 1030"/>
          <p:cNvSpPr txBox="1">
            <a:spLocks noChangeArrowheads="1"/>
          </p:cNvSpPr>
          <p:nvPr/>
        </p:nvSpPr>
        <p:spPr bwMode="auto">
          <a:xfrm>
            <a:off x="958850" y="6096000"/>
            <a:ext cx="4484688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rgbClr val="0000CC"/>
                </a:solidFill>
                <a:latin typeface="Lucida Sans" charset="0"/>
              </a:rPr>
              <a:t>Money Spent on McDonald’s Diet</a:t>
            </a:r>
            <a:endParaRPr lang="en-US" sz="2000">
              <a:solidFill>
                <a:srgbClr val="0000CC"/>
              </a:solidFill>
              <a:latin typeface="Lucida Sans" charset="0"/>
            </a:endParaRPr>
          </a:p>
        </p:txBody>
      </p:sp>
      <p:sp>
        <p:nvSpPr>
          <p:cNvPr id="98311" name="Text Box 1031"/>
          <p:cNvSpPr txBox="1">
            <a:spLocks noChangeArrowheads="1"/>
          </p:cNvSpPr>
          <p:nvPr/>
        </p:nvSpPr>
        <p:spPr bwMode="auto">
          <a:xfrm>
            <a:off x="457200" y="7086600"/>
            <a:ext cx="5330825" cy="1200150"/>
          </a:xfrm>
          <a:prstGeom prst="rect">
            <a:avLst/>
          </a:prstGeom>
          <a:solidFill>
            <a:srgbClr val="FFFF66"/>
          </a:solidFill>
          <a:ln w="9525">
            <a:solidFill>
              <a:schemeClr val="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CC"/>
                </a:solidFill>
                <a:latin typeface="Lucida Sans" charset="0"/>
                <a:sym typeface="Symbol" charset="2"/>
              </a:rPr>
              <a:t>Calories obtained ≤ 2000</a:t>
            </a:r>
            <a:r>
              <a:rPr lang="en-US" dirty="0">
                <a:solidFill>
                  <a:srgbClr val="0000CC"/>
                </a:solidFill>
                <a:latin typeface="Lucida Sans" charset="0"/>
                <a:sym typeface="Symbol" charset="2"/>
              </a:rPr>
              <a:t> </a:t>
            </a:r>
          </a:p>
          <a:p>
            <a:r>
              <a:rPr lang="en-US" b="1" dirty="0">
                <a:solidFill>
                  <a:srgbClr val="0000CC"/>
                </a:solidFill>
                <a:latin typeface="Lucida Sans" charset="0"/>
                <a:sym typeface="Symbol" charset="2"/>
              </a:rPr>
              <a:t>Protein obtained   ≥  55 gram</a:t>
            </a:r>
          </a:p>
          <a:p>
            <a:r>
              <a:rPr lang="en-US" b="1" dirty="0">
                <a:solidFill>
                  <a:srgbClr val="0000CC"/>
                </a:solidFill>
                <a:latin typeface="Lucida Sans" charset="0"/>
              </a:rPr>
              <a:t>Vitamin C obtained ≥</a:t>
            </a:r>
            <a:r>
              <a:rPr lang="en-US" b="1" dirty="0">
                <a:solidFill>
                  <a:srgbClr val="0000CC"/>
                </a:solidFill>
                <a:latin typeface="Lucida Sans" charset="0"/>
                <a:sym typeface="Symbol" charset="2"/>
              </a:rPr>
              <a:t> 100% of U.S. RDA</a:t>
            </a:r>
          </a:p>
          <a:p>
            <a:r>
              <a:rPr lang="en-US" b="1" dirty="0">
                <a:solidFill>
                  <a:srgbClr val="0000CC"/>
                </a:solidFill>
                <a:latin typeface="Lucida Sans" charset="0"/>
                <a:sym typeface="Symbol" charset="2"/>
              </a:rPr>
              <a:t>Calcium obtained  ≥ 100% of U.S. RDA</a:t>
            </a:r>
            <a:endParaRPr lang="en-US" dirty="0">
              <a:solidFill>
                <a:srgbClr val="0000CC"/>
              </a:solidFill>
              <a:latin typeface="Lucida Sans" charset="0"/>
              <a:sym typeface="Symbol" charset="2"/>
            </a:endParaRPr>
          </a:p>
        </p:txBody>
      </p:sp>
      <p:graphicFrame>
        <p:nvGraphicFramePr>
          <p:cNvPr id="2050" name="Object 1032"/>
          <p:cNvGraphicFramePr>
            <a:graphicFrameLocks noChangeAspect="1"/>
          </p:cNvGraphicFramePr>
          <p:nvPr/>
        </p:nvGraphicFramePr>
        <p:xfrm>
          <a:off x="533400" y="1981200"/>
          <a:ext cx="57785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Document" r:id="rId5" imgW="5867400" imgH="2273300" progId="Word.Document.8">
                  <p:embed/>
                </p:oleObj>
              </mc:Choice>
              <mc:Fallback>
                <p:oleObj name="Document" r:id="rId5" imgW="5867400" imgH="2273300" progId="Word.Document.8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81200"/>
                        <a:ext cx="5778500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 animBg="1"/>
      <p:bldP spid="98310" grpId="0" animBg="1"/>
      <p:bldP spid="983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1B88AB1E-435F-684B-9782-E26B8131222E}" type="datetime1">
              <a:rPr lang="en-US" smtClean="0"/>
              <a:pPr/>
              <a:t>4/1/2022</a:t>
            </a:fld>
            <a:endParaRPr lang="en-US"/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034FEE67-C30E-FE49-9C93-8FCA3CEBE6C5}" type="slidenum">
              <a:rPr lang="en-US">
                <a:latin typeface="Century Gothic" charset="0"/>
              </a:rPr>
              <a:pPr/>
              <a:t>4</a:t>
            </a:fld>
            <a:endParaRPr lang="en-US">
              <a:latin typeface="Century Gothic" charset="0"/>
            </a:endParaRPr>
          </a:p>
        </p:txBody>
      </p:sp>
      <p:sp>
        <p:nvSpPr>
          <p:cNvPr id="1331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McDonald’s Diet Problem Formulation</a:t>
            </a:r>
          </a:p>
        </p:txBody>
      </p:sp>
      <p:sp>
        <p:nvSpPr>
          <p:cNvPr id="13318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>
                <a:latin typeface="Century Gothic" charset="0"/>
              </a:rPr>
              <a:t>4. Formulate the objective function:</a:t>
            </a:r>
          </a:p>
          <a:p>
            <a:pPr algn="ctr">
              <a:buFontTx/>
              <a:buNone/>
            </a:pPr>
            <a:r>
              <a:rPr lang="en-US" b="1" dirty="0">
                <a:latin typeface="Century Gothic" charset="0"/>
              </a:rPr>
              <a:t>MIN  0.69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1</a:t>
            </a:r>
            <a:r>
              <a:rPr lang="en-US" b="1" dirty="0">
                <a:latin typeface="Century Gothic" charset="0"/>
              </a:rPr>
              <a:t>+ 1.99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2</a:t>
            </a:r>
            <a:r>
              <a:rPr lang="en-US" b="1" i="1" dirty="0">
                <a:latin typeface="Century Gothic" charset="0"/>
              </a:rPr>
              <a:t>+</a:t>
            </a:r>
            <a:r>
              <a:rPr lang="en-US" b="1" i="1" baseline="-25000" dirty="0">
                <a:latin typeface="Century Gothic" charset="0"/>
              </a:rPr>
              <a:t> </a:t>
            </a:r>
            <a:r>
              <a:rPr lang="en-US" b="1" dirty="0">
                <a:latin typeface="Century Gothic" charset="0"/>
              </a:rPr>
              <a:t>1.99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3</a:t>
            </a:r>
            <a:r>
              <a:rPr lang="en-US" b="1" dirty="0">
                <a:latin typeface="Century Gothic" charset="0"/>
              </a:rPr>
              <a:t>+</a:t>
            </a:r>
            <a:r>
              <a:rPr lang="en-US" b="1" i="1" dirty="0">
                <a:latin typeface="Century Gothic" charset="0"/>
              </a:rPr>
              <a:t> </a:t>
            </a:r>
            <a:r>
              <a:rPr lang="en-US" b="1" dirty="0">
                <a:latin typeface="Century Gothic" charset="0"/>
              </a:rPr>
              <a:t>2.05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4</a:t>
            </a:r>
            <a:r>
              <a:rPr lang="en-US" b="1" dirty="0">
                <a:latin typeface="Century Gothic" charset="0"/>
              </a:rPr>
              <a:t>+</a:t>
            </a:r>
            <a:r>
              <a:rPr lang="en-US" b="1" i="1" dirty="0">
                <a:latin typeface="Century Gothic" charset="0"/>
              </a:rPr>
              <a:t> </a:t>
            </a:r>
            <a:r>
              <a:rPr lang="en-US" b="1" dirty="0">
                <a:latin typeface="Century Gothic" charset="0"/>
              </a:rPr>
              <a:t>0.79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5</a:t>
            </a:r>
            <a:endParaRPr lang="en-US" b="1" dirty="0">
              <a:latin typeface="Century Gothic" charset="0"/>
            </a:endParaRPr>
          </a:p>
          <a:p>
            <a:pPr>
              <a:buFontTx/>
              <a:buNone/>
            </a:pPr>
            <a:r>
              <a:rPr lang="en-US" dirty="0">
                <a:latin typeface="Century Gothic" charset="0"/>
              </a:rPr>
              <a:t>5. Formulate the constraints: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>
              <a:latin typeface="Lucida Sans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entury Gothic" charset="0"/>
              </a:rPr>
              <a:t>Calories:   260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</a:t>
            </a:r>
            <a:r>
              <a:rPr lang="en-US" sz="1800" b="1" dirty="0">
                <a:latin typeface="Century Gothic" charset="0"/>
              </a:rPr>
              <a:t>+ 560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</a:rPr>
              <a:t>250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</a:rPr>
              <a:t>35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</a:t>
            </a:r>
            <a:r>
              <a:rPr lang="en-US" sz="1800" b="1" dirty="0">
                <a:latin typeface="Century Gothic" charset="0"/>
              </a:rPr>
              <a:t>+ 260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</a:t>
            </a:r>
            <a:r>
              <a:rPr lang="en-US" sz="1800" b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  <a:sym typeface="Symbol" charset="2"/>
              </a:rPr>
              <a:t>≤ 2000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entury Gothic" charset="0"/>
                <a:sym typeface="Symbol" charset="2"/>
              </a:rPr>
              <a:t>Protein (in </a:t>
            </a:r>
            <a:r>
              <a:rPr lang="en-US" sz="1800" b="1" i="1" dirty="0">
                <a:latin typeface="Century Gothic" charset="0"/>
                <a:sym typeface="Symbol" charset="2"/>
              </a:rPr>
              <a:t>g</a:t>
            </a:r>
            <a:r>
              <a:rPr lang="en-US" sz="1800" b="1" dirty="0">
                <a:latin typeface="Century Gothic" charset="0"/>
                <a:sym typeface="Symbol" charset="2"/>
              </a:rPr>
              <a:t>):</a:t>
            </a:r>
            <a:r>
              <a:rPr lang="en-US" sz="1800" b="1" dirty="0">
                <a:latin typeface="Century Gothic" charset="0"/>
              </a:rPr>
              <a:t>13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   </a:t>
            </a:r>
            <a:r>
              <a:rPr lang="en-US" sz="1800" b="1" dirty="0">
                <a:latin typeface="Century Gothic" charset="0"/>
              </a:rPr>
              <a:t>+25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    </a:t>
            </a:r>
            <a:r>
              <a:rPr lang="en-US" sz="1800" b="1" dirty="0">
                <a:latin typeface="Century Gothic" charset="0"/>
              </a:rPr>
              <a:t>15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baseline="-25000" dirty="0">
                <a:latin typeface="Century Gothic" charset="0"/>
              </a:rPr>
              <a:t>     </a:t>
            </a:r>
            <a:r>
              <a:rPr lang="en-US" sz="1800" b="1" dirty="0">
                <a:latin typeface="Century Gothic" charset="0"/>
              </a:rPr>
              <a:t>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 </a:t>
            </a:r>
            <a:r>
              <a:rPr lang="en-US" sz="1800" b="1" dirty="0">
                <a:latin typeface="Century Gothic" charset="0"/>
              </a:rPr>
              <a:t>+ 3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  </a:t>
            </a:r>
            <a:r>
              <a:rPr lang="en-US" sz="1800" b="1" dirty="0">
                <a:latin typeface="Century Gothic" charset="0"/>
                <a:sym typeface="Symbol" charset="2"/>
              </a:rPr>
              <a:t>≥ 55</a:t>
            </a:r>
            <a:endParaRPr lang="en-US" sz="1800" b="1" i="1" dirty="0">
              <a:solidFill>
                <a:schemeClr val="accent2"/>
              </a:solidFill>
              <a:latin typeface="Century Gothic" charset="0"/>
              <a:sym typeface="Symbol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>
                <a:latin typeface="Century Gothic" charset="0"/>
                <a:sym typeface="Symbol" charset="2"/>
              </a:rPr>
              <a:t>Vit</a:t>
            </a:r>
            <a:r>
              <a:rPr lang="en-US" sz="1800" b="1" dirty="0">
                <a:latin typeface="Century Gothic" charset="0"/>
                <a:sym typeface="Symbol" charset="2"/>
              </a:rPr>
              <a:t>. C (in </a:t>
            </a:r>
            <a:r>
              <a:rPr lang="en-US" sz="1800" b="1" i="1" dirty="0">
                <a:latin typeface="Century Gothic" charset="0"/>
                <a:sym typeface="Symbol" charset="2"/>
              </a:rPr>
              <a:t>%</a:t>
            </a:r>
            <a:r>
              <a:rPr lang="en-US" sz="1800" b="1" dirty="0">
                <a:latin typeface="Century Gothic" charset="0"/>
                <a:sym typeface="Symbol" charset="2"/>
              </a:rPr>
              <a:t>):  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  </a:t>
            </a:r>
            <a:r>
              <a:rPr lang="en-US" sz="1800" b="1" dirty="0">
                <a:latin typeface="Century Gothic" charset="0"/>
              </a:rPr>
              <a:t>+    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       </a:t>
            </a:r>
            <a:r>
              <a:rPr lang="en-US" sz="1800" b="1" dirty="0">
                <a:latin typeface="Century Gothic" charset="0"/>
              </a:rPr>
              <a:t>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  </a:t>
            </a:r>
            <a:r>
              <a:rPr lang="en-US" sz="1800" b="1" dirty="0">
                <a:latin typeface="Century Gothic" charset="0"/>
              </a:rPr>
              <a:t>+ 40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</a:t>
            </a:r>
            <a:r>
              <a:rPr lang="en-US" sz="1800" b="1" dirty="0">
                <a:latin typeface="Century Gothic" charset="0"/>
              </a:rPr>
              <a:t>+40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</a:t>
            </a:r>
            <a:r>
              <a:rPr lang="en-US" sz="1800" b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  <a:sym typeface="Symbol" charset="2"/>
              </a:rPr>
              <a:t>≥ 100 </a:t>
            </a:r>
            <a:endParaRPr lang="en-US" sz="1800" b="1" dirty="0">
              <a:latin typeface="Century 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entury Gothic" charset="0"/>
              </a:rPr>
              <a:t>Calcium (in </a:t>
            </a:r>
            <a:r>
              <a:rPr lang="en-US" sz="1800" b="1" i="1" dirty="0">
                <a:latin typeface="Century Gothic" charset="0"/>
              </a:rPr>
              <a:t>%</a:t>
            </a:r>
            <a:r>
              <a:rPr lang="en-US" sz="1800" b="1" dirty="0">
                <a:latin typeface="Century Gothic" charset="0"/>
              </a:rPr>
              <a:t>):15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</a:t>
            </a:r>
            <a:r>
              <a:rPr lang="en-US" sz="1800" b="1" dirty="0">
                <a:latin typeface="Century Gothic" charset="0"/>
              </a:rPr>
              <a:t>+  25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   </a:t>
            </a:r>
            <a:r>
              <a:rPr lang="en-US" sz="1800" b="1" dirty="0">
                <a:latin typeface="Century Gothic" charset="0"/>
              </a:rPr>
              <a:t>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  </a:t>
            </a:r>
            <a:r>
              <a:rPr lang="en-US" sz="1800" b="1" dirty="0">
                <a:latin typeface="Century Gothic" charset="0"/>
              </a:rPr>
              <a:t>+  4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</a:t>
            </a:r>
            <a:r>
              <a:rPr lang="en-US" sz="1800" b="1" dirty="0">
                <a:latin typeface="Century Gothic" charset="0"/>
              </a:rPr>
              <a:t>+ 2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</a:t>
            </a:r>
            <a:r>
              <a:rPr lang="en-US" sz="1800" b="1" baseline="-25000" dirty="0">
                <a:latin typeface="Century Gothic" charset="0"/>
              </a:rPr>
              <a:t>    </a:t>
            </a:r>
            <a:r>
              <a:rPr lang="en-US" sz="1800" b="1" dirty="0">
                <a:latin typeface="Century Gothic" charset="0"/>
                <a:sym typeface="Symbol" charset="2"/>
              </a:rPr>
              <a:t>≥ 100</a:t>
            </a:r>
            <a:endParaRPr lang="en-US" dirty="0">
              <a:latin typeface="Century Gothic" charset="0"/>
            </a:endParaRPr>
          </a:p>
          <a:p>
            <a:pPr>
              <a:buFontTx/>
              <a:buNone/>
            </a:pPr>
            <a:r>
              <a:rPr lang="en-US" dirty="0">
                <a:latin typeface="Century Gothic" charset="0"/>
              </a:rPr>
              <a:t>6. Do we need non-negativity constraints?</a:t>
            </a:r>
          </a:p>
          <a:p>
            <a:pPr>
              <a:buFontTx/>
              <a:buNone/>
            </a:pPr>
            <a:r>
              <a:rPr lang="en-US" i="1" dirty="0">
                <a:latin typeface="Lucida Sans" charset="0"/>
              </a:rPr>
              <a:t>		</a:t>
            </a:r>
            <a:r>
              <a:rPr lang="en-US" b="1" i="1" dirty="0">
                <a:latin typeface="Lucida Sans" charset="0"/>
              </a:rPr>
              <a:t>x</a:t>
            </a:r>
            <a:r>
              <a:rPr lang="en-US" b="1" i="1" baseline="-25000" dirty="0">
                <a:latin typeface="Lucida Sans" charset="0"/>
              </a:rPr>
              <a:t>i</a:t>
            </a:r>
            <a:r>
              <a:rPr lang="en-US" b="1" dirty="0">
                <a:latin typeface="Lucida Sans" charset="0"/>
                <a:sym typeface="Symbol" charset="2"/>
              </a:rPr>
              <a:t> ≥ 0 , </a:t>
            </a:r>
            <a:r>
              <a:rPr lang="en-US" b="1" dirty="0" err="1">
                <a:latin typeface="Lucida Sans" charset="0"/>
                <a:sym typeface="Symbol" charset="2"/>
              </a:rPr>
              <a:t>i</a:t>
            </a:r>
            <a:r>
              <a:rPr lang="en-US" b="1" dirty="0">
                <a:latin typeface="Lucida Sans" charset="0"/>
                <a:sym typeface="Symbol" charset="2"/>
              </a:rPr>
              <a:t>=1,2,3,4,5</a:t>
            </a:r>
            <a:endParaRPr lang="en-US" b="1" dirty="0">
              <a:latin typeface="Century Gothic" charset="0"/>
            </a:endParaRPr>
          </a:p>
          <a:p>
            <a:pPr>
              <a:buFontTx/>
              <a:buNone/>
            </a:pPr>
            <a:r>
              <a:rPr lang="en-US" dirty="0">
                <a:latin typeface="Century Gothic" charset="0"/>
              </a:rPr>
              <a:t>7. Write down the total problem formulation:</a:t>
            </a:r>
          </a:p>
          <a:p>
            <a:pPr>
              <a:buFontTx/>
              <a:buNone/>
            </a:pPr>
            <a:r>
              <a:rPr lang="en-US" b="1" dirty="0">
                <a:latin typeface="Century Gothic" charset="0"/>
              </a:rPr>
              <a:t>MIN  0.69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1</a:t>
            </a:r>
            <a:r>
              <a:rPr lang="en-US" b="1" dirty="0">
                <a:latin typeface="Century Gothic" charset="0"/>
              </a:rPr>
              <a:t>+ 1.99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2</a:t>
            </a:r>
            <a:r>
              <a:rPr lang="en-US" b="1" i="1" dirty="0">
                <a:latin typeface="Century Gothic" charset="0"/>
              </a:rPr>
              <a:t>+</a:t>
            </a:r>
            <a:r>
              <a:rPr lang="en-US" b="1" i="1" baseline="-25000" dirty="0">
                <a:latin typeface="Century Gothic" charset="0"/>
              </a:rPr>
              <a:t> </a:t>
            </a:r>
            <a:r>
              <a:rPr lang="en-US" b="1" dirty="0">
                <a:latin typeface="Century Gothic" charset="0"/>
              </a:rPr>
              <a:t>1.99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3</a:t>
            </a:r>
            <a:r>
              <a:rPr lang="en-US" b="1" dirty="0">
                <a:latin typeface="Century Gothic" charset="0"/>
              </a:rPr>
              <a:t>+</a:t>
            </a:r>
            <a:r>
              <a:rPr lang="en-US" b="1" i="1" dirty="0">
                <a:latin typeface="Century Gothic" charset="0"/>
              </a:rPr>
              <a:t> </a:t>
            </a:r>
            <a:r>
              <a:rPr lang="en-US" b="1" dirty="0">
                <a:latin typeface="Century Gothic" charset="0"/>
              </a:rPr>
              <a:t>2.05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4</a:t>
            </a:r>
            <a:r>
              <a:rPr lang="en-US" b="1" dirty="0">
                <a:latin typeface="Century Gothic" charset="0"/>
              </a:rPr>
              <a:t>+</a:t>
            </a:r>
            <a:r>
              <a:rPr lang="en-US" b="1" i="1" dirty="0">
                <a:latin typeface="Century Gothic" charset="0"/>
              </a:rPr>
              <a:t> </a:t>
            </a:r>
            <a:r>
              <a:rPr lang="en-US" b="1" dirty="0">
                <a:latin typeface="Century Gothic" charset="0"/>
              </a:rPr>
              <a:t>0.79</a:t>
            </a:r>
            <a:r>
              <a:rPr lang="en-US" b="1" i="1" dirty="0">
                <a:latin typeface="Century Gothic" charset="0"/>
              </a:rPr>
              <a:t>x</a:t>
            </a:r>
            <a:r>
              <a:rPr lang="en-US" b="1" i="1" baseline="-25000" dirty="0">
                <a:latin typeface="Century Gothic" charset="0"/>
              </a:rPr>
              <a:t>5</a:t>
            </a:r>
          </a:p>
          <a:p>
            <a:pPr>
              <a:buFontTx/>
              <a:buNone/>
            </a:pPr>
            <a:r>
              <a:rPr lang="en-US" b="1" i="1" dirty="0" err="1">
                <a:latin typeface="Century Gothic" charset="0"/>
              </a:rPr>
              <a:t>s.t</a:t>
            </a:r>
            <a:r>
              <a:rPr lang="en-US" b="1" i="1" dirty="0">
                <a:latin typeface="Century Gothic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entury Gothic" charset="0"/>
              </a:rPr>
              <a:t>Calories:   260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</a:t>
            </a:r>
            <a:r>
              <a:rPr lang="en-US" sz="1800" b="1" dirty="0">
                <a:latin typeface="Century Gothic" charset="0"/>
              </a:rPr>
              <a:t>+ 560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</a:rPr>
              <a:t>250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</a:rPr>
              <a:t>35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</a:t>
            </a:r>
            <a:r>
              <a:rPr lang="en-US" sz="1800" b="1" dirty="0">
                <a:latin typeface="Century Gothic" charset="0"/>
              </a:rPr>
              <a:t>+ 260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</a:t>
            </a:r>
            <a:r>
              <a:rPr lang="en-US" sz="1800" b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  <a:sym typeface="Symbol" charset="2"/>
              </a:rPr>
              <a:t>≤ 2000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entury Gothic" charset="0"/>
                <a:sym typeface="Symbol" charset="2"/>
              </a:rPr>
              <a:t>Protein (in </a:t>
            </a:r>
            <a:r>
              <a:rPr lang="en-US" sz="1800" b="1" i="1" dirty="0">
                <a:latin typeface="Century Gothic" charset="0"/>
                <a:sym typeface="Symbol" charset="2"/>
              </a:rPr>
              <a:t>g</a:t>
            </a:r>
            <a:r>
              <a:rPr lang="en-US" sz="1800" b="1" dirty="0">
                <a:latin typeface="Century Gothic" charset="0"/>
                <a:sym typeface="Symbol" charset="2"/>
              </a:rPr>
              <a:t>):</a:t>
            </a:r>
            <a:r>
              <a:rPr lang="en-US" sz="1800" b="1" dirty="0">
                <a:latin typeface="Century Gothic" charset="0"/>
              </a:rPr>
              <a:t>13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   </a:t>
            </a:r>
            <a:r>
              <a:rPr lang="en-US" sz="1800" b="1" dirty="0">
                <a:latin typeface="Century Gothic" charset="0"/>
              </a:rPr>
              <a:t>+25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    </a:t>
            </a:r>
            <a:r>
              <a:rPr lang="en-US" sz="1800" b="1" dirty="0">
                <a:latin typeface="Century Gothic" charset="0"/>
              </a:rPr>
              <a:t>15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baseline="-25000" dirty="0">
                <a:latin typeface="Century Gothic" charset="0"/>
              </a:rPr>
              <a:t>     </a:t>
            </a:r>
            <a:r>
              <a:rPr lang="en-US" sz="1800" b="1" dirty="0">
                <a:latin typeface="Century Gothic" charset="0"/>
              </a:rPr>
              <a:t>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 </a:t>
            </a:r>
            <a:r>
              <a:rPr lang="en-US" sz="1800" b="1" dirty="0">
                <a:latin typeface="Century Gothic" charset="0"/>
              </a:rPr>
              <a:t>+ 3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  </a:t>
            </a:r>
            <a:r>
              <a:rPr lang="en-US" sz="1800" b="1" dirty="0">
                <a:latin typeface="Century Gothic" charset="0"/>
                <a:sym typeface="Symbol" charset="2"/>
              </a:rPr>
              <a:t>≥ 55</a:t>
            </a:r>
            <a:endParaRPr lang="en-US" sz="1800" b="1" i="1" dirty="0">
              <a:solidFill>
                <a:schemeClr val="accent2"/>
              </a:solidFill>
              <a:latin typeface="Century Gothic" charset="0"/>
              <a:sym typeface="Symbol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>
                <a:latin typeface="Century Gothic" charset="0"/>
                <a:sym typeface="Symbol" charset="2"/>
              </a:rPr>
              <a:t>Vit</a:t>
            </a:r>
            <a:r>
              <a:rPr lang="en-US" sz="1800" b="1" dirty="0">
                <a:latin typeface="Century Gothic" charset="0"/>
                <a:sym typeface="Symbol" charset="2"/>
              </a:rPr>
              <a:t>. C (in </a:t>
            </a:r>
            <a:r>
              <a:rPr lang="en-US" sz="1800" b="1" i="1" dirty="0">
                <a:latin typeface="Century Gothic" charset="0"/>
                <a:sym typeface="Symbol" charset="2"/>
              </a:rPr>
              <a:t>%</a:t>
            </a:r>
            <a:r>
              <a:rPr lang="en-US" sz="1800" b="1" dirty="0">
                <a:latin typeface="Century Gothic" charset="0"/>
                <a:sym typeface="Symbol" charset="2"/>
              </a:rPr>
              <a:t>):  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  </a:t>
            </a:r>
            <a:r>
              <a:rPr lang="en-US" sz="1800" b="1" dirty="0">
                <a:latin typeface="Century Gothic" charset="0"/>
              </a:rPr>
              <a:t>+    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       </a:t>
            </a:r>
            <a:r>
              <a:rPr lang="en-US" sz="1800" b="1" dirty="0">
                <a:latin typeface="Century Gothic" charset="0"/>
              </a:rPr>
              <a:t>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  </a:t>
            </a:r>
            <a:r>
              <a:rPr lang="en-US" sz="1800" b="1" dirty="0">
                <a:latin typeface="Century Gothic" charset="0"/>
              </a:rPr>
              <a:t>+ 40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</a:t>
            </a:r>
            <a:r>
              <a:rPr lang="en-US" sz="1800" b="1" dirty="0">
                <a:latin typeface="Century Gothic" charset="0"/>
              </a:rPr>
              <a:t>+40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</a:t>
            </a:r>
            <a:r>
              <a:rPr lang="en-US" sz="1800" b="1" baseline="-25000" dirty="0">
                <a:latin typeface="Century Gothic" charset="0"/>
              </a:rPr>
              <a:t> </a:t>
            </a:r>
            <a:r>
              <a:rPr lang="en-US" sz="1800" b="1" dirty="0">
                <a:latin typeface="Century Gothic" charset="0"/>
                <a:sym typeface="Symbol" charset="2"/>
              </a:rPr>
              <a:t>≥ 100 </a:t>
            </a:r>
            <a:endParaRPr lang="en-US" sz="1800" b="1" dirty="0">
              <a:latin typeface="Century 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entury Gothic" charset="0"/>
              </a:rPr>
              <a:t>Calcium (in </a:t>
            </a:r>
            <a:r>
              <a:rPr lang="en-US" sz="1800" b="1" i="1" dirty="0">
                <a:latin typeface="Century Gothic" charset="0"/>
              </a:rPr>
              <a:t>%</a:t>
            </a:r>
            <a:r>
              <a:rPr lang="en-US" sz="1800" b="1" dirty="0">
                <a:latin typeface="Century Gothic" charset="0"/>
              </a:rPr>
              <a:t>):15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1</a:t>
            </a:r>
            <a:r>
              <a:rPr lang="en-US" sz="1800" b="1" dirty="0">
                <a:latin typeface="Century Gothic" charset="0"/>
              </a:rPr>
              <a:t>+  25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2 </a:t>
            </a:r>
            <a:r>
              <a:rPr lang="en-US" sz="1800" b="1" dirty="0">
                <a:latin typeface="Century Gothic" charset="0"/>
              </a:rPr>
              <a:t>+</a:t>
            </a:r>
            <a:r>
              <a:rPr lang="en-US" sz="1800" b="1" i="1" baseline="-25000" dirty="0">
                <a:latin typeface="Century Gothic" charset="0"/>
              </a:rPr>
              <a:t>    </a:t>
            </a:r>
            <a:r>
              <a:rPr lang="en-US" sz="1800" b="1" dirty="0">
                <a:latin typeface="Century Gothic" charset="0"/>
              </a:rPr>
              <a:t>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3  </a:t>
            </a:r>
            <a:r>
              <a:rPr lang="en-US" sz="1800" b="1" dirty="0">
                <a:latin typeface="Century Gothic" charset="0"/>
              </a:rPr>
              <a:t>+  4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4</a:t>
            </a:r>
            <a:r>
              <a:rPr lang="en-US" sz="1800" b="1" dirty="0">
                <a:latin typeface="Century Gothic" charset="0"/>
              </a:rPr>
              <a:t>+ 2</a:t>
            </a:r>
            <a:r>
              <a:rPr lang="en-US" sz="1800" b="1" i="1" dirty="0">
                <a:latin typeface="Century Gothic" charset="0"/>
              </a:rPr>
              <a:t>x</a:t>
            </a:r>
            <a:r>
              <a:rPr lang="en-US" sz="1800" b="1" i="1" baseline="-25000" dirty="0">
                <a:latin typeface="Century Gothic" charset="0"/>
              </a:rPr>
              <a:t>5</a:t>
            </a:r>
            <a:r>
              <a:rPr lang="en-US" sz="1800" b="1" baseline="-25000" dirty="0">
                <a:latin typeface="Century Gothic" charset="0"/>
              </a:rPr>
              <a:t>    </a:t>
            </a:r>
            <a:r>
              <a:rPr lang="en-US" sz="1800" b="1" dirty="0">
                <a:latin typeface="Century Gothic" charset="0"/>
                <a:sym typeface="Symbol" charset="2"/>
              </a:rPr>
              <a:t>≥ 100</a:t>
            </a:r>
            <a:endParaRPr lang="en-US" sz="1800" dirty="0">
              <a:latin typeface="Century 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b="1" i="1" dirty="0">
                <a:latin typeface="Lucida Sans" charset="0"/>
              </a:rPr>
              <a:t> 			x</a:t>
            </a:r>
            <a:r>
              <a:rPr lang="en-US" b="1" i="1" baseline="-25000" dirty="0">
                <a:latin typeface="Lucida Sans" charset="0"/>
              </a:rPr>
              <a:t>i</a:t>
            </a:r>
            <a:r>
              <a:rPr lang="en-US" b="1" dirty="0">
                <a:latin typeface="Lucida Sans" charset="0"/>
                <a:sym typeface="Symbol" charset="2"/>
              </a:rPr>
              <a:t> ≥0, </a:t>
            </a:r>
            <a:r>
              <a:rPr lang="en-US" b="1" dirty="0" err="1">
                <a:latin typeface="Lucida Sans" charset="0"/>
                <a:sym typeface="Symbol" charset="2"/>
              </a:rPr>
              <a:t>i</a:t>
            </a:r>
            <a:r>
              <a:rPr lang="en-US" b="1" dirty="0">
                <a:latin typeface="Lucida Sans" charset="0"/>
                <a:sym typeface="Symbol" charset="2"/>
              </a:rPr>
              <a:t>=1,2,3,4,5</a:t>
            </a:r>
            <a:endParaRPr lang="en-US" dirty="0">
              <a:latin typeface="Century Gothic" charset="0"/>
            </a:endParaRPr>
          </a:p>
        </p:txBody>
      </p:sp>
      <p:sp>
        <p:nvSpPr>
          <p:cNvPr id="13319" name="Text Box 1031"/>
          <p:cNvSpPr txBox="1">
            <a:spLocks noChangeArrowheads="1"/>
          </p:cNvSpPr>
          <p:nvPr/>
        </p:nvSpPr>
        <p:spPr bwMode="auto">
          <a:xfrm>
            <a:off x="107950" y="5913438"/>
            <a:ext cx="241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13320" name="Picture 1033" descr="sandfrie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38800" y="7772400"/>
            <a:ext cx="10287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FC09F57C-F83A-5441-97EB-F08E1026C7A7}" type="slidenum">
              <a:rPr lang="en-US">
                <a:latin typeface="Century Gothic" charset="0"/>
              </a:rPr>
              <a:pPr/>
              <a:t>5</a:t>
            </a:fld>
            <a:endParaRPr lang="en-US">
              <a:latin typeface="Century Gothic" charset="0"/>
            </a:endParaRPr>
          </a:p>
        </p:txBody>
      </p:sp>
      <p:pic>
        <p:nvPicPr>
          <p:cNvPr id="14340" name="Picture 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08150"/>
            <a:ext cx="6858000" cy="248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latin typeface="Century Gothic" charset="0"/>
              </a:rPr>
              <a:t>McDonald’s Problem – Spreadsheet Setup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76200" y="5202238"/>
            <a:ext cx="6713538" cy="2301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buFontTx/>
              <a:buChar char="•"/>
            </a:pPr>
            <a:r>
              <a:rPr lang="en-US" sz="1600">
                <a:latin typeface="Lucida Sans" charset="0"/>
              </a:rPr>
              <a:t> Enter parameters in variable cells B6:F6, B9:F12, I9:I12</a:t>
            </a:r>
          </a:p>
          <a:p>
            <a:pPr algn="l">
              <a:buFontTx/>
              <a:buChar char="•"/>
            </a:pPr>
            <a:endParaRPr lang="en-US" sz="1600">
              <a:latin typeface="Lucida Sans" charset="0"/>
            </a:endParaRPr>
          </a:p>
          <a:p>
            <a:pPr algn="l">
              <a:buFontTx/>
              <a:buChar char="•"/>
            </a:pPr>
            <a:r>
              <a:rPr lang="en-US" sz="1600" b="1">
                <a:latin typeface="Lucida Sans" charset="0"/>
              </a:rPr>
              <a:t> </a:t>
            </a:r>
            <a:r>
              <a:rPr lang="en-US" sz="1600" b="1">
                <a:solidFill>
                  <a:schemeClr val="accent1"/>
                </a:solidFill>
                <a:latin typeface="Lucida Sans" charset="0"/>
              </a:rPr>
              <a:t>Decision variable cells</a:t>
            </a:r>
            <a:r>
              <a:rPr lang="en-US" sz="1600">
                <a:solidFill>
                  <a:schemeClr val="accent1"/>
                </a:solidFill>
                <a:latin typeface="Lucida Sans" charset="0"/>
              </a:rPr>
              <a:t>: fill zeros as initial values in </a:t>
            </a:r>
            <a:r>
              <a:rPr lang="en-US" sz="1600" b="1">
                <a:solidFill>
                  <a:schemeClr val="accent1"/>
                </a:solidFill>
                <a:latin typeface="Lucida Sans" charset="0"/>
              </a:rPr>
              <a:t>cells B4:F4</a:t>
            </a:r>
          </a:p>
          <a:p>
            <a:pPr algn="l">
              <a:buFontTx/>
              <a:buChar char="•"/>
            </a:pPr>
            <a:endParaRPr lang="en-US" sz="1600" b="1">
              <a:latin typeface="Lucida Sans" charset="0"/>
            </a:endParaRPr>
          </a:p>
          <a:p>
            <a:pPr algn="l">
              <a:buFontTx/>
              <a:buChar char="•"/>
            </a:pPr>
            <a:r>
              <a:rPr lang="en-US" sz="1600" b="1">
                <a:solidFill>
                  <a:schemeClr val="hlink"/>
                </a:solidFill>
                <a:latin typeface="Lucida Sans" charset="0"/>
              </a:rPr>
              <a:t>Objective function cell</a:t>
            </a:r>
            <a:r>
              <a:rPr lang="en-US" sz="1600" b="1">
                <a:latin typeface="Lucida Sans" charset="0"/>
              </a:rPr>
              <a:t>:</a:t>
            </a:r>
            <a:r>
              <a:rPr lang="en-US" sz="1600">
                <a:latin typeface="Lucida Sans" charset="0"/>
              </a:rPr>
              <a:t> </a:t>
            </a:r>
          </a:p>
          <a:p>
            <a:pPr algn="l"/>
            <a:r>
              <a:rPr lang="en-US" sz="1600">
                <a:latin typeface="Lucida Sans" charset="0"/>
              </a:rPr>
              <a:t>	</a:t>
            </a:r>
            <a:r>
              <a:rPr lang="en-US" sz="1600" b="1">
                <a:solidFill>
                  <a:schemeClr val="hlink"/>
                </a:solidFill>
                <a:latin typeface="Lucida Sans" charset="0"/>
              </a:rPr>
              <a:t>G6</a:t>
            </a:r>
            <a:r>
              <a:rPr lang="en-US" sz="1600">
                <a:solidFill>
                  <a:schemeClr val="hlink"/>
                </a:solidFill>
                <a:latin typeface="Lucida Sans" charset="0"/>
              </a:rPr>
              <a:t> =</a:t>
            </a:r>
            <a:r>
              <a:rPr lang="en-US" sz="1600">
                <a:latin typeface="Lucida Sans" charset="0"/>
              </a:rPr>
              <a:t> SUMPRODUCT(B4:F4,B6:F6)</a:t>
            </a:r>
          </a:p>
          <a:p>
            <a:pPr algn="l">
              <a:buFontTx/>
              <a:buChar char="•"/>
            </a:pPr>
            <a:r>
              <a:rPr lang="en-US" sz="1600">
                <a:latin typeface="Lucida Sans" charset="0"/>
              </a:rPr>
              <a:t> </a:t>
            </a:r>
            <a:r>
              <a:rPr lang="en-US" sz="1600" b="1">
                <a:solidFill>
                  <a:srgbClr val="FF3300"/>
                </a:solidFill>
                <a:latin typeface="Lucida Sans" charset="0"/>
              </a:rPr>
              <a:t>Constraint cells:</a:t>
            </a:r>
          </a:p>
          <a:p>
            <a:pPr algn="l"/>
            <a:r>
              <a:rPr lang="en-US" sz="1600">
                <a:latin typeface="Lucida Sans" charset="0"/>
              </a:rPr>
              <a:t>	</a:t>
            </a:r>
            <a:r>
              <a:rPr lang="en-US" sz="1600" b="1">
                <a:solidFill>
                  <a:srgbClr val="FF3300"/>
                </a:solidFill>
                <a:latin typeface="Lucida Sans" charset="0"/>
              </a:rPr>
              <a:t>G9 =</a:t>
            </a:r>
            <a:r>
              <a:rPr lang="en-US" sz="1600">
                <a:solidFill>
                  <a:srgbClr val="FF3300"/>
                </a:solidFill>
                <a:latin typeface="Lucida Sans" charset="0"/>
              </a:rPr>
              <a:t> SUMPRODUCT($B$4:$F$4, B9:F9)		</a:t>
            </a:r>
          </a:p>
          <a:p>
            <a:pPr algn="l"/>
            <a:r>
              <a:rPr lang="en-US" sz="1600">
                <a:solidFill>
                  <a:srgbClr val="FF3300"/>
                </a:solidFill>
                <a:latin typeface="Lucida Sans" charset="0"/>
              </a:rPr>
              <a:t>	Copied to G10:G12</a:t>
            </a:r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244475" y="4359275"/>
            <a:ext cx="2235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  <a:latin typeface="Lucida Sans" charset="0"/>
              </a:rPr>
              <a:t>Decision variable cells</a:t>
            </a:r>
          </a:p>
          <a:p>
            <a:r>
              <a:rPr lang="en-US" sz="1400" b="1">
                <a:solidFill>
                  <a:schemeClr val="accent1"/>
                </a:solidFill>
                <a:latin typeface="Lucida Sans" charset="0"/>
              </a:rPr>
              <a:t>B4:F4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2484438" y="4359275"/>
            <a:ext cx="22399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hlink"/>
                </a:solidFill>
                <a:latin typeface="Lucida Sans" charset="0"/>
              </a:rPr>
              <a:t>Objective function cell</a:t>
            </a:r>
          </a:p>
          <a:p>
            <a:r>
              <a:rPr lang="en-US" sz="1400" b="1">
                <a:solidFill>
                  <a:schemeClr val="hlink"/>
                </a:solidFill>
                <a:latin typeface="Lucida Sans" charset="0"/>
              </a:rPr>
              <a:t>G6</a:t>
            </a:r>
          </a:p>
        </p:txBody>
      </p:sp>
      <p:sp>
        <p:nvSpPr>
          <p:cNvPr id="14345" name="Rectangle 10"/>
          <p:cNvSpPr>
            <a:spLocks noChangeArrowheads="1"/>
          </p:cNvSpPr>
          <p:nvPr/>
        </p:nvSpPr>
        <p:spPr bwMode="auto">
          <a:xfrm>
            <a:off x="4973638" y="4359275"/>
            <a:ext cx="16192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FF3300"/>
                </a:solidFill>
                <a:latin typeface="Lucida Sans" charset="0"/>
              </a:rPr>
              <a:t>Constraint cells</a:t>
            </a:r>
          </a:p>
          <a:p>
            <a:r>
              <a:rPr lang="en-US" sz="1400" b="1">
                <a:solidFill>
                  <a:srgbClr val="FF3300"/>
                </a:solidFill>
                <a:latin typeface="Lucida Sans" charset="0"/>
              </a:rPr>
              <a:t>G9:G12</a:t>
            </a:r>
          </a:p>
        </p:txBody>
      </p:sp>
      <p:cxnSp>
        <p:nvCxnSpPr>
          <p:cNvPr id="14346" name="AutoShape 11"/>
          <p:cNvCxnSpPr>
            <a:cxnSpLocks noChangeShapeType="1"/>
          </p:cNvCxnSpPr>
          <p:nvPr/>
        </p:nvCxnSpPr>
        <p:spPr bwMode="auto">
          <a:xfrm flipV="1">
            <a:off x="1514475" y="2730500"/>
            <a:ext cx="695325" cy="1581150"/>
          </a:xfrm>
          <a:prstGeom prst="straightConnector1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4347" name="AutoShape 14"/>
          <p:cNvCxnSpPr>
            <a:cxnSpLocks noChangeShapeType="1"/>
            <a:endCxn id="14350" idx="1"/>
          </p:cNvCxnSpPr>
          <p:nvPr/>
        </p:nvCxnSpPr>
        <p:spPr bwMode="auto">
          <a:xfrm flipV="1">
            <a:off x="3657600" y="3238500"/>
            <a:ext cx="1128713" cy="11049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</p:cxnSp>
      <p:cxnSp>
        <p:nvCxnSpPr>
          <p:cNvPr id="14348" name="AutoShape 16"/>
          <p:cNvCxnSpPr>
            <a:cxnSpLocks noChangeShapeType="1"/>
            <a:stCxn id="14345" idx="0"/>
            <a:endCxn id="14351" idx="2"/>
          </p:cNvCxnSpPr>
          <p:nvPr/>
        </p:nvCxnSpPr>
        <p:spPr bwMode="auto">
          <a:xfrm flipH="1" flipV="1">
            <a:off x="4762500" y="4205288"/>
            <a:ext cx="1020763" cy="153987"/>
          </a:xfrm>
          <a:prstGeom prst="straightConnector1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</p:cxnSp>
      <p:sp>
        <p:nvSpPr>
          <p:cNvPr id="14349" name="AutoShape 22"/>
          <p:cNvSpPr>
            <a:spLocks noChangeArrowheads="1"/>
          </p:cNvSpPr>
          <p:nvPr/>
        </p:nvSpPr>
        <p:spPr bwMode="auto">
          <a:xfrm>
            <a:off x="1752600" y="2590800"/>
            <a:ext cx="2743200" cy="1524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50" name="AutoShape 23"/>
          <p:cNvSpPr>
            <a:spLocks noChangeArrowheads="1"/>
          </p:cNvSpPr>
          <p:nvPr/>
        </p:nvSpPr>
        <p:spPr bwMode="auto">
          <a:xfrm>
            <a:off x="4800600" y="3124200"/>
            <a:ext cx="228600" cy="228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51" name="AutoShape 24"/>
          <p:cNvSpPr>
            <a:spLocks noChangeArrowheads="1"/>
          </p:cNvSpPr>
          <p:nvPr/>
        </p:nvSpPr>
        <p:spPr bwMode="auto">
          <a:xfrm>
            <a:off x="4648200" y="3581400"/>
            <a:ext cx="228600" cy="6096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52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03EF5A83-1A08-704A-8340-B7D41D069CC1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054BEA37-5CEA-854A-B6AF-3A686F257FF0}" type="slidenum">
              <a:rPr lang="en-US">
                <a:latin typeface="Comic Sans MS" charset="0"/>
              </a:rPr>
              <a:pPr/>
              <a:t>6</a:t>
            </a:fld>
            <a:endParaRPr lang="en-US">
              <a:latin typeface="Comic Sans MS" charset="0"/>
            </a:endParaRPr>
          </a:p>
        </p:txBody>
      </p:sp>
      <p:pic>
        <p:nvPicPr>
          <p:cNvPr id="15364" name="Picture 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25" y="3313113"/>
            <a:ext cx="6721475" cy="544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latin typeface="Century Gothic" charset="0"/>
              </a:rPr>
              <a:t>McDonald’s Problem – Use of Solver</a:t>
            </a:r>
          </a:p>
        </p:txBody>
      </p:sp>
      <p:pic>
        <p:nvPicPr>
          <p:cNvPr id="15366" name="Picture 3" descr="sandfri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86450" y="7924800"/>
            <a:ext cx="771525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18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4019550" y="6727825"/>
            <a:ext cx="2838450" cy="2416175"/>
          </a:xfrm>
          <a:noFill/>
        </p:spPr>
      </p:pic>
      <p:sp>
        <p:nvSpPr>
          <p:cNvPr id="15368" name="Rectangle 20"/>
          <p:cNvSpPr>
            <a:spLocks noChangeArrowheads="1"/>
          </p:cNvSpPr>
          <p:nvPr/>
        </p:nvSpPr>
        <p:spPr bwMode="auto">
          <a:xfrm>
            <a:off x="2819400" y="1660525"/>
            <a:ext cx="3694113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chemeClr val="hlink"/>
                </a:solidFill>
                <a:latin typeface="Lucida Sans" charset="0"/>
              </a:rPr>
              <a:t>Objective: MIN  G6</a:t>
            </a:r>
          </a:p>
          <a:p>
            <a:pPr algn="l"/>
            <a:r>
              <a:rPr lang="en-US" dirty="0">
                <a:solidFill>
                  <a:schemeClr val="accent1"/>
                </a:solidFill>
                <a:latin typeface="Lucida Sans" charset="0"/>
              </a:rPr>
              <a:t>Variables: B4:F4</a:t>
            </a:r>
          </a:p>
          <a:p>
            <a:pPr algn="l"/>
            <a:r>
              <a:rPr lang="en-US" dirty="0">
                <a:solidFill>
                  <a:srgbClr val="FF3300"/>
                </a:solidFill>
                <a:latin typeface="Lucida Sans" charset="0"/>
              </a:rPr>
              <a:t>Constraints: G9 &lt;= I9</a:t>
            </a:r>
          </a:p>
          <a:p>
            <a:pPr algn="l"/>
            <a:r>
              <a:rPr lang="en-US" dirty="0">
                <a:solidFill>
                  <a:srgbClr val="FF3300"/>
                </a:solidFill>
                <a:latin typeface="Lucida Sans" charset="0"/>
              </a:rPr>
              <a:t>	    G10:G12&gt;= I10:I12</a:t>
            </a:r>
          </a:p>
          <a:p>
            <a:pPr algn="l"/>
            <a:r>
              <a:rPr lang="en-US" dirty="0">
                <a:latin typeface="Lucida Sans" charset="0"/>
              </a:rPr>
              <a:t>Options: </a:t>
            </a:r>
            <a:r>
              <a:rPr lang="en-US" dirty="0">
                <a:solidFill>
                  <a:schemeClr val="hlink"/>
                </a:solidFill>
                <a:latin typeface="Lucida Sans" charset="0"/>
              </a:rPr>
              <a:t>Assume Linear Model</a:t>
            </a:r>
          </a:p>
          <a:p>
            <a:pPr algn="l"/>
            <a:r>
              <a:rPr lang="en-US" dirty="0">
                <a:solidFill>
                  <a:schemeClr val="hlink"/>
                </a:solidFill>
                <a:latin typeface="Lucida Sans" charset="0"/>
              </a:rPr>
              <a:t>              Assume Non-Negative</a:t>
            </a:r>
            <a:endParaRPr lang="en-US" dirty="0">
              <a:latin typeface="Lucida Sans" charset="0"/>
            </a:endParaRPr>
          </a:p>
        </p:txBody>
      </p:sp>
      <p:cxnSp>
        <p:nvCxnSpPr>
          <p:cNvPr id="15369" name="AutoShape 9"/>
          <p:cNvCxnSpPr>
            <a:cxnSpLocks noChangeShapeType="1"/>
            <a:stCxn id="15371" idx="3"/>
            <a:endCxn id="15372" idx="1"/>
          </p:cNvCxnSpPr>
          <p:nvPr/>
        </p:nvCxnSpPr>
        <p:spPr bwMode="auto">
          <a:xfrm>
            <a:off x="3976688" y="7810500"/>
            <a:ext cx="104775" cy="5556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</p:cxnSp>
      <p:sp>
        <p:nvSpPr>
          <p:cNvPr id="13322" name="Rectangle 21"/>
          <p:cNvSpPr>
            <a:spLocks noChangeArrowheads="1"/>
          </p:cNvSpPr>
          <p:nvPr/>
        </p:nvSpPr>
        <p:spPr bwMode="auto">
          <a:xfrm>
            <a:off x="304800" y="1600200"/>
            <a:ext cx="263723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latin typeface="Impact" charset="0"/>
                <a:sym typeface="Symbol" charset="2"/>
              </a:rPr>
              <a:t>[03] </a:t>
            </a:r>
            <a:r>
              <a:rPr lang="en-US" dirty="0">
                <a:solidFill>
                  <a:srgbClr val="000000"/>
                </a:solidFill>
                <a:latin typeface="Impact" charset="0"/>
              </a:rPr>
              <a:t>Tools </a:t>
            </a:r>
            <a:r>
              <a:rPr lang="en-US" dirty="0">
                <a:solidFill>
                  <a:srgbClr val="000000"/>
                </a:solidFill>
                <a:latin typeface="Impact" charset="0"/>
                <a:sym typeface="Symbol" charset="2"/>
              </a:rPr>
              <a:t>-&gt; Solver ... </a:t>
            </a:r>
          </a:p>
          <a:p>
            <a:pPr algn="l"/>
            <a:r>
              <a:rPr lang="en-US" dirty="0">
                <a:solidFill>
                  <a:srgbClr val="267326"/>
                </a:solidFill>
                <a:latin typeface="Impact" charset="0"/>
                <a:sym typeface="Symbol" charset="2"/>
              </a:rPr>
              <a:t>[07] </a:t>
            </a:r>
            <a:r>
              <a:rPr lang="en-US" dirty="0">
                <a:solidFill>
                  <a:srgbClr val="000000"/>
                </a:solidFill>
                <a:latin typeface="Impact" charset="0"/>
                <a:sym typeface="Symbol" charset="2"/>
              </a:rPr>
              <a:t>Data tab</a:t>
            </a:r>
            <a:r>
              <a:rPr lang="en-US" sz="3200" dirty="0">
                <a:solidFill>
                  <a:srgbClr val="000000"/>
                </a:solidFill>
                <a:latin typeface="Impact" charset="0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Impact" charset="0"/>
                <a:sym typeface="Symbol" charset="2"/>
              </a:rPr>
              <a:t>-&gt; Data Tools</a:t>
            </a:r>
          </a:p>
          <a:p>
            <a:pPr algn="l">
              <a:buFont typeface="Symbol" charset="2"/>
              <a:buChar char="®"/>
            </a:pPr>
            <a:r>
              <a:rPr lang="en-US" dirty="0">
                <a:solidFill>
                  <a:srgbClr val="000000"/>
                </a:solidFill>
                <a:latin typeface="Impact" charset="0"/>
                <a:sym typeface="Symbol" charset="2"/>
              </a:rPr>
              <a:t>What-If  Analysis</a:t>
            </a:r>
            <a:r>
              <a:rPr lang="en-US" sz="3200" dirty="0">
                <a:solidFill>
                  <a:srgbClr val="000000"/>
                </a:solidFill>
                <a:latin typeface="Impact" charset="0"/>
                <a:sym typeface="Symbol" charset="2"/>
              </a:rPr>
              <a:t> </a:t>
            </a:r>
          </a:p>
          <a:p>
            <a:pPr algn="l">
              <a:buFont typeface="Symbol" charset="2"/>
              <a:buChar char="®"/>
            </a:pPr>
            <a:r>
              <a:rPr lang="en-US" dirty="0">
                <a:solidFill>
                  <a:srgbClr val="000000"/>
                </a:solidFill>
                <a:latin typeface="Impact" charset="0"/>
                <a:sym typeface="Symbol" charset="2"/>
              </a:rPr>
              <a:t>Solver</a:t>
            </a:r>
            <a:r>
              <a:rPr lang="en-US" sz="3200" dirty="0">
                <a:solidFill>
                  <a:srgbClr val="000000"/>
                </a:solidFill>
                <a:latin typeface="Impact" charset="0"/>
                <a:sym typeface="Symbol" charset="2"/>
              </a:rPr>
              <a:t> </a:t>
            </a:r>
            <a:br>
              <a:rPr lang="en-US" dirty="0">
                <a:solidFill>
                  <a:srgbClr val="000000"/>
                </a:solidFill>
                <a:latin typeface="Impact" charset="0"/>
              </a:rPr>
            </a:br>
            <a:endParaRPr lang="en-US" dirty="0">
              <a:solidFill>
                <a:srgbClr val="000000"/>
              </a:solidFill>
              <a:latin typeface="Impact" charset="0"/>
            </a:endParaRPr>
          </a:p>
        </p:txBody>
      </p:sp>
      <p:sp>
        <p:nvSpPr>
          <p:cNvPr id="15371" name="AutoShape 27"/>
          <p:cNvSpPr>
            <a:spLocks noChangeArrowheads="1"/>
          </p:cNvSpPr>
          <p:nvPr/>
        </p:nvSpPr>
        <p:spPr bwMode="auto">
          <a:xfrm>
            <a:off x="3429000" y="7696200"/>
            <a:ext cx="533400" cy="228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72" name="AutoShape 28"/>
          <p:cNvSpPr>
            <a:spLocks noChangeArrowheads="1"/>
          </p:cNvSpPr>
          <p:nvPr/>
        </p:nvSpPr>
        <p:spPr bwMode="auto">
          <a:xfrm>
            <a:off x="4095750" y="8175625"/>
            <a:ext cx="1066800" cy="3810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83524C7-0A5C-6E4A-924E-92BCC7B2461E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A37DA1D7-1C32-E04E-B869-29DAEC3664E7}" type="slidenum">
              <a:rPr lang="en-US">
                <a:latin typeface="Century Gothic" charset="0"/>
              </a:rPr>
              <a:pPr/>
              <a:t>7</a:t>
            </a:fld>
            <a:endParaRPr lang="en-US">
              <a:latin typeface="Century Gothic" charset="0"/>
            </a:endParaRPr>
          </a:p>
        </p:txBody>
      </p:sp>
      <p:pic>
        <p:nvPicPr>
          <p:cNvPr id="16388" name="Picture 9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725" y="1828800"/>
            <a:ext cx="4968875" cy="4775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838200"/>
            <a:ext cx="5410200" cy="762000"/>
          </a:xfrm>
        </p:spPr>
        <p:txBody>
          <a:bodyPr/>
          <a:lstStyle/>
          <a:p>
            <a:r>
              <a:rPr lang="en-US" sz="2000">
                <a:latin typeface="Century Gothic" charset="0"/>
              </a:rPr>
              <a:t>Answer Report-Binding &amp; Slack Constraints</a:t>
            </a:r>
          </a:p>
        </p:txBody>
      </p:sp>
      <p:sp>
        <p:nvSpPr>
          <p:cNvPr id="16390" name="Text Box 512"/>
          <p:cNvSpPr txBox="1">
            <a:spLocks noChangeArrowheads="1"/>
          </p:cNvSpPr>
          <p:nvPr/>
        </p:nvSpPr>
        <p:spPr bwMode="auto">
          <a:xfrm>
            <a:off x="4064000" y="2667000"/>
            <a:ext cx="1987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hlink"/>
                </a:solidFill>
              </a:rPr>
              <a:t>Optimal </a:t>
            </a:r>
            <a:r>
              <a:rPr lang="en-US" b="1" u="sng">
                <a:solidFill>
                  <a:schemeClr val="hlink"/>
                </a:solidFill>
              </a:rPr>
              <a:t>objective </a:t>
            </a:r>
          </a:p>
          <a:p>
            <a:r>
              <a:rPr lang="en-US" b="1" u="sng">
                <a:solidFill>
                  <a:schemeClr val="hlink"/>
                </a:solidFill>
              </a:rPr>
              <a:t>function value</a:t>
            </a:r>
          </a:p>
        </p:txBody>
      </p:sp>
      <p:sp>
        <p:nvSpPr>
          <p:cNvPr id="16391" name="Text Box 513"/>
          <p:cNvSpPr txBox="1">
            <a:spLocks noChangeArrowheads="1"/>
          </p:cNvSpPr>
          <p:nvPr/>
        </p:nvSpPr>
        <p:spPr bwMode="auto">
          <a:xfrm>
            <a:off x="4298950" y="4038600"/>
            <a:ext cx="18415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Optimal </a:t>
            </a:r>
            <a:r>
              <a:rPr lang="en-US" b="1" u="sng">
                <a:solidFill>
                  <a:schemeClr val="accent1"/>
                </a:solidFill>
              </a:rPr>
              <a:t>decision</a:t>
            </a:r>
          </a:p>
          <a:p>
            <a:r>
              <a:rPr lang="en-US" b="1" u="sng">
                <a:solidFill>
                  <a:schemeClr val="accent1"/>
                </a:solidFill>
              </a:rPr>
              <a:t>variable values</a:t>
            </a:r>
          </a:p>
          <a:p>
            <a:r>
              <a:rPr lang="en-US" b="1">
                <a:solidFill>
                  <a:schemeClr val="accent1"/>
                </a:solidFill>
              </a:rPr>
              <a:t>(or Optimal </a:t>
            </a:r>
          </a:p>
          <a:p>
            <a:r>
              <a:rPr lang="en-US" b="1">
                <a:solidFill>
                  <a:schemeClr val="accent1"/>
                </a:solidFill>
              </a:rPr>
              <a:t>Solution)</a:t>
            </a:r>
          </a:p>
        </p:txBody>
      </p:sp>
      <p:sp>
        <p:nvSpPr>
          <p:cNvPr id="16392" name="Text Box 514"/>
          <p:cNvSpPr txBox="1">
            <a:spLocks noChangeArrowheads="1"/>
          </p:cNvSpPr>
          <p:nvPr/>
        </p:nvSpPr>
        <p:spPr bwMode="auto">
          <a:xfrm>
            <a:off x="609600" y="6986588"/>
            <a:ext cx="580414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u="sng" dirty="0">
                <a:solidFill>
                  <a:srgbClr val="FF3300"/>
                </a:solidFill>
              </a:rPr>
              <a:t>Constraints: </a:t>
            </a:r>
          </a:p>
          <a:p>
            <a:pPr algn="l"/>
            <a:r>
              <a:rPr lang="en-US" sz="2000" b="1" dirty="0">
                <a:solidFill>
                  <a:srgbClr val="FF3300"/>
                </a:solidFill>
              </a:rPr>
              <a:t>Binding</a:t>
            </a:r>
            <a:r>
              <a:rPr lang="en-US" sz="2000" dirty="0">
                <a:solidFill>
                  <a:srgbClr val="FF3300"/>
                </a:solidFill>
              </a:rPr>
              <a:t> means LHS=RHS, implies Slack =0</a:t>
            </a:r>
          </a:p>
          <a:p>
            <a:pPr algn="l"/>
            <a:r>
              <a:rPr lang="en-US" sz="2000" b="1" dirty="0">
                <a:solidFill>
                  <a:srgbClr val="FF3300"/>
                </a:solidFill>
              </a:rPr>
              <a:t>Not Binding</a:t>
            </a:r>
            <a:r>
              <a:rPr lang="en-US" sz="2000" dirty="0">
                <a:solidFill>
                  <a:srgbClr val="FF3300"/>
                </a:solidFill>
              </a:rPr>
              <a:t> means LHS</a:t>
            </a:r>
            <a:r>
              <a:rPr lang="en-US" sz="2000" dirty="0">
                <a:solidFill>
                  <a:srgbClr val="FF3300"/>
                </a:solidFill>
                <a:sym typeface="Symbol" charset="2"/>
              </a:rPr>
              <a:t>&gt;(&lt;)</a:t>
            </a:r>
            <a:r>
              <a:rPr lang="en-US" sz="2000" dirty="0">
                <a:solidFill>
                  <a:srgbClr val="FF3300"/>
                </a:solidFill>
                <a:sym typeface="Math1" pitchFamily="2" charset="2"/>
              </a:rPr>
              <a:t>RHS, implies Slack</a:t>
            </a:r>
            <a:r>
              <a:rPr lang="en-US" dirty="0">
                <a:solidFill>
                  <a:srgbClr val="FF3300"/>
                </a:solidFill>
                <a:sym typeface="Symbol" charset="2"/>
              </a:rPr>
              <a:t>&gt;(&lt;)</a:t>
            </a:r>
            <a:r>
              <a:rPr lang="en-US" sz="2000" dirty="0">
                <a:solidFill>
                  <a:srgbClr val="FF3300"/>
                </a:solidFill>
                <a:sym typeface="Math1" pitchFamily="2" charset="2"/>
              </a:rPr>
              <a:t>0</a:t>
            </a:r>
          </a:p>
        </p:txBody>
      </p:sp>
      <p:sp>
        <p:nvSpPr>
          <p:cNvPr id="16393" name="Line 914"/>
          <p:cNvSpPr>
            <a:spLocks noChangeShapeType="1"/>
          </p:cNvSpPr>
          <p:nvPr/>
        </p:nvSpPr>
        <p:spPr bwMode="auto">
          <a:xfrm flipH="1" flipV="1">
            <a:off x="4114800" y="2667000"/>
            <a:ext cx="152400" cy="76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4" name="Line 915"/>
          <p:cNvSpPr>
            <a:spLocks noChangeShapeType="1"/>
          </p:cNvSpPr>
          <p:nvPr/>
        </p:nvSpPr>
        <p:spPr bwMode="auto">
          <a:xfrm flipH="1" flipV="1">
            <a:off x="4114800" y="4419600"/>
            <a:ext cx="304800" cy="76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5" name="Line 916"/>
          <p:cNvSpPr>
            <a:spLocks noChangeShapeType="1"/>
          </p:cNvSpPr>
          <p:nvPr/>
        </p:nvSpPr>
        <p:spPr bwMode="auto">
          <a:xfrm flipV="1">
            <a:off x="4191000" y="6781800"/>
            <a:ext cx="22860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6" name="AutoShape 917"/>
          <p:cNvSpPr>
            <a:spLocks noChangeArrowheads="1"/>
          </p:cNvSpPr>
          <p:nvPr/>
        </p:nvSpPr>
        <p:spPr bwMode="auto">
          <a:xfrm>
            <a:off x="3124200" y="2362200"/>
            <a:ext cx="914400" cy="6858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7" name="AutoShape 918"/>
          <p:cNvSpPr>
            <a:spLocks noChangeArrowheads="1"/>
          </p:cNvSpPr>
          <p:nvPr/>
        </p:nvSpPr>
        <p:spPr bwMode="auto">
          <a:xfrm>
            <a:off x="3124200" y="3200400"/>
            <a:ext cx="914400" cy="2362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8" name="AutoShape 920"/>
          <p:cNvSpPr>
            <a:spLocks noChangeArrowheads="1"/>
          </p:cNvSpPr>
          <p:nvPr/>
        </p:nvSpPr>
        <p:spPr bwMode="auto">
          <a:xfrm>
            <a:off x="3962400" y="5791200"/>
            <a:ext cx="1600200" cy="838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9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7967A265-548E-2F4E-AF8B-ED9E33516687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E09B7D78-EFEC-7F47-B57A-BEF705F8526A}" type="slidenum">
              <a:rPr lang="en-US">
                <a:latin typeface="Century Gothic" charset="0"/>
              </a:rPr>
              <a:pPr/>
              <a:t>8</a:t>
            </a:fld>
            <a:endParaRPr lang="en-US">
              <a:latin typeface="Century Gothic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Alternative Spreadsheet Setup</a:t>
            </a: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57400"/>
            <a:ext cx="6705600" cy="292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839788" y="1598613"/>
            <a:ext cx="5457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Lucida Sans" charset="0"/>
              </a:rPr>
              <a:t>Build model upon the existing data structure</a:t>
            </a:r>
          </a:p>
        </p:txBody>
      </p:sp>
      <p:sp>
        <p:nvSpPr>
          <p:cNvPr id="17415" name="Text Box 6"/>
          <p:cNvSpPr txBox="1">
            <a:spLocks noChangeArrowheads="1"/>
          </p:cNvSpPr>
          <p:nvPr/>
        </p:nvSpPr>
        <p:spPr bwMode="auto">
          <a:xfrm>
            <a:off x="198438" y="5197475"/>
            <a:ext cx="2235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  <a:latin typeface="Lucida Sans" charset="0"/>
              </a:rPr>
              <a:t>Decision variable cells</a:t>
            </a:r>
          </a:p>
          <a:p>
            <a:r>
              <a:rPr lang="en-US" sz="1400" b="1">
                <a:solidFill>
                  <a:schemeClr val="accent1"/>
                </a:solidFill>
                <a:latin typeface="Lucida Sans" charset="0"/>
              </a:rPr>
              <a:t>B8:B12</a:t>
            </a:r>
          </a:p>
        </p:txBody>
      </p:sp>
      <p:sp>
        <p:nvSpPr>
          <p:cNvPr id="17416" name="Text Box 7"/>
          <p:cNvSpPr txBox="1">
            <a:spLocks noChangeArrowheads="1"/>
          </p:cNvSpPr>
          <p:nvPr/>
        </p:nvSpPr>
        <p:spPr bwMode="auto">
          <a:xfrm>
            <a:off x="2438400" y="5197475"/>
            <a:ext cx="22399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hlink"/>
                </a:solidFill>
                <a:latin typeface="Lucida Sans" charset="0"/>
              </a:rPr>
              <a:t>Objective function cell</a:t>
            </a:r>
          </a:p>
          <a:p>
            <a:r>
              <a:rPr lang="en-US" sz="1400" b="1">
                <a:solidFill>
                  <a:schemeClr val="hlink"/>
                </a:solidFill>
                <a:latin typeface="Lucida Sans" charset="0"/>
              </a:rPr>
              <a:t>B3</a:t>
            </a:r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4889500" y="5197475"/>
            <a:ext cx="16970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FF3300"/>
                </a:solidFill>
                <a:latin typeface="Lucida Sans" charset="0"/>
              </a:rPr>
              <a:t>Constraint cells</a:t>
            </a:r>
          </a:p>
          <a:p>
            <a:r>
              <a:rPr lang="en-US" sz="1400" b="1">
                <a:solidFill>
                  <a:srgbClr val="FF3300"/>
                </a:solidFill>
                <a:latin typeface="Lucida Sans" charset="0"/>
              </a:rPr>
              <a:t>D13:E13, I13:J13</a:t>
            </a:r>
          </a:p>
        </p:txBody>
      </p:sp>
      <p:sp>
        <p:nvSpPr>
          <p:cNvPr id="17418" name="AutoShape 9"/>
          <p:cNvSpPr>
            <a:spLocks noChangeArrowheads="1"/>
          </p:cNvSpPr>
          <p:nvPr/>
        </p:nvSpPr>
        <p:spPr bwMode="auto">
          <a:xfrm>
            <a:off x="2133600" y="3425825"/>
            <a:ext cx="304800" cy="10668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9" name="AutoShape 10"/>
          <p:cNvSpPr>
            <a:spLocks noChangeArrowheads="1"/>
          </p:cNvSpPr>
          <p:nvPr/>
        </p:nvSpPr>
        <p:spPr bwMode="auto">
          <a:xfrm>
            <a:off x="1981200" y="2663825"/>
            <a:ext cx="457200" cy="228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0" name="AutoShape 11"/>
          <p:cNvSpPr>
            <a:spLocks noChangeArrowheads="1"/>
          </p:cNvSpPr>
          <p:nvPr/>
        </p:nvSpPr>
        <p:spPr bwMode="auto">
          <a:xfrm>
            <a:off x="3048000" y="4492625"/>
            <a:ext cx="1066800" cy="152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1" name="AutoShape 12"/>
          <p:cNvSpPr>
            <a:spLocks noChangeArrowheads="1"/>
          </p:cNvSpPr>
          <p:nvPr/>
        </p:nvSpPr>
        <p:spPr bwMode="auto">
          <a:xfrm>
            <a:off x="5410200" y="4492625"/>
            <a:ext cx="1066800" cy="152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2" name="Line 13"/>
          <p:cNvSpPr>
            <a:spLocks noChangeShapeType="1"/>
          </p:cNvSpPr>
          <p:nvPr/>
        </p:nvSpPr>
        <p:spPr bwMode="auto">
          <a:xfrm flipV="1">
            <a:off x="1371600" y="4416425"/>
            <a:ext cx="685800" cy="7651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3" name="Line 14"/>
          <p:cNvSpPr>
            <a:spLocks noChangeShapeType="1"/>
          </p:cNvSpPr>
          <p:nvPr/>
        </p:nvSpPr>
        <p:spPr bwMode="auto">
          <a:xfrm flipH="1" flipV="1">
            <a:off x="2362200" y="2892425"/>
            <a:ext cx="762000" cy="22891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4" name="Line 15"/>
          <p:cNvSpPr>
            <a:spLocks noChangeShapeType="1"/>
          </p:cNvSpPr>
          <p:nvPr/>
        </p:nvSpPr>
        <p:spPr bwMode="auto">
          <a:xfrm flipH="1" flipV="1">
            <a:off x="4114800" y="4645025"/>
            <a:ext cx="1295400" cy="612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5" name="Line 16"/>
          <p:cNvSpPr>
            <a:spLocks noChangeShapeType="1"/>
          </p:cNvSpPr>
          <p:nvPr/>
        </p:nvSpPr>
        <p:spPr bwMode="auto">
          <a:xfrm flipV="1">
            <a:off x="5715000" y="4721225"/>
            <a:ext cx="457200" cy="5365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401" name="Rectangle 17"/>
          <p:cNvSpPr>
            <a:spLocks noChangeArrowheads="1"/>
          </p:cNvSpPr>
          <p:nvPr/>
        </p:nvSpPr>
        <p:spPr bwMode="auto">
          <a:xfrm>
            <a:off x="1981200" y="7324725"/>
            <a:ext cx="2909888" cy="15906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hlink"/>
                </a:solidFill>
                <a:latin typeface="Lucida Sans" charset="0"/>
              </a:rPr>
              <a:t>Objective: MIN  B3</a:t>
            </a:r>
          </a:p>
          <a:p>
            <a:pPr algn="l"/>
            <a:r>
              <a:rPr lang="en-US" sz="1400">
                <a:solidFill>
                  <a:schemeClr val="accent1"/>
                </a:solidFill>
                <a:latin typeface="Lucida Sans" charset="0"/>
              </a:rPr>
              <a:t>Variables: B8:B12</a:t>
            </a:r>
          </a:p>
          <a:p>
            <a:pPr algn="l"/>
            <a:r>
              <a:rPr lang="en-US" sz="1400">
                <a:solidFill>
                  <a:srgbClr val="FF3300"/>
                </a:solidFill>
                <a:latin typeface="Lucida Sans" charset="0"/>
              </a:rPr>
              <a:t>Constraints: D13 &lt;= D15</a:t>
            </a:r>
          </a:p>
          <a:p>
            <a:pPr algn="l"/>
            <a:r>
              <a:rPr lang="en-US" sz="1400">
                <a:solidFill>
                  <a:srgbClr val="FF3300"/>
                </a:solidFill>
                <a:latin typeface="Lucida Sans" charset="0"/>
              </a:rPr>
              <a:t>	       E13&gt;= E15</a:t>
            </a:r>
          </a:p>
          <a:p>
            <a:pPr algn="l"/>
            <a:r>
              <a:rPr lang="en-US" sz="1400">
                <a:solidFill>
                  <a:srgbClr val="FF3300"/>
                </a:solidFill>
                <a:latin typeface="Lucida Sans" charset="0"/>
              </a:rPr>
              <a:t>               I13:J13 &gt;= I15:J15</a:t>
            </a:r>
          </a:p>
          <a:p>
            <a:pPr algn="l"/>
            <a:r>
              <a:rPr lang="en-US" sz="1400">
                <a:latin typeface="Lucida Sans" charset="0"/>
              </a:rPr>
              <a:t>Options: </a:t>
            </a:r>
            <a:r>
              <a:rPr lang="en-US" sz="1400">
                <a:solidFill>
                  <a:schemeClr val="hlink"/>
                </a:solidFill>
                <a:latin typeface="Lucida Sans" charset="0"/>
              </a:rPr>
              <a:t>Assume Linear Model</a:t>
            </a:r>
          </a:p>
          <a:p>
            <a:pPr algn="l"/>
            <a:r>
              <a:rPr lang="en-US" sz="1400">
                <a:solidFill>
                  <a:schemeClr val="hlink"/>
                </a:solidFill>
                <a:latin typeface="Lucida Sans" charset="0"/>
              </a:rPr>
              <a:t>              Assume Non-Negative</a:t>
            </a:r>
            <a:endParaRPr lang="en-US" sz="1400">
              <a:latin typeface="Lucida Sans" charset="0"/>
            </a:endParaRPr>
          </a:p>
        </p:txBody>
      </p:sp>
      <p:sp>
        <p:nvSpPr>
          <p:cNvPr id="144403" name="Text Box 19"/>
          <p:cNvSpPr txBox="1">
            <a:spLocks noChangeArrowheads="1"/>
          </p:cNvSpPr>
          <p:nvPr/>
        </p:nvSpPr>
        <p:spPr bwMode="auto">
          <a:xfrm>
            <a:off x="228600" y="5829300"/>
            <a:ext cx="6248400" cy="14097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buFontTx/>
              <a:buChar char="•"/>
            </a:pPr>
            <a:r>
              <a:rPr lang="en-US" sz="1400" b="1">
                <a:solidFill>
                  <a:schemeClr val="accent1"/>
                </a:solidFill>
                <a:latin typeface="Lucida Sans" charset="0"/>
              </a:rPr>
              <a:t>Decision variable cells</a:t>
            </a:r>
            <a:r>
              <a:rPr lang="en-US" sz="1400">
                <a:solidFill>
                  <a:schemeClr val="accent1"/>
                </a:solidFill>
                <a:latin typeface="Lucida Sans" charset="0"/>
              </a:rPr>
              <a:t>: fill zeros as initial values in </a:t>
            </a:r>
            <a:r>
              <a:rPr lang="en-US" sz="1400" b="1">
                <a:solidFill>
                  <a:schemeClr val="accent1"/>
                </a:solidFill>
                <a:latin typeface="Lucida Sans" charset="0"/>
              </a:rPr>
              <a:t>cells C8:K12</a:t>
            </a:r>
            <a:endParaRPr lang="en-US" sz="1400" b="1">
              <a:latin typeface="Lucida Sans" charset="0"/>
            </a:endParaRPr>
          </a:p>
          <a:p>
            <a:pPr algn="l">
              <a:buFontTx/>
              <a:buChar char="•"/>
            </a:pPr>
            <a:r>
              <a:rPr lang="en-US" sz="1400" b="1">
                <a:solidFill>
                  <a:schemeClr val="hlink"/>
                </a:solidFill>
                <a:latin typeface="Lucida Sans" charset="0"/>
              </a:rPr>
              <a:t>Objective function cell</a:t>
            </a:r>
            <a:r>
              <a:rPr lang="en-US" sz="1400" b="1">
                <a:latin typeface="Lucida Sans" charset="0"/>
              </a:rPr>
              <a:t>:</a:t>
            </a:r>
            <a:r>
              <a:rPr lang="en-US" sz="1400">
                <a:latin typeface="Lucida Sans" charset="0"/>
              </a:rPr>
              <a:t> </a:t>
            </a:r>
          </a:p>
          <a:p>
            <a:pPr algn="l"/>
            <a:r>
              <a:rPr lang="en-US" sz="1400">
                <a:latin typeface="Lucida Sans" charset="0"/>
              </a:rPr>
              <a:t>	</a:t>
            </a:r>
            <a:r>
              <a:rPr lang="en-US" sz="1400" b="1">
                <a:solidFill>
                  <a:schemeClr val="hlink"/>
                </a:solidFill>
                <a:latin typeface="Lucida Sans" charset="0"/>
              </a:rPr>
              <a:t>B3</a:t>
            </a:r>
            <a:r>
              <a:rPr lang="en-US" sz="1400">
                <a:solidFill>
                  <a:schemeClr val="hlink"/>
                </a:solidFill>
                <a:latin typeface="Lucida Sans" charset="0"/>
              </a:rPr>
              <a:t> =</a:t>
            </a:r>
            <a:r>
              <a:rPr lang="en-US" sz="1400">
                <a:latin typeface="Lucida Sans" charset="0"/>
              </a:rPr>
              <a:t> </a:t>
            </a:r>
            <a:r>
              <a:rPr lang="en-US" sz="1400">
                <a:solidFill>
                  <a:schemeClr val="hlink"/>
                </a:solidFill>
                <a:latin typeface="Lucida Sans" charset="0"/>
              </a:rPr>
              <a:t>SUMPRODUCT( C8:C12,$B$8:$B$12)</a:t>
            </a:r>
            <a:r>
              <a:rPr lang="en-US" sz="1600" b="1">
                <a:solidFill>
                  <a:schemeClr val="hlink"/>
                </a:solidFill>
              </a:rPr>
              <a:t> </a:t>
            </a:r>
            <a:endParaRPr lang="en-US" sz="1400">
              <a:latin typeface="Lucida Sans" charset="0"/>
            </a:endParaRPr>
          </a:p>
          <a:p>
            <a:pPr algn="l">
              <a:buFontTx/>
              <a:buChar char="•"/>
            </a:pPr>
            <a:r>
              <a:rPr lang="en-US" sz="1400" b="1">
                <a:solidFill>
                  <a:srgbClr val="FF3300"/>
                </a:solidFill>
                <a:latin typeface="Lucida Sans" charset="0"/>
              </a:rPr>
              <a:t>Constraint cells:</a:t>
            </a:r>
          </a:p>
          <a:p>
            <a:pPr algn="l"/>
            <a:r>
              <a:rPr lang="en-US" sz="1400">
                <a:latin typeface="Lucida Sans" charset="0"/>
              </a:rPr>
              <a:t>	</a:t>
            </a:r>
            <a:r>
              <a:rPr lang="en-US" sz="1400" b="1">
                <a:solidFill>
                  <a:srgbClr val="FF3300"/>
                </a:solidFill>
                <a:latin typeface="Lucida Sans" charset="0"/>
              </a:rPr>
              <a:t>D13 =</a:t>
            </a:r>
            <a:r>
              <a:rPr lang="en-US" sz="1400">
                <a:solidFill>
                  <a:srgbClr val="FF3300"/>
                </a:solidFill>
                <a:latin typeface="Lucida Sans" charset="0"/>
              </a:rPr>
              <a:t> SUMPRODUCT(D8:D12,$B$8:$B$12)	</a:t>
            </a:r>
          </a:p>
          <a:p>
            <a:pPr algn="l"/>
            <a:r>
              <a:rPr lang="en-US" sz="1400">
                <a:solidFill>
                  <a:srgbClr val="FF3300"/>
                </a:solidFill>
                <a:latin typeface="Lucida Sans" charset="0"/>
              </a:rPr>
              <a:t>	Copied to E13, I13:J13</a:t>
            </a:r>
          </a:p>
        </p:txBody>
      </p:sp>
      <p:sp>
        <p:nvSpPr>
          <p:cNvPr id="17428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8D454617-1F0A-5E40-B130-693AA45F2AF8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B6CDC7A2-8A33-B248-A8AC-49475503926D}" type="slidenum">
              <a:rPr lang="en-US">
                <a:latin typeface="Century Gothic" charset="0"/>
              </a:rPr>
              <a:pPr/>
              <a:t>9</a:t>
            </a:fld>
            <a:endParaRPr lang="en-US">
              <a:latin typeface="Century Gothic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Linear Programming Terms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Decision variables</a:t>
            </a:r>
          </a:p>
          <a:p>
            <a:pPr lvl="1"/>
            <a:r>
              <a:rPr lang="en-US" sz="1400">
                <a:latin typeface="Century Gothic" charset="0"/>
              </a:rPr>
              <a:t>The controllable inputs to the model </a:t>
            </a:r>
          </a:p>
          <a:p>
            <a:pPr lvl="1"/>
            <a:r>
              <a:rPr lang="en-US" sz="1400">
                <a:latin typeface="Century Gothic" charset="0"/>
              </a:rPr>
              <a:t>Should completely describe the decisions to be made</a:t>
            </a:r>
          </a:p>
          <a:p>
            <a:pPr>
              <a:buFontTx/>
              <a:buNone/>
            </a:pPr>
            <a:r>
              <a:rPr lang="en-US" sz="1400">
                <a:latin typeface="Century Gothic" charset="0"/>
              </a:rPr>
              <a:t>	</a:t>
            </a:r>
          </a:p>
          <a:p>
            <a:pPr>
              <a:buFontTx/>
              <a:buNone/>
            </a:pPr>
            <a:r>
              <a:rPr lang="en-US" sz="1400">
                <a:solidFill>
                  <a:schemeClr val="accent2"/>
                </a:solidFill>
                <a:latin typeface="Century Gothic" charset="0"/>
              </a:rPr>
              <a:t>e.g.</a:t>
            </a:r>
            <a:r>
              <a:rPr lang="en-US" sz="1400">
                <a:latin typeface="Century Gothic" charset="0"/>
              </a:rPr>
              <a:t> </a:t>
            </a:r>
            <a:r>
              <a:rPr lang="en-US" sz="1400" i="1">
                <a:solidFill>
                  <a:schemeClr val="accent2"/>
                </a:solidFill>
                <a:latin typeface="Century Gothic" charset="0"/>
              </a:rPr>
              <a:t>In the McDonald’s diet problem: #s of hamburgers, Big Macs, Chicken McNuggets, Garden Salads, and Apple Pies</a:t>
            </a:r>
            <a:endParaRPr lang="en-US" sz="1400" i="1">
              <a:latin typeface="Century Gothic" charset="0"/>
            </a:endParaRPr>
          </a:p>
          <a:p>
            <a:r>
              <a:rPr lang="en-US">
                <a:latin typeface="Century Gothic" charset="0"/>
              </a:rPr>
              <a:t>Objective function</a:t>
            </a:r>
          </a:p>
          <a:p>
            <a:pPr>
              <a:buFontTx/>
              <a:buNone/>
            </a:pPr>
            <a:r>
              <a:rPr lang="en-US">
                <a:latin typeface="Century Gothic" charset="0"/>
              </a:rPr>
              <a:t>	</a:t>
            </a:r>
            <a:r>
              <a:rPr lang="en-US" sz="1400">
                <a:latin typeface="Century Gothic" charset="0"/>
              </a:rPr>
              <a:t>The decision maker wants to maximize (usually revenue or profit) or minimize (usually  cost) some function of decision variables.  The function to be maximized or minimized is called the </a:t>
            </a:r>
            <a:r>
              <a:rPr lang="en-US" sz="1400" i="1">
                <a:latin typeface="Century Gothic" charset="0"/>
              </a:rPr>
              <a:t>objective function. </a:t>
            </a:r>
          </a:p>
          <a:p>
            <a:pPr>
              <a:buFontTx/>
              <a:buNone/>
            </a:pPr>
            <a:r>
              <a:rPr lang="en-US" sz="1400" i="1">
                <a:latin typeface="Century Gothic" charset="0"/>
              </a:rPr>
              <a:t>	</a:t>
            </a:r>
          </a:p>
          <a:p>
            <a:pPr>
              <a:buFontTx/>
              <a:buNone/>
            </a:pPr>
            <a:r>
              <a:rPr lang="en-US" sz="1400">
                <a:solidFill>
                  <a:schemeClr val="accent2"/>
                </a:solidFill>
                <a:latin typeface="Century Gothic" charset="0"/>
              </a:rPr>
              <a:t>e.g. </a:t>
            </a:r>
            <a:r>
              <a:rPr lang="en-US" sz="1400" i="1">
                <a:solidFill>
                  <a:schemeClr val="accent2"/>
                </a:solidFill>
                <a:latin typeface="Century Gothic" charset="0"/>
              </a:rPr>
              <a:t>In the McDonald’s diet problem: minimize cost (money spent on McDonald’s food)</a:t>
            </a:r>
            <a:endParaRPr lang="en-US" sz="1400">
              <a:latin typeface="Century Gothic" charset="0"/>
            </a:endParaRPr>
          </a:p>
          <a:p>
            <a:r>
              <a:rPr lang="en-US">
                <a:latin typeface="Century Gothic" charset="0"/>
              </a:rPr>
              <a:t>Constraints</a:t>
            </a:r>
          </a:p>
          <a:p>
            <a:pPr>
              <a:buFontTx/>
              <a:buNone/>
            </a:pPr>
            <a:r>
              <a:rPr lang="en-US">
                <a:latin typeface="Century Gothic" charset="0"/>
              </a:rPr>
              <a:t>	</a:t>
            </a:r>
            <a:r>
              <a:rPr lang="en-US" sz="1400">
                <a:latin typeface="Century Gothic" charset="0"/>
              </a:rPr>
              <a:t>Restrictions placed on a decision variable or a group of decision variables</a:t>
            </a:r>
          </a:p>
          <a:p>
            <a:pPr>
              <a:buFontTx/>
              <a:buNone/>
            </a:pPr>
            <a:r>
              <a:rPr lang="en-US" sz="1400">
                <a:latin typeface="Century Gothic" charset="0"/>
              </a:rPr>
              <a:t>	</a:t>
            </a:r>
          </a:p>
          <a:p>
            <a:pPr>
              <a:buFontTx/>
              <a:buNone/>
            </a:pPr>
            <a:r>
              <a:rPr lang="en-US" sz="1400">
                <a:solidFill>
                  <a:schemeClr val="accent2"/>
                </a:solidFill>
                <a:latin typeface="Century Gothic" charset="0"/>
              </a:rPr>
              <a:t>e.g. </a:t>
            </a:r>
            <a:r>
              <a:rPr lang="en-US" sz="1400" i="1">
                <a:solidFill>
                  <a:schemeClr val="accent2"/>
                </a:solidFill>
                <a:latin typeface="Century Gothic" charset="0"/>
              </a:rPr>
              <a:t>In the McDonald’s diet problem: nutrition requirements, i.e., calories, protein, vitamin C, Calcium</a:t>
            </a:r>
            <a:endParaRPr lang="en-US" sz="1400">
              <a:solidFill>
                <a:schemeClr val="accent2"/>
              </a:solidFill>
              <a:latin typeface="Century Gothic" charset="0"/>
            </a:endParaRPr>
          </a:p>
          <a:p>
            <a:pPr lvl="1">
              <a:buFontTx/>
              <a:buNone/>
            </a:pPr>
            <a:endParaRPr lang="en-US" sz="1400" i="1">
              <a:latin typeface="Century Gothic" charset="0"/>
            </a:endParaRPr>
          </a:p>
        </p:txBody>
      </p:sp>
      <p:sp>
        <p:nvSpPr>
          <p:cNvPr id="24582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721552CD-5749-6C49-9553-82DB83CB6E4B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1448F486-1DA9-DF4D-A920-8DA837F8A70A}" type="slidenum">
              <a:rPr lang="en-US">
                <a:latin typeface="Century Gothic" charset="0"/>
              </a:rPr>
              <a:pPr/>
              <a:t>10</a:t>
            </a:fld>
            <a:endParaRPr lang="en-US">
              <a:latin typeface="Century Gothic" charset="0"/>
            </a:endParaRP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05000"/>
            <a:ext cx="6210300" cy="6172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Century Gothic" charset="0"/>
              </a:rPr>
              <a:t>	A linear programming (LP) is an optimization problem for which we do the following: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600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 dirty="0">
                <a:latin typeface="Century Gothic" charset="0"/>
              </a:rPr>
              <a:t>(1) We attempt to maximize/minimize a </a:t>
            </a:r>
            <a:r>
              <a:rPr lang="en-US" sz="1600" i="1" dirty="0">
                <a:latin typeface="Century Gothic" charset="0"/>
              </a:rPr>
              <a:t>linear</a:t>
            </a:r>
            <a:r>
              <a:rPr lang="en-US" sz="1600" dirty="0">
                <a:latin typeface="Century Gothic" charset="0"/>
              </a:rPr>
              <a:t> function of a </a:t>
            </a:r>
            <a:r>
              <a:rPr lang="en-US" sz="1600" b="1" dirty="0">
                <a:latin typeface="Century Gothic" charset="0"/>
              </a:rPr>
              <a:t>finite</a:t>
            </a:r>
            <a:r>
              <a:rPr lang="en-US" sz="1600" dirty="0">
                <a:latin typeface="Century Gothic" charset="0"/>
              </a:rPr>
              <a:t> number of decision variables.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 dirty="0">
                <a:latin typeface="Century Gothic" charset="0"/>
              </a:rPr>
              <a:t>	</a:t>
            </a:r>
            <a:r>
              <a:rPr lang="en-US" sz="1600" i="1" dirty="0">
                <a:solidFill>
                  <a:schemeClr val="accent2"/>
                </a:solidFill>
                <a:latin typeface="Century Gothic" charset="0"/>
              </a:rPr>
              <a:t>Linear function: each variable appears in a separate term together with its coefficient</a:t>
            </a:r>
            <a:endParaRPr lang="en-US" sz="1600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 dirty="0">
                <a:latin typeface="Century Gothic" charset="0"/>
              </a:rPr>
              <a:t>(2) The values of the decision variables must satisfy a </a:t>
            </a:r>
            <a:r>
              <a:rPr lang="en-US" sz="1600" b="1" dirty="0">
                <a:latin typeface="Century Gothic" charset="0"/>
              </a:rPr>
              <a:t>finite</a:t>
            </a:r>
            <a:r>
              <a:rPr lang="en-US" sz="1600" dirty="0">
                <a:latin typeface="Century Gothic" charset="0"/>
              </a:rPr>
              <a:t> set of </a:t>
            </a:r>
            <a:r>
              <a:rPr lang="en-US" sz="1600" i="1" dirty="0">
                <a:latin typeface="Century Gothic" charset="0"/>
              </a:rPr>
              <a:t>constraints</a:t>
            </a:r>
            <a:r>
              <a:rPr lang="en-US" sz="1600" dirty="0">
                <a:latin typeface="Century Gothic" charset="0"/>
              </a:rPr>
              <a:t>.  Each constraint must be a </a:t>
            </a:r>
            <a:r>
              <a:rPr lang="en-US" sz="1600" i="1" dirty="0">
                <a:latin typeface="Century Gothic" charset="0"/>
              </a:rPr>
              <a:t>linear </a:t>
            </a:r>
            <a:r>
              <a:rPr lang="en-US" sz="1600" dirty="0">
                <a:latin typeface="Century Gothic" charset="0"/>
              </a:rPr>
              <a:t>equation or a </a:t>
            </a:r>
            <a:r>
              <a:rPr lang="en-US" sz="1600" i="1" dirty="0">
                <a:latin typeface="Century Gothic" charset="0"/>
              </a:rPr>
              <a:t>linear </a:t>
            </a:r>
            <a:r>
              <a:rPr lang="en-US" sz="1600" dirty="0">
                <a:latin typeface="Century Gothic" charset="0"/>
              </a:rPr>
              <a:t>inequality.</a:t>
            </a:r>
          </a:p>
          <a:p>
            <a:pPr lvl="2">
              <a:lnSpc>
                <a:spcPct val="90000"/>
              </a:lnSpc>
            </a:pPr>
            <a:endParaRPr lang="en-US" dirty="0">
              <a:latin typeface="Century Gothic" charset="0"/>
            </a:endParaRPr>
          </a:p>
          <a:p>
            <a:pPr lvl="2">
              <a:lnSpc>
                <a:spcPct val="90000"/>
              </a:lnSpc>
            </a:pPr>
            <a:endParaRPr lang="en-US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600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600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600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600" dirty="0">
              <a:latin typeface="Century Gothic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 dirty="0">
                <a:latin typeface="Century Gothic" charset="0"/>
              </a:rPr>
              <a:t>(3)	 A </a:t>
            </a:r>
            <a:r>
              <a:rPr lang="en-US" sz="1600" i="1" dirty="0">
                <a:latin typeface="Century Gothic" charset="0"/>
              </a:rPr>
              <a:t>sign restriction</a:t>
            </a:r>
            <a:r>
              <a:rPr lang="en-US" sz="1600" dirty="0">
                <a:latin typeface="Century Gothic" charset="0"/>
              </a:rPr>
              <a:t> is associated with each variable.  For any variable, </a:t>
            </a:r>
            <a:r>
              <a:rPr lang="en-US" sz="1600" i="1" dirty="0">
                <a:latin typeface="Century Gothic" charset="0"/>
              </a:rPr>
              <a:t>x</a:t>
            </a:r>
            <a:r>
              <a:rPr lang="en-US" sz="1600" i="1" baseline="-25000" dirty="0">
                <a:latin typeface="Century Gothic" charset="0"/>
              </a:rPr>
              <a:t>i</a:t>
            </a:r>
            <a:r>
              <a:rPr lang="en-US" sz="1600" dirty="0">
                <a:latin typeface="Century Gothic" charset="0"/>
              </a:rPr>
              <a:t>, the sign restriction specifies that either </a:t>
            </a:r>
            <a:r>
              <a:rPr lang="en-US" sz="1600" i="1" dirty="0">
                <a:latin typeface="Century Gothic" charset="0"/>
              </a:rPr>
              <a:t>x</a:t>
            </a:r>
            <a:r>
              <a:rPr lang="en-US" sz="1600" i="1" baseline="-25000" dirty="0">
                <a:latin typeface="Century Gothic" charset="0"/>
              </a:rPr>
              <a:t>i</a:t>
            </a:r>
            <a:r>
              <a:rPr lang="en-US" sz="1600" dirty="0">
                <a:latin typeface="Century Gothic" charset="0"/>
              </a:rPr>
              <a:t> must be nonnegative (</a:t>
            </a:r>
            <a:r>
              <a:rPr lang="en-US" sz="1600" i="1" dirty="0">
                <a:latin typeface="Century Gothic" charset="0"/>
              </a:rPr>
              <a:t>x</a:t>
            </a:r>
            <a:r>
              <a:rPr lang="en-US" sz="1600" i="1" baseline="-25000" dirty="0">
                <a:latin typeface="Century Gothic" charset="0"/>
              </a:rPr>
              <a:t>i</a:t>
            </a:r>
            <a:r>
              <a:rPr lang="en-US" sz="1600" dirty="0">
                <a:latin typeface="Century Gothic" charset="0"/>
              </a:rPr>
              <a:t> ≥ 0) or that </a:t>
            </a:r>
            <a:r>
              <a:rPr lang="en-US" sz="1600" i="1" dirty="0">
                <a:latin typeface="Century Gothic" charset="0"/>
              </a:rPr>
              <a:t>x</a:t>
            </a:r>
            <a:r>
              <a:rPr lang="en-US" sz="1600" i="1" baseline="-25000" dirty="0">
                <a:latin typeface="Century Gothic" charset="0"/>
              </a:rPr>
              <a:t>i</a:t>
            </a:r>
            <a:r>
              <a:rPr lang="en-US" sz="1600" dirty="0">
                <a:latin typeface="Century Gothic" charset="0"/>
              </a:rPr>
              <a:t> may be unrestricted in sign.</a:t>
            </a:r>
            <a:endParaRPr lang="en-US" dirty="0">
              <a:latin typeface="Century Gothic" charset="0"/>
            </a:endParaRPr>
          </a:p>
          <a:p>
            <a:pPr>
              <a:lnSpc>
                <a:spcPct val="90000"/>
              </a:lnSpc>
            </a:pPr>
            <a:endParaRPr lang="en-US" sz="1600" dirty="0">
              <a:latin typeface="Century Gothic" charset="0"/>
            </a:endParaRPr>
          </a:p>
        </p:txBody>
      </p:sp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914400" y="5408613"/>
            <a:ext cx="3932238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Lucida Sans" charset="0"/>
              </a:rPr>
              <a:t>2</a:t>
            </a:r>
            <a:r>
              <a:rPr lang="en-US" i="1" dirty="0">
                <a:latin typeface="Lucida Sans" charset="0"/>
              </a:rPr>
              <a:t>x</a:t>
            </a:r>
            <a:r>
              <a:rPr lang="en-US" dirty="0">
                <a:latin typeface="Lucida Sans" charset="0"/>
              </a:rPr>
              <a:t> + 3</a:t>
            </a:r>
            <a:r>
              <a:rPr lang="en-US" i="1" dirty="0">
                <a:latin typeface="Lucida Sans" charset="0"/>
              </a:rPr>
              <a:t>y</a:t>
            </a:r>
            <a:r>
              <a:rPr lang="en-US" dirty="0">
                <a:latin typeface="Lucida Sans" charset="0"/>
              </a:rPr>
              <a:t>  = 10</a:t>
            </a:r>
          </a:p>
          <a:p>
            <a:pPr algn="l"/>
            <a:r>
              <a:rPr lang="en-US" dirty="0">
                <a:latin typeface="Lucida Sans" charset="0"/>
              </a:rPr>
              <a:t>3</a:t>
            </a:r>
            <a:r>
              <a:rPr lang="en-US" i="1" dirty="0">
                <a:latin typeface="Lucida Sans" charset="0"/>
              </a:rPr>
              <a:t>x</a:t>
            </a:r>
            <a:r>
              <a:rPr lang="en-US" dirty="0">
                <a:latin typeface="Lucida Sans" charset="0"/>
              </a:rPr>
              <a:t> + 4.5</a:t>
            </a:r>
            <a:r>
              <a:rPr lang="en-US" i="1" dirty="0">
                <a:latin typeface="Lucida Sans" charset="0"/>
              </a:rPr>
              <a:t>y</a:t>
            </a:r>
            <a:r>
              <a:rPr lang="en-US" dirty="0">
                <a:latin typeface="Lucida Sans" charset="0"/>
              </a:rPr>
              <a:t> ≤</a:t>
            </a:r>
            <a:r>
              <a:rPr lang="en-US" dirty="0">
                <a:latin typeface="Lucida Sans" charset="0"/>
                <a:sym typeface="Symbol" charset="2"/>
              </a:rPr>
              <a:t> 100</a:t>
            </a:r>
          </a:p>
          <a:p>
            <a:pPr algn="l"/>
            <a:r>
              <a:rPr lang="en-US" dirty="0">
                <a:latin typeface="Lucida Sans" charset="0"/>
                <a:sym typeface="Symbol" charset="2"/>
              </a:rPr>
              <a:t>4</a:t>
            </a:r>
            <a:r>
              <a:rPr lang="en-US" i="1" dirty="0">
                <a:latin typeface="Lucida Sans" charset="0"/>
                <a:sym typeface="Symbol" charset="2"/>
              </a:rPr>
              <a:t>x</a:t>
            </a:r>
            <a:r>
              <a:rPr lang="en-US" dirty="0">
                <a:latin typeface="Lucida Sans" charset="0"/>
                <a:sym typeface="Symbol" charset="2"/>
              </a:rPr>
              <a:t> - 3.5</a:t>
            </a:r>
            <a:r>
              <a:rPr lang="en-US" i="1" dirty="0">
                <a:latin typeface="Lucida Sans" charset="0"/>
                <a:sym typeface="Symbol" charset="2"/>
              </a:rPr>
              <a:t>y</a:t>
            </a:r>
            <a:r>
              <a:rPr lang="en-US" dirty="0">
                <a:latin typeface="Lucida Sans" charset="0"/>
                <a:sym typeface="Symbol" charset="2"/>
              </a:rPr>
              <a:t> ≥ 50</a:t>
            </a:r>
          </a:p>
          <a:p>
            <a:pPr algn="l"/>
            <a:endParaRPr lang="en-US" dirty="0">
              <a:latin typeface="Lucida Sans" charset="0"/>
              <a:sym typeface="Symbol" charset="2"/>
            </a:endParaRPr>
          </a:p>
          <a:p>
            <a:pPr algn="l"/>
            <a:r>
              <a:rPr lang="en-US" dirty="0">
                <a:latin typeface="Lucida Sans" charset="0"/>
                <a:sym typeface="Symbol" charset="2"/>
              </a:rPr>
              <a:t>Is                    a linear constraint?</a:t>
            </a:r>
          </a:p>
        </p:txBody>
      </p:sp>
      <p:sp>
        <p:nvSpPr>
          <p:cNvPr id="51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Linear Programming Definition</a:t>
            </a:r>
          </a:p>
        </p:txBody>
      </p:sp>
      <p:sp>
        <p:nvSpPr>
          <p:cNvPr id="5128" name="Text Box 4"/>
          <p:cNvSpPr txBox="1">
            <a:spLocks noChangeArrowheads="1"/>
          </p:cNvSpPr>
          <p:nvPr/>
        </p:nvSpPr>
        <p:spPr bwMode="auto">
          <a:xfrm>
            <a:off x="914400" y="3810000"/>
            <a:ext cx="22698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e.g. 2</a:t>
            </a:r>
            <a:r>
              <a:rPr lang="en-US" i="1" dirty="0"/>
              <a:t>x</a:t>
            </a:r>
            <a:r>
              <a:rPr lang="en-US" dirty="0"/>
              <a:t> + 3</a:t>
            </a:r>
            <a:r>
              <a:rPr lang="en-US" i="1" dirty="0"/>
              <a:t>y</a:t>
            </a:r>
            <a:r>
              <a:rPr lang="en-US" dirty="0"/>
              <a:t>, 3.5</a:t>
            </a:r>
            <a:r>
              <a:rPr lang="en-US" i="1" dirty="0"/>
              <a:t>x,</a:t>
            </a:r>
            <a:r>
              <a:rPr lang="en-US" dirty="0">
                <a:sym typeface="Symbol" charset="2"/>
              </a:rPr>
              <a:t> 7.5</a:t>
            </a:r>
            <a:r>
              <a:rPr lang="en-US" i="1" dirty="0">
                <a:sym typeface="Symbol" charset="2"/>
              </a:rPr>
              <a:t>y</a:t>
            </a:r>
            <a:endParaRPr lang="en-US" dirty="0">
              <a:sym typeface="Symbol" charset="2"/>
            </a:endParaRPr>
          </a:p>
        </p:txBody>
      </p:sp>
      <p:graphicFrame>
        <p:nvGraphicFramePr>
          <p:cNvPr id="5122" name="Object 1028"/>
          <p:cNvGraphicFramePr>
            <a:graphicFrameLocks noChangeAspect="1"/>
          </p:cNvGraphicFramePr>
          <p:nvPr/>
        </p:nvGraphicFramePr>
        <p:xfrm>
          <a:off x="1371600" y="6400800"/>
          <a:ext cx="10906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4" imgW="711000" imgH="419040" progId="Equation.DSMT4">
                  <p:embed/>
                </p:oleObj>
              </mc:Choice>
              <mc:Fallback>
                <p:oleObj name="Equation" r:id="rId4" imgW="711000" imgH="419040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400800"/>
                        <a:ext cx="1090613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Date Placeholder 3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D6C17AB5-A18F-AB4F-AE5D-DE0939B3955D}" type="datetime1">
              <a:rPr lang="en-US" smtClean="0"/>
              <a:pPr/>
              <a:t>4/1/2022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endParaRPr lang="en-US">
              <a:latin typeface="Century Gothic" charset="0"/>
            </a:endParaRPr>
          </a:p>
          <a:p>
            <a:fld id="{20FF9067-F868-C241-BBF0-414A47D3A085}" type="slidenum">
              <a:rPr lang="en-US">
                <a:latin typeface="Century Gothic" charset="0"/>
              </a:rPr>
              <a:pPr/>
              <a:t>11</a:t>
            </a:fld>
            <a:endParaRPr lang="en-US">
              <a:latin typeface="Century Gothic" charset="0"/>
            </a:endParaRPr>
          </a:p>
        </p:txBody>
      </p:sp>
      <p:sp>
        <p:nvSpPr>
          <p:cNvPr id="2560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Gothic" charset="0"/>
              </a:rPr>
              <a:t>Example</a:t>
            </a:r>
          </a:p>
        </p:txBody>
      </p:sp>
      <p:sp>
        <p:nvSpPr>
          <p:cNvPr id="25605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52600"/>
            <a:ext cx="6019800" cy="3200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Century Gothic" charset="0"/>
              </a:rPr>
              <a:t>McDonald’s Diet Problem: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dirty="0">
              <a:latin typeface="Century 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>
                <a:latin typeface="Lucida Sans" charset="0"/>
              </a:rPr>
              <a:t>MIN        0.69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1</a:t>
            </a:r>
            <a:r>
              <a:rPr lang="en-US" sz="1200" dirty="0">
                <a:latin typeface="Lucida Sans" charset="0"/>
              </a:rPr>
              <a:t>+ 1.99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2</a:t>
            </a:r>
            <a:r>
              <a:rPr lang="en-US" sz="1200" i="1" dirty="0">
                <a:latin typeface="Lucida Sans" charset="0"/>
              </a:rPr>
              <a:t>+</a:t>
            </a:r>
            <a:r>
              <a:rPr lang="en-US" sz="1200" i="1" baseline="-25000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</a:rPr>
              <a:t>1.99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3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i="1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</a:rPr>
              <a:t>2.05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4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i="1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</a:rPr>
              <a:t>0.79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5</a:t>
            </a:r>
            <a:r>
              <a:rPr lang="en-US" sz="1200" i="1" dirty="0">
                <a:latin typeface="Lucida Sans" charset="0"/>
              </a:rPr>
              <a:t>  </a:t>
            </a:r>
            <a:r>
              <a:rPr lang="en-US" sz="1200" b="1" i="1" dirty="0">
                <a:solidFill>
                  <a:schemeClr val="accent2"/>
                </a:solidFill>
                <a:latin typeface="Lucida Sans" charset="0"/>
              </a:rPr>
              <a:t>Linear Objective Function</a:t>
            </a:r>
            <a:r>
              <a:rPr lang="en-US" sz="1200" i="1" dirty="0">
                <a:latin typeface="Lucida Sans" charset="0"/>
              </a:rPr>
              <a:t>     </a:t>
            </a:r>
            <a:endParaRPr lang="en-US" sz="1200" dirty="0">
              <a:latin typeface="Lucida Sans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 err="1">
                <a:latin typeface="Lucida Sans" charset="0"/>
              </a:rPr>
              <a:t>s.t</a:t>
            </a:r>
            <a:r>
              <a:rPr lang="en-US" sz="1200" dirty="0">
                <a:latin typeface="Lucida Sans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>
                <a:latin typeface="Lucida Sans" charset="0"/>
              </a:rPr>
              <a:t>Calories:           260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1</a:t>
            </a:r>
            <a:r>
              <a:rPr lang="en-US" sz="1200" dirty="0">
                <a:latin typeface="Lucida Sans" charset="0"/>
              </a:rPr>
              <a:t>+ 560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2 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i="1" baseline="-25000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</a:rPr>
              <a:t>250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3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baseline="-25000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</a:rPr>
              <a:t>35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4</a:t>
            </a:r>
            <a:r>
              <a:rPr lang="en-US" sz="1200" dirty="0">
                <a:latin typeface="Lucida Sans" charset="0"/>
              </a:rPr>
              <a:t>+ 260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5</a:t>
            </a:r>
            <a:r>
              <a:rPr lang="en-US" sz="1200" baseline="-25000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  <a:sym typeface="Symbol" charset="2"/>
              </a:rPr>
              <a:t> ≤ 2000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>
                <a:latin typeface="Lucida Sans" charset="0"/>
                <a:sym typeface="Symbol" charset="2"/>
              </a:rPr>
              <a:t>Protein (in </a:t>
            </a:r>
            <a:r>
              <a:rPr lang="en-US" sz="1200" i="1" dirty="0" err="1">
                <a:latin typeface="Lucida Sans" charset="0"/>
                <a:sym typeface="Symbol" charset="2"/>
              </a:rPr>
              <a:t>g</a:t>
            </a:r>
            <a:r>
              <a:rPr lang="en-US" sz="1200" dirty="0">
                <a:latin typeface="Lucida Sans" charset="0"/>
                <a:sym typeface="Symbol" charset="2"/>
              </a:rPr>
              <a:t>):      </a:t>
            </a:r>
            <a:r>
              <a:rPr lang="en-US" sz="1200" dirty="0">
                <a:latin typeface="Lucida Sans" charset="0"/>
              </a:rPr>
              <a:t>13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1   </a:t>
            </a:r>
            <a:r>
              <a:rPr lang="en-US" sz="1200" dirty="0">
                <a:latin typeface="Lucida Sans" charset="0"/>
              </a:rPr>
              <a:t>+25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2 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i="1" baseline="-25000" dirty="0">
                <a:latin typeface="Lucida Sans" charset="0"/>
              </a:rPr>
              <a:t>     </a:t>
            </a:r>
            <a:r>
              <a:rPr lang="en-US" sz="1200" dirty="0">
                <a:latin typeface="Lucida Sans" charset="0"/>
              </a:rPr>
              <a:t>15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3 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baseline="-25000" dirty="0">
                <a:latin typeface="Lucida Sans" charset="0"/>
              </a:rPr>
              <a:t>     </a:t>
            </a:r>
            <a:r>
              <a:rPr lang="en-US" sz="1200" dirty="0">
                <a:latin typeface="Lucida Sans" charset="0"/>
              </a:rPr>
              <a:t>2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4 </a:t>
            </a:r>
            <a:r>
              <a:rPr lang="en-US" sz="1200" dirty="0">
                <a:latin typeface="Lucida Sans" charset="0"/>
              </a:rPr>
              <a:t>+ 3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5   </a:t>
            </a:r>
            <a:r>
              <a:rPr lang="en-US" sz="1200" dirty="0">
                <a:latin typeface="Lucida Sans" charset="0"/>
                <a:sym typeface="Symbol" charset="2"/>
              </a:rPr>
              <a:t>≥ 55           </a:t>
            </a:r>
            <a:r>
              <a:rPr lang="en-US" sz="1200" b="1" i="1" dirty="0">
                <a:solidFill>
                  <a:schemeClr val="accent2"/>
                </a:solidFill>
                <a:latin typeface="Lucida Sans" charset="0"/>
                <a:sym typeface="Symbol" charset="2"/>
              </a:rPr>
              <a:t>Linear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 err="1">
                <a:latin typeface="Lucida Sans" charset="0"/>
                <a:sym typeface="Symbol" charset="2"/>
              </a:rPr>
              <a:t>Vit</a:t>
            </a:r>
            <a:r>
              <a:rPr lang="en-US" sz="1200" dirty="0">
                <a:latin typeface="Lucida Sans" charset="0"/>
                <a:sym typeface="Symbol" charset="2"/>
              </a:rPr>
              <a:t>. C (in </a:t>
            </a:r>
            <a:r>
              <a:rPr lang="en-US" sz="1200" i="1" dirty="0">
                <a:latin typeface="Lucida Sans" charset="0"/>
                <a:sym typeface="Symbol" charset="2"/>
              </a:rPr>
              <a:t>%</a:t>
            </a:r>
            <a:r>
              <a:rPr lang="en-US" sz="1200" dirty="0">
                <a:latin typeface="Lucida Sans" charset="0"/>
                <a:sym typeface="Symbol" charset="2"/>
              </a:rPr>
              <a:t>):          2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1  </a:t>
            </a:r>
            <a:r>
              <a:rPr lang="en-US" sz="1200" dirty="0">
                <a:latin typeface="Lucida Sans" charset="0"/>
              </a:rPr>
              <a:t>+    2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2 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i="1" baseline="-25000" dirty="0">
                <a:latin typeface="Lucida Sans" charset="0"/>
              </a:rPr>
              <a:t>        </a:t>
            </a:r>
            <a:r>
              <a:rPr lang="en-US" sz="1200" dirty="0">
                <a:latin typeface="Lucida Sans" charset="0"/>
              </a:rPr>
              <a:t>2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3  </a:t>
            </a:r>
            <a:r>
              <a:rPr lang="en-US" sz="1200" dirty="0">
                <a:latin typeface="Lucida Sans" charset="0"/>
              </a:rPr>
              <a:t>+ 40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4</a:t>
            </a:r>
            <a:r>
              <a:rPr lang="en-US" sz="1200" dirty="0">
                <a:latin typeface="Lucida Sans" charset="0"/>
              </a:rPr>
              <a:t>+40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5</a:t>
            </a:r>
            <a:r>
              <a:rPr lang="en-US" sz="1200" baseline="-25000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  <a:sym typeface="Symbol" charset="2"/>
              </a:rPr>
              <a:t> ≥100          </a:t>
            </a:r>
            <a:r>
              <a:rPr lang="en-US" sz="1200" b="1" i="1" dirty="0">
                <a:solidFill>
                  <a:schemeClr val="accent2"/>
                </a:solidFill>
                <a:latin typeface="Lucida Sans" charset="0"/>
                <a:sym typeface="Symbol" charset="2"/>
              </a:rPr>
              <a:t>Constraints</a:t>
            </a:r>
            <a:endParaRPr lang="en-US" sz="1200" dirty="0">
              <a:latin typeface="Lucida Sans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>
                <a:latin typeface="Lucida Sans" charset="0"/>
              </a:rPr>
              <a:t>Calcium (in </a:t>
            </a:r>
            <a:r>
              <a:rPr lang="en-US" sz="1200" i="1" dirty="0">
                <a:latin typeface="Lucida Sans" charset="0"/>
              </a:rPr>
              <a:t>%</a:t>
            </a:r>
            <a:r>
              <a:rPr lang="en-US" sz="1200" dirty="0">
                <a:latin typeface="Lucida Sans" charset="0"/>
              </a:rPr>
              <a:t>):    15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1</a:t>
            </a:r>
            <a:r>
              <a:rPr lang="en-US" sz="1200" dirty="0">
                <a:latin typeface="Lucida Sans" charset="0"/>
              </a:rPr>
              <a:t>+  25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2 </a:t>
            </a:r>
            <a:r>
              <a:rPr lang="en-US" sz="1200" dirty="0">
                <a:latin typeface="Lucida Sans" charset="0"/>
              </a:rPr>
              <a:t>+</a:t>
            </a:r>
            <a:r>
              <a:rPr lang="en-US" sz="1200" i="1" baseline="-25000" dirty="0">
                <a:latin typeface="Lucida Sans" charset="0"/>
              </a:rPr>
              <a:t>       </a:t>
            </a:r>
            <a:r>
              <a:rPr lang="en-US" sz="1200" dirty="0">
                <a:latin typeface="Lucida Sans" charset="0"/>
              </a:rPr>
              <a:t>2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3  </a:t>
            </a:r>
            <a:r>
              <a:rPr lang="en-US" sz="1200" dirty="0">
                <a:latin typeface="Lucida Sans" charset="0"/>
              </a:rPr>
              <a:t>+   4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4</a:t>
            </a:r>
            <a:r>
              <a:rPr lang="en-US" sz="1200" dirty="0">
                <a:latin typeface="Lucida Sans" charset="0"/>
              </a:rPr>
              <a:t>+ 2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5</a:t>
            </a:r>
            <a:r>
              <a:rPr lang="en-US" sz="1200" baseline="-25000" dirty="0">
                <a:latin typeface="Lucida Sans" charset="0"/>
              </a:rPr>
              <a:t>   </a:t>
            </a:r>
            <a:r>
              <a:rPr lang="en-US" sz="1200" dirty="0">
                <a:latin typeface="Lucida Sans" charset="0"/>
                <a:sym typeface="Symbol" charset="2"/>
              </a:rPr>
              <a:t>≥100</a:t>
            </a:r>
            <a:endParaRPr lang="en-US" sz="1200" dirty="0">
              <a:latin typeface="Lucida Sans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dirty="0">
                <a:latin typeface="Lucida Sans" charset="0"/>
              </a:rPr>
              <a:t>Non-negativity:   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1</a:t>
            </a:r>
            <a:r>
              <a:rPr lang="en-US" sz="1200" dirty="0">
                <a:latin typeface="Lucida Sans" charset="0"/>
                <a:sym typeface="Symbol" charset="2"/>
              </a:rPr>
              <a:t>≥ 0, </a:t>
            </a:r>
            <a:r>
              <a:rPr lang="en-US" sz="1200" dirty="0">
                <a:latin typeface="Lucida Sans" charset="0"/>
              </a:rPr>
              <a:t> 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2</a:t>
            </a:r>
            <a:r>
              <a:rPr lang="en-US" sz="1200" baseline="-25000" dirty="0">
                <a:latin typeface="Lucida Sans" charset="0"/>
              </a:rPr>
              <a:t> </a:t>
            </a:r>
            <a:r>
              <a:rPr lang="en-US" sz="1200" dirty="0">
                <a:latin typeface="Lucida Sans" charset="0"/>
                <a:sym typeface="Symbol" charset="2"/>
              </a:rPr>
              <a:t>≥ 0, 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3</a:t>
            </a:r>
            <a:r>
              <a:rPr lang="en-US" sz="1200" dirty="0">
                <a:latin typeface="Lucida Sans" charset="0"/>
                <a:sym typeface="Symbol" charset="2"/>
              </a:rPr>
              <a:t>≥ 0, 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4</a:t>
            </a:r>
            <a:r>
              <a:rPr lang="en-US" sz="1200" dirty="0">
                <a:latin typeface="Lucida Sans" charset="0"/>
                <a:sym typeface="Symbol" charset="2"/>
              </a:rPr>
              <a:t>≥ 0, </a:t>
            </a:r>
            <a:r>
              <a:rPr lang="en-US" sz="1200" i="1" dirty="0">
                <a:latin typeface="Lucida Sans" charset="0"/>
              </a:rPr>
              <a:t>x</a:t>
            </a:r>
            <a:r>
              <a:rPr lang="en-US" sz="1200" i="1" baseline="-25000" dirty="0">
                <a:latin typeface="Lucida Sans" charset="0"/>
              </a:rPr>
              <a:t>5</a:t>
            </a:r>
            <a:r>
              <a:rPr lang="en-US" sz="1200" dirty="0">
                <a:latin typeface="Lucida Sans" charset="0"/>
                <a:sym typeface="Symbol" charset="2"/>
              </a:rPr>
              <a:t>≥ 0                   </a:t>
            </a:r>
            <a:r>
              <a:rPr lang="en-US" sz="1200" b="1" i="1" dirty="0">
                <a:solidFill>
                  <a:schemeClr val="accent2"/>
                </a:solidFill>
                <a:latin typeface="Lucida Sans" charset="0"/>
                <a:sym typeface="Symbol" charset="2"/>
              </a:rPr>
              <a:t>Sign Restriction</a:t>
            </a:r>
            <a:endParaRPr lang="en-US" sz="1200" dirty="0">
              <a:latin typeface="Lucida Sans" charset="0"/>
              <a:sym typeface="Symbol" charset="2"/>
            </a:endParaRPr>
          </a:p>
          <a:p>
            <a:pPr>
              <a:lnSpc>
                <a:spcPct val="80000"/>
              </a:lnSpc>
            </a:pPr>
            <a:endParaRPr lang="en-US" dirty="0">
              <a:latin typeface="Lucida Sans" charset="0"/>
              <a:sym typeface="Symbol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Century Gothic" charset="0"/>
                <a:sym typeface="Symbol" charset="2"/>
              </a:rPr>
              <a:t>General Example: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b="1" i="1" dirty="0">
                <a:solidFill>
                  <a:schemeClr val="accent2"/>
                </a:solidFill>
                <a:latin typeface="Times" charset="0"/>
              </a:rPr>
              <a:t>	</a:t>
            </a:r>
            <a:endParaRPr lang="en-US" sz="1200" dirty="0">
              <a:latin typeface="Times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dirty="0">
              <a:latin typeface="Century Gothic" charset="0"/>
              <a:sym typeface="Symbol" charset="2"/>
            </a:endParaRPr>
          </a:p>
        </p:txBody>
      </p:sp>
      <p:sp>
        <p:nvSpPr>
          <p:cNvPr id="25606" name="AutoShape 1028"/>
          <p:cNvSpPr>
            <a:spLocks/>
          </p:cNvSpPr>
          <p:nvPr/>
        </p:nvSpPr>
        <p:spPr bwMode="auto">
          <a:xfrm>
            <a:off x="5257800" y="2590800"/>
            <a:ext cx="76200" cy="762000"/>
          </a:xfrm>
          <a:prstGeom prst="rightBrace">
            <a:avLst>
              <a:gd name="adj1" fmla="val 83333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7" name="Text Box 1029"/>
          <p:cNvSpPr txBox="1">
            <a:spLocks noChangeArrowheads="1"/>
          </p:cNvSpPr>
          <p:nvPr/>
        </p:nvSpPr>
        <p:spPr bwMode="auto">
          <a:xfrm>
            <a:off x="914400" y="4191000"/>
            <a:ext cx="5486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latin typeface="Lucida Sans" charset="0"/>
              </a:rPr>
              <a:t>MAX(MIN)           </a:t>
            </a:r>
            <a:r>
              <a:rPr lang="en-US" sz="1200" b="1" i="1" dirty="0">
                <a:latin typeface="Lucida Sans" charset="0"/>
              </a:rPr>
              <a:t>c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+ c</a:t>
            </a:r>
            <a:r>
              <a:rPr lang="en-US" sz="1200" b="1" i="1" baseline="-25000" dirty="0">
                <a:latin typeface="Lucida Sans" charset="0"/>
              </a:rPr>
              <a:t>2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2</a:t>
            </a:r>
            <a:r>
              <a:rPr lang="en-US" sz="1200" b="1" i="1" dirty="0">
                <a:latin typeface="Lucida Sans" charset="0"/>
              </a:rPr>
              <a:t> + c</a:t>
            </a:r>
            <a:r>
              <a:rPr lang="en-US" sz="1200" b="1" i="1" baseline="-25000" dirty="0">
                <a:latin typeface="Lucida Sans" charset="0"/>
              </a:rPr>
              <a:t>3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3</a:t>
            </a:r>
            <a:r>
              <a:rPr lang="en-US" sz="1200" b="1" i="1" dirty="0">
                <a:latin typeface="Lucida Sans" charset="0"/>
              </a:rPr>
              <a:t> + …. +</a:t>
            </a:r>
            <a:r>
              <a:rPr lang="en-US" sz="1200" b="1" i="1" dirty="0" err="1">
                <a:latin typeface="Lucida Sans" charset="0"/>
              </a:rPr>
              <a:t>c</a:t>
            </a:r>
            <a:r>
              <a:rPr lang="en-US" sz="1200" b="1" i="1" baseline="-25000" dirty="0" err="1">
                <a:latin typeface="Lucida Sans" charset="0"/>
              </a:rPr>
              <a:t>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 err="1">
                <a:latin typeface="Lucida Sans" charset="0"/>
              </a:rPr>
              <a:t>x</a:t>
            </a:r>
            <a:r>
              <a:rPr lang="en-US" sz="1200" b="1" i="1" baseline="-25000" dirty="0" err="1">
                <a:latin typeface="Lucida Sans" charset="0"/>
              </a:rPr>
              <a:t>n</a:t>
            </a:r>
            <a:endParaRPr lang="en-US" sz="1200" b="1" baseline="-25000" dirty="0">
              <a:latin typeface="Lucida Sans" charset="0"/>
            </a:endParaRPr>
          </a:p>
          <a:p>
            <a:pPr algn="l"/>
            <a:r>
              <a:rPr lang="en-US" sz="1200" b="1" dirty="0">
                <a:latin typeface="Lucida Sans" charset="0"/>
              </a:rPr>
              <a:t>ST:	</a:t>
            </a:r>
          </a:p>
          <a:p>
            <a:pPr algn="l"/>
            <a:r>
              <a:rPr lang="en-US" sz="1200" b="1" i="1" dirty="0">
                <a:latin typeface="Lucida Sans" charset="0"/>
              </a:rPr>
              <a:t>Constraint 1:      A</a:t>
            </a:r>
            <a:r>
              <a:rPr lang="en-US" sz="1200" b="1" i="1" baseline="-25000" dirty="0">
                <a:latin typeface="Lucida Sans" charset="0"/>
              </a:rPr>
              <a:t>11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12 </a:t>
            </a:r>
            <a:r>
              <a:rPr lang="en-US" sz="1200" b="1" i="1" dirty="0">
                <a:latin typeface="Lucida Sans" charset="0"/>
              </a:rPr>
              <a:t>x</a:t>
            </a:r>
            <a:r>
              <a:rPr lang="en-US" sz="1200" b="1" i="1" baseline="-25000" dirty="0">
                <a:latin typeface="Lucida Sans" charset="0"/>
              </a:rPr>
              <a:t>2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13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3</a:t>
            </a:r>
            <a:r>
              <a:rPr lang="en-US" sz="1200" b="1" i="1" dirty="0">
                <a:latin typeface="Lucida Sans" charset="0"/>
              </a:rPr>
              <a:t> + …. +A</a:t>
            </a:r>
            <a:r>
              <a:rPr lang="en-US" sz="1200" b="1" i="1" baseline="-25000" dirty="0">
                <a:latin typeface="Lucida Sans" charset="0"/>
              </a:rPr>
              <a:t>1n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 err="1">
                <a:latin typeface="Lucida Sans" charset="0"/>
              </a:rPr>
              <a:t>x</a:t>
            </a:r>
            <a:r>
              <a:rPr lang="en-US" sz="1200" b="1" i="1" baseline="-25000" dirty="0" err="1">
                <a:latin typeface="Lucida Sans" charset="0"/>
              </a:rPr>
              <a:t>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>
                <a:latin typeface="Lucida Sans" charset="0"/>
                <a:sym typeface="Symbol" charset="2"/>
              </a:rPr>
              <a:t>&gt;</a:t>
            </a:r>
            <a:r>
              <a:rPr lang="en-US" sz="1200" b="1" i="1" dirty="0">
                <a:latin typeface="Lucida Sans" charset="0"/>
              </a:rPr>
              <a:t> (</a:t>
            </a:r>
            <a:r>
              <a:rPr lang="en-US" sz="1200" b="1" i="1" dirty="0">
                <a:latin typeface="Lucida Sans" charset="0"/>
                <a:sym typeface="Symbol" charset="2"/>
              </a:rPr>
              <a:t>≤</a:t>
            </a:r>
            <a:r>
              <a:rPr lang="en-US" sz="1200" b="1" i="1" dirty="0">
                <a:latin typeface="Lucida Sans" charset="0"/>
              </a:rPr>
              <a:t>) B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</a:t>
            </a:r>
          </a:p>
          <a:p>
            <a:pPr algn="l"/>
            <a:r>
              <a:rPr lang="en-US" sz="1200" b="1" i="1" dirty="0">
                <a:latin typeface="Lucida Sans" charset="0"/>
              </a:rPr>
              <a:t>Constraint 2:</a:t>
            </a:r>
            <a:r>
              <a:rPr lang="en-US" sz="1200" dirty="0">
                <a:latin typeface="Lucida Sans" charset="0"/>
              </a:rPr>
              <a:t>     </a:t>
            </a:r>
            <a:r>
              <a:rPr lang="en-US" sz="1200" b="1" i="1" dirty="0">
                <a:latin typeface="Lucida Sans" charset="0"/>
              </a:rPr>
              <a:t>A</a:t>
            </a:r>
            <a:r>
              <a:rPr lang="en-US" sz="1200" b="1" i="1" baseline="-25000" dirty="0">
                <a:latin typeface="Lucida Sans" charset="0"/>
              </a:rPr>
              <a:t>21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22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2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23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3</a:t>
            </a:r>
            <a:r>
              <a:rPr lang="en-US" sz="1200" b="1" i="1" dirty="0">
                <a:latin typeface="Lucida Sans" charset="0"/>
              </a:rPr>
              <a:t> + ….+ A</a:t>
            </a:r>
            <a:r>
              <a:rPr lang="en-US" sz="1200" b="1" i="1" baseline="-25000" dirty="0">
                <a:latin typeface="Lucida Sans" charset="0"/>
              </a:rPr>
              <a:t>2n </a:t>
            </a:r>
            <a:r>
              <a:rPr lang="en-US" sz="1200" b="1" i="1" dirty="0" err="1">
                <a:latin typeface="Lucida Sans" charset="0"/>
              </a:rPr>
              <a:t>x</a:t>
            </a:r>
            <a:r>
              <a:rPr lang="en-US" sz="1200" b="1" i="1" baseline="-25000" dirty="0" err="1">
                <a:latin typeface="Lucida Sans" charset="0"/>
              </a:rPr>
              <a:t>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>
                <a:latin typeface="Lucida Sans" charset="0"/>
                <a:sym typeface="Symbol" charset="2"/>
              </a:rPr>
              <a:t>&gt;</a:t>
            </a:r>
            <a:r>
              <a:rPr lang="en-US" sz="1200" b="1" i="1" dirty="0">
                <a:latin typeface="Lucida Sans" charset="0"/>
              </a:rPr>
              <a:t> (</a:t>
            </a:r>
            <a:r>
              <a:rPr lang="en-US" sz="1200" b="1" i="1" dirty="0">
                <a:latin typeface="Lucida Sans" charset="0"/>
                <a:sym typeface="Symbol" charset="2"/>
              </a:rPr>
              <a:t>≤</a:t>
            </a:r>
            <a:r>
              <a:rPr lang="en-US" sz="1200" b="1" i="1" dirty="0">
                <a:latin typeface="Lucida Sans" charset="0"/>
              </a:rPr>
              <a:t>) B</a:t>
            </a:r>
            <a:r>
              <a:rPr lang="en-US" sz="1200" b="1" i="1" baseline="-25000" dirty="0">
                <a:latin typeface="Lucida Sans" charset="0"/>
              </a:rPr>
              <a:t>2</a:t>
            </a:r>
          </a:p>
          <a:p>
            <a:pPr algn="l"/>
            <a:r>
              <a:rPr lang="en-US" sz="1200" b="1" i="1" dirty="0">
                <a:latin typeface="Lucida Sans" charset="0"/>
              </a:rPr>
              <a:t>Constraint 3:   </a:t>
            </a:r>
            <a:r>
              <a:rPr lang="en-US" sz="1200" dirty="0">
                <a:latin typeface="Lucida Sans" charset="0"/>
              </a:rPr>
              <a:t> </a:t>
            </a:r>
            <a:r>
              <a:rPr lang="en-US" sz="1200" b="1" i="1" dirty="0">
                <a:latin typeface="Lucida Sans" charset="0"/>
              </a:rPr>
              <a:t>A</a:t>
            </a:r>
            <a:r>
              <a:rPr lang="en-US" sz="1200" b="1" i="1" baseline="-25000" dirty="0">
                <a:latin typeface="Lucida Sans" charset="0"/>
              </a:rPr>
              <a:t>31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32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2 </a:t>
            </a:r>
            <a:r>
              <a:rPr lang="en-US" sz="1200" b="1" i="1" dirty="0">
                <a:latin typeface="Lucida Sans" charset="0"/>
              </a:rPr>
              <a:t>+ A</a:t>
            </a:r>
            <a:r>
              <a:rPr lang="en-US" sz="1200" b="1" i="1" baseline="-25000" dirty="0">
                <a:latin typeface="Lucida Sans" charset="0"/>
              </a:rPr>
              <a:t>33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3</a:t>
            </a:r>
            <a:r>
              <a:rPr lang="en-US" sz="1200" b="1" i="1" dirty="0">
                <a:latin typeface="Lucida Sans" charset="0"/>
              </a:rPr>
              <a:t> + …. +A</a:t>
            </a:r>
            <a:r>
              <a:rPr lang="en-US" sz="1200" b="1" i="1" baseline="-25000" dirty="0">
                <a:latin typeface="Lucida Sans" charset="0"/>
              </a:rPr>
              <a:t>3n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 err="1">
                <a:latin typeface="Lucida Sans" charset="0"/>
              </a:rPr>
              <a:t>x</a:t>
            </a:r>
            <a:r>
              <a:rPr lang="en-US" sz="1200" b="1" i="1" baseline="-25000" dirty="0" err="1">
                <a:latin typeface="Lucida Sans" charset="0"/>
              </a:rPr>
              <a:t>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>
                <a:latin typeface="Lucida Sans" charset="0"/>
                <a:sym typeface="Symbol" charset="2"/>
              </a:rPr>
              <a:t>&gt;</a:t>
            </a:r>
            <a:r>
              <a:rPr lang="en-US" sz="1200" b="1" i="1" dirty="0">
                <a:latin typeface="Lucida Sans" charset="0"/>
              </a:rPr>
              <a:t> (</a:t>
            </a:r>
            <a:r>
              <a:rPr lang="en-US" sz="1200" b="1" i="1" dirty="0">
                <a:latin typeface="Lucida Sans" charset="0"/>
                <a:sym typeface="Symbol" charset="2"/>
              </a:rPr>
              <a:t>≤</a:t>
            </a:r>
            <a:r>
              <a:rPr lang="en-US" sz="1200" b="1" i="1" dirty="0">
                <a:latin typeface="Lucida Sans" charset="0"/>
              </a:rPr>
              <a:t>) B</a:t>
            </a:r>
            <a:r>
              <a:rPr lang="en-US" sz="1200" b="1" i="1" baseline="-25000" dirty="0">
                <a:latin typeface="Lucida Sans" charset="0"/>
              </a:rPr>
              <a:t>3</a:t>
            </a:r>
          </a:p>
          <a:p>
            <a:pPr algn="l"/>
            <a:r>
              <a:rPr lang="en-US" sz="1200" b="1" i="1" dirty="0">
                <a:latin typeface="Lucida Sans" charset="0"/>
              </a:rPr>
              <a:t>	      ………</a:t>
            </a:r>
          </a:p>
          <a:p>
            <a:pPr algn="l"/>
            <a:r>
              <a:rPr lang="en-US" sz="1200" b="1" i="1" dirty="0">
                <a:latin typeface="Lucida Sans" charset="0"/>
              </a:rPr>
              <a:t>	      ………</a:t>
            </a:r>
          </a:p>
          <a:p>
            <a:pPr algn="l"/>
            <a:r>
              <a:rPr lang="en-US" sz="1200" b="1" i="1" dirty="0">
                <a:latin typeface="Lucida Sans" charset="0"/>
              </a:rPr>
              <a:t>Constraint </a:t>
            </a:r>
            <a:r>
              <a:rPr lang="en-US" sz="1200" b="1" i="1" dirty="0" err="1">
                <a:latin typeface="Lucida Sans" charset="0"/>
              </a:rPr>
              <a:t>m</a:t>
            </a:r>
            <a:r>
              <a:rPr lang="en-US" sz="1200" b="1" i="1" dirty="0">
                <a:latin typeface="Lucida Sans" charset="0"/>
              </a:rPr>
              <a:t>:</a:t>
            </a:r>
            <a:r>
              <a:rPr lang="en-US" sz="1200" dirty="0">
                <a:latin typeface="Lucida Sans" charset="0"/>
              </a:rPr>
              <a:t>   </a:t>
            </a:r>
            <a:r>
              <a:rPr lang="en-US" sz="1200" b="1" i="1" dirty="0">
                <a:latin typeface="Lucida Sans" charset="0"/>
              </a:rPr>
              <a:t>A</a:t>
            </a:r>
            <a:r>
              <a:rPr lang="en-US" sz="1200" b="1" i="1" baseline="-25000" dirty="0">
                <a:latin typeface="Lucida Sans" charset="0"/>
              </a:rPr>
              <a:t>m1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1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m2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2</a:t>
            </a:r>
            <a:r>
              <a:rPr lang="en-US" sz="1200" b="1" i="1" dirty="0">
                <a:latin typeface="Lucida Sans" charset="0"/>
              </a:rPr>
              <a:t> + A</a:t>
            </a:r>
            <a:r>
              <a:rPr lang="en-US" sz="1200" b="1" i="1" baseline="-25000" dirty="0">
                <a:latin typeface="Lucida Sans" charset="0"/>
              </a:rPr>
              <a:t>m3</a:t>
            </a:r>
            <a:r>
              <a:rPr lang="en-US" sz="1200" b="1" i="1" dirty="0">
                <a:latin typeface="Lucida Sans" charset="0"/>
              </a:rPr>
              <a:t> x</a:t>
            </a:r>
            <a:r>
              <a:rPr lang="en-US" sz="1200" b="1" i="1" baseline="-25000" dirty="0">
                <a:latin typeface="Lucida Sans" charset="0"/>
              </a:rPr>
              <a:t>3</a:t>
            </a:r>
            <a:r>
              <a:rPr lang="en-US" sz="1200" b="1" i="1" dirty="0">
                <a:latin typeface="Lucida Sans" charset="0"/>
              </a:rPr>
              <a:t> +…+</a:t>
            </a:r>
            <a:r>
              <a:rPr lang="en-US" sz="1200" b="1" i="1" dirty="0" err="1">
                <a:latin typeface="Lucida Sans" charset="0"/>
              </a:rPr>
              <a:t>A</a:t>
            </a:r>
            <a:r>
              <a:rPr lang="en-US" sz="1200" b="1" i="1" baseline="-25000" dirty="0" err="1">
                <a:latin typeface="Lucida Sans" charset="0"/>
              </a:rPr>
              <a:t>mn</a:t>
            </a:r>
            <a:r>
              <a:rPr lang="en-US" sz="1200" b="1" i="1" baseline="-25000" dirty="0">
                <a:latin typeface="Lucida Sans" charset="0"/>
              </a:rPr>
              <a:t> </a:t>
            </a:r>
            <a:r>
              <a:rPr lang="en-US" sz="1200" b="1" i="1" dirty="0" err="1">
                <a:latin typeface="Lucida Sans" charset="0"/>
              </a:rPr>
              <a:t>x</a:t>
            </a:r>
            <a:r>
              <a:rPr lang="en-US" sz="1200" b="1" i="1" baseline="-25000" dirty="0" err="1">
                <a:latin typeface="Lucida Sans" charset="0"/>
              </a:rPr>
              <a:t>n</a:t>
            </a:r>
            <a:r>
              <a:rPr lang="en-US" sz="1200" b="1" i="1" dirty="0">
                <a:latin typeface="Lucida Sans" charset="0"/>
              </a:rPr>
              <a:t> </a:t>
            </a:r>
            <a:r>
              <a:rPr lang="en-US" sz="1200" b="1" i="1" dirty="0">
                <a:latin typeface="Lucida Sans" charset="0"/>
                <a:sym typeface="Symbol" charset="2"/>
              </a:rPr>
              <a:t>&gt;</a:t>
            </a:r>
            <a:r>
              <a:rPr lang="en-US" sz="1200" b="1" i="1" dirty="0">
                <a:latin typeface="Lucida Sans" charset="0"/>
              </a:rPr>
              <a:t> (</a:t>
            </a:r>
            <a:r>
              <a:rPr lang="en-US" sz="1200" b="1" i="1" dirty="0">
                <a:latin typeface="Lucida Sans" charset="0"/>
                <a:sym typeface="Symbol" charset="2"/>
              </a:rPr>
              <a:t>≤</a:t>
            </a:r>
            <a:r>
              <a:rPr lang="en-US" sz="1200" b="1" i="1" dirty="0">
                <a:latin typeface="Lucida Sans" charset="0"/>
              </a:rPr>
              <a:t>) </a:t>
            </a:r>
            <a:r>
              <a:rPr lang="en-US" sz="1200" b="1" i="1" dirty="0" err="1">
                <a:latin typeface="Lucida Sans" charset="0"/>
              </a:rPr>
              <a:t>B</a:t>
            </a:r>
            <a:r>
              <a:rPr lang="en-US" sz="1200" b="1" i="1" baseline="-25000" dirty="0" err="1">
                <a:latin typeface="Lucida Sans" charset="0"/>
              </a:rPr>
              <a:t>m</a:t>
            </a:r>
            <a:endParaRPr lang="en-US" sz="1200" b="1" baseline="-25000" dirty="0">
              <a:latin typeface="Lucida Sans" charset="0"/>
            </a:endParaRPr>
          </a:p>
          <a:p>
            <a:pPr algn="l"/>
            <a:r>
              <a:rPr lang="en-US" sz="1200" b="1" i="1" dirty="0">
                <a:latin typeface="Lucida Sans" charset="0"/>
              </a:rPr>
              <a:t>                         </a:t>
            </a:r>
          </a:p>
          <a:p>
            <a:pPr algn="l"/>
            <a:r>
              <a:rPr lang="en-US" sz="1200" b="1" i="1" dirty="0">
                <a:latin typeface="Lucida Sans" charset="0"/>
              </a:rPr>
              <a:t>                        x</a:t>
            </a:r>
            <a:r>
              <a:rPr lang="en-US" sz="1200" b="1" i="1" baseline="-25000" dirty="0">
                <a:latin typeface="Lucida Sans" charset="0"/>
              </a:rPr>
              <a:t>i</a:t>
            </a:r>
            <a:r>
              <a:rPr lang="en-US" sz="1200" b="1" i="1" dirty="0">
                <a:latin typeface="Lucida Sans" charset="0"/>
              </a:rPr>
              <a:t>'s ≥ 0 or unrestricted</a:t>
            </a:r>
            <a:endParaRPr lang="en-US" sz="1200" dirty="0">
              <a:latin typeface="Lucida Sans" charset="0"/>
            </a:endParaRPr>
          </a:p>
        </p:txBody>
      </p:sp>
      <p:pic>
        <p:nvPicPr>
          <p:cNvPr id="25608" name="Picture 103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33400" y="6248400"/>
            <a:ext cx="6019800" cy="2051050"/>
          </a:xfrm>
          <a:noFill/>
        </p:spPr>
      </p:pic>
      <p:sp>
        <p:nvSpPr>
          <p:cNvPr id="1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514350" y="8229600"/>
            <a:ext cx="1428750" cy="609600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fld id="{231310C4-8A60-0142-8D04-C9A959E8D449}" type="datetime1">
              <a:rPr lang="en-US" sz="1600" smtClean="0"/>
              <a:pPr marL="342900" indent="-342900">
                <a:spcBef>
                  <a:spcPct val="20000"/>
                </a:spcBef>
              </a:pPr>
              <a:t>4/1/2022</a:t>
            </a:fld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4018</TotalTime>
  <Words>1280</Words>
  <Application>Microsoft Office PowerPoint</Application>
  <PresentationFormat>On-screen Show (4:3)</PresentationFormat>
  <Paragraphs>213</Paragraphs>
  <Slides>11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ＭＳ Ｐゴシック</vt:lpstr>
      <vt:lpstr>Century Gothic</vt:lpstr>
      <vt:lpstr>Comic Sans MS</vt:lpstr>
      <vt:lpstr>Impact</vt:lpstr>
      <vt:lpstr>Lucida Sans</vt:lpstr>
      <vt:lpstr>Math1</vt:lpstr>
      <vt:lpstr>Symbol</vt:lpstr>
      <vt:lpstr>Times</vt:lpstr>
      <vt:lpstr>Times New Roman</vt:lpstr>
      <vt:lpstr>Default Design</vt:lpstr>
      <vt:lpstr>Document</vt:lpstr>
      <vt:lpstr>Equation</vt:lpstr>
      <vt:lpstr>Solving the Diet Problem</vt:lpstr>
      <vt:lpstr>Revisit McDonald’s Diet Problem</vt:lpstr>
      <vt:lpstr>McDonald’s Diet Problem Formulation</vt:lpstr>
      <vt:lpstr>McDonald’s Diet Problem Formulation</vt:lpstr>
      <vt:lpstr>McDonald’s Problem – Spreadsheet Setup</vt:lpstr>
      <vt:lpstr>McDonald’s Problem – Use of Solver</vt:lpstr>
      <vt:lpstr>Answer Report-Binding &amp; Slack Constraints</vt:lpstr>
      <vt:lpstr>Alternative Spreadsheet Setup</vt:lpstr>
      <vt:lpstr>Linear Programming Terms</vt:lpstr>
      <vt:lpstr>Linear Programming Definition</vt:lpstr>
      <vt:lpstr>Example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OMM 230 Management Science</dc:title>
  <dc:creator>Olin School of Business</dc:creator>
  <cp:lastModifiedBy>Danko Turcic</cp:lastModifiedBy>
  <cp:revision>287</cp:revision>
  <cp:lastPrinted>2008-09-05T19:34:50Z</cp:lastPrinted>
  <dcterms:created xsi:type="dcterms:W3CDTF">2008-09-09T15:10:54Z</dcterms:created>
  <dcterms:modified xsi:type="dcterms:W3CDTF">2022-04-01T22:10:24Z</dcterms:modified>
</cp:coreProperties>
</file>