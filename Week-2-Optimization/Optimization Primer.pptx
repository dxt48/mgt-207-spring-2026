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handoutMasterIdLst>
    <p:handoutMasterId r:id="rId49"/>
  </p:handoutMasterIdLst>
  <p:sldIdLst>
    <p:sldId id="256" r:id="rId2"/>
    <p:sldId id="431" r:id="rId3"/>
    <p:sldId id="451" r:id="rId4"/>
    <p:sldId id="436" r:id="rId5"/>
    <p:sldId id="372" r:id="rId6"/>
    <p:sldId id="433" r:id="rId7"/>
    <p:sldId id="261" r:id="rId8"/>
    <p:sldId id="262" r:id="rId9"/>
    <p:sldId id="348" r:id="rId10"/>
    <p:sldId id="264" r:id="rId11"/>
    <p:sldId id="265" r:id="rId12"/>
    <p:sldId id="434" r:id="rId13"/>
    <p:sldId id="269" r:id="rId14"/>
    <p:sldId id="288" r:id="rId15"/>
    <p:sldId id="437" r:id="rId16"/>
    <p:sldId id="438" r:id="rId17"/>
    <p:sldId id="439" r:id="rId18"/>
    <p:sldId id="449" r:id="rId19"/>
    <p:sldId id="375" r:id="rId20"/>
    <p:sldId id="376" r:id="rId21"/>
    <p:sldId id="377" r:id="rId22"/>
    <p:sldId id="378" r:id="rId23"/>
    <p:sldId id="379" r:id="rId24"/>
    <p:sldId id="369" r:id="rId25"/>
    <p:sldId id="310" r:id="rId26"/>
    <p:sldId id="273" r:id="rId27"/>
    <p:sldId id="311" r:id="rId28"/>
    <p:sldId id="312" r:id="rId29"/>
    <p:sldId id="366" r:id="rId30"/>
    <p:sldId id="352" r:id="rId31"/>
    <p:sldId id="299" r:id="rId32"/>
    <p:sldId id="342" r:id="rId33"/>
    <p:sldId id="448" r:id="rId34"/>
    <p:sldId id="450" r:id="rId35"/>
    <p:sldId id="440" r:id="rId36"/>
    <p:sldId id="441" r:id="rId37"/>
    <p:sldId id="263" r:id="rId38"/>
    <p:sldId id="267" r:id="rId39"/>
    <p:sldId id="444" r:id="rId40"/>
    <p:sldId id="445" r:id="rId41"/>
    <p:sldId id="270" r:id="rId42"/>
    <p:sldId id="271" r:id="rId43"/>
    <p:sldId id="272" r:id="rId44"/>
    <p:sldId id="446" r:id="rId45"/>
    <p:sldId id="274" r:id="rId46"/>
    <p:sldId id="447" r:id="rId47"/>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9900"/>
    <a:srgbClr val="000099"/>
    <a:srgbClr val="0033CC"/>
    <a:srgbClr val="FF6600"/>
    <a:srgbClr val="FFFFFF"/>
    <a:srgbClr val="5A9AD6"/>
    <a:srgbClr val="EFEFF7"/>
    <a:srgbClr val="D6DFEF"/>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093" autoAdjust="0"/>
    <p:restoredTop sz="95957" autoAdjust="0"/>
  </p:normalViewPr>
  <p:slideViewPr>
    <p:cSldViewPr snapToGrid="0" showGuides="1">
      <p:cViewPr varScale="1">
        <p:scale>
          <a:sx n="222" d="100"/>
          <a:sy n="222" d="100"/>
        </p:scale>
        <p:origin x="2928" y="208"/>
      </p:cViewPr>
      <p:guideLst>
        <p:guide orient="horz" pos="2160"/>
        <p:guide pos="2880"/>
      </p:guideLst>
    </p:cSldViewPr>
  </p:slideViewPr>
  <p:notesTextViewPr>
    <p:cViewPr>
      <p:scale>
        <a:sx n="1" d="1"/>
        <a:sy n="1" d="1"/>
      </p:scale>
      <p:origin x="0" y="0"/>
    </p:cViewPr>
  </p:notesTextViewPr>
  <p:sorterViewPr>
    <p:cViewPr>
      <p:scale>
        <a:sx n="71" d="100"/>
        <a:sy n="71" d="100"/>
      </p:scale>
      <p:origin x="0" y="-372"/>
    </p:cViewPr>
  </p:sorterViewPr>
  <p:notesViewPr>
    <p:cSldViewPr snapToGrid="0" showGuides="1">
      <p:cViewPr varScale="1">
        <p:scale>
          <a:sx n="76" d="100"/>
          <a:sy n="76" d="100"/>
        </p:scale>
        <p:origin x="1896" y="7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Footer Placeholder 3"/>
          <p:cNvSpPr>
            <a:spLocks noGrp="1"/>
          </p:cNvSpPr>
          <p:nvPr>
            <p:ph type="ftr" sz="quarter" idx="2"/>
          </p:nvPr>
        </p:nvSpPr>
        <p:spPr>
          <a:xfrm>
            <a:off x="2" y="8842722"/>
            <a:ext cx="3043649" cy="466378"/>
          </a:xfrm>
          <a:prstGeom prst="rect">
            <a:avLst/>
          </a:prstGeom>
        </p:spPr>
        <p:txBody>
          <a:bodyPr vert="horz" lIns="88252" tIns="44127" rIns="88252" bIns="44127" rtlCol="0" anchor="b"/>
          <a:lstStyle>
            <a:lvl1pPr algn="l">
              <a:defRPr sz="1200"/>
            </a:lvl1pPr>
          </a:lstStyle>
          <a:p>
            <a:endParaRPr lang="en-US"/>
          </a:p>
        </p:txBody>
      </p:sp>
      <p:sp>
        <p:nvSpPr>
          <p:cNvPr id="5" name="Slide Number Placeholder 4"/>
          <p:cNvSpPr>
            <a:spLocks noGrp="1"/>
          </p:cNvSpPr>
          <p:nvPr>
            <p:ph type="sldNum" sz="quarter" idx="3"/>
          </p:nvPr>
        </p:nvSpPr>
        <p:spPr>
          <a:xfrm>
            <a:off x="3977929" y="8842722"/>
            <a:ext cx="3043649" cy="466378"/>
          </a:xfrm>
          <a:prstGeom prst="rect">
            <a:avLst/>
          </a:prstGeom>
        </p:spPr>
        <p:txBody>
          <a:bodyPr vert="horz" lIns="88252" tIns="44127" rIns="88252" bIns="44127" rtlCol="0" anchor="b"/>
          <a:lstStyle>
            <a:lvl1pPr algn="r">
              <a:defRPr sz="1200"/>
            </a:lvl1pPr>
          </a:lstStyle>
          <a:p>
            <a:fld id="{BD956FA9-E352-42FF-B6F5-4BE1D042E992}" type="slidenum">
              <a:rPr lang="en-US" smtClean="0"/>
              <a:t>‹#›</a:t>
            </a:fld>
            <a:endParaRPr lang="en-US"/>
          </a:p>
        </p:txBody>
      </p:sp>
    </p:spTree>
    <p:extLst>
      <p:ext uri="{BB962C8B-B14F-4D97-AF65-F5344CB8AC3E}">
        <p14:creationId xmlns:p14="http://schemas.microsoft.com/office/powerpoint/2010/main" val="1234383145"/>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043343" cy="467071"/>
          </a:xfrm>
          <a:prstGeom prst="rect">
            <a:avLst/>
          </a:prstGeom>
        </p:spPr>
        <p:txBody>
          <a:bodyPr vert="horz" lIns="93291" tIns="46647" rIns="93291" bIns="46647" rtlCol="0"/>
          <a:lstStyle>
            <a:lvl1pPr algn="l">
              <a:defRPr sz="1300"/>
            </a:lvl1pPr>
          </a:lstStyle>
          <a:p>
            <a:r>
              <a:rPr lang="it-IT"/>
              <a:t>MGT 207 Operations Management</a:t>
            </a:r>
            <a:endParaRPr lang="en-US"/>
          </a:p>
        </p:txBody>
      </p:sp>
      <p:sp>
        <p:nvSpPr>
          <p:cNvPr id="3" name="Date Placeholder 2"/>
          <p:cNvSpPr>
            <a:spLocks noGrp="1"/>
          </p:cNvSpPr>
          <p:nvPr>
            <p:ph type="dt" idx="1"/>
          </p:nvPr>
        </p:nvSpPr>
        <p:spPr>
          <a:xfrm>
            <a:off x="3978131" y="3"/>
            <a:ext cx="3043343" cy="467071"/>
          </a:xfrm>
          <a:prstGeom prst="rect">
            <a:avLst/>
          </a:prstGeom>
        </p:spPr>
        <p:txBody>
          <a:bodyPr vert="horz" lIns="93291" tIns="46647" rIns="93291" bIns="46647" rtlCol="0"/>
          <a:lstStyle>
            <a:lvl1pPr algn="r">
              <a:defRPr sz="1300"/>
            </a:lvl1pPr>
          </a:lstStyle>
          <a:p>
            <a:r>
              <a:rPr lang="en-US"/>
              <a:t>Dong</a:t>
            </a:r>
          </a:p>
        </p:txBody>
      </p:sp>
      <p:sp>
        <p:nvSpPr>
          <p:cNvPr id="4" name="Slide Image Placeholder 3"/>
          <p:cNvSpPr>
            <a:spLocks noGrp="1" noRot="1" noChangeAspect="1"/>
          </p:cNvSpPr>
          <p:nvPr>
            <p:ph type="sldImg" idx="2"/>
          </p:nvPr>
        </p:nvSpPr>
        <p:spPr>
          <a:xfrm>
            <a:off x="1417638" y="1163638"/>
            <a:ext cx="4187825" cy="3141662"/>
          </a:xfrm>
          <a:prstGeom prst="rect">
            <a:avLst/>
          </a:prstGeom>
          <a:noFill/>
          <a:ln w="12700">
            <a:solidFill>
              <a:prstClr val="black"/>
            </a:solidFill>
          </a:ln>
        </p:spPr>
        <p:txBody>
          <a:bodyPr vert="horz" lIns="93291" tIns="46647" rIns="93291" bIns="46647" rtlCol="0" anchor="ctr"/>
          <a:lstStyle/>
          <a:p>
            <a:endParaRPr lang="en-US"/>
          </a:p>
        </p:txBody>
      </p:sp>
      <p:sp>
        <p:nvSpPr>
          <p:cNvPr id="5" name="Notes Placeholder 4"/>
          <p:cNvSpPr>
            <a:spLocks noGrp="1"/>
          </p:cNvSpPr>
          <p:nvPr>
            <p:ph type="body" sz="quarter" idx="3"/>
          </p:nvPr>
        </p:nvSpPr>
        <p:spPr>
          <a:xfrm>
            <a:off x="702310" y="4480006"/>
            <a:ext cx="5618480" cy="3665459"/>
          </a:xfrm>
          <a:prstGeom prst="rect">
            <a:avLst/>
          </a:prstGeom>
        </p:spPr>
        <p:txBody>
          <a:bodyPr vert="horz" lIns="93291" tIns="46647" rIns="93291" bIns="4664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43343" cy="467070"/>
          </a:xfrm>
          <a:prstGeom prst="rect">
            <a:avLst/>
          </a:prstGeom>
        </p:spPr>
        <p:txBody>
          <a:bodyPr vert="horz" lIns="93291" tIns="46647" rIns="93291" bIns="46647" rtlCol="0" anchor="b"/>
          <a:lstStyle>
            <a:lvl1pPr algn="l">
              <a:defRPr sz="1300"/>
            </a:lvl1pPr>
          </a:lstStyle>
          <a:p>
            <a:endParaRPr lang="en-US"/>
          </a:p>
        </p:txBody>
      </p:sp>
      <p:sp>
        <p:nvSpPr>
          <p:cNvPr id="7" name="Slide Number Placeholder 6"/>
          <p:cNvSpPr>
            <a:spLocks noGrp="1"/>
          </p:cNvSpPr>
          <p:nvPr>
            <p:ph type="sldNum" sz="quarter" idx="5"/>
          </p:nvPr>
        </p:nvSpPr>
        <p:spPr>
          <a:xfrm>
            <a:off x="3978131" y="8842030"/>
            <a:ext cx="3043343" cy="467070"/>
          </a:xfrm>
          <a:prstGeom prst="rect">
            <a:avLst/>
          </a:prstGeom>
        </p:spPr>
        <p:txBody>
          <a:bodyPr vert="horz" lIns="93291" tIns="46647" rIns="93291" bIns="46647" rtlCol="0" anchor="b"/>
          <a:lstStyle>
            <a:lvl1pPr algn="r">
              <a:defRPr sz="1300"/>
            </a:lvl1pPr>
          </a:lstStyle>
          <a:p>
            <a:fld id="{11CC5A2E-5407-445B-A281-70C90F3EB008}" type="slidenum">
              <a:rPr lang="en-US" smtClean="0"/>
              <a:t>‹#›</a:t>
            </a:fld>
            <a:endParaRPr lang="en-US"/>
          </a:p>
        </p:txBody>
      </p:sp>
    </p:spTree>
    <p:extLst>
      <p:ext uri="{BB962C8B-B14F-4D97-AF65-F5344CB8AC3E}">
        <p14:creationId xmlns:p14="http://schemas.microsoft.com/office/powerpoint/2010/main" val="2975312987"/>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7638" y="1163638"/>
            <a:ext cx="4187825" cy="3141662"/>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r>
              <a:rPr lang="it-IT"/>
              <a:t>MGT 207 Operations Management</a:t>
            </a:r>
            <a:endParaRPr lang="en-US"/>
          </a:p>
        </p:txBody>
      </p:sp>
      <p:sp>
        <p:nvSpPr>
          <p:cNvPr id="5" name="Slide Number Placeholder 4"/>
          <p:cNvSpPr>
            <a:spLocks noGrp="1"/>
          </p:cNvSpPr>
          <p:nvPr>
            <p:ph type="sldNum" sz="quarter" idx="11"/>
          </p:nvPr>
        </p:nvSpPr>
        <p:spPr/>
        <p:txBody>
          <a:bodyPr/>
          <a:lstStyle/>
          <a:p>
            <a:fld id="{11CC5A2E-5407-445B-A281-70C90F3EB008}" type="slidenum">
              <a:rPr lang="en-US" smtClean="0"/>
              <a:t>1</a:t>
            </a:fld>
            <a:endParaRPr lang="en-US"/>
          </a:p>
        </p:txBody>
      </p:sp>
      <p:sp>
        <p:nvSpPr>
          <p:cNvPr id="6" name="Date Placeholder 5"/>
          <p:cNvSpPr>
            <a:spLocks noGrp="1"/>
          </p:cNvSpPr>
          <p:nvPr>
            <p:ph type="dt" idx="12"/>
          </p:nvPr>
        </p:nvSpPr>
        <p:spPr/>
        <p:txBody>
          <a:bodyPr/>
          <a:lstStyle/>
          <a:p>
            <a:r>
              <a:rPr lang="en-US"/>
              <a:t>Dong</a:t>
            </a:r>
          </a:p>
        </p:txBody>
      </p:sp>
      <p:sp>
        <p:nvSpPr>
          <p:cNvPr id="7" name="Footer Placeholder 6"/>
          <p:cNvSpPr>
            <a:spLocks noGrp="1"/>
          </p:cNvSpPr>
          <p:nvPr>
            <p:ph type="ftr" sz="quarter" idx="13"/>
          </p:nvPr>
        </p:nvSpPr>
        <p:spPr/>
        <p:txBody>
          <a:bodyPr/>
          <a:lstStyle/>
          <a:p>
            <a:endParaRPr lang="en-US"/>
          </a:p>
        </p:txBody>
      </p:sp>
    </p:spTree>
    <p:extLst>
      <p:ext uri="{BB962C8B-B14F-4D97-AF65-F5344CB8AC3E}">
        <p14:creationId xmlns:p14="http://schemas.microsoft.com/office/powerpoint/2010/main" val="550933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98600" y="1200150"/>
            <a:ext cx="4318000" cy="324008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C97B350A-C7D8-4A2D-AF2C-0D96FD0F9A08}" type="slidenum">
              <a:rPr lang="en-US" smtClean="0"/>
              <a:pPr>
                <a:defRPr/>
              </a:pPr>
              <a:t>4</a:t>
            </a:fld>
            <a:endParaRPr lang="en-US" dirty="0"/>
          </a:p>
        </p:txBody>
      </p:sp>
      <p:sp>
        <p:nvSpPr>
          <p:cNvPr id="5" name="Header Placeholder 4">
            <a:extLst>
              <a:ext uri="{FF2B5EF4-FFF2-40B4-BE49-F238E27FC236}">
                <a16:creationId xmlns:a16="http://schemas.microsoft.com/office/drawing/2014/main" id="{271348E6-F1D1-4EB7-828B-EE7AAC27F788}"/>
              </a:ext>
            </a:extLst>
          </p:cNvPr>
          <p:cNvSpPr>
            <a:spLocks noGrp="1"/>
          </p:cNvSpPr>
          <p:nvPr>
            <p:ph type="hdr" sz="quarter"/>
          </p:nvPr>
        </p:nvSpPr>
        <p:spPr/>
        <p:txBody>
          <a:bodyPr/>
          <a:lstStyle/>
          <a:p>
            <a:r>
              <a:rPr lang="it-IT"/>
              <a:t>MGT 207 Operations Management</a:t>
            </a:r>
            <a:endParaRPr lang="en-US"/>
          </a:p>
        </p:txBody>
      </p:sp>
    </p:spTree>
    <p:extLst>
      <p:ext uri="{BB962C8B-B14F-4D97-AF65-F5344CB8AC3E}">
        <p14:creationId xmlns:p14="http://schemas.microsoft.com/office/powerpoint/2010/main" val="2459076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98600" y="1200150"/>
            <a:ext cx="4318000" cy="3240088"/>
          </a:xfrm>
        </p:spPr>
      </p:sp>
      <p:sp>
        <p:nvSpPr>
          <p:cNvPr id="3" name="Notes Placeholder 2"/>
          <p:cNvSpPr>
            <a:spLocks noGrp="1"/>
          </p:cNvSpPr>
          <p:nvPr>
            <p:ph type="body" idx="1"/>
          </p:nvPr>
        </p:nvSpPr>
        <p:spPr/>
        <p:txBody>
          <a:bodyPr/>
          <a:lstStyle/>
          <a:p>
            <a:pPr marL="171630" indent="-171630">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C6C94466-F8F9-4534-96A1-31FE96EC2AE3}" type="slidenum">
              <a:rPr lang="en-US" smtClean="0"/>
              <a:pPr>
                <a:defRPr/>
              </a:pPr>
              <a:t>7</a:t>
            </a:fld>
            <a:endParaRPr lang="en-US" dirty="0"/>
          </a:p>
        </p:txBody>
      </p:sp>
      <p:sp>
        <p:nvSpPr>
          <p:cNvPr id="5" name="Header Placeholder 4">
            <a:extLst>
              <a:ext uri="{FF2B5EF4-FFF2-40B4-BE49-F238E27FC236}">
                <a16:creationId xmlns:a16="http://schemas.microsoft.com/office/drawing/2014/main" id="{75CE65E2-5872-443A-BED6-06122DBFAC74}"/>
              </a:ext>
            </a:extLst>
          </p:cNvPr>
          <p:cNvSpPr>
            <a:spLocks noGrp="1"/>
          </p:cNvSpPr>
          <p:nvPr>
            <p:ph type="hdr" sz="quarter"/>
          </p:nvPr>
        </p:nvSpPr>
        <p:spPr/>
        <p:txBody>
          <a:bodyPr/>
          <a:lstStyle/>
          <a:p>
            <a:r>
              <a:rPr lang="it-IT"/>
              <a:t>MGT 207 Operations Management</a:t>
            </a:r>
            <a:endParaRPr lang="en-US"/>
          </a:p>
        </p:txBody>
      </p:sp>
    </p:spTree>
    <p:extLst>
      <p:ext uri="{BB962C8B-B14F-4D97-AF65-F5344CB8AC3E}">
        <p14:creationId xmlns:p14="http://schemas.microsoft.com/office/powerpoint/2010/main" val="1531996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6B7BB0A6-8296-4CBE-AB36-4CAA25D5D8EA}" type="slidenum">
              <a:rPr lang="en-US" smtClean="0"/>
              <a:pPr/>
              <a:t>8</a:t>
            </a:fld>
            <a:endParaRPr lang="en-US" dirty="0"/>
          </a:p>
        </p:txBody>
      </p:sp>
      <p:sp>
        <p:nvSpPr>
          <p:cNvPr id="22531" name="Rectangle 2"/>
          <p:cNvSpPr>
            <a:spLocks noGrp="1" noRot="1" noChangeAspect="1" noChangeArrowheads="1" noTextEdit="1"/>
          </p:cNvSpPr>
          <p:nvPr>
            <p:ph type="sldImg"/>
          </p:nvPr>
        </p:nvSpPr>
        <p:spPr>
          <a:xfrm>
            <a:off x="1498600" y="1200150"/>
            <a:ext cx="4318000" cy="3240088"/>
          </a:xfrm>
          <a:ln/>
        </p:spPr>
      </p:sp>
      <p:sp>
        <p:nvSpPr>
          <p:cNvPr id="22532" name="Rectangle 3"/>
          <p:cNvSpPr>
            <a:spLocks noGrp="1" noChangeArrowheads="1"/>
          </p:cNvSpPr>
          <p:nvPr>
            <p:ph type="body" idx="1"/>
          </p:nvPr>
        </p:nvSpPr>
        <p:spPr>
          <a:noFill/>
          <a:ln/>
        </p:spPr>
        <p:txBody>
          <a:bodyPr/>
          <a:lstStyle/>
          <a:p>
            <a:pPr eaLnBrk="1" hangingPunct="1"/>
            <a:endParaRPr lang="en-US" dirty="0"/>
          </a:p>
        </p:txBody>
      </p:sp>
      <p:sp>
        <p:nvSpPr>
          <p:cNvPr id="2" name="Header Placeholder 1">
            <a:extLst>
              <a:ext uri="{FF2B5EF4-FFF2-40B4-BE49-F238E27FC236}">
                <a16:creationId xmlns:a16="http://schemas.microsoft.com/office/drawing/2014/main" id="{2D50B4E4-FB4A-47A0-A569-E637E3CB06B0}"/>
              </a:ext>
            </a:extLst>
          </p:cNvPr>
          <p:cNvSpPr>
            <a:spLocks noGrp="1"/>
          </p:cNvSpPr>
          <p:nvPr>
            <p:ph type="hdr" sz="quarter"/>
          </p:nvPr>
        </p:nvSpPr>
        <p:spPr/>
        <p:txBody>
          <a:bodyPr/>
          <a:lstStyle/>
          <a:p>
            <a:r>
              <a:rPr lang="it-IT"/>
              <a:t>MGT 207 Operations Management</a:t>
            </a:r>
            <a:endParaRPr lang="en-US"/>
          </a:p>
        </p:txBody>
      </p:sp>
    </p:spTree>
    <p:extLst>
      <p:ext uri="{BB962C8B-B14F-4D97-AF65-F5344CB8AC3E}">
        <p14:creationId xmlns:p14="http://schemas.microsoft.com/office/powerpoint/2010/main" val="926098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6B7BB0A6-8296-4CBE-AB36-4CAA25D5D8EA}" type="slidenum">
              <a:rPr lang="en-US" smtClean="0"/>
              <a:pPr/>
              <a:t>9</a:t>
            </a:fld>
            <a:endParaRPr lang="en-US" dirty="0"/>
          </a:p>
        </p:txBody>
      </p:sp>
      <p:sp>
        <p:nvSpPr>
          <p:cNvPr id="22531" name="Rectangle 2"/>
          <p:cNvSpPr>
            <a:spLocks noGrp="1" noRot="1" noChangeAspect="1" noChangeArrowheads="1" noTextEdit="1"/>
          </p:cNvSpPr>
          <p:nvPr>
            <p:ph type="sldImg"/>
          </p:nvPr>
        </p:nvSpPr>
        <p:spPr>
          <a:xfrm>
            <a:off x="1498600" y="1200150"/>
            <a:ext cx="4318000" cy="3240088"/>
          </a:xfrm>
          <a:ln/>
        </p:spPr>
      </p:sp>
      <p:sp>
        <p:nvSpPr>
          <p:cNvPr id="22532" name="Rectangle 3"/>
          <p:cNvSpPr>
            <a:spLocks noGrp="1" noChangeArrowheads="1"/>
          </p:cNvSpPr>
          <p:nvPr>
            <p:ph type="body" idx="1"/>
          </p:nvPr>
        </p:nvSpPr>
        <p:spPr>
          <a:noFill/>
          <a:ln/>
        </p:spPr>
        <p:txBody>
          <a:bodyPr/>
          <a:lstStyle/>
          <a:p>
            <a:pPr eaLnBrk="1" hangingPunct="1"/>
            <a:endParaRPr lang="en-US" dirty="0"/>
          </a:p>
        </p:txBody>
      </p:sp>
      <p:sp>
        <p:nvSpPr>
          <p:cNvPr id="2" name="Header Placeholder 1">
            <a:extLst>
              <a:ext uri="{FF2B5EF4-FFF2-40B4-BE49-F238E27FC236}">
                <a16:creationId xmlns:a16="http://schemas.microsoft.com/office/drawing/2014/main" id="{71ACE4CB-E821-4F27-B2A2-A779240F114D}"/>
              </a:ext>
            </a:extLst>
          </p:cNvPr>
          <p:cNvSpPr>
            <a:spLocks noGrp="1"/>
          </p:cNvSpPr>
          <p:nvPr>
            <p:ph type="hdr" sz="quarter"/>
          </p:nvPr>
        </p:nvSpPr>
        <p:spPr/>
        <p:txBody>
          <a:bodyPr/>
          <a:lstStyle/>
          <a:p>
            <a:r>
              <a:rPr lang="it-IT"/>
              <a:t>MGT 207 Operations Management</a:t>
            </a:r>
            <a:endParaRPr lang="en-US"/>
          </a:p>
        </p:txBody>
      </p:sp>
    </p:spTree>
    <p:extLst>
      <p:ext uri="{BB962C8B-B14F-4D97-AF65-F5344CB8AC3E}">
        <p14:creationId xmlns:p14="http://schemas.microsoft.com/office/powerpoint/2010/main" val="4027584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6B7BB0A6-8296-4CBE-AB36-4CAA25D5D8EA}" type="slidenum">
              <a:rPr lang="en-US" smtClean="0"/>
              <a:pPr/>
              <a:t>10</a:t>
            </a:fld>
            <a:endParaRPr lang="en-US" dirty="0"/>
          </a:p>
        </p:txBody>
      </p:sp>
      <p:sp>
        <p:nvSpPr>
          <p:cNvPr id="22531" name="Rectangle 2"/>
          <p:cNvSpPr>
            <a:spLocks noGrp="1" noRot="1" noChangeAspect="1" noChangeArrowheads="1" noTextEdit="1"/>
          </p:cNvSpPr>
          <p:nvPr>
            <p:ph type="sldImg"/>
          </p:nvPr>
        </p:nvSpPr>
        <p:spPr>
          <a:xfrm>
            <a:off x="1498600" y="1200150"/>
            <a:ext cx="4318000" cy="3240088"/>
          </a:xfrm>
          <a:ln/>
        </p:spPr>
      </p:sp>
      <p:sp>
        <p:nvSpPr>
          <p:cNvPr id="22532" name="Rectangle 3"/>
          <p:cNvSpPr>
            <a:spLocks noGrp="1" noChangeArrowheads="1"/>
          </p:cNvSpPr>
          <p:nvPr>
            <p:ph type="body" idx="1"/>
          </p:nvPr>
        </p:nvSpPr>
        <p:spPr>
          <a:noFill/>
          <a:ln/>
        </p:spPr>
        <p:txBody>
          <a:bodyPr/>
          <a:lstStyle/>
          <a:p>
            <a:pPr eaLnBrk="1" hangingPunct="1"/>
            <a:endParaRPr lang="en-US" dirty="0"/>
          </a:p>
        </p:txBody>
      </p:sp>
      <p:sp>
        <p:nvSpPr>
          <p:cNvPr id="2" name="Header Placeholder 1">
            <a:extLst>
              <a:ext uri="{FF2B5EF4-FFF2-40B4-BE49-F238E27FC236}">
                <a16:creationId xmlns:a16="http://schemas.microsoft.com/office/drawing/2014/main" id="{74CF7085-FEB9-4593-9CE7-FBFF16179DD0}"/>
              </a:ext>
            </a:extLst>
          </p:cNvPr>
          <p:cNvSpPr>
            <a:spLocks noGrp="1"/>
          </p:cNvSpPr>
          <p:nvPr>
            <p:ph type="hdr" sz="quarter"/>
          </p:nvPr>
        </p:nvSpPr>
        <p:spPr/>
        <p:txBody>
          <a:bodyPr/>
          <a:lstStyle/>
          <a:p>
            <a:r>
              <a:rPr lang="it-IT"/>
              <a:t>MGT 207 Operations Management</a:t>
            </a:r>
            <a:endParaRPr lang="en-US"/>
          </a:p>
        </p:txBody>
      </p:sp>
    </p:spTree>
    <p:extLst>
      <p:ext uri="{BB962C8B-B14F-4D97-AF65-F5344CB8AC3E}">
        <p14:creationId xmlns:p14="http://schemas.microsoft.com/office/powerpoint/2010/main" val="606437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6B7BB0A6-8296-4CBE-AB36-4CAA25D5D8EA}" type="slidenum">
              <a:rPr lang="en-US" smtClean="0"/>
              <a:pPr/>
              <a:t>11</a:t>
            </a:fld>
            <a:endParaRPr lang="en-US" dirty="0"/>
          </a:p>
        </p:txBody>
      </p:sp>
      <p:sp>
        <p:nvSpPr>
          <p:cNvPr id="22531" name="Rectangle 2"/>
          <p:cNvSpPr>
            <a:spLocks noGrp="1" noRot="1" noChangeAspect="1" noChangeArrowheads="1" noTextEdit="1"/>
          </p:cNvSpPr>
          <p:nvPr>
            <p:ph type="sldImg"/>
          </p:nvPr>
        </p:nvSpPr>
        <p:spPr>
          <a:xfrm>
            <a:off x="1498600" y="1200150"/>
            <a:ext cx="4318000" cy="3240088"/>
          </a:xfrm>
          <a:ln/>
        </p:spPr>
      </p:sp>
      <p:sp>
        <p:nvSpPr>
          <p:cNvPr id="22532" name="Rectangle 3"/>
          <p:cNvSpPr>
            <a:spLocks noGrp="1" noChangeArrowheads="1"/>
          </p:cNvSpPr>
          <p:nvPr>
            <p:ph type="body" idx="1"/>
          </p:nvPr>
        </p:nvSpPr>
        <p:spPr>
          <a:noFill/>
          <a:ln/>
        </p:spPr>
        <p:txBody>
          <a:bodyPr/>
          <a:lstStyle/>
          <a:p>
            <a:pPr eaLnBrk="1" hangingPunct="1"/>
            <a:endParaRPr lang="en-US" dirty="0"/>
          </a:p>
        </p:txBody>
      </p:sp>
      <p:sp>
        <p:nvSpPr>
          <p:cNvPr id="2" name="Header Placeholder 1">
            <a:extLst>
              <a:ext uri="{FF2B5EF4-FFF2-40B4-BE49-F238E27FC236}">
                <a16:creationId xmlns:a16="http://schemas.microsoft.com/office/drawing/2014/main" id="{95EC190F-3043-4DB4-9DCA-52AEAE1301DA}"/>
              </a:ext>
            </a:extLst>
          </p:cNvPr>
          <p:cNvSpPr>
            <a:spLocks noGrp="1"/>
          </p:cNvSpPr>
          <p:nvPr>
            <p:ph type="hdr" sz="quarter"/>
          </p:nvPr>
        </p:nvSpPr>
        <p:spPr/>
        <p:txBody>
          <a:bodyPr/>
          <a:lstStyle/>
          <a:p>
            <a:r>
              <a:rPr lang="it-IT"/>
              <a:t>MGT 207 Operations Management</a:t>
            </a:r>
            <a:endParaRPr lang="en-US"/>
          </a:p>
        </p:txBody>
      </p:sp>
    </p:spTree>
    <p:extLst>
      <p:ext uri="{BB962C8B-B14F-4D97-AF65-F5344CB8AC3E}">
        <p14:creationId xmlns:p14="http://schemas.microsoft.com/office/powerpoint/2010/main" val="854002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6B7BB0A6-8296-4CBE-AB36-4CAA25D5D8EA}" type="slidenum">
              <a:rPr lang="en-US" smtClean="0"/>
              <a:pPr/>
              <a:t>12</a:t>
            </a:fld>
            <a:endParaRPr lang="en-US" dirty="0"/>
          </a:p>
        </p:txBody>
      </p:sp>
      <p:sp>
        <p:nvSpPr>
          <p:cNvPr id="22531" name="Rectangle 2"/>
          <p:cNvSpPr>
            <a:spLocks noGrp="1" noRot="1" noChangeAspect="1" noChangeArrowheads="1" noTextEdit="1"/>
          </p:cNvSpPr>
          <p:nvPr>
            <p:ph type="sldImg"/>
          </p:nvPr>
        </p:nvSpPr>
        <p:spPr>
          <a:xfrm>
            <a:off x="1498600" y="1200150"/>
            <a:ext cx="4318000" cy="3240088"/>
          </a:xfrm>
          <a:ln/>
        </p:spPr>
      </p:sp>
      <p:sp>
        <p:nvSpPr>
          <p:cNvPr id="22532" name="Rectangle 3"/>
          <p:cNvSpPr>
            <a:spLocks noGrp="1" noChangeArrowheads="1"/>
          </p:cNvSpPr>
          <p:nvPr>
            <p:ph type="body" idx="1"/>
          </p:nvPr>
        </p:nvSpPr>
        <p:spPr>
          <a:noFill/>
          <a:ln/>
        </p:spPr>
        <p:txBody>
          <a:bodyPr/>
          <a:lstStyle/>
          <a:p>
            <a:pPr eaLnBrk="1" hangingPunct="1"/>
            <a:endParaRPr lang="en-US" dirty="0"/>
          </a:p>
        </p:txBody>
      </p:sp>
      <p:sp>
        <p:nvSpPr>
          <p:cNvPr id="2" name="Header Placeholder 1">
            <a:extLst>
              <a:ext uri="{FF2B5EF4-FFF2-40B4-BE49-F238E27FC236}">
                <a16:creationId xmlns:a16="http://schemas.microsoft.com/office/drawing/2014/main" id="{1C0291D6-ED08-4D15-99E0-40BF99A05BDB}"/>
              </a:ext>
            </a:extLst>
          </p:cNvPr>
          <p:cNvSpPr>
            <a:spLocks noGrp="1"/>
          </p:cNvSpPr>
          <p:nvPr>
            <p:ph type="hdr" sz="quarter"/>
          </p:nvPr>
        </p:nvSpPr>
        <p:spPr/>
        <p:txBody>
          <a:bodyPr/>
          <a:lstStyle/>
          <a:p>
            <a:r>
              <a:rPr lang="it-IT"/>
              <a:t>MGT 207 Operations Management</a:t>
            </a:r>
            <a:endParaRPr lang="en-US"/>
          </a:p>
        </p:txBody>
      </p:sp>
    </p:spTree>
    <p:extLst>
      <p:ext uri="{BB962C8B-B14F-4D97-AF65-F5344CB8AC3E}">
        <p14:creationId xmlns:p14="http://schemas.microsoft.com/office/powerpoint/2010/main" val="3743662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6C94466-F8F9-4534-96A1-31FE96EC2AE3}" type="slidenum">
              <a:rPr lang="en-US" smtClean="0"/>
              <a:pPr>
                <a:defRPr/>
              </a:pPr>
              <a:t>20</a:t>
            </a:fld>
            <a:endParaRPr lang="en-US"/>
          </a:p>
        </p:txBody>
      </p:sp>
      <p:sp>
        <p:nvSpPr>
          <p:cNvPr id="5" name="Header Placeholder 4">
            <a:extLst>
              <a:ext uri="{FF2B5EF4-FFF2-40B4-BE49-F238E27FC236}">
                <a16:creationId xmlns:a16="http://schemas.microsoft.com/office/drawing/2014/main" id="{2509EC3C-3DBA-4159-8043-9D218C68D9A1}"/>
              </a:ext>
            </a:extLst>
          </p:cNvPr>
          <p:cNvSpPr>
            <a:spLocks noGrp="1"/>
          </p:cNvSpPr>
          <p:nvPr>
            <p:ph type="hdr" sz="quarter"/>
          </p:nvPr>
        </p:nvSpPr>
        <p:spPr/>
        <p:txBody>
          <a:bodyPr/>
          <a:lstStyle/>
          <a:p>
            <a:r>
              <a:rPr lang="it-IT"/>
              <a:t>MGT 207 Operations Management</a:t>
            </a:r>
            <a:endParaRPr lang="en-US"/>
          </a:p>
        </p:txBody>
      </p:sp>
    </p:spTree>
    <p:extLst>
      <p:ext uri="{BB962C8B-B14F-4D97-AF65-F5344CB8AC3E}">
        <p14:creationId xmlns:p14="http://schemas.microsoft.com/office/powerpoint/2010/main" val="4648924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it-IT"/>
              <a:t>MGT 207 Operations Management</a:t>
            </a:r>
            <a:endParaRPr lang="en-US"/>
          </a:p>
        </p:txBody>
      </p:sp>
      <p:sp>
        <p:nvSpPr>
          <p:cNvPr id="5" name="Date Placeholder 4"/>
          <p:cNvSpPr>
            <a:spLocks noGrp="1"/>
          </p:cNvSpPr>
          <p:nvPr>
            <p:ph type="dt" idx="11"/>
          </p:nvPr>
        </p:nvSpPr>
        <p:spPr/>
        <p:txBody>
          <a:bodyPr/>
          <a:lstStyle/>
          <a:p>
            <a:r>
              <a:rPr lang="en-US"/>
              <a:t>Dong</a:t>
            </a:r>
          </a:p>
        </p:txBody>
      </p:sp>
      <p:sp>
        <p:nvSpPr>
          <p:cNvPr id="6" name="Footer Placeholder 5"/>
          <p:cNvSpPr>
            <a:spLocks noGrp="1"/>
          </p:cNvSpPr>
          <p:nvPr>
            <p:ph type="ftr" sz="quarter" idx="12"/>
          </p:nvPr>
        </p:nvSpPr>
        <p:spPr/>
        <p:txBody>
          <a:bodyPr/>
          <a:lstStyle/>
          <a:p>
            <a:endParaRPr lang="en-US"/>
          </a:p>
        </p:txBody>
      </p:sp>
      <p:sp>
        <p:nvSpPr>
          <p:cNvPr id="7" name="Slide Number Placeholder 6"/>
          <p:cNvSpPr>
            <a:spLocks noGrp="1"/>
          </p:cNvSpPr>
          <p:nvPr>
            <p:ph type="sldNum" sz="quarter" idx="13"/>
          </p:nvPr>
        </p:nvSpPr>
        <p:spPr/>
        <p:txBody>
          <a:bodyPr/>
          <a:lstStyle/>
          <a:p>
            <a:fld id="{11CC5A2E-5407-445B-A281-70C90F3EB008}" type="slidenum">
              <a:rPr lang="en-US" smtClean="0"/>
              <a:t>25</a:t>
            </a:fld>
            <a:endParaRPr lang="en-US"/>
          </a:p>
        </p:txBody>
      </p:sp>
    </p:spTree>
    <p:extLst>
      <p:ext uri="{BB962C8B-B14F-4D97-AF65-F5344CB8AC3E}">
        <p14:creationId xmlns:p14="http://schemas.microsoft.com/office/powerpoint/2010/main" val="3360325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5669" indent="-165669">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pPr>
              <a:defRPr/>
            </a:pPr>
            <a:fld id="{C6C94466-F8F9-4534-96A1-31FE96EC2AE3}" type="slidenum">
              <a:rPr lang="en-US" smtClean="0"/>
              <a:pPr>
                <a:defRPr/>
              </a:pPr>
              <a:t>26</a:t>
            </a:fld>
            <a:endParaRPr lang="en-US" dirty="0"/>
          </a:p>
        </p:txBody>
      </p:sp>
      <p:sp>
        <p:nvSpPr>
          <p:cNvPr id="5" name="Header Placeholder 4">
            <a:extLst>
              <a:ext uri="{FF2B5EF4-FFF2-40B4-BE49-F238E27FC236}">
                <a16:creationId xmlns:a16="http://schemas.microsoft.com/office/drawing/2014/main" id="{32C00004-AC9D-488D-803B-81B70EF65D1E}"/>
              </a:ext>
            </a:extLst>
          </p:cNvPr>
          <p:cNvSpPr>
            <a:spLocks noGrp="1"/>
          </p:cNvSpPr>
          <p:nvPr>
            <p:ph type="hdr" sz="quarter"/>
          </p:nvPr>
        </p:nvSpPr>
        <p:spPr/>
        <p:txBody>
          <a:bodyPr/>
          <a:lstStyle/>
          <a:p>
            <a:r>
              <a:rPr lang="it-IT"/>
              <a:t>MGT 207 Operations Management</a:t>
            </a:r>
            <a:endParaRPr lang="en-US"/>
          </a:p>
        </p:txBody>
      </p:sp>
    </p:spTree>
    <p:extLst>
      <p:ext uri="{BB962C8B-B14F-4D97-AF65-F5344CB8AC3E}">
        <p14:creationId xmlns:p14="http://schemas.microsoft.com/office/powerpoint/2010/main" val="18116057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6:notes"/>
          <p:cNvSpPr txBox="1">
            <a:spLocks noGrp="1"/>
          </p:cNvSpPr>
          <p:nvPr>
            <p:ph type="body" idx="1"/>
          </p:nvPr>
        </p:nvSpPr>
        <p:spPr>
          <a:xfrm>
            <a:off x="929640" y="3329940"/>
            <a:ext cx="7437120" cy="31546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39" name="Google Shape;139;p6: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7:notes"/>
          <p:cNvSpPr txBox="1">
            <a:spLocks noGrp="1"/>
          </p:cNvSpPr>
          <p:nvPr>
            <p:ph type="body" idx="1"/>
          </p:nvPr>
        </p:nvSpPr>
        <p:spPr>
          <a:xfrm>
            <a:off x="929640" y="3329940"/>
            <a:ext cx="7437120" cy="31546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47" name="Google Shape;147;p7: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8:notes"/>
          <p:cNvSpPr txBox="1">
            <a:spLocks noGrp="1"/>
          </p:cNvSpPr>
          <p:nvPr>
            <p:ph type="body" idx="1"/>
          </p:nvPr>
        </p:nvSpPr>
        <p:spPr>
          <a:xfrm>
            <a:off x="929640" y="3329940"/>
            <a:ext cx="7437120" cy="31546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56" name="Google Shape;156;p8: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2:notes"/>
          <p:cNvSpPr txBox="1">
            <a:spLocks noGrp="1"/>
          </p:cNvSpPr>
          <p:nvPr>
            <p:ph type="body" idx="1"/>
          </p:nvPr>
        </p:nvSpPr>
        <p:spPr>
          <a:xfrm>
            <a:off x="929640" y="3329940"/>
            <a:ext cx="7437120" cy="31546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89" name="Google Shape;189;p12: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3:notes"/>
          <p:cNvSpPr txBox="1">
            <a:spLocks noGrp="1"/>
          </p:cNvSpPr>
          <p:nvPr>
            <p:ph type="body" idx="1"/>
          </p:nvPr>
        </p:nvSpPr>
        <p:spPr>
          <a:xfrm>
            <a:off x="929640" y="3329940"/>
            <a:ext cx="7437120" cy="31546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196" name="Google Shape;196;p13: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4:notes"/>
          <p:cNvSpPr txBox="1">
            <a:spLocks noGrp="1"/>
          </p:cNvSpPr>
          <p:nvPr>
            <p:ph type="body" idx="1"/>
          </p:nvPr>
        </p:nvSpPr>
        <p:spPr>
          <a:xfrm>
            <a:off x="929640" y="3329940"/>
            <a:ext cx="7437120" cy="31546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09" name="Google Shape;209;p14: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5:notes"/>
          <p:cNvSpPr txBox="1">
            <a:spLocks noGrp="1"/>
          </p:cNvSpPr>
          <p:nvPr>
            <p:ph type="body" idx="1"/>
          </p:nvPr>
        </p:nvSpPr>
        <p:spPr>
          <a:xfrm>
            <a:off x="929640" y="3329940"/>
            <a:ext cx="7437120" cy="31546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74" name="Google Shape;274;p15: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16:notes"/>
          <p:cNvSpPr txBox="1">
            <a:spLocks noGrp="1"/>
          </p:cNvSpPr>
          <p:nvPr>
            <p:ph type="body" idx="1"/>
          </p:nvPr>
        </p:nvSpPr>
        <p:spPr>
          <a:xfrm>
            <a:off x="929640" y="3329940"/>
            <a:ext cx="7437120" cy="31546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289" name="Google Shape;289;p16: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7:notes"/>
          <p:cNvSpPr txBox="1">
            <a:spLocks noGrp="1"/>
          </p:cNvSpPr>
          <p:nvPr>
            <p:ph type="body" idx="1"/>
          </p:nvPr>
        </p:nvSpPr>
        <p:spPr>
          <a:xfrm>
            <a:off x="929640" y="3329940"/>
            <a:ext cx="7437120" cy="31546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04" name="Google Shape;304;p17: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8:notes"/>
          <p:cNvSpPr txBox="1">
            <a:spLocks noGrp="1"/>
          </p:cNvSpPr>
          <p:nvPr>
            <p:ph type="body" idx="1"/>
          </p:nvPr>
        </p:nvSpPr>
        <p:spPr>
          <a:xfrm>
            <a:off x="929640" y="3329940"/>
            <a:ext cx="7437120" cy="31546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12" name="Google Shape;312;p18: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9:notes"/>
          <p:cNvSpPr txBox="1">
            <a:spLocks noGrp="1"/>
          </p:cNvSpPr>
          <p:nvPr>
            <p:ph type="body" idx="1"/>
          </p:nvPr>
        </p:nvSpPr>
        <p:spPr>
          <a:xfrm>
            <a:off x="929640" y="3329940"/>
            <a:ext cx="7437120" cy="31546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32" name="Google Shape;332;p19: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20:notes"/>
          <p:cNvSpPr txBox="1">
            <a:spLocks noGrp="1"/>
          </p:cNvSpPr>
          <p:nvPr>
            <p:ph type="body" idx="1"/>
          </p:nvPr>
        </p:nvSpPr>
        <p:spPr>
          <a:xfrm>
            <a:off x="929640" y="3329940"/>
            <a:ext cx="7437120" cy="3154680"/>
          </a:xfrm>
          <a:prstGeom prst="rect">
            <a:avLst/>
          </a:prstGeom>
        </p:spPr>
        <p:txBody>
          <a:bodyPr spcFirstLastPara="1" wrap="square" lIns="93175" tIns="46575" rIns="93175" bIns="46575" anchor="t" anchorCtr="0">
            <a:noAutofit/>
          </a:bodyPr>
          <a:lstStyle/>
          <a:p>
            <a:pPr marL="0" lvl="0" indent="0" algn="l" rtl="0">
              <a:spcBef>
                <a:spcPts val="0"/>
              </a:spcBef>
              <a:spcAft>
                <a:spcPts val="0"/>
              </a:spcAft>
              <a:buNone/>
            </a:pPr>
            <a:endParaRPr/>
          </a:p>
        </p:txBody>
      </p:sp>
      <p:sp>
        <p:nvSpPr>
          <p:cNvPr id="341" name="Google Shape;341;p20:notes"/>
          <p:cNvSpPr>
            <a:spLocks noGrp="1" noRot="1" noChangeAspect="1"/>
          </p:cNvSpPr>
          <p:nvPr>
            <p:ph type="sldImg" idx="2"/>
          </p:nvPr>
        </p:nvSpPr>
        <p:spPr>
          <a:xfrm>
            <a:off x="2895600" y="525463"/>
            <a:ext cx="3505200" cy="2628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Footer Placeholder 4"/>
          <p:cNvSpPr txBox="1">
            <a:spLocks/>
          </p:cNvSpPr>
          <p:nvPr userDrawn="1"/>
        </p:nvSpPr>
        <p:spPr>
          <a:xfrm>
            <a:off x="8749863" y="-749026"/>
            <a:ext cx="528145"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Dong</a:t>
            </a:r>
          </a:p>
        </p:txBody>
      </p:sp>
      <p:sp>
        <p:nvSpPr>
          <p:cNvPr id="9" name="Freeform 10"/>
          <p:cNvSpPr>
            <a:spLocks noChangeArrowheads="1"/>
          </p:cNvSpPr>
          <p:nvPr userDrawn="1"/>
        </p:nvSpPr>
        <p:spPr bwMode="auto">
          <a:xfrm>
            <a:off x="898975" y="226376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rgbClr val="5F5F5F"/>
            </a:solidFill>
            <a:prstDash val="solid"/>
            <a:miter lim="800000"/>
            <a:headEnd/>
            <a:tailEnd/>
          </a:ln>
        </p:spPr>
        <p:txBody>
          <a:bodyPr/>
          <a:lstStyle/>
          <a:p>
            <a:pPr>
              <a:defRPr/>
            </a:pPr>
            <a:endParaRPr lang="en-US" dirty="0"/>
          </a:p>
        </p:txBody>
      </p:sp>
      <p:sp>
        <p:nvSpPr>
          <p:cNvPr id="11" name="Rectangle 15"/>
          <p:cNvSpPr>
            <a:spLocks noGrp="1" noChangeArrowheads="1"/>
          </p:cNvSpPr>
          <p:nvPr>
            <p:ph type="subTitle" idx="1"/>
          </p:nvPr>
        </p:nvSpPr>
        <p:spPr>
          <a:xfrm>
            <a:off x="994754" y="3424015"/>
            <a:ext cx="6553200" cy="1752600"/>
          </a:xfrm>
        </p:spPr>
        <p:txBody>
          <a:bodyPr/>
          <a:lstStyle>
            <a:lvl1pPr>
              <a:buFont typeface="Wingdings" pitchFamily="2" charset="2"/>
              <a:buChar char="Ø"/>
              <a:defRPr sz="2400">
                <a:solidFill>
                  <a:srgbClr val="0000CC"/>
                </a:solidFill>
                <a:latin typeface="Calibri" panose="020F0502020204030204" pitchFamily="34" charset="0"/>
              </a:defRPr>
            </a:lvl1pPr>
          </a:lstStyle>
          <a:p>
            <a:r>
              <a:rPr lang="en-US" altLang="en-US" dirty="0"/>
              <a:t>Click to edit Master subtitle style</a:t>
            </a:r>
          </a:p>
        </p:txBody>
      </p:sp>
      <p:sp>
        <p:nvSpPr>
          <p:cNvPr id="12" name="Title 2"/>
          <p:cNvSpPr>
            <a:spLocks noGrp="1"/>
          </p:cNvSpPr>
          <p:nvPr>
            <p:ph type="title"/>
          </p:nvPr>
        </p:nvSpPr>
        <p:spPr>
          <a:xfrm>
            <a:off x="1007796" y="2357147"/>
            <a:ext cx="7568033" cy="708025"/>
          </a:xfrm>
        </p:spPr>
        <p:txBody>
          <a:bodyPr/>
          <a:lstStyle>
            <a:lvl1pPr>
              <a:defRPr sz="4000" b="1">
                <a:solidFill>
                  <a:srgbClr val="0000CC"/>
                </a:solidFill>
                <a:latin typeface="Calibri" panose="020F0502020204030204" pitchFamily="34" charset="0"/>
              </a:defRPr>
            </a:lvl1pPr>
          </a:lstStyle>
          <a:p>
            <a:r>
              <a:rPr lang="en-US" dirty="0"/>
              <a:t>Click to edit Master title style</a:t>
            </a:r>
          </a:p>
        </p:txBody>
      </p:sp>
    </p:spTree>
    <p:extLst>
      <p:ext uri="{BB962C8B-B14F-4D97-AF65-F5344CB8AC3E}">
        <p14:creationId xmlns:p14="http://schemas.microsoft.com/office/powerpoint/2010/main" val="3022587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96546"/>
            <a:ext cx="7886700" cy="1325563"/>
          </a:xfrm>
        </p:spPr>
        <p:txBody>
          <a:bodyPr/>
          <a:lstStyle>
            <a:lvl1pPr algn="ctr">
              <a:defRPr b="1">
                <a:solidFill>
                  <a:srgbClr val="000099"/>
                </a:solidFill>
                <a:latin typeface="+mn-lt"/>
              </a:defRPr>
            </a:lvl1pPr>
          </a:lstStyle>
          <a:p>
            <a:r>
              <a:rPr lang="en-US" dirty="0"/>
              <a:t>Click to edit Master title style</a:t>
            </a:r>
          </a:p>
        </p:txBody>
      </p:sp>
      <p:sp>
        <p:nvSpPr>
          <p:cNvPr id="3" name="Content Placeholder 2"/>
          <p:cNvSpPr>
            <a:spLocks noGrp="1"/>
          </p:cNvSpPr>
          <p:nvPr>
            <p:ph idx="1"/>
          </p:nvPr>
        </p:nvSpPr>
        <p:spPr>
          <a:xfrm>
            <a:off x="628650" y="1508760"/>
            <a:ext cx="7886700" cy="4668203"/>
          </a:xfrm>
        </p:spPr>
        <p:txBody>
          <a:bodyPr/>
          <a:lstStyle>
            <a:lvl1pPr>
              <a:defRPr>
                <a:solidFill>
                  <a:srgbClr val="000099"/>
                </a:solidFill>
              </a:defRPr>
            </a:lvl1pPr>
            <a:lvl2pPr marL="685800" indent="-228600">
              <a:buFont typeface="Courier New" panose="02070309020205020404" pitchFamily="49" charset="0"/>
              <a:buChar char="o"/>
              <a:defRPr>
                <a:solidFill>
                  <a:srgbClr val="000099"/>
                </a:solidFill>
              </a:defRPr>
            </a:lvl2pPr>
            <a:lvl3pPr>
              <a:defRPr>
                <a:solidFill>
                  <a:srgbClr val="000099"/>
                </a:solidFill>
              </a:defRPr>
            </a:lvl3pPr>
            <a:lvl4pPr>
              <a:defRPr>
                <a:solidFill>
                  <a:srgbClr val="000099"/>
                </a:solidFill>
              </a:defRPr>
            </a:lvl4pPr>
            <a:lvl5pPr>
              <a:defRPr>
                <a:solidFill>
                  <a:srgbClr val="000099"/>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502650" y="26259"/>
            <a:ext cx="641350" cy="358775"/>
          </a:xfrm>
          <a:prstGeom prst="rect">
            <a:avLst/>
          </a:prstGeom>
        </p:spPr>
        <p:txBody>
          <a:bodyPr/>
          <a:lstStyle>
            <a:lvl1pPr>
              <a:defRPr sz="900">
                <a:solidFill>
                  <a:schemeClr val="bg1">
                    <a:lumMod val="50000"/>
                  </a:schemeClr>
                </a:solidFill>
                <a:latin typeface="+mj-lt"/>
              </a:defRPr>
            </a:lvl1pPr>
          </a:lstStyle>
          <a:p>
            <a:r>
              <a:rPr lang="en-US"/>
              <a:t>Turcic</a:t>
            </a:r>
            <a:endParaRPr lang="en-US" dirty="0"/>
          </a:p>
        </p:txBody>
      </p:sp>
      <p:sp>
        <p:nvSpPr>
          <p:cNvPr id="5" name="Footer Placeholder 4"/>
          <p:cNvSpPr>
            <a:spLocks noGrp="1"/>
          </p:cNvSpPr>
          <p:nvPr>
            <p:ph type="ftr" sz="quarter" idx="11"/>
          </p:nvPr>
        </p:nvSpPr>
        <p:spPr>
          <a:xfrm>
            <a:off x="107950" y="26259"/>
            <a:ext cx="3086100" cy="365125"/>
          </a:xfrm>
          <a:prstGeom prst="rect">
            <a:avLst/>
          </a:prstGeom>
        </p:spPr>
        <p:txBody>
          <a:bodyPr/>
          <a:lstStyle>
            <a:lvl1pPr algn="l">
              <a:defRPr sz="900">
                <a:solidFill>
                  <a:schemeClr val="bg1">
                    <a:lumMod val="50000"/>
                  </a:schemeClr>
                </a:solidFill>
                <a:latin typeface="+mj-lt"/>
              </a:defRPr>
            </a:lvl1pPr>
          </a:lstStyle>
          <a:p>
            <a:r>
              <a:rPr lang="en-US"/>
              <a:t>MGT 207 Operations Management</a:t>
            </a:r>
            <a:endParaRPr lang="en-US" dirty="0"/>
          </a:p>
        </p:txBody>
      </p:sp>
      <p:cxnSp>
        <p:nvCxnSpPr>
          <p:cNvPr id="7" name="Straight Connector 6"/>
          <p:cNvCxnSpPr/>
          <p:nvPr userDrawn="1"/>
        </p:nvCxnSpPr>
        <p:spPr>
          <a:xfrm>
            <a:off x="628650" y="1309688"/>
            <a:ext cx="7886700" cy="0"/>
          </a:xfrm>
          <a:prstGeom prst="line">
            <a:avLst/>
          </a:prstGeom>
          <a:ln w="19050">
            <a:solidFill>
              <a:srgbClr val="00009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8982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296546"/>
            <a:ext cx="7886700" cy="1325563"/>
          </a:xfrm>
        </p:spPr>
        <p:txBody>
          <a:bodyPr/>
          <a:lstStyle>
            <a:lvl1pPr algn="ctr">
              <a:defRPr b="1">
                <a:solidFill>
                  <a:srgbClr val="000099"/>
                </a:solidFill>
                <a:latin typeface="+mn-lt"/>
              </a:defRPr>
            </a:lvl1pPr>
          </a:lstStyle>
          <a:p>
            <a:r>
              <a:rPr lang="en-US" dirty="0"/>
              <a:t>Click to edit Master title style</a:t>
            </a:r>
          </a:p>
        </p:txBody>
      </p:sp>
      <p:sp>
        <p:nvSpPr>
          <p:cNvPr id="3" name="Content Placeholder 2"/>
          <p:cNvSpPr>
            <a:spLocks noGrp="1"/>
          </p:cNvSpPr>
          <p:nvPr>
            <p:ph idx="1"/>
          </p:nvPr>
        </p:nvSpPr>
        <p:spPr>
          <a:xfrm>
            <a:off x="628650" y="1508760"/>
            <a:ext cx="7886700" cy="4668203"/>
          </a:xfrm>
        </p:spPr>
        <p:txBody>
          <a:bodyPr/>
          <a:lstStyle>
            <a:lvl1pPr>
              <a:defRPr>
                <a:solidFill>
                  <a:srgbClr val="000099"/>
                </a:solidFill>
              </a:defRPr>
            </a:lvl1pPr>
            <a:lvl2pPr marL="685800" indent="-228600">
              <a:buFont typeface="Courier New" panose="02070309020205020404" pitchFamily="49" charset="0"/>
              <a:buChar char="o"/>
              <a:defRPr>
                <a:solidFill>
                  <a:srgbClr val="000099"/>
                </a:solidFill>
              </a:defRPr>
            </a:lvl2pPr>
            <a:lvl3pPr>
              <a:defRPr>
                <a:solidFill>
                  <a:srgbClr val="000099"/>
                </a:solidFill>
              </a:defRPr>
            </a:lvl3pPr>
            <a:lvl4pPr>
              <a:defRPr>
                <a:solidFill>
                  <a:srgbClr val="000099"/>
                </a:solidFill>
              </a:defRPr>
            </a:lvl4pPr>
            <a:lvl5pPr>
              <a:defRPr>
                <a:solidFill>
                  <a:srgbClr val="000099"/>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502650" y="26259"/>
            <a:ext cx="641350" cy="358775"/>
          </a:xfrm>
          <a:prstGeom prst="rect">
            <a:avLst/>
          </a:prstGeom>
        </p:spPr>
        <p:txBody>
          <a:bodyPr/>
          <a:lstStyle>
            <a:lvl1pPr>
              <a:defRPr sz="900">
                <a:solidFill>
                  <a:schemeClr val="bg1">
                    <a:lumMod val="50000"/>
                  </a:schemeClr>
                </a:solidFill>
                <a:latin typeface="+mj-lt"/>
              </a:defRPr>
            </a:lvl1pPr>
          </a:lstStyle>
          <a:p>
            <a:r>
              <a:rPr lang="en-US"/>
              <a:t>Turcic</a:t>
            </a:r>
            <a:endParaRPr lang="en-US" dirty="0"/>
          </a:p>
        </p:txBody>
      </p:sp>
      <p:sp>
        <p:nvSpPr>
          <p:cNvPr id="5" name="Footer Placeholder 4"/>
          <p:cNvSpPr>
            <a:spLocks noGrp="1"/>
          </p:cNvSpPr>
          <p:nvPr>
            <p:ph type="ftr" sz="quarter" idx="11"/>
          </p:nvPr>
        </p:nvSpPr>
        <p:spPr>
          <a:xfrm>
            <a:off x="107950" y="26259"/>
            <a:ext cx="3086100" cy="365125"/>
          </a:xfrm>
          <a:prstGeom prst="rect">
            <a:avLst/>
          </a:prstGeom>
        </p:spPr>
        <p:txBody>
          <a:bodyPr/>
          <a:lstStyle>
            <a:lvl1pPr algn="l">
              <a:defRPr sz="900">
                <a:solidFill>
                  <a:schemeClr val="bg1">
                    <a:lumMod val="50000"/>
                  </a:schemeClr>
                </a:solidFill>
                <a:latin typeface="+mj-lt"/>
              </a:defRPr>
            </a:lvl1pPr>
          </a:lstStyle>
          <a:p>
            <a:r>
              <a:rPr lang="en-US"/>
              <a:t>MGT 207 Operations Management</a:t>
            </a:r>
            <a:endParaRPr lang="en-US" dirty="0"/>
          </a:p>
        </p:txBody>
      </p:sp>
    </p:spTree>
    <p:extLst>
      <p:ext uri="{BB962C8B-B14F-4D97-AF65-F5344CB8AC3E}">
        <p14:creationId xmlns:p14="http://schemas.microsoft.com/office/powerpoint/2010/main" val="1594952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Turcic</a:t>
            </a: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t>MGT 207 Operations Management</a:t>
            </a:r>
          </a:p>
        </p:txBody>
      </p:sp>
      <p:sp>
        <p:nvSpPr>
          <p:cNvPr id="6" name="Slide Number Placeholder 5"/>
          <p:cNvSpPr>
            <a:spLocks noGrp="1"/>
          </p:cNvSpPr>
          <p:nvPr>
            <p:ph type="sldNum" sz="quarter" idx="12"/>
          </p:nvPr>
        </p:nvSpPr>
        <p:spPr>
          <a:xfrm>
            <a:off x="7092950" y="6356351"/>
            <a:ext cx="2057400" cy="365125"/>
          </a:xfrm>
          <a:prstGeom prst="rect">
            <a:avLst/>
          </a:prstGeom>
        </p:spPr>
        <p:txBody>
          <a:bodyPr/>
          <a:lstStyle/>
          <a:p>
            <a:fld id="{A9E7B2E0-4ECE-44EC-AD55-72EC4BC5CF33}" type="slidenum">
              <a:rPr lang="en-US" smtClean="0"/>
              <a:t>‹#›</a:t>
            </a:fld>
            <a:endParaRPr lang="en-US"/>
          </a:p>
        </p:txBody>
      </p:sp>
    </p:spTree>
    <p:extLst>
      <p:ext uri="{BB962C8B-B14F-4D97-AF65-F5344CB8AC3E}">
        <p14:creationId xmlns:p14="http://schemas.microsoft.com/office/powerpoint/2010/main" val="1530266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a:t>Turcic</a:t>
            </a: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r>
              <a:rPr lang="en-US"/>
              <a:t>MGT 207 Operations Management</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A9E7B2E0-4ECE-44EC-AD55-72EC4BC5CF33}" type="slidenum">
              <a:rPr lang="en-US" smtClean="0"/>
              <a:t>‹#›</a:t>
            </a:fld>
            <a:endParaRPr lang="en-US"/>
          </a:p>
        </p:txBody>
      </p:sp>
    </p:spTree>
    <p:extLst>
      <p:ext uri="{BB962C8B-B14F-4D97-AF65-F5344CB8AC3E}">
        <p14:creationId xmlns:p14="http://schemas.microsoft.com/office/powerpoint/2010/main" val="3082299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r>
              <a:rPr lang="en-US"/>
              <a:t>Turcic</a:t>
            </a: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r>
              <a:rPr lang="en-US"/>
              <a:t>MGT 207 Operations Management</a:t>
            </a: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A9E7B2E0-4ECE-44EC-AD55-72EC4BC5CF33}" type="slidenum">
              <a:rPr lang="en-US" smtClean="0"/>
              <a:t>‹#›</a:t>
            </a:fld>
            <a:endParaRPr lang="en-US"/>
          </a:p>
        </p:txBody>
      </p:sp>
    </p:spTree>
    <p:extLst>
      <p:ext uri="{BB962C8B-B14F-4D97-AF65-F5344CB8AC3E}">
        <p14:creationId xmlns:p14="http://schemas.microsoft.com/office/powerpoint/2010/main" val="42456663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r>
              <a:rPr lang="en-US"/>
              <a:t>Turcic</a:t>
            </a: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r>
              <a:rPr lang="en-US"/>
              <a:t>MGT 207 Operations Management</a:t>
            </a: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A9E7B2E0-4ECE-44EC-AD55-72EC4BC5CF33}" type="slidenum">
              <a:rPr lang="en-US" smtClean="0"/>
              <a:t>‹#›</a:t>
            </a:fld>
            <a:endParaRPr lang="en-US"/>
          </a:p>
        </p:txBody>
      </p:sp>
    </p:spTree>
    <p:extLst>
      <p:ext uri="{BB962C8B-B14F-4D97-AF65-F5344CB8AC3E}">
        <p14:creationId xmlns:p14="http://schemas.microsoft.com/office/powerpoint/2010/main" val="391571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r>
              <a:rPr lang="en-US"/>
              <a:t>Turcic</a:t>
            </a: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r>
              <a:rPr lang="en-US"/>
              <a:t>MGT 207 Operations Management</a:t>
            </a: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A9E7B2E0-4ECE-44EC-AD55-72EC4BC5CF33}" type="slidenum">
              <a:rPr lang="en-US" smtClean="0"/>
              <a:t>‹#›</a:t>
            </a:fld>
            <a:endParaRPr lang="en-US"/>
          </a:p>
        </p:txBody>
      </p:sp>
    </p:spTree>
    <p:extLst>
      <p:ext uri="{BB962C8B-B14F-4D97-AF65-F5344CB8AC3E}">
        <p14:creationId xmlns:p14="http://schemas.microsoft.com/office/powerpoint/2010/main" val="6902738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a:t>Turcic</a:t>
            </a: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r>
              <a:rPr lang="en-US"/>
              <a:t>MGT 207 Operations Management</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A9E7B2E0-4ECE-44EC-AD55-72EC4BC5CF33}" type="slidenum">
              <a:rPr lang="en-US" smtClean="0"/>
              <a:t>‹#›</a:t>
            </a:fld>
            <a:endParaRPr lang="en-US"/>
          </a:p>
        </p:txBody>
      </p:sp>
    </p:spTree>
    <p:extLst>
      <p:ext uri="{BB962C8B-B14F-4D97-AF65-F5344CB8AC3E}">
        <p14:creationId xmlns:p14="http://schemas.microsoft.com/office/powerpoint/2010/main" val="995374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r>
              <a:rPr lang="en-US"/>
              <a:t>Turcic</a:t>
            </a: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r>
              <a:rPr lang="en-US"/>
              <a:t>MGT 207 Operations Management</a:t>
            </a: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A9E7B2E0-4ECE-44EC-AD55-72EC4BC5CF33}" type="slidenum">
              <a:rPr lang="en-US" smtClean="0"/>
              <a:t>‹#›</a:t>
            </a:fld>
            <a:endParaRPr lang="en-US"/>
          </a:p>
        </p:txBody>
      </p:sp>
    </p:spTree>
    <p:extLst>
      <p:ext uri="{BB962C8B-B14F-4D97-AF65-F5344CB8AC3E}">
        <p14:creationId xmlns:p14="http://schemas.microsoft.com/office/powerpoint/2010/main" val="2046052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Turcic</a:t>
            </a: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t>MGT 207 Operations Management</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9E7B2E0-4ECE-44EC-AD55-72EC4BC5CF33}" type="slidenum">
              <a:rPr lang="en-US" smtClean="0"/>
              <a:t>‹#›</a:t>
            </a:fld>
            <a:endParaRPr lang="en-US"/>
          </a:p>
        </p:txBody>
      </p:sp>
    </p:spTree>
    <p:extLst>
      <p:ext uri="{BB962C8B-B14F-4D97-AF65-F5344CB8AC3E}">
        <p14:creationId xmlns:p14="http://schemas.microsoft.com/office/powerpoint/2010/main" val="323342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r>
              <a:rPr lang="en-US"/>
              <a:t>Turcic</a:t>
            </a: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r>
              <a:rPr lang="en-US"/>
              <a:t>MGT 207 Operations Management</a:t>
            </a: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A9E7B2E0-4ECE-44EC-AD55-72EC4BC5CF33}" type="slidenum">
              <a:rPr lang="en-US" smtClean="0"/>
              <a:t>‹#›</a:t>
            </a:fld>
            <a:endParaRPr lang="en-US"/>
          </a:p>
        </p:txBody>
      </p:sp>
    </p:spTree>
    <p:extLst>
      <p:ext uri="{BB962C8B-B14F-4D97-AF65-F5344CB8AC3E}">
        <p14:creationId xmlns:p14="http://schemas.microsoft.com/office/powerpoint/2010/main" val="3327600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Not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lumMod val="75000"/>
                  </a:schemeClr>
                </a:solidFill>
              </a:defRPr>
            </a:lvl1pPr>
          </a:lstStyle>
          <a:p>
            <a:r>
              <a:rPr lang="en-US" dirty="0"/>
              <a:t>Notes</a:t>
            </a:r>
          </a:p>
        </p:txBody>
      </p:sp>
    </p:spTree>
    <p:extLst>
      <p:ext uri="{BB962C8B-B14F-4D97-AF65-F5344CB8AC3E}">
        <p14:creationId xmlns:p14="http://schemas.microsoft.com/office/powerpoint/2010/main" val="348007999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Separator">
    <p:spTree>
      <p:nvGrpSpPr>
        <p:cNvPr id="1" name=""/>
        <p:cNvGrpSpPr/>
        <p:nvPr/>
      </p:nvGrpSpPr>
      <p:grpSpPr>
        <a:xfrm>
          <a:off x="0" y="0"/>
          <a:ext cx="0" cy="0"/>
          <a:chOff x="0" y="0"/>
          <a:chExt cx="0" cy="0"/>
        </a:xfrm>
      </p:grpSpPr>
      <p:sp>
        <p:nvSpPr>
          <p:cNvPr id="4" name="Freeform 10"/>
          <p:cNvSpPr>
            <a:spLocks noChangeArrowheads="1"/>
          </p:cNvSpPr>
          <p:nvPr userDrawn="1"/>
        </p:nvSpPr>
        <p:spPr bwMode="auto">
          <a:xfrm>
            <a:off x="898975" y="226376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rgbClr val="5F5F5F"/>
            </a:solidFill>
            <a:prstDash val="solid"/>
            <a:miter lim="800000"/>
            <a:headEnd/>
            <a:tailEnd/>
          </a:ln>
        </p:spPr>
        <p:txBody>
          <a:bodyPr/>
          <a:lstStyle/>
          <a:p>
            <a:pPr>
              <a:defRPr/>
            </a:pPr>
            <a:endParaRPr lang="en-US"/>
          </a:p>
        </p:txBody>
      </p:sp>
      <p:sp>
        <p:nvSpPr>
          <p:cNvPr id="5" name="Title 2"/>
          <p:cNvSpPr>
            <a:spLocks noGrp="1"/>
          </p:cNvSpPr>
          <p:nvPr>
            <p:ph type="title"/>
          </p:nvPr>
        </p:nvSpPr>
        <p:spPr>
          <a:xfrm>
            <a:off x="1007796" y="2357147"/>
            <a:ext cx="7568033" cy="708025"/>
          </a:xfrm>
        </p:spPr>
        <p:txBody>
          <a:bodyPr/>
          <a:lstStyle>
            <a:lvl1pPr>
              <a:defRPr sz="4000" b="0"/>
            </a:lvl1pPr>
          </a:lstStyle>
          <a:p>
            <a:r>
              <a:rPr lang="en-US" dirty="0"/>
              <a:t>Click to edit Master title style</a:t>
            </a:r>
          </a:p>
        </p:txBody>
      </p:sp>
    </p:spTree>
    <p:extLst>
      <p:ext uri="{BB962C8B-B14F-4D97-AF65-F5344CB8AC3E}">
        <p14:creationId xmlns:p14="http://schemas.microsoft.com/office/powerpoint/2010/main" val="308692462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txBox="1">
            <a:spLocks/>
          </p:cNvSpPr>
          <p:nvPr userDrawn="1"/>
        </p:nvSpPr>
        <p:spPr>
          <a:xfrm>
            <a:off x="3536950" y="30759"/>
            <a:ext cx="2057400" cy="365125"/>
          </a:xfrm>
          <a:prstGeom prst="rect">
            <a:avLst/>
          </a:prstGeom>
        </p:spPr>
        <p:txBody>
          <a:bodyPr/>
          <a:lstStyle>
            <a:defPPr>
              <a:defRPr lang="en-US"/>
            </a:defPPr>
            <a:lvl1pPr marL="0" algn="ctr" defTabSz="914400" rtl="0" eaLnBrk="1" latinLnBrk="0" hangingPunct="1">
              <a:defRPr sz="900" kern="1200">
                <a:solidFill>
                  <a:schemeClr val="bg1">
                    <a:lumMod val="50000"/>
                  </a:schemeClr>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A187375-61AE-44B7-8505-8664A1B2064E}" type="slidenum">
              <a:rPr lang="en-US" sz="900" smtClean="0"/>
              <a:pPr/>
              <a:t>‹#›</a:t>
            </a:fld>
            <a:endParaRPr lang="en-US" sz="900" dirty="0"/>
          </a:p>
        </p:txBody>
      </p:sp>
      <p:sp>
        <p:nvSpPr>
          <p:cNvPr id="8" name="Footer Placeholder 3"/>
          <p:cNvSpPr>
            <a:spLocks noGrp="1"/>
          </p:cNvSpPr>
          <p:nvPr>
            <p:ph type="ftr" sz="quarter" idx="3"/>
          </p:nvPr>
        </p:nvSpPr>
        <p:spPr>
          <a:xfrm>
            <a:off x="107950" y="54006"/>
            <a:ext cx="3086100" cy="365125"/>
          </a:xfrm>
          <a:prstGeom prst="rect">
            <a:avLst/>
          </a:prstGeom>
        </p:spPr>
        <p:txBody>
          <a:bodyPr/>
          <a:lstStyle>
            <a:lvl1pPr>
              <a:defRPr sz="900">
                <a:solidFill>
                  <a:schemeClr val="bg1">
                    <a:lumMod val="50000"/>
                  </a:schemeClr>
                </a:solidFill>
                <a:latin typeface="+mj-lt"/>
              </a:defRPr>
            </a:lvl1pPr>
          </a:lstStyle>
          <a:p>
            <a:r>
              <a:rPr lang="en-US"/>
              <a:t>MGT 207 Operations Management</a:t>
            </a:r>
            <a:endParaRPr lang="en-US" dirty="0"/>
          </a:p>
        </p:txBody>
      </p:sp>
      <p:sp>
        <p:nvSpPr>
          <p:cNvPr id="9" name="Date Placeholder 5"/>
          <p:cNvSpPr>
            <a:spLocks noGrp="1"/>
          </p:cNvSpPr>
          <p:nvPr>
            <p:ph type="dt" sz="half" idx="2"/>
          </p:nvPr>
        </p:nvSpPr>
        <p:spPr>
          <a:xfrm>
            <a:off x="8502650" y="60356"/>
            <a:ext cx="641350" cy="358775"/>
          </a:xfrm>
          <a:prstGeom prst="rect">
            <a:avLst/>
          </a:prstGeom>
        </p:spPr>
        <p:txBody>
          <a:bodyPr/>
          <a:lstStyle>
            <a:lvl1pPr>
              <a:defRPr sz="900">
                <a:solidFill>
                  <a:schemeClr val="bg1">
                    <a:lumMod val="50000"/>
                  </a:schemeClr>
                </a:solidFill>
                <a:latin typeface="+mj-lt"/>
              </a:defRPr>
            </a:lvl1pPr>
          </a:lstStyle>
          <a:p>
            <a:r>
              <a:rPr lang="en-US"/>
              <a:t>Turcic</a:t>
            </a:r>
            <a:endParaRPr lang="en-US" dirty="0"/>
          </a:p>
        </p:txBody>
      </p:sp>
    </p:spTree>
    <p:extLst>
      <p:ext uri="{BB962C8B-B14F-4D97-AF65-F5344CB8AC3E}">
        <p14:creationId xmlns:p14="http://schemas.microsoft.com/office/powerpoint/2010/main" val="24152195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4"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9.wmf"/></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gi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jpg"/></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43.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2.gif"/><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4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1007796" y="2357147"/>
            <a:ext cx="7909781" cy="897253"/>
          </a:xfrm>
        </p:spPr>
        <p:txBody>
          <a:bodyPr>
            <a:normAutofit/>
          </a:bodyPr>
          <a:lstStyle/>
          <a:p>
            <a:r>
              <a:rPr lang="en-US" dirty="0">
                <a:solidFill>
                  <a:srgbClr val="000099"/>
                </a:solidFill>
              </a:rPr>
              <a:t>Analytics Primer</a:t>
            </a:r>
          </a:p>
        </p:txBody>
      </p:sp>
      <p:sp>
        <p:nvSpPr>
          <p:cNvPr id="8" name="Text Box 11"/>
          <p:cNvSpPr txBox="1">
            <a:spLocks noChangeArrowheads="1"/>
          </p:cNvSpPr>
          <p:nvPr/>
        </p:nvSpPr>
        <p:spPr bwMode="auto">
          <a:xfrm>
            <a:off x="813449" y="1221450"/>
            <a:ext cx="8295833" cy="1015663"/>
          </a:xfrm>
          <a:prstGeom prst="rect">
            <a:avLst/>
          </a:prstGeom>
          <a:noFill/>
          <a:ln w="9525">
            <a:noFill/>
            <a:miter lim="800000"/>
            <a:headEnd/>
            <a:tailEnd/>
          </a:ln>
          <a:effectLst/>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solidFill>
                  <a:srgbClr val="000099"/>
                </a:solidFill>
                <a:latin typeface="Arial" panose="020B0604020202020204" pitchFamily="34" charset="0"/>
                <a:cs typeface="Arial" panose="020B0604020202020204" pitchFamily="34" charset="0"/>
              </a:rPr>
              <a:t>MGT 207 Production and Operations Management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2000" baseline="0" dirty="0">
              <a:solidFill>
                <a:srgbClr val="000099"/>
              </a:solidFill>
              <a:latin typeface="Arial" panose="020B0604020202020204" pitchFamily="34" charset="0"/>
              <a:cs typeface="Arial" panose="020B0604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000099"/>
                </a:solidFill>
                <a:latin typeface="Arial" panose="020B0604020202020204" pitchFamily="34" charset="0"/>
                <a:cs typeface="Arial" panose="020B0604020202020204" pitchFamily="34" charset="0"/>
              </a:rPr>
              <a:t>Session 2</a:t>
            </a:r>
            <a:endParaRPr lang="en-US" sz="2000" baseline="0" dirty="0">
              <a:solidFill>
                <a:srgbClr val="000099"/>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2413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Today’s Plan</a:t>
            </a:r>
          </a:p>
        </p:txBody>
      </p:sp>
      <p:sp>
        <p:nvSpPr>
          <p:cNvPr id="3" name="Content Placeholder 2"/>
          <p:cNvSpPr>
            <a:spLocks noGrp="1"/>
          </p:cNvSpPr>
          <p:nvPr>
            <p:ph idx="1"/>
          </p:nvPr>
        </p:nvSpPr>
        <p:spPr>
          <a:xfrm>
            <a:off x="628651" y="1543052"/>
            <a:ext cx="7886700" cy="4633913"/>
          </a:xfrm>
        </p:spPr>
        <p:txBody>
          <a:bodyPr>
            <a:normAutofit/>
          </a:bodyPr>
          <a:lstStyle/>
          <a:p>
            <a:r>
              <a:rPr lang="en-US" dirty="0"/>
              <a:t>Linear Optimization (LP)</a:t>
            </a:r>
          </a:p>
          <a:p>
            <a:r>
              <a:rPr lang="en-US" dirty="0"/>
              <a:t>Integer Linear Optimization</a:t>
            </a:r>
          </a:p>
          <a:p>
            <a:r>
              <a:rPr lang="en-US" dirty="0"/>
              <a:t>Non-Linear Programming (NLP)</a:t>
            </a:r>
          </a:p>
          <a:p>
            <a:r>
              <a:rPr lang="en-US" dirty="0"/>
              <a:t>Simulation</a:t>
            </a:r>
          </a:p>
        </p:txBody>
      </p:sp>
      <p:sp>
        <p:nvSpPr>
          <p:cNvPr id="4" name="Date Placeholder 3"/>
          <p:cNvSpPr>
            <a:spLocks noGrp="1"/>
          </p:cNvSpPr>
          <p:nvPr>
            <p:ph type="dt" sz="half" idx="10"/>
          </p:nvPr>
        </p:nvSpPr>
        <p:spPr>
          <a:xfrm>
            <a:off x="8502650" y="-12800"/>
            <a:ext cx="641351" cy="358775"/>
          </a:xfrm>
        </p:spPr>
        <p:txBody>
          <a:bodyPr/>
          <a:lstStyle/>
          <a:p>
            <a:r>
              <a:rPr lang="en-US"/>
              <a:t>Turcic</a:t>
            </a:r>
            <a:endParaRPr lang="en-US" dirty="0"/>
          </a:p>
        </p:txBody>
      </p:sp>
      <p:sp>
        <p:nvSpPr>
          <p:cNvPr id="5" name="Footer Placeholder 4"/>
          <p:cNvSpPr>
            <a:spLocks noGrp="1"/>
          </p:cNvSpPr>
          <p:nvPr>
            <p:ph type="ftr" sz="quarter" idx="11"/>
          </p:nvPr>
        </p:nvSpPr>
        <p:spPr>
          <a:xfrm>
            <a:off x="107951" y="-12800"/>
            <a:ext cx="3086100" cy="365125"/>
          </a:xfrm>
        </p:spPr>
        <p:txBody>
          <a:bodyPr/>
          <a:lstStyle/>
          <a:p>
            <a:r>
              <a:rPr lang="en-US" dirty="0"/>
              <a:t>MGT 207 Operations Management</a:t>
            </a:r>
          </a:p>
        </p:txBody>
      </p:sp>
    </p:spTree>
    <p:extLst>
      <p:ext uri="{BB962C8B-B14F-4D97-AF65-F5344CB8AC3E}">
        <p14:creationId xmlns:p14="http://schemas.microsoft.com/office/powerpoint/2010/main" val="2451089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2F87E-0218-B838-A021-08353B0B3444}"/>
              </a:ext>
            </a:extLst>
          </p:cNvPr>
          <p:cNvSpPr>
            <a:spLocks noGrp="1"/>
          </p:cNvSpPr>
          <p:nvPr>
            <p:ph type="title"/>
          </p:nvPr>
        </p:nvSpPr>
        <p:spPr/>
        <p:txBody>
          <a:bodyPr/>
          <a:lstStyle/>
          <a:p>
            <a:r>
              <a:rPr lang="en-US" dirty="0"/>
              <a:t>Linear Optimization</a:t>
            </a:r>
          </a:p>
        </p:txBody>
      </p:sp>
    </p:spTree>
    <p:extLst>
      <p:ext uri="{BB962C8B-B14F-4D97-AF65-F5344CB8AC3E}">
        <p14:creationId xmlns:p14="http://schemas.microsoft.com/office/powerpoint/2010/main" val="263509835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What is Linear Program? (1/2)</a:t>
            </a:r>
          </a:p>
        </p:txBody>
      </p:sp>
      <p:sp>
        <p:nvSpPr>
          <p:cNvPr id="3" name="Content Placeholder 2"/>
          <p:cNvSpPr>
            <a:spLocks noGrp="1"/>
          </p:cNvSpPr>
          <p:nvPr>
            <p:ph idx="1"/>
          </p:nvPr>
        </p:nvSpPr>
        <p:spPr>
          <a:xfrm>
            <a:off x="628651" y="1387929"/>
            <a:ext cx="7886700" cy="4789035"/>
          </a:xfrm>
        </p:spPr>
        <p:txBody>
          <a:bodyPr/>
          <a:lstStyle/>
          <a:p>
            <a:r>
              <a:rPr lang="en-US" dirty="0"/>
              <a:t>A </a:t>
            </a:r>
            <a:r>
              <a:rPr lang="en-US" b="1" i="1" dirty="0"/>
              <a:t>Linear Program (LP) </a:t>
            </a:r>
            <a:r>
              <a:rPr lang="en-US" dirty="0"/>
              <a:t>is a mathematical </a:t>
            </a:r>
            <a:r>
              <a:rPr lang="en-US" u="sng" dirty="0"/>
              <a:t>optimization model </a:t>
            </a:r>
            <a:r>
              <a:rPr lang="en-US" dirty="0"/>
              <a:t>in which</a:t>
            </a:r>
            <a:endParaRPr lang="en-US" b="1" i="1" dirty="0"/>
          </a:p>
          <a:p>
            <a:pPr lvl="1"/>
            <a:r>
              <a:rPr lang="en-US" dirty="0"/>
              <a:t>The </a:t>
            </a:r>
            <a:r>
              <a:rPr lang="en-US" u="sng" dirty="0"/>
              <a:t>objective function </a:t>
            </a:r>
            <a:r>
              <a:rPr lang="en-US" dirty="0"/>
              <a:t>is a linear function of the decision variables, and</a:t>
            </a:r>
          </a:p>
          <a:p>
            <a:pPr lvl="1"/>
            <a:r>
              <a:rPr lang="en-US" dirty="0"/>
              <a:t>The </a:t>
            </a:r>
            <a:r>
              <a:rPr lang="en-US" u="sng" dirty="0"/>
              <a:t>constraints</a:t>
            </a:r>
            <a:r>
              <a:rPr lang="en-US" dirty="0"/>
              <a:t> are given by limits on linear functions of the decision variables </a:t>
            </a:r>
          </a:p>
          <a:p>
            <a:r>
              <a:rPr lang="en-US" dirty="0"/>
              <a:t>Recall Production Mix Problem:</a:t>
            </a:r>
          </a:p>
          <a:p>
            <a:pPr lvl="1"/>
            <a:r>
              <a:rPr lang="en-US" dirty="0"/>
              <a:t>Decision Variables: </a:t>
            </a:r>
          </a:p>
          <a:p>
            <a:pPr lvl="2"/>
            <a:r>
              <a:rPr lang="en-US" dirty="0"/>
              <a:t>T = number of End Table to produce</a:t>
            </a:r>
          </a:p>
          <a:p>
            <a:pPr lvl="2"/>
            <a:r>
              <a:rPr lang="en-US" dirty="0"/>
              <a:t>S = number of Sofa to produce</a:t>
            </a:r>
          </a:p>
          <a:p>
            <a:pPr lvl="2"/>
            <a:r>
              <a:rPr lang="en-US" dirty="0"/>
              <a:t>C = number of chairs to produce</a:t>
            </a:r>
          </a:p>
          <a:p>
            <a:pPr marL="457189" lvl="1" indent="0">
              <a:buNone/>
            </a:pPr>
            <a:endParaRPr lang="en-US" dirty="0"/>
          </a:p>
          <a:p>
            <a:pPr marL="0" indent="0">
              <a:buNone/>
            </a:pPr>
            <a:endParaRPr lang="en-US" dirty="0"/>
          </a:p>
        </p:txBody>
      </p:sp>
      <p:sp>
        <p:nvSpPr>
          <p:cNvPr id="6" name="Date Placeholder 5"/>
          <p:cNvSpPr>
            <a:spLocks noGrp="1"/>
          </p:cNvSpPr>
          <p:nvPr>
            <p:ph type="dt" sz="half" idx="10"/>
          </p:nvPr>
        </p:nvSpPr>
        <p:spPr>
          <a:xfrm>
            <a:off x="8502650" y="47182"/>
            <a:ext cx="641351" cy="358775"/>
          </a:xfrm>
        </p:spPr>
        <p:txBody>
          <a:bodyPr/>
          <a:lstStyle/>
          <a:p>
            <a:r>
              <a:rPr lang="en-US"/>
              <a:t>Turcic</a:t>
            </a:r>
            <a:endParaRPr lang="en-US" dirty="0"/>
          </a:p>
        </p:txBody>
      </p:sp>
      <p:sp>
        <p:nvSpPr>
          <p:cNvPr id="4" name="Footer Placeholder 3"/>
          <p:cNvSpPr>
            <a:spLocks noGrp="1"/>
          </p:cNvSpPr>
          <p:nvPr>
            <p:ph type="ftr" sz="quarter" idx="11"/>
          </p:nvPr>
        </p:nvSpPr>
        <p:spPr>
          <a:xfrm>
            <a:off x="107951" y="47182"/>
            <a:ext cx="3086100" cy="365125"/>
          </a:xfrm>
        </p:spPr>
        <p:txBody>
          <a:bodyPr/>
          <a:lstStyle/>
          <a:p>
            <a:r>
              <a:rPr lang="en-US"/>
              <a:t>MGT 207 Operations Management</a:t>
            </a:r>
            <a:endParaRPr lang="en-US" dirty="0"/>
          </a:p>
        </p:txBody>
      </p:sp>
    </p:spTree>
    <p:extLst>
      <p:ext uri="{BB962C8B-B14F-4D97-AF65-F5344CB8AC3E}">
        <p14:creationId xmlns:p14="http://schemas.microsoft.com/office/powerpoint/2010/main" val="3942157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Linear Program? (2/2)</a:t>
            </a:r>
          </a:p>
        </p:txBody>
      </p:sp>
      <p:sp>
        <p:nvSpPr>
          <p:cNvPr id="3" name="Content Placeholder 2"/>
          <p:cNvSpPr>
            <a:spLocks noGrp="1"/>
          </p:cNvSpPr>
          <p:nvPr>
            <p:ph idx="1"/>
          </p:nvPr>
        </p:nvSpPr>
        <p:spPr/>
        <p:txBody>
          <a:bodyPr/>
          <a:lstStyle/>
          <a:p>
            <a:r>
              <a:rPr lang="en-US" dirty="0"/>
              <a:t>Production Mix Problem</a:t>
            </a:r>
          </a:p>
          <a:p>
            <a:pPr lvl="1"/>
            <a:r>
              <a:rPr lang="en-US" dirty="0"/>
              <a:t>Objective Function:</a:t>
            </a:r>
          </a:p>
          <a:p>
            <a:pPr lvl="2"/>
            <a:r>
              <a:rPr lang="en-US" dirty="0"/>
              <a:t>Maximize  $300T+$400S+$200C</a:t>
            </a:r>
          </a:p>
          <a:p>
            <a:pPr lvl="1"/>
            <a:r>
              <a:rPr lang="en-US" dirty="0"/>
              <a:t>Constraints:</a:t>
            </a:r>
          </a:p>
          <a:p>
            <a:pPr lvl="2"/>
            <a:r>
              <a:rPr lang="en-US" dirty="0"/>
              <a:t>Lumber (feet):   	10T+8S+3.5C 	≤4600</a:t>
            </a:r>
          </a:p>
          <a:p>
            <a:pPr lvl="2"/>
            <a:r>
              <a:rPr lang="en-US" dirty="0"/>
              <a:t>Fabric (yards):            	        10S         	≤2500</a:t>
            </a:r>
          </a:p>
          <a:p>
            <a:pPr lvl="2"/>
            <a:r>
              <a:rPr lang="en-US" dirty="0"/>
              <a:t>Saw lumber (hours): 	0.5T+0.4S+0.4C	≤300</a:t>
            </a:r>
          </a:p>
          <a:p>
            <a:pPr lvl="2"/>
            <a:r>
              <a:rPr lang="en-US" dirty="0"/>
              <a:t>Cut Fabric (hours):	          0.4S 	≤150      </a:t>
            </a:r>
          </a:p>
          <a:p>
            <a:pPr lvl="2"/>
            <a:r>
              <a:rPr lang="en-US" dirty="0"/>
              <a:t>Sand (hours):		0.4T+0.2S+0.5C	≤280</a:t>
            </a:r>
          </a:p>
          <a:p>
            <a:pPr lvl="2"/>
            <a:r>
              <a:rPr lang="en-US" dirty="0"/>
              <a:t>Stain (hours):		0.4T+0.3S+0.4C	≤200</a:t>
            </a:r>
          </a:p>
          <a:p>
            <a:pPr lvl="2"/>
            <a:r>
              <a:rPr lang="en-US" dirty="0"/>
              <a:t>Assemble  (hours):	1T+2S+0.4C	≤700</a:t>
            </a:r>
          </a:p>
          <a:p>
            <a:pPr lvl="2"/>
            <a:r>
              <a:rPr lang="en-US" dirty="0"/>
              <a:t>Non-negativity: 	T, S, C 		≥ 0  </a:t>
            </a:r>
          </a:p>
        </p:txBody>
      </p:sp>
      <p:sp>
        <p:nvSpPr>
          <p:cNvPr id="4" name="Date Placeholder 3"/>
          <p:cNvSpPr>
            <a:spLocks noGrp="1"/>
          </p:cNvSpPr>
          <p:nvPr>
            <p:ph type="dt" sz="half" idx="10"/>
          </p:nvPr>
        </p:nvSpPr>
        <p:spPr/>
        <p:txBody>
          <a:bodyPr/>
          <a:lstStyle/>
          <a:p>
            <a:r>
              <a:rPr lang="en-US"/>
              <a:t>Turcic</a:t>
            </a:r>
            <a:endParaRPr lang="en-US" dirty="0"/>
          </a:p>
        </p:txBody>
      </p:sp>
      <p:sp>
        <p:nvSpPr>
          <p:cNvPr id="5" name="Footer Placeholder 4"/>
          <p:cNvSpPr>
            <a:spLocks noGrp="1"/>
          </p:cNvSpPr>
          <p:nvPr>
            <p:ph type="ftr" sz="quarter" idx="11"/>
          </p:nvPr>
        </p:nvSpPr>
        <p:spPr/>
        <p:txBody>
          <a:bodyPr/>
          <a:lstStyle/>
          <a:p>
            <a:r>
              <a:rPr lang="en-US"/>
              <a:t>MGT 207 Operations Management</a:t>
            </a:r>
            <a:endParaRPr lang="en-US" dirty="0"/>
          </a:p>
        </p:txBody>
      </p:sp>
      <p:sp>
        <p:nvSpPr>
          <p:cNvPr id="6" name="TextBox 5"/>
          <p:cNvSpPr txBox="1"/>
          <p:nvPr/>
        </p:nvSpPr>
        <p:spPr>
          <a:xfrm>
            <a:off x="6195801" y="2322578"/>
            <a:ext cx="2306850" cy="338554"/>
          </a:xfrm>
          <a:prstGeom prst="rect">
            <a:avLst/>
          </a:prstGeom>
          <a:noFill/>
          <a:ln>
            <a:solidFill>
              <a:schemeClr val="bg1">
                <a:lumMod val="65000"/>
              </a:schemeClr>
            </a:solidFill>
          </a:ln>
        </p:spPr>
        <p:txBody>
          <a:bodyPr wrap="none" rtlCol="0">
            <a:spAutoFit/>
          </a:bodyPr>
          <a:lstStyle/>
          <a:p>
            <a:r>
              <a:rPr lang="en-US" sz="1600" dirty="0"/>
              <a:t>A linear function of T, S, C</a:t>
            </a:r>
          </a:p>
        </p:txBody>
      </p:sp>
      <p:cxnSp>
        <p:nvCxnSpPr>
          <p:cNvPr id="8" name="Straight Arrow Connector 7"/>
          <p:cNvCxnSpPr/>
          <p:nvPr/>
        </p:nvCxnSpPr>
        <p:spPr>
          <a:xfrm flipH="1">
            <a:off x="5846064" y="2474976"/>
            <a:ext cx="3230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624175" y="6140389"/>
            <a:ext cx="2221890" cy="584775"/>
          </a:xfrm>
          <a:prstGeom prst="rect">
            <a:avLst/>
          </a:prstGeom>
          <a:noFill/>
          <a:ln>
            <a:solidFill>
              <a:schemeClr val="bg1">
                <a:lumMod val="65000"/>
              </a:schemeClr>
            </a:solidFill>
          </a:ln>
        </p:spPr>
        <p:txBody>
          <a:bodyPr wrap="none" rtlCol="0">
            <a:spAutoFit/>
          </a:bodyPr>
          <a:lstStyle/>
          <a:p>
            <a:r>
              <a:rPr lang="en-US" sz="1600" dirty="0"/>
              <a:t>Left hand:  </a:t>
            </a:r>
          </a:p>
          <a:p>
            <a:r>
              <a:rPr lang="en-US" sz="1600" dirty="0"/>
              <a:t>linear functions of T, S, C</a:t>
            </a:r>
          </a:p>
        </p:txBody>
      </p:sp>
      <p:cxnSp>
        <p:nvCxnSpPr>
          <p:cNvPr id="11" name="Straight Arrow Connector 10"/>
          <p:cNvCxnSpPr/>
          <p:nvPr/>
        </p:nvCxnSpPr>
        <p:spPr>
          <a:xfrm flipV="1">
            <a:off x="4736592" y="5838409"/>
            <a:ext cx="6096" cy="301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1444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A Production Mix Problem: Capacities and Demand</a:t>
            </a:r>
          </a:p>
        </p:txBody>
      </p:sp>
      <p:sp>
        <p:nvSpPr>
          <p:cNvPr id="4" name="Date Placeholder 3"/>
          <p:cNvSpPr>
            <a:spLocks noGrp="1"/>
          </p:cNvSpPr>
          <p:nvPr>
            <p:ph type="dt" sz="half" idx="10"/>
          </p:nvPr>
        </p:nvSpPr>
        <p:spPr>
          <a:xfrm>
            <a:off x="8502650" y="23738"/>
            <a:ext cx="641351" cy="358775"/>
          </a:xfrm>
        </p:spPr>
        <p:txBody>
          <a:bodyPr/>
          <a:lstStyle/>
          <a:p>
            <a:r>
              <a:rPr lang="en-US"/>
              <a:t>Turcic</a:t>
            </a:r>
            <a:endParaRPr lang="en-US" dirty="0"/>
          </a:p>
        </p:txBody>
      </p:sp>
      <p:sp>
        <p:nvSpPr>
          <p:cNvPr id="5" name="Footer Placeholder 4"/>
          <p:cNvSpPr>
            <a:spLocks noGrp="1"/>
          </p:cNvSpPr>
          <p:nvPr>
            <p:ph type="ftr" sz="quarter" idx="11"/>
          </p:nvPr>
        </p:nvSpPr>
        <p:spPr>
          <a:xfrm>
            <a:off x="107951" y="23736"/>
            <a:ext cx="3086100" cy="365125"/>
          </a:xfrm>
        </p:spPr>
        <p:txBody>
          <a:bodyPr/>
          <a:lstStyle/>
          <a:p>
            <a:r>
              <a:rPr lang="en-US"/>
              <a:t>MGT 207 Operations Management</a:t>
            </a:r>
            <a:endParaRPr lang="en-US" dirty="0"/>
          </a:p>
        </p:txBody>
      </p:sp>
      <p:pic>
        <p:nvPicPr>
          <p:cNvPr id="6" name="Picture 5"/>
          <p:cNvPicPr>
            <a:picLocks noChangeAspect="1"/>
          </p:cNvPicPr>
          <p:nvPr/>
        </p:nvPicPr>
        <p:blipFill>
          <a:blip r:embed="rId2"/>
          <a:stretch>
            <a:fillRect/>
          </a:stretch>
        </p:blipFill>
        <p:spPr>
          <a:xfrm>
            <a:off x="684553" y="2365618"/>
            <a:ext cx="7830799" cy="3498396"/>
          </a:xfrm>
          <a:prstGeom prst="rect">
            <a:avLst/>
          </a:prstGeom>
        </p:spPr>
      </p:pic>
      <p:sp>
        <p:nvSpPr>
          <p:cNvPr id="7" name="Rectangle 6"/>
          <p:cNvSpPr/>
          <p:nvPr/>
        </p:nvSpPr>
        <p:spPr>
          <a:xfrm>
            <a:off x="628651" y="2692190"/>
            <a:ext cx="4874079" cy="42454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1951278" y="3114559"/>
            <a:ext cx="2022413" cy="338554"/>
          </a:xfrm>
          <a:prstGeom prst="rect">
            <a:avLst/>
          </a:prstGeom>
          <a:noFill/>
        </p:spPr>
        <p:txBody>
          <a:bodyPr wrap="none" rtlCol="0">
            <a:spAutoFit/>
          </a:bodyPr>
          <a:lstStyle/>
          <a:p>
            <a:r>
              <a:rPr lang="en-US" sz="1600" b="1" dirty="0">
                <a:solidFill>
                  <a:srgbClr val="FF0000"/>
                </a:solidFill>
              </a:rPr>
              <a:t>Production = demand</a:t>
            </a:r>
          </a:p>
        </p:txBody>
      </p:sp>
      <p:sp>
        <p:nvSpPr>
          <p:cNvPr id="9" name="Rounded Rectangular Callout 8"/>
          <p:cNvSpPr/>
          <p:nvPr/>
        </p:nvSpPr>
        <p:spPr>
          <a:xfrm>
            <a:off x="5666015" y="1786660"/>
            <a:ext cx="2408464" cy="579841"/>
          </a:xfrm>
          <a:prstGeom prst="wedgeRoundRectCallout">
            <a:avLst>
              <a:gd name="adj1" fmla="val -8291"/>
              <a:gd name="adj2" fmla="val 87844"/>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Profit if there were no resource constraints </a:t>
            </a:r>
          </a:p>
        </p:txBody>
      </p:sp>
      <p:sp>
        <p:nvSpPr>
          <p:cNvPr id="10" name="Up Arrow 9"/>
          <p:cNvSpPr/>
          <p:nvPr/>
        </p:nvSpPr>
        <p:spPr>
          <a:xfrm>
            <a:off x="7705271" y="5198625"/>
            <a:ext cx="738415" cy="432707"/>
          </a:xfrm>
          <a:prstGeom prst="up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7805369" y="5828888"/>
            <a:ext cx="638316" cy="369332"/>
          </a:xfrm>
          <a:prstGeom prst="rect">
            <a:avLst/>
          </a:prstGeom>
          <a:noFill/>
        </p:spPr>
        <p:txBody>
          <a:bodyPr wrap="none" rtlCol="0">
            <a:spAutoFit/>
          </a:bodyPr>
          <a:lstStyle/>
          <a:p>
            <a:r>
              <a:rPr lang="en-US" dirty="0">
                <a:solidFill>
                  <a:srgbClr val="FF0000"/>
                </a:solidFill>
              </a:rPr>
              <a:t>Gap!</a:t>
            </a:r>
          </a:p>
        </p:txBody>
      </p:sp>
      <p:sp>
        <p:nvSpPr>
          <p:cNvPr id="12" name="TextBox 11"/>
          <p:cNvSpPr txBox="1"/>
          <p:nvPr/>
        </p:nvSpPr>
        <p:spPr>
          <a:xfrm>
            <a:off x="1165535" y="6118521"/>
            <a:ext cx="3051476" cy="369332"/>
          </a:xfrm>
          <a:prstGeom prst="rect">
            <a:avLst/>
          </a:prstGeom>
          <a:noFill/>
        </p:spPr>
        <p:txBody>
          <a:bodyPr wrap="none" rtlCol="0">
            <a:spAutoFit/>
          </a:bodyPr>
          <a:lstStyle/>
          <a:p>
            <a:r>
              <a:rPr lang="en-US" b="1" dirty="0">
                <a:solidFill>
                  <a:srgbClr val="0000FF"/>
                </a:solidFill>
              </a:rPr>
              <a:t>What is the best </a:t>
            </a:r>
            <a:r>
              <a:rPr lang="en-US" b="1" i="1" dirty="0">
                <a:solidFill>
                  <a:srgbClr val="0000FF"/>
                </a:solidFill>
              </a:rPr>
              <a:t>feasible </a:t>
            </a:r>
            <a:r>
              <a:rPr lang="en-US" b="1" dirty="0">
                <a:solidFill>
                  <a:srgbClr val="0000FF"/>
                </a:solidFill>
              </a:rPr>
              <a:t>mix?</a:t>
            </a:r>
            <a:endParaRPr lang="en-US" dirty="0">
              <a:solidFill>
                <a:srgbClr val="0000FF"/>
              </a:solidFill>
            </a:endParaRPr>
          </a:p>
        </p:txBody>
      </p:sp>
    </p:spTree>
    <p:extLst>
      <p:ext uri="{BB962C8B-B14F-4D97-AF65-F5344CB8AC3E}">
        <p14:creationId xmlns:p14="http://schemas.microsoft.com/office/powerpoint/2010/main" val="1283440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P spid="10" grpId="0" animBg="1"/>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447" y="296547"/>
            <a:ext cx="8547240" cy="1325563"/>
          </a:xfrm>
        </p:spPr>
        <p:txBody>
          <a:bodyPr>
            <a:normAutofit/>
          </a:bodyPr>
          <a:lstStyle/>
          <a:p>
            <a:pPr algn="l"/>
            <a:r>
              <a:rPr lang="en-US" sz="2800" dirty="0"/>
              <a:t>Heuristic Strategies</a:t>
            </a:r>
            <a:br>
              <a:rPr lang="en-US" sz="2800" dirty="0"/>
            </a:br>
            <a:r>
              <a:rPr lang="en-US" sz="2800" dirty="0"/>
              <a:t>Approach #1: Prioritize Production According to Margins</a:t>
            </a:r>
          </a:p>
        </p:txBody>
      </p:sp>
      <p:sp>
        <p:nvSpPr>
          <p:cNvPr id="3" name="Content Placeholder 2"/>
          <p:cNvSpPr>
            <a:spLocks noGrp="1"/>
          </p:cNvSpPr>
          <p:nvPr>
            <p:ph idx="1"/>
          </p:nvPr>
        </p:nvSpPr>
        <p:spPr/>
        <p:txBody>
          <a:bodyPr>
            <a:normAutofit/>
          </a:bodyPr>
          <a:lstStyle/>
          <a:p>
            <a:pPr>
              <a:buSzPct val="120000"/>
            </a:pPr>
            <a:r>
              <a:rPr lang="en-US" sz="2400" dirty="0"/>
              <a:t>Obviously, it is important to take the </a:t>
            </a:r>
            <a:r>
              <a:rPr lang="en-US" sz="2400" i="1" dirty="0"/>
              <a:t>contribution margins </a:t>
            </a:r>
            <a:r>
              <a:rPr lang="en-US" sz="2400" dirty="0"/>
              <a:t>into account:</a:t>
            </a:r>
          </a:p>
          <a:p>
            <a:pPr lvl="1">
              <a:spcAft>
                <a:spcPts val="600"/>
              </a:spcAft>
              <a:buSzPct val="85000"/>
            </a:pPr>
            <a:r>
              <a:rPr lang="en-US" sz="1800" dirty="0"/>
              <a:t>Table: $300, Sofa: $400, Chair: $200</a:t>
            </a:r>
          </a:p>
          <a:p>
            <a:pPr>
              <a:spcAft>
                <a:spcPts val="600"/>
              </a:spcAft>
              <a:buSzPct val="120000"/>
            </a:pPr>
            <a:r>
              <a:rPr lang="en-US" sz="2400" dirty="0"/>
              <a:t>Let’s suppose that we wanted to adopt a strict priority rule “S</a:t>
            </a:r>
            <a:r>
              <a:rPr lang="en-US" sz="2400" dirty="0">
                <a:sym typeface="Symbol" panose="05050102010706020507" pitchFamily="18" charset="2"/>
              </a:rPr>
              <a:t></a:t>
            </a:r>
            <a:r>
              <a:rPr lang="en-US" sz="2400" dirty="0"/>
              <a:t>T</a:t>
            </a:r>
            <a:r>
              <a:rPr lang="en-US" sz="2400" dirty="0">
                <a:sym typeface="Symbol" panose="05050102010706020507" pitchFamily="18" charset="2"/>
              </a:rPr>
              <a:t></a:t>
            </a:r>
            <a:r>
              <a:rPr lang="en-US" sz="2400" dirty="0"/>
              <a:t>C” </a:t>
            </a:r>
          </a:p>
          <a:p>
            <a:pPr lvl="1">
              <a:spcAft>
                <a:spcPts val="600"/>
              </a:spcAft>
              <a:buSzPct val="85000"/>
            </a:pPr>
            <a:r>
              <a:rPr lang="en-US" sz="1800" dirty="0"/>
              <a:t>How many sofas can we produce and sell?</a:t>
            </a:r>
          </a:p>
          <a:p>
            <a:pPr lvl="1">
              <a:spcAft>
                <a:spcPts val="600"/>
              </a:spcAft>
              <a:buSzPct val="85000"/>
            </a:pPr>
            <a:r>
              <a:rPr lang="en-US" sz="1800" dirty="0"/>
              <a:t>If you produce the above number of sofas, how many tables can be produced and sold with the remaining capacity?</a:t>
            </a:r>
          </a:p>
          <a:p>
            <a:pPr lvl="1">
              <a:spcAft>
                <a:spcPts val="600"/>
              </a:spcAft>
              <a:buSzPct val="85000"/>
            </a:pPr>
            <a:r>
              <a:rPr lang="en-US" sz="1800" dirty="0"/>
              <a:t>Next, what about chairs?</a:t>
            </a:r>
          </a:p>
          <a:p>
            <a:pPr>
              <a:spcAft>
                <a:spcPts val="600"/>
              </a:spcAft>
              <a:buSzPct val="120000"/>
            </a:pPr>
            <a:r>
              <a:rPr lang="en-US" sz="2400" dirty="0"/>
              <a:t>What would be the profit under the above policy?</a:t>
            </a:r>
          </a:p>
          <a:p>
            <a:pPr marL="0" indent="0">
              <a:spcAft>
                <a:spcPts val="1200"/>
              </a:spcAft>
              <a:buSzPct val="85000"/>
              <a:buNone/>
            </a:pPr>
            <a:endParaRPr lang="en-US" sz="2400" dirty="0"/>
          </a:p>
          <a:p>
            <a:pPr marL="0" indent="0">
              <a:spcAft>
                <a:spcPts val="1200"/>
              </a:spcAft>
              <a:buSzPct val="85000"/>
              <a:buNone/>
            </a:pPr>
            <a:endParaRPr lang="en-US" sz="2400" dirty="0"/>
          </a:p>
        </p:txBody>
      </p:sp>
      <p:sp>
        <p:nvSpPr>
          <p:cNvPr id="4" name="Footer Placeholder 3"/>
          <p:cNvSpPr>
            <a:spLocks noGrp="1"/>
          </p:cNvSpPr>
          <p:nvPr>
            <p:ph type="ftr" sz="quarter" idx="11"/>
          </p:nvPr>
        </p:nvSpPr>
        <p:spPr>
          <a:xfrm>
            <a:off x="107951" y="6352"/>
            <a:ext cx="3086100" cy="365125"/>
          </a:xfrm>
        </p:spPr>
        <p:txBody>
          <a:bodyPr/>
          <a:lstStyle/>
          <a:p>
            <a:r>
              <a:rPr lang="en-US"/>
              <a:t>MGT 207 Operations Management</a:t>
            </a:r>
            <a:endParaRPr lang="en-US" dirty="0"/>
          </a:p>
        </p:txBody>
      </p:sp>
      <p:sp>
        <p:nvSpPr>
          <p:cNvPr id="6" name="Date Placeholder 5"/>
          <p:cNvSpPr>
            <a:spLocks noGrp="1"/>
          </p:cNvSpPr>
          <p:nvPr>
            <p:ph type="dt" sz="half" idx="10"/>
          </p:nvPr>
        </p:nvSpPr>
        <p:spPr>
          <a:xfrm>
            <a:off x="8502650" y="6353"/>
            <a:ext cx="641351" cy="358775"/>
          </a:xfrm>
        </p:spPr>
        <p:txBody>
          <a:bodyPr/>
          <a:lstStyle/>
          <a:p>
            <a:r>
              <a:rPr lang="en-US"/>
              <a:t>Turcic</a:t>
            </a:r>
            <a:endParaRPr lang="en-US" dirty="0"/>
          </a:p>
        </p:txBody>
      </p:sp>
    </p:spTree>
    <p:extLst>
      <p:ext uri="{BB962C8B-B14F-4D97-AF65-F5344CB8AC3E}">
        <p14:creationId xmlns:p14="http://schemas.microsoft.com/office/powerpoint/2010/main" val="1413219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S</a:t>
            </a:r>
            <a:r>
              <a:rPr lang="en-US" dirty="0">
                <a:sym typeface="Symbol" panose="05050102010706020507" pitchFamily="18" charset="2"/>
              </a:rPr>
              <a:t></a:t>
            </a:r>
            <a:r>
              <a:rPr lang="en-US" dirty="0"/>
              <a:t>T</a:t>
            </a:r>
            <a:r>
              <a:rPr lang="en-US" dirty="0">
                <a:sym typeface="Symbol" panose="05050102010706020507" pitchFamily="18" charset="2"/>
              </a:rPr>
              <a:t></a:t>
            </a:r>
            <a:r>
              <a:rPr lang="en-US" dirty="0"/>
              <a:t>C Priority Rule</a:t>
            </a:r>
          </a:p>
        </p:txBody>
      </p:sp>
      <p:sp>
        <p:nvSpPr>
          <p:cNvPr id="3" name="Content Placeholder 2"/>
          <p:cNvSpPr>
            <a:spLocks noGrp="1"/>
          </p:cNvSpPr>
          <p:nvPr>
            <p:ph idx="1"/>
          </p:nvPr>
        </p:nvSpPr>
        <p:spPr/>
        <p:txBody>
          <a:bodyPr/>
          <a:lstStyle/>
          <a:p>
            <a:endParaRPr lang="en-US" dirty="0"/>
          </a:p>
        </p:txBody>
      </p:sp>
      <p:sp>
        <p:nvSpPr>
          <p:cNvPr id="23" name="Date Placeholder 5"/>
          <p:cNvSpPr>
            <a:spLocks noGrp="1"/>
          </p:cNvSpPr>
          <p:nvPr>
            <p:ph type="dt" sz="half" idx="10"/>
          </p:nvPr>
        </p:nvSpPr>
        <p:spPr/>
        <p:txBody>
          <a:bodyPr/>
          <a:lstStyle/>
          <a:p>
            <a:r>
              <a:rPr lang="en-US"/>
              <a:t>Turcic</a:t>
            </a:r>
            <a:endParaRPr lang="en-US" dirty="0"/>
          </a:p>
        </p:txBody>
      </p:sp>
      <p:sp>
        <p:nvSpPr>
          <p:cNvPr id="20" name="Footer Placeholder 3"/>
          <p:cNvSpPr>
            <a:spLocks noGrp="1"/>
          </p:cNvSpPr>
          <p:nvPr>
            <p:ph type="ftr" sz="quarter" idx="11"/>
          </p:nvPr>
        </p:nvSpPr>
        <p:spPr/>
        <p:txBody>
          <a:bodyPr/>
          <a:lstStyle/>
          <a:p>
            <a:r>
              <a:rPr lang="en-US"/>
              <a:t>MGT 207 Operations Management</a:t>
            </a:r>
            <a:endParaRPr lang="en-US" dirty="0"/>
          </a:p>
        </p:txBody>
      </p:sp>
      <p:pic>
        <p:nvPicPr>
          <p:cNvPr id="4" name="Picture 3"/>
          <p:cNvPicPr>
            <a:picLocks noChangeAspect="1"/>
          </p:cNvPicPr>
          <p:nvPr/>
        </p:nvPicPr>
        <p:blipFill>
          <a:blip r:embed="rId3"/>
          <a:stretch>
            <a:fillRect/>
          </a:stretch>
        </p:blipFill>
        <p:spPr>
          <a:xfrm>
            <a:off x="318409" y="1502409"/>
            <a:ext cx="8290151" cy="3850403"/>
          </a:xfrm>
          <a:prstGeom prst="rect">
            <a:avLst/>
          </a:prstGeom>
        </p:spPr>
      </p:pic>
      <p:sp>
        <p:nvSpPr>
          <p:cNvPr id="7" name="Up-Down Arrow 6"/>
          <p:cNvSpPr/>
          <p:nvPr/>
        </p:nvSpPr>
        <p:spPr>
          <a:xfrm>
            <a:off x="3894364" y="1894115"/>
            <a:ext cx="155123" cy="204107"/>
          </a:xfrm>
          <a:prstGeom prst="up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Left-Right Arrow 8"/>
          <p:cNvSpPr/>
          <p:nvPr/>
        </p:nvSpPr>
        <p:spPr>
          <a:xfrm>
            <a:off x="6506936" y="3469824"/>
            <a:ext cx="375557" cy="163285"/>
          </a:xfrm>
          <a:prstGeom prst="lef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9770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31284" y="1530806"/>
            <a:ext cx="8363000" cy="3878036"/>
          </a:xfrm>
          <a:prstGeom prst="rect">
            <a:avLst/>
          </a:prstGeom>
        </p:spPr>
      </p:pic>
      <p:sp>
        <p:nvSpPr>
          <p:cNvPr id="8" name="Title 7"/>
          <p:cNvSpPr>
            <a:spLocks noGrp="1"/>
          </p:cNvSpPr>
          <p:nvPr>
            <p:ph type="title"/>
          </p:nvPr>
        </p:nvSpPr>
        <p:spPr/>
        <p:txBody>
          <a:bodyPr/>
          <a:lstStyle/>
          <a:p>
            <a:r>
              <a:rPr lang="en-US" dirty="0"/>
              <a:t>S</a:t>
            </a:r>
            <a:r>
              <a:rPr lang="en-US" dirty="0">
                <a:sym typeface="Symbol" panose="05050102010706020507" pitchFamily="18" charset="2"/>
              </a:rPr>
              <a:t></a:t>
            </a:r>
            <a:r>
              <a:rPr lang="en-US" dirty="0"/>
              <a:t>T</a:t>
            </a:r>
            <a:r>
              <a:rPr lang="en-US" dirty="0">
                <a:sym typeface="Symbol" panose="05050102010706020507" pitchFamily="18" charset="2"/>
              </a:rPr>
              <a:t></a:t>
            </a:r>
            <a:r>
              <a:rPr lang="en-US" dirty="0"/>
              <a:t>C Priority Rule</a:t>
            </a:r>
          </a:p>
        </p:txBody>
      </p:sp>
      <p:sp>
        <p:nvSpPr>
          <p:cNvPr id="23" name="Date Placeholder 5"/>
          <p:cNvSpPr>
            <a:spLocks noGrp="1"/>
          </p:cNvSpPr>
          <p:nvPr>
            <p:ph type="dt" sz="half" idx="10"/>
          </p:nvPr>
        </p:nvSpPr>
        <p:spPr/>
        <p:txBody>
          <a:bodyPr/>
          <a:lstStyle/>
          <a:p>
            <a:r>
              <a:rPr lang="en-US"/>
              <a:t>Turcic</a:t>
            </a:r>
            <a:endParaRPr lang="en-US" dirty="0"/>
          </a:p>
        </p:txBody>
      </p:sp>
      <p:sp>
        <p:nvSpPr>
          <p:cNvPr id="20" name="Footer Placeholder 3"/>
          <p:cNvSpPr>
            <a:spLocks noGrp="1"/>
          </p:cNvSpPr>
          <p:nvPr>
            <p:ph type="ftr" sz="quarter" idx="11"/>
          </p:nvPr>
        </p:nvSpPr>
        <p:spPr/>
        <p:txBody>
          <a:bodyPr/>
          <a:lstStyle/>
          <a:p>
            <a:r>
              <a:rPr lang="en-US"/>
              <a:t>MGT 207 Operations Management</a:t>
            </a:r>
            <a:endParaRPr lang="en-US" dirty="0"/>
          </a:p>
        </p:txBody>
      </p:sp>
      <p:sp>
        <p:nvSpPr>
          <p:cNvPr id="7" name="Up-Down Arrow 6"/>
          <p:cNvSpPr/>
          <p:nvPr/>
        </p:nvSpPr>
        <p:spPr>
          <a:xfrm>
            <a:off x="3894364" y="1894115"/>
            <a:ext cx="155123" cy="204107"/>
          </a:xfrm>
          <a:prstGeom prst="up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Left-Right Arrow 8"/>
          <p:cNvSpPr/>
          <p:nvPr/>
        </p:nvSpPr>
        <p:spPr>
          <a:xfrm>
            <a:off x="6547759" y="3469824"/>
            <a:ext cx="375557" cy="163285"/>
          </a:xfrm>
          <a:prstGeom prst="lef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eft-Right Arrow 9"/>
          <p:cNvSpPr/>
          <p:nvPr/>
        </p:nvSpPr>
        <p:spPr>
          <a:xfrm>
            <a:off x="6547759" y="4439332"/>
            <a:ext cx="375557" cy="163285"/>
          </a:xfrm>
          <a:prstGeom prst="lef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Up-Down Arrow 10"/>
          <p:cNvSpPr/>
          <p:nvPr/>
        </p:nvSpPr>
        <p:spPr>
          <a:xfrm>
            <a:off x="2936421" y="1894115"/>
            <a:ext cx="155123" cy="204107"/>
          </a:xfrm>
          <a:prstGeom prst="up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lowchart: Alternate Process 5"/>
          <p:cNvSpPr/>
          <p:nvPr/>
        </p:nvSpPr>
        <p:spPr>
          <a:xfrm>
            <a:off x="2661557" y="2098222"/>
            <a:ext cx="669472" cy="220436"/>
          </a:xfrm>
          <a:prstGeom prst="flowChartAlternateProcess">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Alternate Process 14"/>
          <p:cNvSpPr/>
          <p:nvPr/>
        </p:nvSpPr>
        <p:spPr>
          <a:xfrm>
            <a:off x="5940879" y="2098222"/>
            <a:ext cx="819151" cy="220436"/>
          </a:xfrm>
          <a:prstGeom prst="flowChartAlternateProcess">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909673" y="5680845"/>
            <a:ext cx="4524380" cy="369332"/>
          </a:xfrm>
          <a:prstGeom prst="rect">
            <a:avLst/>
          </a:prstGeom>
          <a:noFill/>
        </p:spPr>
        <p:txBody>
          <a:bodyPr wrap="none" rtlCol="0">
            <a:spAutoFit/>
          </a:bodyPr>
          <a:lstStyle/>
          <a:p>
            <a:r>
              <a:rPr lang="en-US" b="1" dirty="0">
                <a:solidFill>
                  <a:srgbClr val="0000FF"/>
                </a:solidFill>
              </a:rPr>
              <a:t>What is potentially wrong with this heuristic?</a:t>
            </a:r>
            <a:endParaRPr lang="en-US" dirty="0">
              <a:solidFill>
                <a:srgbClr val="0000FF"/>
              </a:solidFill>
            </a:endParaRPr>
          </a:p>
        </p:txBody>
      </p:sp>
    </p:spTree>
    <p:extLst>
      <p:ext uri="{BB962C8B-B14F-4D97-AF65-F5344CB8AC3E}">
        <p14:creationId xmlns:p14="http://schemas.microsoft.com/office/powerpoint/2010/main" val="2841643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639342"/>
            <a:ext cx="9144000" cy="708025"/>
          </a:xfrm>
        </p:spPr>
        <p:txBody>
          <a:bodyPr/>
          <a:lstStyle/>
          <a:p>
            <a:pPr algn="ctr"/>
            <a:r>
              <a:rPr lang="en-US" dirty="0"/>
              <a:t>A Problem Statement</a:t>
            </a:r>
            <a:endParaRPr lang="en-US" sz="3600" dirty="0"/>
          </a:p>
        </p:txBody>
      </p:sp>
      <p:sp>
        <p:nvSpPr>
          <p:cNvPr id="34" name="Content Placeholder 2"/>
          <p:cNvSpPr>
            <a:spLocks noGrp="1"/>
          </p:cNvSpPr>
          <p:nvPr>
            <p:ph idx="1"/>
          </p:nvPr>
        </p:nvSpPr>
        <p:spPr>
          <a:xfrm>
            <a:off x="345149" y="1347367"/>
            <a:ext cx="8478177" cy="4954821"/>
          </a:xfrm>
        </p:spPr>
        <p:txBody>
          <a:bodyPr/>
          <a:lstStyle/>
          <a:p>
            <a:pPr marL="0" indent="0" algn="ctr">
              <a:spcAft>
                <a:spcPts val="1200"/>
              </a:spcAft>
              <a:buSzPct val="85000"/>
              <a:buNone/>
            </a:pPr>
            <a:endParaRPr lang="en-US" dirty="0"/>
          </a:p>
          <a:p>
            <a:pPr marL="0" indent="0" algn="ctr">
              <a:spcAft>
                <a:spcPts val="1200"/>
              </a:spcAft>
              <a:buSzPct val="85000"/>
              <a:buNone/>
            </a:pPr>
            <a:r>
              <a:rPr lang="en-US" dirty="0"/>
              <a:t>Given your limited resources, how would you allocate them in an optimal way, so as to maximize profit?</a:t>
            </a:r>
          </a:p>
          <a:p>
            <a:pPr marL="0" indent="0">
              <a:spcAft>
                <a:spcPts val="1200"/>
              </a:spcAft>
              <a:buSzPct val="85000"/>
              <a:buNone/>
            </a:pPr>
            <a:endParaRPr lang="en-US" sz="2000" dirty="0"/>
          </a:p>
        </p:txBody>
      </p:sp>
      <p:sp>
        <p:nvSpPr>
          <p:cNvPr id="5" name="Footer Placeholder 3"/>
          <p:cNvSpPr>
            <a:spLocks noGrp="1"/>
          </p:cNvSpPr>
          <p:nvPr>
            <p:ph type="ftr" sz="quarter" idx="11"/>
          </p:nvPr>
        </p:nvSpPr>
        <p:spPr>
          <a:xfrm>
            <a:off x="107951" y="6352"/>
            <a:ext cx="3086100" cy="365125"/>
          </a:xfrm>
        </p:spPr>
        <p:txBody>
          <a:bodyPr/>
          <a:lstStyle/>
          <a:p>
            <a:r>
              <a:rPr lang="en-US"/>
              <a:t>MGT 207 Operations Management</a:t>
            </a:r>
            <a:endParaRPr lang="en-US" dirty="0"/>
          </a:p>
        </p:txBody>
      </p:sp>
      <p:sp>
        <p:nvSpPr>
          <p:cNvPr id="7" name="Date Placeholder 5"/>
          <p:cNvSpPr>
            <a:spLocks noGrp="1"/>
          </p:cNvSpPr>
          <p:nvPr>
            <p:ph type="dt" sz="half" idx="10"/>
          </p:nvPr>
        </p:nvSpPr>
        <p:spPr>
          <a:xfrm>
            <a:off x="8502650" y="6353"/>
            <a:ext cx="641351" cy="358775"/>
          </a:xfrm>
        </p:spPr>
        <p:txBody>
          <a:bodyPr/>
          <a:lstStyle/>
          <a:p>
            <a:r>
              <a:rPr lang="en-US"/>
              <a:t>Turcic</a:t>
            </a:r>
            <a:endParaRPr lang="en-US" dirty="0"/>
          </a:p>
        </p:txBody>
      </p:sp>
      <p:sp>
        <p:nvSpPr>
          <p:cNvPr id="3" name="Down Arrow 2"/>
          <p:cNvSpPr/>
          <p:nvPr/>
        </p:nvSpPr>
        <p:spPr>
          <a:xfrm>
            <a:off x="3988242" y="3228783"/>
            <a:ext cx="1191985" cy="1191987"/>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422760" y="4699760"/>
            <a:ext cx="6322949" cy="1323439"/>
          </a:xfrm>
          <a:prstGeom prst="rect">
            <a:avLst/>
          </a:prstGeom>
          <a:noFill/>
        </p:spPr>
        <p:txBody>
          <a:bodyPr wrap="none" rtlCol="0">
            <a:spAutoFit/>
          </a:bodyPr>
          <a:lstStyle/>
          <a:p>
            <a:pPr algn="ctr"/>
            <a:r>
              <a:rPr lang="en-US" sz="2400" dirty="0">
                <a:solidFill>
                  <a:srgbClr val="000099"/>
                </a:solidFill>
              </a:rPr>
              <a:t>In fact, the production mix optimization problem </a:t>
            </a:r>
          </a:p>
          <a:p>
            <a:pPr algn="ctr"/>
            <a:r>
              <a:rPr lang="en-US" sz="2400" dirty="0">
                <a:solidFill>
                  <a:srgbClr val="000099"/>
                </a:solidFill>
              </a:rPr>
              <a:t>belongs to a class of problems called </a:t>
            </a:r>
          </a:p>
          <a:p>
            <a:pPr algn="ctr"/>
            <a:r>
              <a:rPr lang="en-US" sz="3200" b="1" i="1" dirty="0">
                <a:solidFill>
                  <a:srgbClr val="000099"/>
                </a:solidFill>
              </a:rPr>
              <a:t>Resource Allocation Problems</a:t>
            </a:r>
          </a:p>
        </p:txBody>
      </p:sp>
    </p:spTree>
    <p:extLst>
      <p:ext uri="{BB962C8B-B14F-4D97-AF65-F5344CB8AC3E}">
        <p14:creationId xmlns:p14="http://schemas.microsoft.com/office/powerpoint/2010/main" val="1936631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07951" y="467648"/>
            <a:ext cx="9144000" cy="708025"/>
          </a:xfrm>
        </p:spPr>
        <p:txBody>
          <a:bodyPr>
            <a:noAutofit/>
          </a:bodyPr>
          <a:lstStyle/>
          <a:p>
            <a:r>
              <a:rPr lang="en-US" sz="3600" dirty="0"/>
              <a:t>Heuristic Strategies: All 6 Sequential Allocations (“Strict Priority Rules”)</a:t>
            </a:r>
          </a:p>
        </p:txBody>
      </p:sp>
      <p:sp>
        <p:nvSpPr>
          <p:cNvPr id="3" name="Content Placeholder 2"/>
          <p:cNvSpPr>
            <a:spLocks noGrp="1"/>
          </p:cNvSpPr>
          <p:nvPr>
            <p:ph idx="1"/>
          </p:nvPr>
        </p:nvSpPr>
        <p:spPr>
          <a:xfrm>
            <a:off x="239694" y="1343026"/>
            <a:ext cx="8478177" cy="4954821"/>
          </a:xfrm>
        </p:spPr>
        <p:txBody>
          <a:bodyPr>
            <a:normAutofit/>
          </a:bodyPr>
          <a:lstStyle/>
          <a:p>
            <a:pPr>
              <a:spcAft>
                <a:spcPts val="1200"/>
              </a:spcAft>
              <a:buSzPct val="85000"/>
            </a:pPr>
            <a:r>
              <a:rPr lang="en-US" sz="2000" dirty="0"/>
              <a:t>If we really can’t trust any simple approach to determining the best priority, should we try </a:t>
            </a:r>
            <a:r>
              <a:rPr lang="en-US" sz="2000" i="1" dirty="0"/>
              <a:t>all</a:t>
            </a:r>
            <a:r>
              <a:rPr lang="en-US" sz="2000" dirty="0"/>
              <a:t> possible strict priority rules?</a:t>
            </a:r>
            <a:endParaRPr lang="en-US" sz="2000" i="1" dirty="0"/>
          </a:p>
          <a:p>
            <a:pPr marL="0" indent="0">
              <a:spcAft>
                <a:spcPts val="1200"/>
              </a:spcAft>
              <a:buSzPct val="85000"/>
              <a:buNone/>
            </a:pPr>
            <a:endParaRPr lang="en-US" sz="2000" dirty="0"/>
          </a:p>
        </p:txBody>
      </p:sp>
      <p:sp>
        <p:nvSpPr>
          <p:cNvPr id="13" name="Footer Placeholder 3"/>
          <p:cNvSpPr>
            <a:spLocks noGrp="1"/>
          </p:cNvSpPr>
          <p:nvPr>
            <p:ph type="ftr" sz="quarter" idx="11"/>
          </p:nvPr>
        </p:nvSpPr>
        <p:spPr>
          <a:xfrm>
            <a:off x="107951" y="6352"/>
            <a:ext cx="3086100" cy="365125"/>
          </a:xfrm>
        </p:spPr>
        <p:txBody>
          <a:bodyPr/>
          <a:lstStyle/>
          <a:p>
            <a:r>
              <a:rPr lang="en-US"/>
              <a:t>MGT 207 Operations Management</a:t>
            </a:r>
            <a:endParaRPr lang="en-US" dirty="0"/>
          </a:p>
        </p:txBody>
      </p:sp>
      <p:sp>
        <p:nvSpPr>
          <p:cNvPr id="15" name="Date Placeholder 5"/>
          <p:cNvSpPr>
            <a:spLocks noGrp="1"/>
          </p:cNvSpPr>
          <p:nvPr>
            <p:ph type="dt" sz="half" idx="10"/>
          </p:nvPr>
        </p:nvSpPr>
        <p:spPr>
          <a:xfrm>
            <a:off x="8502650" y="6353"/>
            <a:ext cx="641351" cy="358775"/>
          </a:xfrm>
        </p:spPr>
        <p:txBody>
          <a:bodyPr/>
          <a:lstStyle/>
          <a:p>
            <a:r>
              <a:rPr lang="en-US"/>
              <a:t>Turcic</a:t>
            </a:r>
            <a:endParaRPr lang="en-US" dirty="0"/>
          </a:p>
        </p:txBody>
      </p:sp>
      <p:pic>
        <p:nvPicPr>
          <p:cNvPr id="6" name="Picture 5"/>
          <p:cNvPicPr>
            <a:picLocks noChangeAspect="1"/>
          </p:cNvPicPr>
          <p:nvPr/>
        </p:nvPicPr>
        <p:blipFill>
          <a:blip r:embed="rId3"/>
          <a:stretch>
            <a:fillRect/>
          </a:stretch>
        </p:blipFill>
        <p:spPr>
          <a:xfrm>
            <a:off x="1006919" y="2146528"/>
            <a:ext cx="6943725" cy="3038475"/>
          </a:xfrm>
          <a:prstGeom prst="rect">
            <a:avLst/>
          </a:prstGeom>
        </p:spPr>
      </p:pic>
      <p:sp>
        <p:nvSpPr>
          <p:cNvPr id="19" name="TextBox 18"/>
          <p:cNvSpPr txBox="1"/>
          <p:nvPr/>
        </p:nvSpPr>
        <p:spPr>
          <a:xfrm>
            <a:off x="270334" y="6023854"/>
            <a:ext cx="8200258" cy="646331"/>
          </a:xfrm>
          <a:prstGeom prst="rect">
            <a:avLst/>
          </a:prstGeom>
          <a:noFill/>
        </p:spPr>
        <p:txBody>
          <a:bodyPr wrap="none" rtlCol="0">
            <a:spAutoFit/>
          </a:bodyPr>
          <a:lstStyle/>
          <a:p>
            <a:r>
              <a:rPr lang="en-US" b="1" dirty="0">
                <a:solidFill>
                  <a:srgbClr val="0000FF"/>
                </a:solidFill>
              </a:rPr>
              <a:t>What</a:t>
            </a:r>
            <a:r>
              <a:rPr lang="en-US" dirty="0"/>
              <a:t> </a:t>
            </a:r>
            <a:r>
              <a:rPr lang="en-US" b="1" dirty="0">
                <a:solidFill>
                  <a:srgbClr val="0000FF"/>
                </a:solidFill>
              </a:rPr>
              <a:t>is a serious disadvantage of the approach of exhausting all possible sequential</a:t>
            </a:r>
          </a:p>
          <a:p>
            <a:r>
              <a:rPr lang="en-US" b="1" dirty="0">
                <a:solidFill>
                  <a:srgbClr val="0000FF"/>
                </a:solidFill>
              </a:rPr>
              <a:t>allocations?</a:t>
            </a:r>
          </a:p>
        </p:txBody>
      </p:sp>
    </p:spTree>
    <p:extLst>
      <p:ext uri="{BB962C8B-B14F-4D97-AF65-F5344CB8AC3E}">
        <p14:creationId xmlns:p14="http://schemas.microsoft.com/office/powerpoint/2010/main" val="1254519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 y="639342"/>
            <a:ext cx="9144000" cy="708025"/>
          </a:xfrm>
        </p:spPr>
        <p:txBody>
          <a:bodyPr/>
          <a:lstStyle/>
          <a:p>
            <a:pPr algn="ctr"/>
            <a:endParaRPr lang="en-US" sz="3600" dirty="0"/>
          </a:p>
        </p:txBody>
      </p:sp>
      <p:sp>
        <p:nvSpPr>
          <p:cNvPr id="34" name="Content Placeholder 2"/>
          <p:cNvSpPr>
            <a:spLocks noGrp="1"/>
          </p:cNvSpPr>
          <p:nvPr>
            <p:ph idx="1"/>
          </p:nvPr>
        </p:nvSpPr>
        <p:spPr>
          <a:xfrm>
            <a:off x="345149" y="1480490"/>
            <a:ext cx="8478177" cy="4954821"/>
          </a:xfrm>
        </p:spPr>
        <p:txBody>
          <a:bodyPr/>
          <a:lstStyle/>
          <a:p>
            <a:pPr marL="0" indent="0" algn="ctr">
              <a:spcAft>
                <a:spcPts val="1200"/>
              </a:spcAft>
              <a:buSzPct val="85000"/>
              <a:buNone/>
            </a:pPr>
            <a:endParaRPr lang="en-US" dirty="0"/>
          </a:p>
          <a:p>
            <a:pPr marL="0" indent="0" algn="ctr">
              <a:spcAft>
                <a:spcPts val="1200"/>
              </a:spcAft>
              <a:buSzPct val="85000"/>
              <a:buNone/>
            </a:pPr>
            <a:r>
              <a:rPr lang="en-US" dirty="0"/>
              <a:t>If you have 10 products: How many strict priority rules do you get?</a:t>
            </a:r>
          </a:p>
          <a:p>
            <a:pPr marL="0" indent="0">
              <a:spcAft>
                <a:spcPts val="1200"/>
              </a:spcAft>
              <a:buSzPct val="85000"/>
              <a:buNone/>
            </a:pPr>
            <a:endParaRPr lang="en-US" sz="2000" dirty="0"/>
          </a:p>
        </p:txBody>
      </p:sp>
      <p:sp>
        <p:nvSpPr>
          <p:cNvPr id="5" name="Footer Placeholder 3"/>
          <p:cNvSpPr>
            <a:spLocks noGrp="1"/>
          </p:cNvSpPr>
          <p:nvPr>
            <p:ph type="ftr" sz="quarter" idx="11"/>
          </p:nvPr>
        </p:nvSpPr>
        <p:spPr>
          <a:xfrm>
            <a:off x="107951" y="6352"/>
            <a:ext cx="3086100" cy="365125"/>
          </a:xfrm>
        </p:spPr>
        <p:txBody>
          <a:bodyPr/>
          <a:lstStyle/>
          <a:p>
            <a:r>
              <a:rPr lang="en-US"/>
              <a:t>MGT 207 Operations Management</a:t>
            </a:r>
            <a:endParaRPr lang="en-US" dirty="0"/>
          </a:p>
        </p:txBody>
      </p:sp>
      <p:sp>
        <p:nvSpPr>
          <p:cNvPr id="7" name="Date Placeholder 5"/>
          <p:cNvSpPr>
            <a:spLocks noGrp="1"/>
          </p:cNvSpPr>
          <p:nvPr>
            <p:ph type="dt" sz="half" idx="10"/>
          </p:nvPr>
        </p:nvSpPr>
        <p:spPr>
          <a:xfrm>
            <a:off x="8502650" y="6353"/>
            <a:ext cx="641351" cy="358775"/>
          </a:xfrm>
        </p:spPr>
        <p:txBody>
          <a:bodyPr/>
          <a:lstStyle/>
          <a:p>
            <a:r>
              <a:rPr lang="en-US"/>
              <a:t>Turcic</a:t>
            </a:r>
            <a:endParaRPr lang="en-US" dirty="0"/>
          </a:p>
        </p:txBody>
      </p:sp>
      <p:sp>
        <p:nvSpPr>
          <p:cNvPr id="4" name="TextBox 3"/>
          <p:cNvSpPr txBox="1"/>
          <p:nvPr/>
        </p:nvSpPr>
        <p:spPr>
          <a:xfrm>
            <a:off x="1950348" y="4883105"/>
            <a:ext cx="5267788" cy="523220"/>
          </a:xfrm>
          <a:prstGeom prst="rect">
            <a:avLst/>
          </a:prstGeom>
          <a:noFill/>
        </p:spPr>
        <p:txBody>
          <a:bodyPr wrap="none" rtlCol="0">
            <a:spAutoFit/>
          </a:bodyPr>
          <a:lstStyle/>
          <a:p>
            <a:pPr algn="ctr"/>
            <a:r>
              <a:rPr lang="en-US" sz="2800" dirty="0">
                <a:solidFill>
                  <a:srgbClr val="000099"/>
                </a:solidFill>
              </a:rPr>
              <a:t>Will one of these rules be optimal?</a:t>
            </a:r>
            <a:endParaRPr lang="en-US" sz="3600" b="1" i="1" dirty="0">
              <a:solidFill>
                <a:srgbClr val="000099"/>
              </a:solidFill>
            </a:endParaRPr>
          </a:p>
        </p:txBody>
      </p:sp>
    </p:spTree>
    <p:extLst>
      <p:ext uri="{BB962C8B-B14F-4D97-AF65-F5344CB8AC3E}">
        <p14:creationId xmlns:p14="http://schemas.microsoft.com/office/powerpoint/2010/main" val="4094531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99"/>
                </a:solidFill>
                <a:latin typeface="+mn-lt"/>
              </a:rPr>
              <a:t>Introduction to Excel </a:t>
            </a:r>
            <a:r>
              <a:rPr lang="en-US" b="1" i="1" dirty="0">
                <a:solidFill>
                  <a:srgbClr val="000099"/>
                </a:solidFill>
                <a:latin typeface="+mn-lt"/>
              </a:rPr>
              <a:t>Solver</a:t>
            </a:r>
          </a:p>
        </p:txBody>
      </p:sp>
      <p:sp>
        <p:nvSpPr>
          <p:cNvPr id="4" name="Content Placeholder 2"/>
          <p:cNvSpPr txBox="1">
            <a:spLocks/>
          </p:cNvSpPr>
          <p:nvPr/>
        </p:nvSpPr>
        <p:spPr bwMode="auto">
          <a:xfrm>
            <a:off x="1007797" y="3517307"/>
            <a:ext cx="7880831" cy="173843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rgbClr val="5F5F5F"/>
              </a:buClr>
              <a:buSzPct val="65000"/>
              <a:buFont typeface="Wingdings" pitchFamily="2" charset="2"/>
              <a:buChar char="q"/>
              <a:defRPr sz="2600">
                <a:solidFill>
                  <a:srgbClr val="000099"/>
                </a:solidFill>
                <a:latin typeface="Calibri" pitchFamily="34" charset="0"/>
                <a:ea typeface="+mn-ea"/>
                <a:cs typeface="Calibri" pitchFamily="34" charset="0"/>
              </a:defRPr>
            </a:lvl1pPr>
            <a:lvl2pPr marL="669925" indent="-325438" algn="l" rtl="0" eaLnBrk="0" fontAlgn="base" hangingPunct="0">
              <a:spcBef>
                <a:spcPct val="20000"/>
              </a:spcBef>
              <a:spcAft>
                <a:spcPct val="0"/>
              </a:spcAft>
              <a:buClr>
                <a:srgbClr val="5F5F5F"/>
              </a:buClr>
              <a:buSzPct val="75000"/>
              <a:buFont typeface="Wingdings" pitchFamily="2" charset="2"/>
              <a:buChar char="§"/>
              <a:defRPr sz="2400">
                <a:solidFill>
                  <a:srgbClr val="000099"/>
                </a:solidFill>
                <a:latin typeface="Calibri" pitchFamily="34" charset="0"/>
                <a:cs typeface="Calibri" pitchFamily="34" charset="0"/>
              </a:defRPr>
            </a:lvl2pPr>
            <a:lvl3pPr marL="1022350" indent="-350838" algn="l" rtl="0" eaLnBrk="0" fontAlgn="base" hangingPunct="0">
              <a:spcBef>
                <a:spcPct val="20000"/>
              </a:spcBef>
              <a:spcAft>
                <a:spcPct val="0"/>
              </a:spcAft>
              <a:buClr>
                <a:srgbClr val="5F5F5F"/>
              </a:buClr>
              <a:buSzPct val="65000"/>
              <a:buFont typeface="Wingdings" pitchFamily="2" charset="2"/>
              <a:buChar char="q"/>
              <a:defRPr sz="2200">
                <a:solidFill>
                  <a:srgbClr val="000099"/>
                </a:solidFill>
                <a:latin typeface="Calibri" pitchFamily="34" charset="0"/>
                <a:cs typeface="Calibri" pitchFamily="34" charset="0"/>
              </a:defRPr>
            </a:lvl3pPr>
            <a:lvl4pPr marL="1339850" indent="-315913" algn="l" rtl="0" eaLnBrk="0" fontAlgn="base" hangingPunct="0">
              <a:spcBef>
                <a:spcPct val="20000"/>
              </a:spcBef>
              <a:spcAft>
                <a:spcPct val="0"/>
              </a:spcAft>
              <a:buClr>
                <a:srgbClr val="5F5F5F"/>
              </a:buClr>
              <a:buSzPct val="65000"/>
              <a:buFont typeface="Wingdings" pitchFamily="2" charset="2"/>
              <a:buChar char="q"/>
              <a:defRPr sz="2000">
                <a:solidFill>
                  <a:srgbClr val="000099"/>
                </a:solidFill>
                <a:latin typeface="Calibri" pitchFamily="34" charset="0"/>
                <a:cs typeface="Calibri" pitchFamily="34" charset="0"/>
              </a:defRPr>
            </a:lvl4pPr>
            <a:lvl5pPr marL="1681163" indent="-339725" algn="l" rtl="0" eaLnBrk="0" fontAlgn="base" hangingPunct="0">
              <a:spcBef>
                <a:spcPct val="20000"/>
              </a:spcBef>
              <a:spcAft>
                <a:spcPct val="0"/>
              </a:spcAft>
              <a:buClr>
                <a:srgbClr val="5F5F5F"/>
              </a:buClr>
              <a:buSzPct val="65000"/>
              <a:buFont typeface="Wingdings" pitchFamily="2" charset="2"/>
              <a:buChar char="§"/>
              <a:defRPr sz="2000">
                <a:solidFill>
                  <a:srgbClr val="000099"/>
                </a:solidFill>
                <a:latin typeface="Calibri" pitchFamily="34" charset="0"/>
                <a:cs typeface="Calibri" pitchFamily="34" charset="0"/>
              </a:defRPr>
            </a:lvl5pPr>
            <a:lvl6pPr marL="2138363" indent="-339725" algn="l" rtl="0" fontAlgn="base">
              <a:spcBef>
                <a:spcPct val="20000"/>
              </a:spcBef>
              <a:spcAft>
                <a:spcPct val="0"/>
              </a:spcAft>
              <a:buClr>
                <a:srgbClr val="5F5F5F"/>
              </a:buClr>
              <a:buSzPct val="65000"/>
              <a:buFont typeface="Wingdings" pitchFamily="2" charset="2"/>
              <a:buChar char="§"/>
              <a:defRPr sz="2000">
                <a:solidFill>
                  <a:schemeClr val="tx1"/>
                </a:solidFill>
                <a:latin typeface="+mn-lt"/>
                <a:cs typeface="+mn-cs"/>
              </a:defRPr>
            </a:lvl6pPr>
            <a:lvl7pPr marL="2595563" indent="-339725" algn="l" rtl="0" fontAlgn="base">
              <a:spcBef>
                <a:spcPct val="20000"/>
              </a:spcBef>
              <a:spcAft>
                <a:spcPct val="0"/>
              </a:spcAft>
              <a:buClr>
                <a:srgbClr val="5F5F5F"/>
              </a:buClr>
              <a:buSzPct val="65000"/>
              <a:buFont typeface="Wingdings" pitchFamily="2" charset="2"/>
              <a:buChar char="§"/>
              <a:defRPr sz="2000">
                <a:solidFill>
                  <a:schemeClr val="tx1"/>
                </a:solidFill>
                <a:latin typeface="+mn-lt"/>
                <a:cs typeface="+mn-cs"/>
              </a:defRPr>
            </a:lvl7pPr>
            <a:lvl8pPr marL="3052763" indent="-339725" algn="l" rtl="0" fontAlgn="base">
              <a:spcBef>
                <a:spcPct val="20000"/>
              </a:spcBef>
              <a:spcAft>
                <a:spcPct val="0"/>
              </a:spcAft>
              <a:buClr>
                <a:srgbClr val="5F5F5F"/>
              </a:buClr>
              <a:buSzPct val="65000"/>
              <a:buFont typeface="Wingdings" pitchFamily="2" charset="2"/>
              <a:buChar char="§"/>
              <a:defRPr sz="2000">
                <a:solidFill>
                  <a:schemeClr val="tx1"/>
                </a:solidFill>
                <a:latin typeface="+mn-lt"/>
                <a:cs typeface="+mn-cs"/>
              </a:defRPr>
            </a:lvl8pPr>
            <a:lvl9pPr marL="3509963" indent="-339725" algn="l" rtl="0" fontAlgn="base">
              <a:spcBef>
                <a:spcPct val="20000"/>
              </a:spcBef>
              <a:spcAft>
                <a:spcPct val="0"/>
              </a:spcAft>
              <a:buClr>
                <a:srgbClr val="5F5F5F"/>
              </a:buClr>
              <a:buSzPct val="65000"/>
              <a:buFont typeface="Wingdings" pitchFamily="2" charset="2"/>
              <a:buChar char="§"/>
              <a:defRPr sz="2000">
                <a:solidFill>
                  <a:schemeClr val="tx1"/>
                </a:solidFill>
                <a:latin typeface="+mn-lt"/>
                <a:cs typeface="+mn-cs"/>
              </a:defRPr>
            </a:lvl9pPr>
          </a:lstStyle>
          <a:p>
            <a:pPr marL="0" indent="0">
              <a:buNone/>
            </a:pPr>
            <a:endParaRPr lang="en-US" sz="2000" dirty="0"/>
          </a:p>
          <a:p>
            <a:pPr marL="0" indent="0">
              <a:buNone/>
            </a:pPr>
            <a:endParaRPr lang="en-US" sz="2000" dirty="0"/>
          </a:p>
        </p:txBody>
      </p:sp>
      <p:pic>
        <p:nvPicPr>
          <p:cNvPr id="3" name="Picture 2"/>
          <p:cNvPicPr>
            <a:picLocks noChangeAspect="1"/>
          </p:cNvPicPr>
          <p:nvPr/>
        </p:nvPicPr>
        <p:blipFill>
          <a:blip r:embed="rId2"/>
          <a:stretch>
            <a:fillRect/>
          </a:stretch>
        </p:blipFill>
        <p:spPr>
          <a:xfrm>
            <a:off x="164042" y="4005230"/>
            <a:ext cx="8724585" cy="1267751"/>
          </a:xfrm>
          <a:prstGeom prst="rect">
            <a:avLst/>
          </a:prstGeom>
        </p:spPr>
      </p:pic>
      <p:sp>
        <p:nvSpPr>
          <p:cNvPr id="5" name="Rounded Rectangular Callout 4"/>
          <p:cNvSpPr/>
          <p:nvPr/>
        </p:nvSpPr>
        <p:spPr>
          <a:xfrm>
            <a:off x="6724892" y="3380198"/>
            <a:ext cx="1296365" cy="625033"/>
          </a:xfrm>
          <a:prstGeom prst="wedgeRoundRectCallout">
            <a:avLst>
              <a:gd name="adj1" fmla="val 38096"/>
              <a:gd name="adj2" fmla="val 9768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Solver</a:t>
            </a:r>
          </a:p>
        </p:txBody>
      </p:sp>
      <p:sp>
        <p:nvSpPr>
          <p:cNvPr id="6" name="TextBox 5"/>
          <p:cNvSpPr txBox="1"/>
          <p:nvPr/>
        </p:nvSpPr>
        <p:spPr>
          <a:xfrm rot="1737092">
            <a:off x="4500309" y="3731410"/>
            <a:ext cx="1186030" cy="369332"/>
          </a:xfrm>
          <a:prstGeom prst="rect">
            <a:avLst/>
          </a:prstGeom>
          <a:noFill/>
        </p:spPr>
        <p:txBody>
          <a:bodyPr wrap="none" rtlCol="0">
            <a:spAutoFit/>
          </a:bodyPr>
          <a:lstStyle/>
          <a:p>
            <a:r>
              <a:rPr lang="en-US" b="1" dirty="0"/>
              <a:t>Excel 2013</a:t>
            </a:r>
          </a:p>
        </p:txBody>
      </p:sp>
    </p:spTree>
    <p:extLst>
      <p:ext uri="{BB962C8B-B14F-4D97-AF65-F5344CB8AC3E}">
        <p14:creationId xmlns:p14="http://schemas.microsoft.com/office/powerpoint/2010/main" val="254028474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p:cNvPicPr>
            <a:picLocks noChangeAspect="1"/>
          </p:cNvPicPr>
          <p:nvPr/>
        </p:nvPicPr>
        <p:blipFill>
          <a:blip r:embed="rId2"/>
          <a:stretch>
            <a:fillRect/>
          </a:stretch>
        </p:blipFill>
        <p:spPr>
          <a:xfrm>
            <a:off x="1365730" y="1653837"/>
            <a:ext cx="5638316" cy="5079081"/>
          </a:xfrm>
          <a:prstGeom prst="rect">
            <a:avLst/>
          </a:prstGeom>
        </p:spPr>
      </p:pic>
      <p:sp>
        <p:nvSpPr>
          <p:cNvPr id="1096706" name="Rectangle 2"/>
          <p:cNvSpPr>
            <a:spLocks noGrp="1" noChangeArrowheads="1"/>
          </p:cNvSpPr>
          <p:nvPr>
            <p:ph type="title"/>
          </p:nvPr>
        </p:nvSpPr>
        <p:spPr>
          <a:xfrm>
            <a:off x="628651" y="186973"/>
            <a:ext cx="7886700" cy="1325563"/>
          </a:xfrm>
        </p:spPr>
        <p:txBody>
          <a:bodyPr>
            <a:normAutofit/>
          </a:bodyPr>
          <a:lstStyle/>
          <a:p>
            <a:r>
              <a:rPr lang="en-US" sz="3600" dirty="0"/>
              <a:t>Using Excel Solver – The Solver Parameter Window</a:t>
            </a:r>
            <a:endParaRPr lang="en-US" sz="3600" b="0" dirty="0"/>
          </a:p>
        </p:txBody>
      </p:sp>
      <p:sp>
        <p:nvSpPr>
          <p:cNvPr id="16" name="Footer Placeholder 3"/>
          <p:cNvSpPr>
            <a:spLocks noGrp="1"/>
          </p:cNvSpPr>
          <p:nvPr>
            <p:ph type="ftr" sz="quarter" idx="11"/>
          </p:nvPr>
        </p:nvSpPr>
        <p:spPr>
          <a:xfrm>
            <a:off x="107951" y="6352"/>
            <a:ext cx="3086100" cy="365125"/>
          </a:xfrm>
        </p:spPr>
        <p:txBody>
          <a:bodyPr/>
          <a:lstStyle/>
          <a:p>
            <a:r>
              <a:rPr lang="en-US"/>
              <a:t>MGT 207 Operations Management</a:t>
            </a:r>
            <a:endParaRPr lang="en-US" dirty="0"/>
          </a:p>
        </p:txBody>
      </p:sp>
      <p:sp>
        <p:nvSpPr>
          <p:cNvPr id="18" name="Date Placeholder 5"/>
          <p:cNvSpPr>
            <a:spLocks noGrp="1"/>
          </p:cNvSpPr>
          <p:nvPr>
            <p:ph type="dt" sz="half" idx="10"/>
          </p:nvPr>
        </p:nvSpPr>
        <p:spPr>
          <a:xfrm>
            <a:off x="8502650" y="6353"/>
            <a:ext cx="641351" cy="358775"/>
          </a:xfrm>
        </p:spPr>
        <p:txBody>
          <a:bodyPr/>
          <a:lstStyle/>
          <a:p>
            <a:r>
              <a:rPr lang="en-US"/>
              <a:t>Turcic</a:t>
            </a:r>
            <a:endParaRPr lang="en-US" dirty="0"/>
          </a:p>
        </p:txBody>
      </p:sp>
      <p:sp>
        <p:nvSpPr>
          <p:cNvPr id="22" name="TextBox 21"/>
          <p:cNvSpPr txBox="1"/>
          <p:nvPr/>
        </p:nvSpPr>
        <p:spPr>
          <a:xfrm>
            <a:off x="2172662" y="3799032"/>
            <a:ext cx="1492588" cy="369332"/>
          </a:xfrm>
          <a:prstGeom prst="rect">
            <a:avLst/>
          </a:prstGeom>
          <a:noFill/>
          <a:ln>
            <a:solidFill>
              <a:srgbClr val="0033CC"/>
            </a:solidFill>
          </a:ln>
        </p:spPr>
        <p:txBody>
          <a:bodyPr wrap="none" rtlCol="0">
            <a:spAutoFit/>
          </a:bodyPr>
          <a:lstStyle/>
          <a:p>
            <a:r>
              <a:rPr lang="en-US" b="1" dirty="0">
                <a:solidFill>
                  <a:srgbClr val="0000FF"/>
                </a:solidFill>
              </a:rPr>
              <a:t>4. Constraints</a:t>
            </a:r>
          </a:p>
        </p:txBody>
      </p:sp>
      <p:grpSp>
        <p:nvGrpSpPr>
          <p:cNvPr id="2" name="Group 1"/>
          <p:cNvGrpSpPr/>
          <p:nvPr/>
        </p:nvGrpSpPr>
        <p:grpSpPr>
          <a:xfrm>
            <a:off x="3235935" y="1284503"/>
            <a:ext cx="2176686" cy="903112"/>
            <a:chOff x="3235934" y="1284503"/>
            <a:chExt cx="2176686" cy="903112"/>
          </a:xfrm>
        </p:grpSpPr>
        <p:sp>
          <p:nvSpPr>
            <p:cNvPr id="10" name="TextBox 9"/>
            <p:cNvSpPr txBox="1"/>
            <p:nvPr/>
          </p:nvSpPr>
          <p:spPr>
            <a:xfrm>
              <a:off x="3235934" y="1284503"/>
              <a:ext cx="2176686" cy="369332"/>
            </a:xfrm>
            <a:prstGeom prst="rect">
              <a:avLst/>
            </a:prstGeom>
            <a:noFill/>
            <a:ln>
              <a:solidFill>
                <a:srgbClr val="0033CC"/>
              </a:solidFill>
            </a:ln>
          </p:spPr>
          <p:txBody>
            <a:bodyPr wrap="none" rtlCol="0">
              <a:spAutoFit/>
            </a:bodyPr>
            <a:lstStyle/>
            <a:p>
              <a:r>
                <a:rPr lang="en-US" b="1" dirty="0">
                  <a:solidFill>
                    <a:srgbClr val="0000FF"/>
                  </a:solidFill>
                </a:rPr>
                <a:t>1. Objective function</a:t>
              </a:r>
            </a:p>
          </p:txBody>
        </p:sp>
        <p:cxnSp>
          <p:nvCxnSpPr>
            <p:cNvPr id="19" name="Straight Arrow Connector 18"/>
            <p:cNvCxnSpPr/>
            <p:nvPr/>
          </p:nvCxnSpPr>
          <p:spPr>
            <a:xfrm flipH="1">
              <a:off x="3665250" y="1653835"/>
              <a:ext cx="519637" cy="533780"/>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 name="Group 7"/>
          <p:cNvGrpSpPr/>
          <p:nvPr/>
        </p:nvGrpSpPr>
        <p:grpSpPr>
          <a:xfrm>
            <a:off x="103997" y="1326143"/>
            <a:ext cx="3368403" cy="1425223"/>
            <a:chOff x="103997" y="1326143"/>
            <a:chExt cx="3368403" cy="1425222"/>
          </a:xfrm>
        </p:grpSpPr>
        <p:sp>
          <p:nvSpPr>
            <p:cNvPr id="4" name="Oval 3"/>
            <p:cNvSpPr/>
            <p:nvPr/>
          </p:nvSpPr>
          <p:spPr>
            <a:xfrm>
              <a:off x="2083438" y="2299953"/>
              <a:ext cx="1388962" cy="451412"/>
            </a:xfrm>
            <a:prstGeom prst="ellipse">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p:cNvGrpSpPr/>
            <p:nvPr/>
          </p:nvGrpSpPr>
          <p:grpSpPr>
            <a:xfrm>
              <a:off x="103997" y="1326143"/>
              <a:ext cx="2005620" cy="1240719"/>
              <a:chOff x="103997" y="1326143"/>
              <a:chExt cx="2005620" cy="1240719"/>
            </a:xfrm>
          </p:grpSpPr>
          <p:sp>
            <p:nvSpPr>
              <p:cNvPr id="20" name="TextBox 19"/>
              <p:cNvSpPr txBox="1"/>
              <p:nvPr/>
            </p:nvSpPr>
            <p:spPr>
              <a:xfrm>
                <a:off x="103997" y="1326143"/>
                <a:ext cx="1484189" cy="369332"/>
              </a:xfrm>
              <a:prstGeom prst="rect">
                <a:avLst/>
              </a:prstGeom>
              <a:noFill/>
              <a:ln>
                <a:solidFill>
                  <a:srgbClr val="0033CC"/>
                </a:solidFill>
              </a:ln>
            </p:spPr>
            <p:txBody>
              <a:bodyPr wrap="none" rtlCol="0">
                <a:spAutoFit/>
              </a:bodyPr>
              <a:lstStyle/>
              <a:p>
                <a:r>
                  <a:rPr lang="en-US" b="1" dirty="0">
                    <a:solidFill>
                      <a:srgbClr val="0000FF"/>
                    </a:solidFill>
                  </a:rPr>
                  <a:t>2. Max? Min?</a:t>
                </a:r>
              </a:p>
            </p:txBody>
          </p:sp>
          <p:cxnSp>
            <p:nvCxnSpPr>
              <p:cNvPr id="26" name="Straight Arrow Connector 25"/>
              <p:cNvCxnSpPr/>
              <p:nvPr/>
            </p:nvCxnSpPr>
            <p:spPr>
              <a:xfrm>
                <a:off x="782277" y="1695038"/>
                <a:ext cx="1327340" cy="871824"/>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5" name="Group 4"/>
          <p:cNvGrpSpPr/>
          <p:nvPr/>
        </p:nvGrpSpPr>
        <p:grpSpPr>
          <a:xfrm>
            <a:off x="5289627" y="2525661"/>
            <a:ext cx="3426598" cy="510631"/>
            <a:chOff x="5289626" y="2525659"/>
            <a:chExt cx="3426598" cy="510631"/>
          </a:xfrm>
        </p:grpSpPr>
        <p:sp>
          <p:nvSpPr>
            <p:cNvPr id="21" name="TextBox 20"/>
            <p:cNvSpPr txBox="1"/>
            <p:nvPr/>
          </p:nvSpPr>
          <p:spPr>
            <a:xfrm>
              <a:off x="6564609" y="2525659"/>
              <a:ext cx="2151615" cy="369332"/>
            </a:xfrm>
            <a:prstGeom prst="rect">
              <a:avLst/>
            </a:prstGeom>
            <a:noFill/>
            <a:ln>
              <a:solidFill>
                <a:srgbClr val="0033CC"/>
              </a:solidFill>
            </a:ln>
          </p:spPr>
          <p:txBody>
            <a:bodyPr wrap="none" rtlCol="0">
              <a:spAutoFit/>
            </a:bodyPr>
            <a:lstStyle/>
            <a:p>
              <a:r>
                <a:rPr lang="en-US" b="1" dirty="0">
                  <a:solidFill>
                    <a:srgbClr val="0000FF"/>
                  </a:solidFill>
                </a:rPr>
                <a:t>3. Decision Variables</a:t>
              </a:r>
            </a:p>
          </p:txBody>
        </p:sp>
        <p:cxnSp>
          <p:nvCxnSpPr>
            <p:cNvPr id="28" name="Straight Arrow Connector 27"/>
            <p:cNvCxnSpPr/>
            <p:nvPr/>
          </p:nvCxnSpPr>
          <p:spPr>
            <a:xfrm flipH="1">
              <a:off x="5289626" y="2704394"/>
              <a:ext cx="1279161" cy="331896"/>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 name="Group 6"/>
          <p:cNvGrpSpPr/>
          <p:nvPr/>
        </p:nvGrpSpPr>
        <p:grpSpPr>
          <a:xfrm>
            <a:off x="4572003" y="5197718"/>
            <a:ext cx="4537275" cy="1200329"/>
            <a:chOff x="4572003" y="5197715"/>
            <a:chExt cx="4537275" cy="1200328"/>
          </a:xfrm>
        </p:grpSpPr>
        <p:sp>
          <p:nvSpPr>
            <p:cNvPr id="23" name="TextBox 22"/>
            <p:cNvSpPr txBox="1"/>
            <p:nvPr/>
          </p:nvSpPr>
          <p:spPr>
            <a:xfrm>
              <a:off x="7039175" y="5197715"/>
              <a:ext cx="2070103" cy="1200328"/>
            </a:xfrm>
            <a:prstGeom prst="rect">
              <a:avLst/>
            </a:prstGeom>
            <a:noFill/>
            <a:ln>
              <a:solidFill>
                <a:srgbClr val="0033CC"/>
              </a:solidFill>
            </a:ln>
          </p:spPr>
          <p:txBody>
            <a:bodyPr wrap="square" rtlCol="0">
              <a:spAutoFit/>
            </a:bodyPr>
            <a:lstStyle/>
            <a:p>
              <a:r>
                <a:rPr lang="en-US" b="1" dirty="0">
                  <a:solidFill>
                    <a:srgbClr val="0000FF"/>
                  </a:solidFill>
                </a:rPr>
                <a:t>6. Select “Simplex LP” if the problem is a Linear Program problem</a:t>
              </a:r>
            </a:p>
          </p:txBody>
        </p:sp>
        <p:cxnSp>
          <p:nvCxnSpPr>
            <p:cNvPr id="31" name="Straight Arrow Connector 30"/>
            <p:cNvCxnSpPr>
              <a:stCxn id="23" idx="1"/>
            </p:cNvCxnSpPr>
            <p:nvPr/>
          </p:nvCxnSpPr>
          <p:spPr>
            <a:xfrm flipH="1" flipV="1">
              <a:off x="4572003" y="5339016"/>
              <a:ext cx="2467172" cy="458864"/>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p:cNvGrpSpPr/>
          <p:nvPr/>
        </p:nvGrpSpPr>
        <p:grpSpPr>
          <a:xfrm>
            <a:off x="-7950" y="3391325"/>
            <a:ext cx="1777146" cy="1477328"/>
            <a:chOff x="-7950" y="3391325"/>
            <a:chExt cx="1777146" cy="2472000"/>
          </a:xfrm>
        </p:grpSpPr>
        <p:sp>
          <p:nvSpPr>
            <p:cNvPr id="34" name="TextBox 33"/>
            <p:cNvSpPr txBox="1"/>
            <p:nvPr/>
          </p:nvSpPr>
          <p:spPr>
            <a:xfrm>
              <a:off x="-7950" y="3391325"/>
              <a:ext cx="1777146" cy="2472000"/>
            </a:xfrm>
            <a:prstGeom prst="rect">
              <a:avLst/>
            </a:prstGeom>
            <a:noFill/>
            <a:ln>
              <a:solidFill>
                <a:srgbClr val="0033CC"/>
              </a:solidFill>
            </a:ln>
          </p:spPr>
          <p:txBody>
            <a:bodyPr wrap="square" rtlCol="0">
              <a:spAutoFit/>
            </a:bodyPr>
            <a:lstStyle/>
            <a:p>
              <a:r>
                <a:rPr lang="en-US" b="1" dirty="0">
                  <a:solidFill>
                    <a:srgbClr val="0000FF"/>
                  </a:solidFill>
                </a:rPr>
                <a:t>5. Select if </a:t>
              </a:r>
            </a:p>
            <a:p>
              <a:r>
                <a:rPr lang="en-US" b="1" dirty="0">
                  <a:solidFill>
                    <a:srgbClr val="0000FF"/>
                  </a:solidFill>
                </a:rPr>
                <a:t>decision variables</a:t>
              </a:r>
            </a:p>
            <a:p>
              <a:r>
                <a:rPr lang="en-US" b="1" dirty="0">
                  <a:solidFill>
                    <a:srgbClr val="0000FF"/>
                  </a:solidFill>
                </a:rPr>
                <a:t>only take non-negative values</a:t>
              </a:r>
            </a:p>
          </p:txBody>
        </p:sp>
        <p:cxnSp>
          <p:nvCxnSpPr>
            <p:cNvPr id="35" name="Straight Arrow Connector 34"/>
            <p:cNvCxnSpPr/>
            <p:nvPr/>
          </p:nvCxnSpPr>
          <p:spPr>
            <a:xfrm>
              <a:off x="962264" y="4865742"/>
              <a:ext cx="664297" cy="144210"/>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3665836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dissolv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dissolv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dissolve">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Production Mix: Problem Statement</a:t>
            </a:r>
          </a:p>
        </p:txBody>
      </p:sp>
      <p:sp>
        <p:nvSpPr>
          <p:cNvPr id="3" name="Content Placeholder 2"/>
          <p:cNvSpPr>
            <a:spLocks noGrp="1"/>
          </p:cNvSpPr>
          <p:nvPr>
            <p:ph idx="1"/>
          </p:nvPr>
        </p:nvSpPr>
        <p:spPr/>
        <p:txBody>
          <a:bodyPr>
            <a:normAutofit fontScale="77500" lnSpcReduction="20000"/>
          </a:bodyPr>
          <a:lstStyle/>
          <a:p>
            <a:r>
              <a:rPr lang="en-US" dirty="0"/>
              <a:t>Objective function: Cell G23</a:t>
            </a:r>
          </a:p>
          <a:p>
            <a:pPr marL="0" indent="0">
              <a:buNone/>
            </a:pPr>
            <a:r>
              <a:rPr lang="en-US" dirty="0"/>
              <a:t>	–  Maximize!</a:t>
            </a:r>
          </a:p>
          <a:p>
            <a:pPr marL="0" indent="0">
              <a:buNone/>
            </a:pPr>
            <a:r>
              <a:rPr lang="en-US" dirty="0"/>
              <a:t> </a:t>
            </a:r>
          </a:p>
          <a:p>
            <a:r>
              <a:rPr lang="en-US" dirty="0"/>
              <a:t>Decision variables: Cells C23:E23 </a:t>
            </a:r>
          </a:p>
          <a:p>
            <a:pPr marL="0" indent="0">
              <a:buNone/>
            </a:pPr>
            <a:r>
              <a:rPr lang="en-US" dirty="0"/>
              <a:t>	–  Should be non‐negative.</a:t>
            </a:r>
          </a:p>
          <a:p>
            <a:pPr marL="0" indent="0">
              <a:buNone/>
            </a:pPr>
            <a:r>
              <a:rPr lang="en-US" dirty="0"/>
              <a:t> </a:t>
            </a:r>
          </a:p>
          <a:p>
            <a:r>
              <a:rPr lang="en-US" dirty="0"/>
              <a:t>Constraints:</a:t>
            </a:r>
          </a:p>
          <a:p>
            <a:pPr marL="0" indent="0">
              <a:buNone/>
            </a:pPr>
            <a:r>
              <a:rPr lang="en-US" dirty="0"/>
              <a:t>	–  Decision variables should be less or equal to the 		    demands: </a:t>
            </a:r>
          </a:p>
          <a:p>
            <a:pPr marL="0" indent="0">
              <a:buNone/>
            </a:pPr>
            <a:r>
              <a:rPr lang="en-US" dirty="0"/>
              <a:t>			C23:E23 &lt;= C21:E21</a:t>
            </a:r>
          </a:p>
          <a:p>
            <a:pPr marL="0" indent="0">
              <a:buNone/>
            </a:pPr>
            <a:r>
              <a:rPr lang="en-US" dirty="0"/>
              <a:t>	–   Resource usages need to be lower or equal to available 	     amount of resources:</a:t>
            </a:r>
          </a:p>
          <a:p>
            <a:pPr marL="0" indent="0">
              <a:buNone/>
            </a:pPr>
            <a:r>
              <a:rPr lang="en-US" dirty="0"/>
              <a:t> 			G27:G33 &lt;= H27:H33</a:t>
            </a:r>
          </a:p>
          <a:p>
            <a:endParaRPr lang="en-US" dirty="0"/>
          </a:p>
        </p:txBody>
      </p:sp>
      <p:sp>
        <p:nvSpPr>
          <p:cNvPr id="23" name="Date Placeholder 5"/>
          <p:cNvSpPr>
            <a:spLocks noGrp="1"/>
          </p:cNvSpPr>
          <p:nvPr>
            <p:ph type="dt" sz="half" idx="10"/>
          </p:nvPr>
        </p:nvSpPr>
        <p:spPr/>
        <p:txBody>
          <a:bodyPr/>
          <a:lstStyle/>
          <a:p>
            <a:r>
              <a:rPr lang="en-US"/>
              <a:t>Turcic</a:t>
            </a:r>
            <a:endParaRPr lang="en-US" dirty="0"/>
          </a:p>
        </p:txBody>
      </p:sp>
      <p:sp>
        <p:nvSpPr>
          <p:cNvPr id="21" name="Footer Placeholder 3"/>
          <p:cNvSpPr>
            <a:spLocks noGrp="1"/>
          </p:cNvSpPr>
          <p:nvPr>
            <p:ph type="ftr" sz="quarter" idx="11"/>
          </p:nvPr>
        </p:nvSpPr>
        <p:spPr/>
        <p:txBody>
          <a:bodyPr/>
          <a:lstStyle/>
          <a:p>
            <a:r>
              <a:rPr lang="en-US"/>
              <a:t>MGT 207 Operations Management</a:t>
            </a:r>
            <a:endParaRPr lang="en-US" dirty="0"/>
          </a:p>
        </p:txBody>
      </p:sp>
    </p:spTree>
    <p:extLst>
      <p:ext uri="{BB962C8B-B14F-4D97-AF65-F5344CB8AC3E}">
        <p14:creationId xmlns:p14="http://schemas.microsoft.com/office/powerpoint/2010/main" val="3391306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14907"/>
            <a:ext cx="7886700" cy="1325563"/>
          </a:xfrm>
        </p:spPr>
        <p:txBody>
          <a:bodyPr>
            <a:normAutofit/>
          </a:bodyPr>
          <a:lstStyle/>
          <a:p>
            <a:r>
              <a:rPr lang="en-US" sz="3600" dirty="0"/>
              <a:t>Using Excel Solver: The Solver Parameters Window</a:t>
            </a:r>
          </a:p>
        </p:txBody>
      </p:sp>
      <p:sp>
        <p:nvSpPr>
          <p:cNvPr id="9" name="Footer Placeholder 3"/>
          <p:cNvSpPr>
            <a:spLocks noGrp="1"/>
          </p:cNvSpPr>
          <p:nvPr>
            <p:ph type="ftr" sz="quarter" idx="11"/>
          </p:nvPr>
        </p:nvSpPr>
        <p:spPr>
          <a:xfrm>
            <a:off x="107951" y="6352"/>
            <a:ext cx="3086100" cy="365125"/>
          </a:xfrm>
        </p:spPr>
        <p:txBody>
          <a:bodyPr/>
          <a:lstStyle/>
          <a:p>
            <a:r>
              <a:rPr lang="en-US"/>
              <a:t>MGT 207 Operations Management</a:t>
            </a:r>
            <a:endParaRPr lang="en-US" dirty="0"/>
          </a:p>
        </p:txBody>
      </p:sp>
      <p:sp>
        <p:nvSpPr>
          <p:cNvPr id="11" name="Date Placeholder 5"/>
          <p:cNvSpPr>
            <a:spLocks noGrp="1"/>
          </p:cNvSpPr>
          <p:nvPr>
            <p:ph type="dt" sz="half" idx="10"/>
          </p:nvPr>
        </p:nvSpPr>
        <p:spPr>
          <a:xfrm>
            <a:off x="8502650" y="6353"/>
            <a:ext cx="641351" cy="358775"/>
          </a:xfrm>
        </p:spPr>
        <p:txBody>
          <a:bodyPr/>
          <a:lstStyle/>
          <a:p>
            <a:r>
              <a:rPr lang="en-US"/>
              <a:t>Turcic</a:t>
            </a:r>
            <a:endParaRPr lang="en-US" dirty="0"/>
          </a:p>
        </p:txBody>
      </p:sp>
      <p:sp>
        <p:nvSpPr>
          <p:cNvPr id="8" name="Content Placeholder 7"/>
          <p:cNvSpPr>
            <a:spLocks noGrp="1"/>
          </p:cNvSpPr>
          <p:nvPr>
            <p:ph idx="1"/>
          </p:nvPr>
        </p:nvSpPr>
        <p:spPr/>
        <p:txBody>
          <a:bodyPr/>
          <a:lstStyle/>
          <a:p>
            <a:endParaRPr lang="en-US" dirty="0"/>
          </a:p>
        </p:txBody>
      </p:sp>
      <p:pic>
        <p:nvPicPr>
          <p:cNvPr id="10" name="Picture 9"/>
          <p:cNvPicPr>
            <a:picLocks noChangeAspect="1"/>
          </p:cNvPicPr>
          <p:nvPr/>
        </p:nvPicPr>
        <p:blipFill>
          <a:blip r:embed="rId2"/>
          <a:stretch>
            <a:fillRect/>
          </a:stretch>
        </p:blipFill>
        <p:spPr>
          <a:xfrm>
            <a:off x="1888673" y="1749025"/>
            <a:ext cx="5366657" cy="4834367"/>
          </a:xfrm>
          <a:prstGeom prst="rect">
            <a:avLst/>
          </a:prstGeom>
        </p:spPr>
      </p:pic>
      <p:sp>
        <p:nvSpPr>
          <p:cNvPr id="13" name="TextBox 12"/>
          <p:cNvSpPr txBox="1"/>
          <p:nvPr/>
        </p:nvSpPr>
        <p:spPr>
          <a:xfrm>
            <a:off x="3235935" y="1284503"/>
            <a:ext cx="2176686" cy="369332"/>
          </a:xfrm>
          <a:prstGeom prst="rect">
            <a:avLst/>
          </a:prstGeom>
          <a:noFill/>
          <a:ln>
            <a:solidFill>
              <a:srgbClr val="0033CC"/>
            </a:solidFill>
          </a:ln>
        </p:spPr>
        <p:txBody>
          <a:bodyPr wrap="none" rtlCol="0">
            <a:spAutoFit/>
          </a:bodyPr>
          <a:lstStyle/>
          <a:p>
            <a:r>
              <a:rPr lang="en-US" b="1" dirty="0">
                <a:solidFill>
                  <a:srgbClr val="0000FF"/>
                </a:solidFill>
              </a:rPr>
              <a:t>1. Objective function</a:t>
            </a:r>
          </a:p>
        </p:txBody>
      </p:sp>
      <p:sp>
        <p:nvSpPr>
          <p:cNvPr id="14" name="TextBox 13"/>
          <p:cNvSpPr txBox="1"/>
          <p:nvPr/>
        </p:nvSpPr>
        <p:spPr>
          <a:xfrm>
            <a:off x="178742" y="1284503"/>
            <a:ext cx="1484189" cy="369332"/>
          </a:xfrm>
          <a:prstGeom prst="rect">
            <a:avLst/>
          </a:prstGeom>
          <a:noFill/>
          <a:ln>
            <a:solidFill>
              <a:srgbClr val="0033CC"/>
            </a:solidFill>
          </a:ln>
        </p:spPr>
        <p:txBody>
          <a:bodyPr wrap="none" rtlCol="0">
            <a:spAutoFit/>
          </a:bodyPr>
          <a:lstStyle/>
          <a:p>
            <a:r>
              <a:rPr lang="en-US" b="1" dirty="0">
                <a:solidFill>
                  <a:srgbClr val="0000FF"/>
                </a:solidFill>
              </a:rPr>
              <a:t>2. Max? Min?</a:t>
            </a:r>
          </a:p>
        </p:txBody>
      </p:sp>
      <p:sp>
        <p:nvSpPr>
          <p:cNvPr id="15" name="TextBox 14"/>
          <p:cNvSpPr txBox="1"/>
          <p:nvPr/>
        </p:nvSpPr>
        <p:spPr>
          <a:xfrm>
            <a:off x="6564609" y="2525659"/>
            <a:ext cx="2151615" cy="369332"/>
          </a:xfrm>
          <a:prstGeom prst="rect">
            <a:avLst/>
          </a:prstGeom>
          <a:noFill/>
          <a:ln>
            <a:solidFill>
              <a:srgbClr val="0033CC"/>
            </a:solidFill>
          </a:ln>
        </p:spPr>
        <p:txBody>
          <a:bodyPr wrap="none" rtlCol="0">
            <a:spAutoFit/>
          </a:bodyPr>
          <a:lstStyle/>
          <a:p>
            <a:r>
              <a:rPr lang="en-US" b="1" dirty="0">
                <a:solidFill>
                  <a:srgbClr val="0000FF"/>
                </a:solidFill>
              </a:rPr>
              <a:t>3. Decision Variables</a:t>
            </a:r>
          </a:p>
        </p:txBody>
      </p:sp>
      <p:sp>
        <p:nvSpPr>
          <p:cNvPr id="16" name="TextBox 15"/>
          <p:cNvSpPr txBox="1"/>
          <p:nvPr/>
        </p:nvSpPr>
        <p:spPr>
          <a:xfrm>
            <a:off x="3079412" y="3812957"/>
            <a:ext cx="1492588" cy="369332"/>
          </a:xfrm>
          <a:prstGeom prst="rect">
            <a:avLst/>
          </a:prstGeom>
          <a:noFill/>
          <a:ln>
            <a:solidFill>
              <a:srgbClr val="0033CC"/>
            </a:solidFill>
          </a:ln>
        </p:spPr>
        <p:txBody>
          <a:bodyPr wrap="none" rtlCol="0">
            <a:spAutoFit/>
          </a:bodyPr>
          <a:lstStyle/>
          <a:p>
            <a:r>
              <a:rPr lang="en-US" b="1" dirty="0">
                <a:solidFill>
                  <a:srgbClr val="0000FF"/>
                </a:solidFill>
              </a:rPr>
              <a:t>4. Constraints</a:t>
            </a:r>
          </a:p>
        </p:txBody>
      </p:sp>
      <p:sp>
        <p:nvSpPr>
          <p:cNvPr id="17" name="TextBox 16"/>
          <p:cNvSpPr txBox="1"/>
          <p:nvPr/>
        </p:nvSpPr>
        <p:spPr>
          <a:xfrm>
            <a:off x="7039174" y="5197716"/>
            <a:ext cx="2070103" cy="1200329"/>
          </a:xfrm>
          <a:prstGeom prst="rect">
            <a:avLst/>
          </a:prstGeom>
          <a:noFill/>
          <a:ln>
            <a:solidFill>
              <a:srgbClr val="0033CC"/>
            </a:solidFill>
          </a:ln>
        </p:spPr>
        <p:txBody>
          <a:bodyPr wrap="square" rtlCol="0">
            <a:spAutoFit/>
          </a:bodyPr>
          <a:lstStyle/>
          <a:p>
            <a:r>
              <a:rPr lang="en-US" b="1" dirty="0">
                <a:solidFill>
                  <a:srgbClr val="0000FF"/>
                </a:solidFill>
              </a:rPr>
              <a:t>6. Select “Simplex LP” if the problem is a Linear Program problem</a:t>
            </a:r>
          </a:p>
        </p:txBody>
      </p:sp>
      <p:cxnSp>
        <p:nvCxnSpPr>
          <p:cNvPr id="18" name="Straight Arrow Connector 17"/>
          <p:cNvCxnSpPr/>
          <p:nvPr/>
        </p:nvCxnSpPr>
        <p:spPr>
          <a:xfrm flipH="1">
            <a:off x="3665251" y="1653835"/>
            <a:ext cx="519637" cy="533780"/>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782278" y="1695039"/>
            <a:ext cx="1327340" cy="871824"/>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5289628" y="2704395"/>
            <a:ext cx="1279161" cy="331896"/>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17" idx="1"/>
          </p:cNvCxnSpPr>
          <p:nvPr/>
        </p:nvCxnSpPr>
        <p:spPr>
          <a:xfrm flipH="1" flipV="1">
            <a:off x="4572004" y="5339017"/>
            <a:ext cx="2467170" cy="458864"/>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7950" y="3391325"/>
            <a:ext cx="1777146" cy="1477328"/>
          </a:xfrm>
          <a:prstGeom prst="rect">
            <a:avLst/>
          </a:prstGeom>
          <a:noFill/>
          <a:ln>
            <a:solidFill>
              <a:srgbClr val="0033CC"/>
            </a:solidFill>
          </a:ln>
        </p:spPr>
        <p:txBody>
          <a:bodyPr wrap="square" rtlCol="0">
            <a:spAutoFit/>
          </a:bodyPr>
          <a:lstStyle/>
          <a:p>
            <a:r>
              <a:rPr lang="en-US" b="1" dirty="0">
                <a:solidFill>
                  <a:srgbClr val="0000FF"/>
                </a:solidFill>
              </a:rPr>
              <a:t>5. Select if </a:t>
            </a:r>
          </a:p>
          <a:p>
            <a:r>
              <a:rPr lang="en-US" b="1" dirty="0">
                <a:solidFill>
                  <a:srgbClr val="0000FF"/>
                </a:solidFill>
              </a:rPr>
              <a:t>decision variables</a:t>
            </a:r>
          </a:p>
          <a:p>
            <a:r>
              <a:rPr lang="en-US" b="1" dirty="0">
                <a:solidFill>
                  <a:srgbClr val="0000FF"/>
                </a:solidFill>
              </a:rPr>
              <a:t>only takes non-negative values</a:t>
            </a:r>
          </a:p>
        </p:txBody>
      </p:sp>
      <p:cxnSp>
        <p:nvCxnSpPr>
          <p:cNvPr id="23" name="Straight Arrow Connector 22"/>
          <p:cNvCxnSpPr/>
          <p:nvPr/>
        </p:nvCxnSpPr>
        <p:spPr>
          <a:xfrm>
            <a:off x="1496786" y="4816331"/>
            <a:ext cx="664297" cy="144211"/>
          </a:xfrm>
          <a:prstGeom prst="straightConnector1">
            <a:avLst/>
          </a:prstGeom>
          <a:ln w="57150">
            <a:solidFill>
              <a:srgbClr val="0033CC"/>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3086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49" y="335063"/>
            <a:ext cx="7988427" cy="1325563"/>
          </a:xfrm>
        </p:spPr>
        <p:txBody>
          <a:bodyPr>
            <a:normAutofit/>
          </a:bodyPr>
          <a:lstStyle/>
          <a:p>
            <a:r>
              <a:rPr lang="en-US" sz="3200" dirty="0"/>
              <a:t>Production Mix Problem – Optimal Solution</a:t>
            </a:r>
            <a:endParaRPr lang="en-US" sz="2800" dirty="0"/>
          </a:p>
        </p:txBody>
      </p:sp>
      <p:sp>
        <p:nvSpPr>
          <p:cNvPr id="29" name="Footer Placeholder 3"/>
          <p:cNvSpPr>
            <a:spLocks noGrp="1"/>
          </p:cNvSpPr>
          <p:nvPr>
            <p:ph type="ftr" sz="quarter" idx="11"/>
          </p:nvPr>
        </p:nvSpPr>
        <p:spPr>
          <a:xfrm>
            <a:off x="107951" y="6352"/>
            <a:ext cx="3086100" cy="365125"/>
          </a:xfrm>
        </p:spPr>
        <p:txBody>
          <a:bodyPr/>
          <a:lstStyle/>
          <a:p>
            <a:r>
              <a:rPr lang="en-US"/>
              <a:t>MGT 207 Operations Management</a:t>
            </a:r>
            <a:endParaRPr lang="en-US" dirty="0"/>
          </a:p>
        </p:txBody>
      </p:sp>
      <p:sp>
        <p:nvSpPr>
          <p:cNvPr id="31" name="Date Placeholder 5"/>
          <p:cNvSpPr>
            <a:spLocks noGrp="1"/>
          </p:cNvSpPr>
          <p:nvPr>
            <p:ph type="dt" sz="half" idx="10"/>
          </p:nvPr>
        </p:nvSpPr>
        <p:spPr>
          <a:xfrm>
            <a:off x="8502650" y="6353"/>
            <a:ext cx="641351" cy="358775"/>
          </a:xfrm>
        </p:spPr>
        <p:txBody>
          <a:bodyPr/>
          <a:lstStyle/>
          <a:p>
            <a:r>
              <a:rPr lang="en-US"/>
              <a:t>Turcic</a:t>
            </a:r>
            <a:endParaRPr lang="en-US" dirty="0"/>
          </a:p>
        </p:txBody>
      </p:sp>
      <p:pic>
        <p:nvPicPr>
          <p:cNvPr id="5" name="Picture 4"/>
          <p:cNvPicPr>
            <a:picLocks noChangeAspect="1"/>
          </p:cNvPicPr>
          <p:nvPr/>
        </p:nvPicPr>
        <p:blipFill>
          <a:blip r:embed="rId2"/>
          <a:stretch>
            <a:fillRect/>
          </a:stretch>
        </p:blipFill>
        <p:spPr>
          <a:xfrm>
            <a:off x="422163" y="1854112"/>
            <a:ext cx="8299676" cy="3886061"/>
          </a:xfrm>
          <a:prstGeom prst="rect">
            <a:avLst/>
          </a:prstGeom>
        </p:spPr>
      </p:pic>
      <p:sp>
        <p:nvSpPr>
          <p:cNvPr id="9" name="Oval 8"/>
          <p:cNvSpPr/>
          <p:nvPr/>
        </p:nvSpPr>
        <p:spPr>
          <a:xfrm>
            <a:off x="2857501" y="2588081"/>
            <a:ext cx="2841171" cy="277585"/>
          </a:xfrm>
          <a:prstGeom prst="ellipse">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41297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F33B3-B351-7734-8785-BF15C86D7E69}"/>
              </a:ext>
            </a:extLst>
          </p:cNvPr>
          <p:cNvSpPr>
            <a:spLocks noGrp="1"/>
          </p:cNvSpPr>
          <p:nvPr>
            <p:ph type="title"/>
          </p:nvPr>
        </p:nvSpPr>
        <p:spPr/>
        <p:txBody>
          <a:bodyPr/>
          <a:lstStyle/>
          <a:p>
            <a:r>
              <a:rPr lang="en-US" dirty="0"/>
              <a:t>Linear Integer Optimization</a:t>
            </a:r>
          </a:p>
        </p:txBody>
      </p:sp>
    </p:spTree>
    <p:extLst>
      <p:ext uri="{BB962C8B-B14F-4D97-AF65-F5344CB8AC3E}">
        <p14:creationId xmlns:p14="http://schemas.microsoft.com/office/powerpoint/2010/main" val="112955666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ILP: A Capital Budgeting Problem</a:t>
            </a:r>
          </a:p>
        </p:txBody>
      </p:sp>
      <p:sp>
        <p:nvSpPr>
          <p:cNvPr id="3" name="Content Placeholder 2"/>
          <p:cNvSpPr>
            <a:spLocks noGrp="1"/>
          </p:cNvSpPr>
          <p:nvPr>
            <p:ph idx="1"/>
          </p:nvPr>
        </p:nvSpPr>
        <p:spPr/>
        <p:txBody>
          <a:bodyPr/>
          <a:lstStyle/>
          <a:p>
            <a:pPr>
              <a:buSzPct val="120000"/>
            </a:pPr>
            <a:r>
              <a:rPr lang="en-US" sz="2000" dirty="0"/>
              <a:t>Most corporations want to undertake projects that contribute the greatest net present value (NPV), subject to limited resources (usually capital and labor).</a:t>
            </a:r>
          </a:p>
          <a:p>
            <a:pPr>
              <a:buSzPct val="120000"/>
            </a:pPr>
            <a:r>
              <a:rPr lang="en-US" sz="2000" dirty="0"/>
              <a:t>An example: a software development company is trying to determine which of 20 software projects it should undertake. The company cannot undertake a fraction of a software project. </a:t>
            </a:r>
            <a:endParaRPr lang="en-US" sz="1800" dirty="0"/>
          </a:p>
          <a:p>
            <a:pPr marL="344487" lvl="1" indent="0">
              <a:buNone/>
            </a:pPr>
            <a:endParaRPr lang="en-US" sz="1800" dirty="0">
              <a:latin typeface="+mj-lt"/>
            </a:endParaRPr>
          </a:p>
        </p:txBody>
      </p:sp>
      <p:sp>
        <p:nvSpPr>
          <p:cNvPr id="4" name="Date Placeholder 3"/>
          <p:cNvSpPr>
            <a:spLocks noGrp="1"/>
          </p:cNvSpPr>
          <p:nvPr>
            <p:ph type="dt" sz="half" idx="10"/>
          </p:nvPr>
        </p:nvSpPr>
        <p:spPr>
          <a:xfrm>
            <a:off x="8502650" y="25944"/>
            <a:ext cx="641350" cy="358775"/>
          </a:xfrm>
        </p:spPr>
        <p:txBody>
          <a:bodyPr/>
          <a:lstStyle/>
          <a:p>
            <a:r>
              <a:rPr lang="en-US"/>
              <a:t>Turcic</a:t>
            </a:r>
            <a:endParaRPr lang="en-US" dirty="0"/>
          </a:p>
        </p:txBody>
      </p:sp>
      <p:sp>
        <p:nvSpPr>
          <p:cNvPr id="5" name="Footer Placeholder 4"/>
          <p:cNvSpPr>
            <a:spLocks noGrp="1"/>
          </p:cNvSpPr>
          <p:nvPr>
            <p:ph type="ftr" sz="quarter" idx="11"/>
          </p:nvPr>
        </p:nvSpPr>
        <p:spPr>
          <a:xfrm>
            <a:off x="107950" y="25944"/>
            <a:ext cx="3086100" cy="365125"/>
          </a:xfrm>
        </p:spPr>
        <p:txBody>
          <a:bodyPr/>
          <a:lstStyle/>
          <a:p>
            <a:r>
              <a:rPr lang="en-US"/>
              <a:t>MGT 207 Operations Management</a:t>
            </a:r>
            <a:endParaRPr lang="en-US" dirty="0"/>
          </a:p>
        </p:txBody>
      </p:sp>
    </p:spTree>
    <p:extLst>
      <p:ext uri="{BB962C8B-B14F-4D97-AF65-F5344CB8AC3E}">
        <p14:creationId xmlns:p14="http://schemas.microsoft.com/office/powerpoint/2010/main" val="2075061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256" y="593150"/>
            <a:ext cx="9141340" cy="708025"/>
          </a:xfrm>
        </p:spPr>
        <p:txBody>
          <a:bodyPr/>
          <a:lstStyle/>
          <a:p>
            <a:r>
              <a:rPr lang="en-US" sz="3200" dirty="0"/>
              <a:t>Capital Budgeting Formulation</a:t>
            </a:r>
          </a:p>
        </p:txBody>
      </p:sp>
      <p:grpSp>
        <p:nvGrpSpPr>
          <p:cNvPr id="24" name="Group 23"/>
          <p:cNvGrpSpPr/>
          <p:nvPr/>
        </p:nvGrpSpPr>
        <p:grpSpPr>
          <a:xfrm>
            <a:off x="93098" y="1349526"/>
            <a:ext cx="4360370" cy="1572272"/>
            <a:chOff x="93098" y="1349526"/>
            <a:chExt cx="4360370" cy="1572272"/>
          </a:xfrm>
        </p:grpSpPr>
        <p:sp>
          <p:nvSpPr>
            <p:cNvPr id="4" name="TextBox 3"/>
            <p:cNvSpPr txBox="1"/>
            <p:nvPr/>
          </p:nvSpPr>
          <p:spPr>
            <a:xfrm>
              <a:off x="151002" y="1990293"/>
              <a:ext cx="3336989" cy="400110"/>
            </a:xfrm>
            <a:prstGeom prst="rect">
              <a:avLst/>
            </a:prstGeom>
            <a:noFill/>
          </p:spPr>
          <p:txBody>
            <a:bodyPr wrap="square" rtlCol="0">
              <a:spAutoFit/>
            </a:bodyPr>
            <a:lstStyle/>
            <a:p>
              <a:pPr>
                <a:buSzPct val="75000"/>
              </a:pPr>
              <a:r>
                <a:rPr lang="en-US" sz="2000" u="sng" dirty="0">
                  <a:solidFill>
                    <a:srgbClr val="000099"/>
                  </a:solidFill>
                  <a:latin typeface="Calibri" pitchFamily="34" charset="0"/>
                  <a:cs typeface="Calibri" pitchFamily="34" charset="0"/>
                </a:rPr>
                <a:t>Decision variables</a:t>
              </a:r>
              <a:r>
                <a:rPr lang="en-US" sz="2000" dirty="0">
                  <a:solidFill>
                    <a:srgbClr val="000099"/>
                  </a:solidFill>
                  <a:latin typeface="Calibri" pitchFamily="34" charset="0"/>
                  <a:cs typeface="Calibri" pitchFamily="34" charset="0"/>
                </a:rPr>
                <a:t>:</a:t>
              </a:r>
            </a:p>
          </p:txBody>
        </p:sp>
        <p:sp>
          <p:nvSpPr>
            <p:cNvPr id="7" name="TextBox 6"/>
            <p:cNvSpPr txBox="1"/>
            <p:nvPr/>
          </p:nvSpPr>
          <p:spPr>
            <a:xfrm>
              <a:off x="203191" y="2552466"/>
              <a:ext cx="4250277" cy="369332"/>
            </a:xfrm>
            <a:prstGeom prst="rect">
              <a:avLst/>
            </a:prstGeom>
            <a:noFill/>
          </p:spPr>
          <p:txBody>
            <a:bodyPr wrap="square" rtlCol="0">
              <a:spAutoFit/>
            </a:bodyPr>
            <a:lstStyle/>
            <a:p>
              <a:pPr>
                <a:buSzPct val="75000"/>
              </a:pPr>
              <a:r>
                <a:rPr lang="en-US" i="1" dirty="0">
                  <a:solidFill>
                    <a:srgbClr val="000099"/>
                  </a:solidFill>
                  <a:latin typeface="Calibri" panose="020F0502020204030204" pitchFamily="34" charset="0"/>
                </a:rPr>
                <a:t>Which projects to undertake </a:t>
              </a:r>
            </a:p>
          </p:txBody>
        </p:sp>
        <p:sp>
          <p:nvSpPr>
            <p:cNvPr id="9" name="TextBox 8"/>
            <p:cNvSpPr txBox="1"/>
            <p:nvPr/>
          </p:nvSpPr>
          <p:spPr>
            <a:xfrm>
              <a:off x="93098" y="1349526"/>
              <a:ext cx="2649305" cy="461665"/>
            </a:xfrm>
            <a:prstGeom prst="rect">
              <a:avLst/>
            </a:prstGeom>
            <a:noFill/>
          </p:spPr>
          <p:txBody>
            <a:bodyPr wrap="square" rtlCol="0">
              <a:spAutoFit/>
            </a:bodyPr>
            <a:lstStyle/>
            <a:p>
              <a:pPr algn="ctr">
                <a:spcAft>
                  <a:spcPts val="1200"/>
                </a:spcAft>
                <a:buSzPct val="80000"/>
              </a:pPr>
              <a:r>
                <a:rPr lang="en-US" sz="2400" dirty="0">
                  <a:solidFill>
                    <a:srgbClr val="000099"/>
                  </a:solidFill>
                  <a:effectLst>
                    <a:outerShdw blurRad="38100" dist="38100" dir="2700000" algn="tl">
                      <a:srgbClr val="000000">
                        <a:alpha val="43137"/>
                      </a:srgbClr>
                    </a:outerShdw>
                  </a:effectLst>
                  <a:latin typeface="Calibri" pitchFamily="34" charset="0"/>
                </a:rPr>
                <a:t>Model in Words</a:t>
              </a:r>
            </a:p>
          </p:txBody>
        </p:sp>
      </p:grpSp>
      <p:cxnSp>
        <p:nvCxnSpPr>
          <p:cNvPr id="12" name="Straight Connector 11"/>
          <p:cNvCxnSpPr/>
          <p:nvPr/>
        </p:nvCxnSpPr>
        <p:spPr>
          <a:xfrm>
            <a:off x="4512735" y="1391779"/>
            <a:ext cx="0" cy="5486400"/>
          </a:xfrm>
          <a:prstGeom prst="line">
            <a:avLst/>
          </a:prstGeom>
          <a:ln w="19050">
            <a:solidFill>
              <a:schemeClr val="bg2"/>
            </a:solidFill>
            <a:prstDash val="sysDot"/>
            <a:tailEnd type="none" w="lg" len="lg"/>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a:xfrm>
            <a:off x="151002" y="3505823"/>
            <a:ext cx="4285531" cy="939972"/>
            <a:chOff x="151002" y="3505823"/>
            <a:chExt cx="4285531" cy="939972"/>
          </a:xfrm>
        </p:grpSpPr>
        <p:sp>
          <p:nvSpPr>
            <p:cNvPr id="13" name="TextBox 12"/>
            <p:cNvSpPr txBox="1"/>
            <p:nvPr/>
          </p:nvSpPr>
          <p:spPr>
            <a:xfrm>
              <a:off x="151002" y="3505823"/>
              <a:ext cx="3336989" cy="400110"/>
            </a:xfrm>
            <a:prstGeom prst="rect">
              <a:avLst/>
            </a:prstGeom>
            <a:noFill/>
          </p:spPr>
          <p:txBody>
            <a:bodyPr wrap="square" rtlCol="0">
              <a:spAutoFit/>
            </a:bodyPr>
            <a:lstStyle/>
            <a:p>
              <a:pPr>
                <a:buSzPct val="75000"/>
              </a:pPr>
              <a:r>
                <a:rPr lang="en-US" sz="2000" u="sng" dirty="0">
                  <a:solidFill>
                    <a:srgbClr val="000099"/>
                  </a:solidFill>
                  <a:latin typeface="Calibri" pitchFamily="34" charset="0"/>
                  <a:cs typeface="Calibri" pitchFamily="34" charset="0"/>
                </a:rPr>
                <a:t>Objective function</a:t>
              </a:r>
              <a:r>
                <a:rPr lang="en-US" sz="2000" dirty="0">
                  <a:solidFill>
                    <a:srgbClr val="000099"/>
                  </a:solidFill>
                  <a:latin typeface="Calibri" pitchFamily="34" charset="0"/>
                  <a:cs typeface="Calibri" pitchFamily="34" charset="0"/>
                </a:rPr>
                <a:t>:</a:t>
              </a:r>
            </a:p>
          </p:txBody>
        </p:sp>
        <p:sp>
          <p:nvSpPr>
            <p:cNvPr id="14" name="TextBox 13"/>
            <p:cNvSpPr txBox="1"/>
            <p:nvPr/>
          </p:nvSpPr>
          <p:spPr>
            <a:xfrm>
              <a:off x="186256" y="4076463"/>
              <a:ext cx="4250277" cy="369332"/>
            </a:xfrm>
            <a:prstGeom prst="rect">
              <a:avLst/>
            </a:prstGeom>
            <a:noFill/>
          </p:spPr>
          <p:txBody>
            <a:bodyPr wrap="square" rtlCol="0">
              <a:spAutoFit/>
            </a:bodyPr>
            <a:lstStyle/>
            <a:p>
              <a:pPr>
                <a:buSzPct val="75000"/>
              </a:pPr>
              <a:r>
                <a:rPr lang="en-US" i="1" dirty="0">
                  <a:solidFill>
                    <a:srgbClr val="000099"/>
                  </a:solidFill>
                  <a:latin typeface="Calibri" panose="020F0502020204030204" pitchFamily="34" charset="0"/>
                </a:rPr>
                <a:t>Maximize NPV of project portfolio </a:t>
              </a:r>
            </a:p>
          </p:txBody>
        </p:sp>
      </p:grpSp>
      <p:grpSp>
        <p:nvGrpSpPr>
          <p:cNvPr id="26" name="Group 25"/>
          <p:cNvGrpSpPr/>
          <p:nvPr/>
        </p:nvGrpSpPr>
        <p:grpSpPr>
          <a:xfrm>
            <a:off x="159470" y="4788182"/>
            <a:ext cx="4285532" cy="1115384"/>
            <a:chOff x="159470" y="4788182"/>
            <a:chExt cx="4285532" cy="1115384"/>
          </a:xfrm>
        </p:grpSpPr>
        <p:sp>
          <p:nvSpPr>
            <p:cNvPr id="15" name="TextBox 14"/>
            <p:cNvSpPr txBox="1"/>
            <p:nvPr/>
          </p:nvSpPr>
          <p:spPr>
            <a:xfrm>
              <a:off x="159470" y="4788182"/>
              <a:ext cx="3336989" cy="400110"/>
            </a:xfrm>
            <a:prstGeom prst="rect">
              <a:avLst/>
            </a:prstGeom>
            <a:noFill/>
          </p:spPr>
          <p:txBody>
            <a:bodyPr wrap="square" rtlCol="0">
              <a:spAutoFit/>
            </a:bodyPr>
            <a:lstStyle/>
            <a:p>
              <a:pPr>
                <a:buSzPct val="75000"/>
              </a:pPr>
              <a:r>
                <a:rPr lang="en-US" sz="2000" u="sng" dirty="0">
                  <a:solidFill>
                    <a:srgbClr val="000099"/>
                  </a:solidFill>
                  <a:latin typeface="Calibri" pitchFamily="34" charset="0"/>
                  <a:cs typeface="Calibri" pitchFamily="34" charset="0"/>
                </a:rPr>
                <a:t>Constraints</a:t>
              </a:r>
              <a:r>
                <a:rPr lang="en-US" sz="2000" dirty="0">
                  <a:solidFill>
                    <a:srgbClr val="000099"/>
                  </a:solidFill>
                  <a:latin typeface="Calibri" pitchFamily="34" charset="0"/>
                  <a:cs typeface="Calibri" pitchFamily="34" charset="0"/>
                </a:rPr>
                <a:t>:</a:t>
              </a:r>
            </a:p>
          </p:txBody>
        </p:sp>
        <p:sp>
          <p:nvSpPr>
            <p:cNvPr id="16" name="TextBox 15"/>
            <p:cNvSpPr txBox="1"/>
            <p:nvPr/>
          </p:nvSpPr>
          <p:spPr>
            <a:xfrm>
              <a:off x="194725" y="5257235"/>
              <a:ext cx="4250277" cy="646331"/>
            </a:xfrm>
            <a:prstGeom prst="rect">
              <a:avLst/>
            </a:prstGeom>
            <a:noFill/>
          </p:spPr>
          <p:txBody>
            <a:bodyPr wrap="square" rtlCol="0">
              <a:spAutoFit/>
            </a:bodyPr>
            <a:lstStyle/>
            <a:p>
              <a:pPr>
                <a:buSzPct val="75000"/>
              </a:pPr>
              <a:r>
                <a:rPr lang="en-US" i="1" dirty="0">
                  <a:solidFill>
                    <a:srgbClr val="000099"/>
                  </a:solidFill>
                  <a:latin typeface="Calibri" panose="020F0502020204030204" pitchFamily="34" charset="0"/>
                </a:rPr>
                <a:t>Budget constraints for Year 1, 2,3</a:t>
              </a:r>
            </a:p>
            <a:p>
              <a:pPr>
                <a:buSzPct val="75000"/>
              </a:pPr>
              <a:r>
                <a:rPr lang="en-US" i="1" dirty="0">
                  <a:solidFill>
                    <a:srgbClr val="000099"/>
                  </a:solidFill>
                  <a:latin typeface="Calibri" panose="020F0502020204030204" pitchFamily="34" charset="0"/>
                </a:rPr>
                <a:t>Labor constraints for Year 1, 2,3</a:t>
              </a:r>
            </a:p>
          </p:txBody>
        </p:sp>
      </p:grpSp>
      <p:sp>
        <p:nvSpPr>
          <p:cNvPr id="18" name="Date Placeholder 3"/>
          <p:cNvSpPr>
            <a:spLocks noGrp="1"/>
          </p:cNvSpPr>
          <p:nvPr>
            <p:ph type="dt" sz="half" idx="10"/>
          </p:nvPr>
        </p:nvSpPr>
        <p:spPr>
          <a:xfrm>
            <a:off x="8502650" y="-12801"/>
            <a:ext cx="641350" cy="358775"/>
          </a:xfrm>
        </p:spPr>
        <p:txBody>
          <a:bodyPr/>
          <a:lstStyle/>
          <a:p>
            <a:r>
              <a:rPr lang="en-US"/>
              <a:t>Turcic</a:t>
            </a:r>
            <a:endParaRPr lang="en-US" dirty="0"/>
          </a:p>
        </p:txBody>
      </p:sp>
      <p:sp>
        <p:nvSpPr>
          <p:cNvPr id="19" name="Footer Placeholder 4"/>
          <p:cNvSpPr>
            <a:spLocks noGrp="1"/>
          </p:cNvSpPr>
          <p:nvPr>
            <p:ph type="ftr" sz="quarter" idx="11"/>
          </p:nvPr>
        </p:nvSpPr>
        <p:spPr>
          <a:xfrm>
            <a:off x="107950" y="-12801"/>
            <a:ext cx="3086100" cy="365125"/>
          </a:xfrm>
        </p:spPr>
        <p:txBody>
          <a:bodyPr/>
          <a:lstStyle/>
          <a:p>
            <a:r>
              <a:rPr lang="en-US"/>
              <a:t>MGT 207 Operations Management</a:t>
            </a:r>
            <a:endParaRPr lang="en-US" dirty="0"/>
          </a:p>
        </p:txBody>
      </p:sp>
      <p:grpSp>
        <p:nvGrpSpPr>
          <p:cNvPr id="6" name="Group 5"/>
          <p:cNvGrpSpPr/>
          <p:nvPr/>
        </p:nvGrpSpPr>
        <p:grpSpPr>
          <a:xfrm>
            <a:off x="3998064" y="1357991"/>
            <a:ext cx="4485924" cy="1744133"/>
            <a:chOff x="3998064" y="1357991"/>
            <a:chExt cx="4485924" cy="1744133"/>
          </a:xfrm>
        </p:grpSpPr>
        <p:sp>
          <p:nvSpPr>
            <p:cNvPr id="11" name="TextBox 10"/>
            <p:cNvSpPr txBox="1"/>
            <p:nvPr/>
          </p:nvSpPr>
          <p:spPr>
            <a:xfrm>
              <a:off x="5367852" y="1357991"/>
              <a:ext cx="2353762" cy="461665"/>
            </a:xfrm>
            <a:prstGeom prst="rect">
              <a:avLst/>
            </a:prstGeom>
            <a:noFill/>
          </p:spPr>
          <p:txBody>
            <a:bodyPr wrap="square" rtlCol="0">
              <a:spAutoFit/>
            </a:bodyPr>
            <a:lstStyle/>
            <a:p>
              <a:pPr algn="ctr">
                <a:spcAft>
                  <a:spcPts val="1200"/>
                </a:spcAft>
                <a:buSzPct val="80000"/>
              </a:pPr>
              <a:r>
                <a:rPr lang="en-US" sz="2400" dirty="0">
                  <a:solidFill>
                    <a:srgbClr val="000099"/>
                  </a:solidFill>
                  <a:effectLst>
                    <a:outerShdw blurRad="38100" dist="38100" dir="2700000" algn="tl">
                      <a:srgbClr val="000000">
                        <a:alpha val="43137"/>
                      </a:srgbClr>
                    </a:outerShdw>
                  </a:effectLst>
                  <a:latin typeface="Calibri" pitchFamily="34" charset="0"/>
                </a:rPr>
                <a:t>Model in Math</a:t>
              </a:r>
            </a:p>
          </p:txBody>
        </p:sp>
        <p:sp>
          <p:nvSpPr>
            <p:cNvPr id="20" name="TextBox 19"/>
            <p:cNvSpPr txBox="1"/>
            <p:nvPr/>
          </p:nvSpPr>
          <p:spPr>
            <a:xfrm>
              <a:off x="5002329" y="2455793"/>
              <a:ext cx="3481659" cy="646331"/>
            </a:xfrm>
            <a:prstGeom prst="rect">
              <a:avLst/>
            </a:prstGeom>
            <a:noFill/>
          </p:spPr>
          <p:txBody>
            <a:bodyPr wrap="none" rtlCol="0">
              <a:spAutoFit/>
            </a:bodyPr>
            <a:lstStyle/>
            <a:p>
              <a:r>
                <a:rPr lang="en-US" i="1" dirty="0">
                  <a:solidFill>
                    <a:srgbClr val="000099"/>
                  </a:solidFill>
                  <a:latin typeface="Calibri" panose="020F0502020204030204" pitchFamily="34" charset="0"/>
                </a:rPr>
                <a:t>Decision variables: </a:t>
              </a:r>
              <a:r>
                <a:rPr lang="en-US" b="1" i="1" dirty="0">
                  <a:solidFill>
                    <a:srgbClr val="000099"/>
                  </a:solidFill>
                  <a:latin typeface="Calibri" panose="020F0502020204030204" pitchFamily="34" charset="0"/>
                </a:rPr>
                <a:t>x</a:t>
              </a:r>
              <a:r>
                <a:rPr lang="en-US" b="1" i="1" baseline="-25000" dirty="0">
                  <a:solidFill>
                    <a:srgbClr val="000099"/>
                  </a:solidFill>
                  <a:latin typeface="Calibri" panose="020F0502020204030204" pitchFamily="34" charset="0"/>
                </a:rPr>
                <a:t>i</a:t>
              </a:r>
              <a:r>
                <a:rPr lang="en-US" i="1" dirty="0">
                  <a:solidFill>
                    <a:srgbClr val="000099"/>
                  </a:solidFill>
                  <a:latin typeface="Calibri" panose="020F0502020204030204" pitchFamily="34" charset="0"/>
                </a:rPr>
                <a:t> , i = 1…,20</a:t>
              </a:r>
            </a:p>
            <a:p>
              <a:r>
                <a:rPr lang="en-US" b="1" i="1" dirty="0">
                  <a:solidFill>
                    <a:srgbClr val="000099"/>
                  </a:solidFill>
                  <a:latin typeface="Calibri" panose="020F0502020204030204" pitchFamily="34" charset="0"/>
                </a:rPr>
                <a:t>                </a:t>
              </a:r>
              <a:r>
                <a:rPr lang="en-US" i="1" dirty="0">
                  <a:solidFill>
                    <a:srgbClr val="000099"/>
                  </a:solidFill>
                  <a:latin typeface="Calibri" panose="020F0502020204030204" pitchFamily="34" charset="0"/>
                </a:rPr>
                <a:t>(x</a:t>
              </a:r>
              <a:r>
                <a:rPr lang="en-US" i="1" baseline="-25000" dirty="0">
                  <a:solidFill>
                    <a:srgbClr val="000099"/>
                  </a:solidFill>
                  <a:latin typeface="Calibri" panose="020F0502020204030204" pitchFamily="34" charset="0"/>
                </a:rPr>
                <a:t>i</a:t>
              </a:r>
              <a:r>
                <a:rPr lang="en-US" i="1" dirty="0">
                  <a:solidFill>
                    <a:srgbClr val="000099"/>
                  </a:solidFill>
                  <a:latin typeface="Calibri" panose="020F0502020204030204" pitchFamily="34" charset="0"/>
                </a:rPr>
                <a:t> is a 0-1 binary variable)</a:t>
              </a:r>
            </a:p>
          </p:txBody>
        </p:sp>
        <p:sp>
          <p:nvSpPr>
            <p:cNvPr id="5" name="Right Arrow 4"/>
            <p:cNvSpPr/>
            <p:nvPr/>
          </p:nvSpPr>
          <p:spPr>
            <a:xfrm>
              <a:off x="3998064" y="2455793"/>
              <a:ext cx="645908" cy="519965"/>
            </a:xfrm>
            <a:prstGeom prst="right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p:cNvGrpSpPr/>
          <p:nvPr/>
        </p:nvGrpSpPr>
        <p:grpSpPr>
          <a:xfrm>
            <a:off x="3998064" y="3731719"/>
            <a:ext cx="4299271" cy="839787"/>
            <a:chOff x="3998064" y="3731719"/>
            <a:chExt cx="4299271" cy="839787"/>
          </a:xfrm>
        </p:grpSpPr>
        <p:sp>
          <p:nvSpPr>
            <p:cNvPr id="17" name="TextBox 16"/>
            <p:cNvSpPr txBox="1"/>
            <p:nvPr/>
          </p:nvSpPr>
          <p:spPr>
            <a:xfrm>
              <a:off x="4893738" y="4034125"/>
              <a:ext cx="1388529" cy="369332"/>
            </a:xfrm>
            <a:prstGeom prst="rect">
              <a:avLst/>
            </a:prstGeom>
            <a:noFill/>
          </p:spPr>
          <p:txBody>
            <a:bodyPr wrap="square" rtlCol="0">
              <a:spAutoFit/>
            </a:bodyPr>
            <a:lstStyle/>
            <a:p>
              <a:pPr>
                <a:buSzPct val="75000"/>
              </a:pPr>
              <a:r>
                <a:rPr lang="en-US" i="1" dirty="0">
                  <a:solidFill>
                    <a:srgbClr val="000099"/>
                  </a:solidFill>
                  <a:latin typeface="Calibri" panose="020F0502020204030204" pitchFamily="34" charset="0"/>
                </a:rPr>
                <a:t>maximize</a:t>
              </a:r>
              <a:endParaRPr lang="en-US" sz="1400" i="1" dirty="0">
                <a:solidFill>
                  <a:srgbClr val="000099"/>
                </a:solidFill>
                <a:latin typeface="Calibri" panose="020F0502020204030204" pitchFamily="34" charset="0"/>
              </a:endParaRPr>
            </a:p>
          </p:txBody>
        </p:sp>
        <p:graphicFrame>
          <p:nvGraphicFramePr>
            <p:cNvPr id="22" name="Object 21"/>
            <p:cNvGraphicFramePr>
              <a:graphicFrameLocks noChangeAspect="1"/>
            </p:cNvGraphicFramePr>
            <p:nvPr>
              <p:extLst>
                <p:ext uri="{D42A27DB-BD31-4B8C-83A1-F6EECF244321}">
                  <p14:modId xmlns:p14="http://schemas.microsoft.com/office/powerpoint/2010/main" val="3398338299"/>
                </p:ext>
              </p:extLst>
            </p:nvPr>
          </p:nvGraphicFramePr>
          <p:xfrm>
            <a:off x="6570135" y="3731719"/>
            <a:ext cx="1727200" cy="839787"/>
          </p:xfrm>
          <a:graphic>
            <a:graphicData uri="http://schemas.openxmlformats.org/presentationml/2006/ole">
              <mc:AlternateContent xmlns:mc="http://schemas.openxmlformats.org/markup-compatibility/2006">
                <mc:Choice xmlns:v="urn:schemas-microsoft-com:vml" Requires="v">
                  <p:oleObj name="Equation" r:id="rId3" imgW="888840" imgH="431640" progId="Equation.DSMT4">
                    <p:embed/>
                  </p:oleObj>
                </mc:Choice>
                <mc:Fallback>
                  <p:oleObj name="Equation" r:id="rId3" imgW="888840" imgH="431640" progId="Equation.DSMT4">
                    <p:embed/>
                    <p:pic>
                      <p:nvPicPr>
                        <p:cNvPr id="0" name=""/>
                        <p:cNvPicPr/>
                        <p:nvPr/>
                      </p:nvPicPr>
                      <p:blipFill>
                        <a:blip r:embed="rId4"/>
                        <a:stretch>
                          <a:fillRect/>
                        </a:stretch>
                      </p:blipFill>
                      <p:spPr>
                        <a:xfrm>
                          <a:off x="6570135" y="3731719"/>
                          <a:ext cx="1727200" cy="839787"/>
                        </a:xfrm>
                        <a:prstGeom prst="rect">
                          <a:avLst/>
                        </a:prstGeom>
                      </p:spPr>
                    </p:pic>
                  </p:oleObj>
                </mc:Fallback>
              </mc:AlternateContent>
            </a:graphicData>
          </a:graphic>
        </p:graphicFrame>
        <p:sp>
          <p:nvSpPr>
            <p:cNvPr id="21" name="Right Arrow 20"/>
            <p:cNvSpPr/>
            <p:nvPr/>
          </p:nvSpPr>
          <p:spPr>
            <a:xfrm>
              <a:off x="3998064" y="4048360"/>
              <a:ext cx="645908" cy="519965"/>
            </a:xfrm>
            <a:prstGeom prst="right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3998064" y="4973184"/>
            <a:ext cx="4852249" cy="1451697"/>
            <a:chOff x="3998064" y="4973184"/>
            <a:chExt cx="4852249" cy="1451697"/>
          </a:xfrm>
        </p:grpSpPr>
        <p:graphicFrame>
          <p:nvGraphicFramePr>
            <p:cNvPr id="3" name="Object 2"/>
            <p:cNvGraphicFramePr>
              <a:graphicFrameLocks noChangeAspect="1"/>
            </p:cNvGraphicFramePr>
            <p:nvPr>
              <p:extLst>
                <p:ext uri="{D42A27DB-BD31-4B8C-83A1-F6EECF244321}">
                  <p14:modId xmlns:p14="http://schemas.microsoft.com/office/powerpoint/2010/main" val="4262632563"/>
                </p:ext>
              </p:extLst>
            </p:nvPr>
          </p:nvGraphicFramePr>
          <p:xfrm>
            <a:off x="4758267" y="4973184"/>
            <a:ext cx="4092046" cy="1451697"/>
          </p:xfrm>
          <a:graphic>
            <a:graphicData uri="http://schemas.openxmlformats.org/presentationml/2006/ole">
              <mc:AlternateContent xmlns:mc="http://schemas.openxmlformats.org/markup-compatibility/2006">
                <mc:Choice xmlns:v="urn:schemas-microsoft-com:vml" Requires="v">
                  <p:oleObj name="Equation" r:id="rId5" imgW="3733560" imgH="1320480" progId="Equation.DSMT4">
                    <p:embed/>
                  </p:oleObj>
                </mc:Choice>
                <mc:Fallback>
                  <p:oleObj name="Equation" r:id="rId5" imgW="3733560" imgH="1320480" progId="Equation.DSMT4">
                    <p:embed/>
                    <p:pic>
                      <p:nvPicPr>
                        <p:cNvPr id="0" name=""/>
                        <p:cNvPicPr>
                          <a:picLocks noChangeAspect="1" noChangeArrowheads="1"/>
                        </p:cNvPicPr>
                        <p:nvPr/>
                      </p:nvPicPr>
                      <p:blipFill>
                        <a:blip r:embed="rId6"/>
                        <a:srcRect/>
                        <a:stretch>
                          <a:fillRect/>
                        </a:stretch>
                      </p:blipFill>
                      <p:spPr bwMode="auto">
                        <a:xfrm>
                          <a:off x="4758267" y="4973184"/>
                          <a:ext cx="4092046" cy="1451697"/>
                        </a:xfrm>
                        <a:prstGeom prst="rect">
                          <a:avLst/>
                        </a:prstGeom>
                        <a:noFill/>
                        <a:ln>
                          <a:noFill/>
                        </a:ln>
                      </p:spPr>
                    </p:pic>
                  </p:oleObj>
                </mc:Fallback>
              </mc:AlternateContent>
            </a:graphicData>
          </a:graphic>
        </p:graphicFrame>
        <p:sp>
          <p:nvSpPr>
            <p:cNvPr id="23" name="Right Arrow 22"/>
            <p:cNvSpPr/>
            <p:nvPr/>
          </p:nvSpPr>
          <p:spPr>
            <a:xfrm>
              <a:off x="3998064" y="5257235"/>
              <a:ext cx="645908" cy="519965"/>
            </a:xfrm>
            <a:prstGeom prst="rightArrow">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41314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up)">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wipe(up)">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0" y="23812"/>
            <a:ext cx="9144000" cy="6834188"/>
          </a:xfrm>
          <a:prstGeom prst="rect">
            <a:avLst/>
          </a:prstGeom>
        </p:spPr>
      </p:pic>
      <p:sp>
        <p:nvSpPr>
          <p:cNvPr id="4" name="Date Placeholder 3"/>
          <p:cNvSpPr>
            <a:spLocks noGrp="1"/>
          </p:cNvSpPr>
          <p:nvPr>
            <p:ph type="dt" sz="half" idx="10"/>
          </p:nvPr>
        </p:nvSpPr>
        <p:spPr>
          <a:xfrm>
            <a:off x="8502650" y="-12801"/>
            <a:ext cx="641350" cy="358775"/>
          </a:xfrm>
        </p:spPr>
        <p:txBody>
          <a:bodyPr/>
          <a:lstStyle/>
          <a:p>
            <a:r>
              <a:rPr lang="en-US"/>
              <a:t>Turcic</a:t>
            </a:r>
            <a:endParaRPr lang="en-US" dirty="0"/>
          </a:p>
        </p:txBody>
      </p:sp>
      <p:sp>
        <p:nvSpPr>
          <p:cNvPr id="5" name="Footer Placeholder 4"/>
          <p:cNvSpPr>
            <a:spLocks noGrp="1"/>
          </p:cNvSpPr>
          <p:nvPr>
            <p:ph type="ftr" sz="quarter" idx="11"/>
          </p:nvPr>
        </p:nvSpPr>
        <p:spPr>
          <a:xfrm>
            <a:off x="107950" y="-12801"/>
            <a:ext cx="3086100" cy="365125"/>
          </a:xfrm>
        </p:spPr>
        <p:txBody>
          <a:bodyPr/>
          <a:lstStyle/>
          <a:p>
            <a:r>
              <a:rPr lang="en-US"/>
              <a:t>MGT 207 Operations Management</a:t>
            </a:r>
            <a:endParaRPr lang="en-US" dirty="0"/>
          </a:p>
        </p:txBody>
      </p:sp>
      <p:sp>
        <p:nvSpPr>
          <p:cNvPr id="8" name="TextBox 7"/>
          <p:cNvSpPr txBox="1"/>
          <p:nvPr/>
        </p:nvSpPr>
        <p:spPr>
          <a:xfrm>
            <a:off x="2841209" y="4815876"/>
            <a:ext cx="3992311" cy="369332"/>
          </a:xfrm>
          <a:prstGeom prst="rect">
            <a:avLst/>
          </a:prstGeom>
          <a:noFill/>
          <a:ln>
            <a:solidFill>
              <a:srgbClr val="0033CC"/>
            </a:solidFill>
          </a:ln>
        </p:spPr>
        <p:txBody>
          <a:bodyPr wrap="none" rtlCol="0">
            <a:spAutoFit/>
          </a:bodyPr>
          <a:lstStyle/>
          <a:p>
            <a:r>
              <a:rPr lang="en-US" b="1" dirty="0">
                <a:solidFill>
                  <a:srgbClr val="0033CC"/>
                </a:solidFill>
              </a:rPr>
              <a:t>D26= SUMPRODUCT(D23:W23, D5:W5)</a:t>
            </a:r>
          </a:p>
        </p:txBody>
      </p:sp>
      <p:cxnSp>
        <p:nvCxnSpPr>
          <p:cNvPr id="10" name="Straight Arrow Connector 9"/>
          <p:cNvCxnSpPr/>
          <p:nvPr/>
        </p:nvCxnSpPr>
        <p:spPr>
          <a:xfrm flipH="1">
            <a:off x="1995537" y="5000542"/>
            <a:ext cx="759417" cy="0"/>
          </a:xfrm>
          <a:prstGeom prst="straightConnector1">
            <a:avLst/>
          </a:prstGeom>
          <a:ln w="28575">
            <a:solidFill>
              <a:srgbClr val="0033CC"/>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841209" y="5281266"/>
            <a:ext cx="4348178" cy="369332"/>
          </a:xfrm>
          <a:prstGeom prst="rect">
            <a:avLst/>
          </a:prstGeom>
          <a:noFill/>
          <a:ln>
            <a:solidFill>
              <a:srgbClr val="0033CC"/>
            </a:solidFill>
          </a:ln>
        </p:spPr>
        <p:txBody>
          <a:bodyPr wrap="none" rtlCol="0">
            <a:spAutoFit/>
          </a:bodyPr>
          <a:lstStyle/>
          <a:p>
            <a:r>
              <a:rPr lang="en-US" b="1" dirty="0">
                <a:solidFill>
                  <a:srgbClr val="0033CC"/>
                </a:solidFill>
              </a:rPr>
              <a:t>D29= SUMPRODUCT($D$23:$W$23,D7:W7)</a:t>
            </a:r>
          </a:p>
        </p:txBody>
      </p:sp>
      <p:cxnSp>
        <p:nvCxnSpPr>
          <p:cNvPr id="14" name="Straight Arrow Connector 13"/>
          <p:cNvCxnSpPr>
            <a:stCxn id="13" idx="1"/>
          </p:cNvCxnSpPr>
          <p:nvPr/>
        </p:nvCxnSpPr>
        <p:spPr>
          <a:xfrm flipH="1">
            <a:off x="1907458" y="5465932"/>
            <a:ext cx="933751" cy="337314"/>
          </a:xfrm>
          <a:prstGeom prst="straightConnector1">
            <a:avLst/>
          </a:prstGeom>
          <a:ln w="28575">
            <a:solidFill>
              <a:srgbClr val="0033CC"/>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60625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Solver Parameters</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sz="1600" dirty="0"/>
              <a:t>Enforce the binary requirement on project selection cells using “bin” in the “Add Constraint” dialog box</a:t>
            </a:r>
          </a:p>
          <a:p>
            <a:pPr>
              <a:buFont typeface="Wingdings" panose="05000000000000000000" pitchFamily="2" charset="2"/>
              <a:buChar char="Ø"/>
            </a:pPr>
            <a:r>
              <a:rPr lang="en-US" sz="1600" dirty="0"/>
              <a:t>To guarantee an exact optimal solution, set “0” in the “Integer Optimality(%)” in the Solver Options dialog box (Solver may run a long time)</a:t>
            </a:r>
          </a:p>
          <a:p>
            <a:pPr>
              <a:buFont typeface="Wingdings" panose="05000000000000000000" pitchFamily="2" charset="2"/>
              <a:buChar char="Ø"/>
            </a:pPr>
            <a:endParaRPr lang="en-US" sz="1800" dirty="0"/>
          </a:p>
          <a:p>
            <a:pPr>
              <a:buFont typeface="Wingdings" panose="05000000000000000000" pitchFamily="2" charset="2"/>
              <a:buChar char="Ø"/>
            </a:pPr>
            <a:endParaRPr lang="en-US" sz="1800" dirty="0"/>
          </a:p>
        </p:txBody>
      </p:sp>
      <p:pic>
        <p:nvPicPr>
          <p:cNvPr id="4" name="Picture 3"/>
          <p:cNvPicPr>
            <a:picLocks noChangeAspect="1"/>
          </p:cNvPicPr>
          <p:nvPr/>
        </p:nvPicPr>
        <p:blipFill>
          <a:blip r:embed="rId2"/>
          <a:stretch>
            <a:fillRect/>
          </a:stretch>
        </p:blipFill>
        <p:spPr>
          <a:xfrm>
            <a:off x="571678" y="2912477"/>
            <a:ext cx="4301214" cy="3874599"/>
          </a:xfrm>
          <a:prstGeom prst="rect">
            <a:avLst/>
          </a:prstGeom>
        </p:spPr>
      </p:pic>
      <p:pic>
        <p:nvPicPr>
          <p:cNvPr id="5" name="Picture 4"/>
          <p:cNvPicPr>
            <a:picLocks noChangeAspect="1"/>
          </p:cNvPicPr>
          <p:nvPr/>
        </p:nvPicPr>
        <p:blipFill>
          <a:blip r:embed="rId3"/>
          <a:stretch>
            <a:fillRect/>
          </a:stretch>
        </p:blipFill>
        <p:spPr>
          <a:xfrm>
            <a:off x="2830663" y="2628342"/>
            <a:ext cx="3246037" cy="1007599"/>
          </a:xfrm>
          <a:prstGeom prst="rect">
            <a:avLst/>
          </a:prstGeom>
        </p:spPr>
      </p:pic>
      <p:cxnSp>
        <p:nvCxnSpPr>
          <p:cNvPr id="7" name="Straight Arrow Connector 6"/>
          <p:cNvCxnSpPr/>
          <p:nvPr/>
        </p:nvCxnSpPr>
        <p:spPr>
          <a:xfrm flipH="1">
            <a:off x="1630017" y="3275937"/>
            <a:ext cx="2552369" cy="1009816"/>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4"/>
          <a:stretch>
            <a:fillRect/>
          </a:stretch>
        </p:blipFill>
        <p:spPr>
          <a:xfrm>
            <a:off x="6384398" y="2512612"/>
            <a:ext cx="2629027" cy="4158531"/>
          </a:xfrm>
          <a:prstGeom prst="rect">
            <a:avLst/>
          </a:prstGeom>
        </p:spPr>
      </p:pic>
      <p:cxnSp>
        <p:nvCxnSpPr>
          <p:cNvPr id="12" name="Straight Arrow Connector 11"/>
          <p:cNvCxnSpPr/>
          <p:nvPr/>
        </p:nvCxnSpPr>
        <p:spPr>
          <a:xfrm flipV="1">
            <a:off x="4412974" y="4349363"/>
            <a:ext cx="3506525" cy="1340108"/>
          </a:xfrm>
          <a:prstGeom prst="straightConnector1">
            <a:avLst/>
          </a:prstGeom>
          <a:ln w="28575">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5" name="Date Placeholder 3"/>
          <p:cNvSpPr>
            <a:spLocks noGrp="1"/>
          </p:cNvSpPr>
          <p:nvPr>
            <p:ph type="dt" sz="half" idx="10"/>
          </p:nvPr>
        </p:nvSpPr>
        <p:spPr>
          <a:xfrm>
            <a:off x="8502650" y="-12801"/>
            <a:ext cx="641350" cy="358775"/>
          </a:xfrm>
        </p:spPr>
        <p:txBody>
          <a:bodyPr/>
          <a:lstStyle/>
          <a:p>
            <a:r>
              <a:rPr lang="en-US"/>
              <a:t>Turcic</a:t>
            </a:r>
            <a:endParaRPr lang="en-US" dirty="0"/>
          </a:p>
        </p:txBody>
      </p:sp>
      <p:sp>
        <p:nvSpPr>
          <p:cNvPr id="16" name="Footer Placeholder 4"/>
          <p:cNvSpPr>
            <a:spLocks noGrp="1"/>
          </p:cNvSpPr>
          <p:nvPr>
            <p:ph type="ftr" sz="quarter" idx="11"/>
          </p:nvPr>
        </p:nvSpPr>
        <p:spPr>
          <a:xfrm>
            <a:off x="107950" y="-12801"/>
            <a:ext cx="3086100" cy="365125"/>
          </a:xfrm>
        </p:spPr>
        <p:txBody>
          <a:bodyPr/>
          <a:lstStyle/>
          <a:p>
            <a:r>
              <a:rPr lang="en-US"/>
              <a:t>MGT 207 Operations Management</a:t>
            </a:r>
            <a:endParaRPr lang="en-US" dirty="0"/>
          </a:p>
        </p:txBody>
      </p:sp>
    </p:spTree>
    <p:extLst>
      <p:ext uri="{BB962C8B-B14F-4D97-AF65-F5344CB8AC3E}">
        <p14:creationId xmlns:p14="http://schemas.microsoft.com/office/powerpoint/2010/main" val="307383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Add Additional Logical Constraints</a:t>
            </a:r>
          </a:p>
        </p:txBody>
      </p:sp>
      <p:sp>
        <p:nvSpPr>
          <p:cNvPr id="3" name="Content Placeholder 2"/>
          <p:cNvSpPr>
            <a:spLocks noGrp="1"/>
          </p:cNvSpPr>
          <p:nvPr>
            <p:ph idx="1"/>
          </p:nvPr>
        </p:nvSpPr>
        <p:spPr/>
        <p:txBody>
          <a:bodyPr>
            <a:normAutofit lnSpcReduction="10000"/>
          </a:bodyPr>
          <a:lstStyle/>
          <a:p>
            <a:r>
              <a:rPr lang="en-US" dirty="0"/>
              <a:t>Consider following situations</a:t>
            </a:r>
          </a:p>
          <a:p>
            <a:pPr marL="801687" lvl="1" indent="-457200">
              <a:buFont typeface="+mj-lt"/>
              <a:buAutoNum type="arabicPeriod"/>
            </a:pPr>
            <a:r>
              <a:rPr lang="en-US" sz="2000" dirty="0"/>
              <a:t>Project 6 and Project 7 cannot be selected together.</a:t>
            </a:r>
          </a:p>
          <a:p>
            <a:pPr marL="801687" lvl="1" indent="-457200">
              <a:buFont typeface="+mj-lt"/>
              <a:buAutoNum type="arabicPeriod"/>
            </a:pPr>
            <a:endParaRPr lang="en-US" sz="2000" dirty="0"/>
          </a:p>
          <a:p>
            <a:pPr marL="801687" lvl="1" indent="-457200">
              <a:buFont typeface="+mj-lt"/>
              <a:buAutoNum type="arabicPeriod"/>
            </a:pPr>
            <a:endParaRPr lang="en-US" sz="2000" dirty="0"/>
          </a:p>
          <a:p>
            <a:pPr marL="801687" lvl="1" indent="-457200">
              <a:buFont typeface="+mj-lt"/>
              <a:buAutoNum type="arabicPeriod"/>
            </a:pPr>
            <a:r>
              <a:rPr lang="en-US" sz="2000" dirty="0"/>
              <a:t>If project 1 is selected, the project 2 must be selected, and vice versa.</a:t>
            </a:r>
          </a:p>
          <a:p>
            <a:pPr marL="801687" lvl="1" indent="-457200">
              <a:buFont typeface="+mj-lt"/>
              <a:buAutoNum type="arabicPeriod"/>
            </a:pPr>
            <a:endParaRPr lang="en-US" sz="2000" dirty="0"/>
          </a:p>
          <a:p>
            <a:pPr marL="801687" lvl="1" indent="-457200">
              <a:buFont typeface="+mj-lt"/>
              <a:buAutoNum type="arabicPeriod"/>
            </a:pPr>
            <a:endParaRPr lang="en-US" sz="2000" dirty="0"/>
          </a:p>
          <a:p>
            <a:pPr marL="801687" lvl="1" indent="-457200">
              <a:buFont typeface="+mj-lt"/>
              <a:buAutoNum type="arabicPeriod"/>
            </a:pPr>
            <a:r>
              <a:rPr lang="en-US" sz="2000" dirty="0"/>
              <a:t>If we select Project 3, we must also select Project 4; but select Project 4 does not necessarily require selection of Project 3.</a:t>
            </a:r>
          </a:p>
          <a:p>
            <a:pPr marL="801687" lvl="1" indent="-457200">
              <a:buFont typeface="+mj-lt"/>
              <a:buAutoNum type="arabicPeriod"/>
            </a:pPr>
            <a:endParaRPr lang="en-US" sz="2000" dirty="0"/>
          </a:p>
          <a:p>
            <a:pPr marL="344487" lvl="1" indent="0">
              <a:buNone/>
            </a:pPr>
            <a:endParaRPr lang="en-US" sz="2000" dirty="0"/>
          </a:p>
          <a:p>
            <a:pPr marL="801687" lvl="1" indent="-457200">
              <a:buFont typeface="+mj-lt"/>
              <a:buAutoNum type="arabicPeriod" startAt="4"/>
            </a:pPr>
            <a:r>
              <a:rPr lang="en-US" sz="2000" dirty="0"/>
              <a:t>We can do at most four projects from among Projects 1 through 10.</a:t>
            </a:r>
          </a:p>
        </p:txBody>
      </p:sp>
      <p:sp>
        <p:nvSpPr>
          <p:cNvPr id="4" name="Date Placeholder 3">
            <a:extLst>
              <a:ext uri="{FF2B5EF4-FFF2-40B4-BE49-F238E27FC236}">
                <a16:creationId xmlns:a16="http://schemas.microsoft.com/office/drawing/2014/main" id="{87B337A6-50B1-4A12-AB88-597439D730BE}"/>
              </a:ext>
            </a:extLst>
          </p:cNvPr>
          <p:cNvSpPr>
            <a:spLocks noGrp="1"/>
          </p:cNvSpPr>
          <p:nvPr>
            <p:ph type="dt" sz="half" idx="10"/>
          </p:nvPr>
        </p:nvSpPr>
        <p:spPr/>
        <p:txBody>
          <a:bodyPr/>
          <a:lstStyle/>
          <a:p>
            <a:r>
              <a:rPr lang="en-US"/>
              <a:t>Turcic</a:t>
            </a:r>
            <a:endParaRPr lang="en-US" dirty="0"/>
          </a:p>
        </p:txBody>
      </p:sp>
      <p:sp>
        <p:nvSpPr>
          <p:cNvPr id="5" name="Footer Placeholder 4">
            <a:extLst>
              <a:ext uri="{FF2B5EF4-FFF2-40B4-BE49-F238E27FC236}">
                <a16:creationId xmlns:a16="http://schemas.microsoft.com/office/drawing/2014/main" id="{18BEC7C7-B5BA-4115-BD3E-254BBE0AF248}"/>
              </a:ext>
            </a:extLst>
          </p:cNvPr>
          <p:cNvSpPr>
            <a:spLocks noGrp="1"/>
          </p:cNvSpPr>
          <p:nvPr>
            <p:ph type="ftr" sz="quarter" idx="11"/>
          </p:nvPr>
        </p:nvSpPr>
        <p:spPr/>
        <p:txBody>
          <a:bodyPr/>
          <a:lstStyle/>
          <a:p>
            <a:r>
              <a:rPr lang="en-US"/>
              <a:t>MGT 207 Operations Management</a:t>
            </a:r>
            <a:endParaRPr lang="en-US" dirty="0"/>
          </a:p>
        </p:txBody>
      </p:sp>
    </p:spTree>
    <p:extLst>
      <p:ext uri="{BB962C8B-B14F-4D97-AF65-F5344CB8AC3E}">
        <p14:creationId xmlns:p14="http://schemas.microsoft.com/office/powerpoint/2010/main" val="2211351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Nonlinear Optimization</a:t>
            </a:r>
          </a:p>
        </p:txBody>
      </p:sp>
    </p:spTree>
    <p:extLst>
      <p:ext uri="{BB962C8B-B14F-4D97-AF65-F5344CB8AC3E}">
        <p14:creationId xmlns:p14="http://schemas.microsoft.com/office/powerpoint/2010/main" val="1222994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Illustration: Nonlinear Objective </a:t>
            </a:r>
          </a:p>
        </p:txBody>
      </p:sp>
      <p:sp>
        <p:nvSpPr>
          <p:cNvPr id="4" name="Footer Placeholder 3"/>
          <p:cNvSpPr>
            <a:spLocks noGrp="1"/>
          </p:cNvSpPr>
          <p:nvPr>
            <p:ph type="ftr" sz="quarter" idx="11"/>
          </p:nvPr>
        </p:nvSpPr>
        <p:spPr>
          <a:xfrm>
            <a:off x="107950" y="6351"/>
            <a:ext cx="3086100" cy="365125"/>
          </a:xfrm>
        </p:spPr>
        <p:txBody>
          <a:bodyPr/>
          <a:lstStyle/>
          <a:p>
            <a:r>
              <a:rPr lang="en-US"/>
              <a:t>MGT 207 Operations Management</a:t>
            </a:r>
            <a:endParaRPr lang="en-US" dirty="0"/>
          </a:p>
        </p:txBody>
      </p:sp>
      <p:sp>
        <p:nvSpPr>
          <p:cNvPr id="6" name="Date Placeholder 5"/>
          <p:cNvSpPr>
            <a:spLocks noGrp="1"/>
          </p:cNvSpPr>
          <p:nvPr>
            <p:ph type="dt" sz="half" idx="10"/>
          </p:nvPr>
        </p:nvSpPr>
        <p:spPr>
          <a:xfrm>
            <a:off x="8502650" y="6351"/>
            <a:ext cx="641350" cy="358775"/>
          </a:xfrm>
        </p:spPr>
        <p:txBody>
          <a:bodyPr/>
          <a:lstStyle/>
          <a:p>
            <a:r>
              <a:rPr lang="en-US"/>
              <a:t>Turcic</a:t>
            </a:r>
            <a:endParaRPr lang="en-US" dirty="0"/>
          </a:p>
        </p:txBody>
      </p:sp>
      <p:pic>
        <p:nvPicPr>
          <p:cNvPr id="3074" name="Picture 2" descr="http://image.slidesharecdn.com/kyiv-151024090304-lva1-app6892/95/how-to-easily-find-the-optimal-solution-without-exhaustive-search-using-genetic-algorithms-34-638.jpg?cb=144598006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12822"/>
            <a:ext cx="6076950" cy="341947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pubs.rsc.org/services/images/RSCpubs.ePlatform.Service.FreeContent.ImageService.svc/ImageService/Articleimage/2011/CP/c1cp20353c/c1cp20353c-f1.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3550" y="1622109"/>
            <a:ext cx="3286125" cy="5086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74765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p:spPr>
        <p:txBody>
          <a:bodyPr>
            <a:normAutofit/>
          </a:bodyPr>
          <a:lstStyle/>
          <a:p>
            <a:r>
              <a:rPr lang="en-US" sz="4000" dirty="0"/>
              <a:t>Gradient Search</a:t>
            </a:r>
          </a:p>
        </p:txBody>
      </p:sp>
      <p:sp>
        <p:nvSpPr>
          <p:cNvPr id="3" name="Content Placeholder 2"/>
          <p:cNvSpPr>
            <a:spLocks noGrp="1"/>
          </p:cNvSpPr>
          <p:nvPr>
            <p:ph idx="1"/>
          </p:nvPr>
        </p:nvSpPr>
        <p:spPr>
          <a:xfrm>
            <a:off x="628650" y="1449960"/>
            <a:ext cx="7886700" cy="5267325"/>
          </a:xfrm>
        </p:spPr>
        <p:txBody>
          <a:bodyPr/>
          <a:lstStyle/>
          <a:p>
            <a:pPr>
              <a:spcAft>
                <a:spcPts val="1200"/>
              </a:spcAft>
              <a:buSzPct val="120000"/>
            </a:pPr>
            <a:r>
              <a:rPr lang="en-US" sz="2400" dirty="0">
                <a:latin typeface="Calibri" panose="020F0502020204030204" pitchFamily="34" charset="0"/>
                <a:ea typeface="Calibri" panose="020F0502020204030204" pitchFamily="34" charset="0"/>
                <a:cs typeface="Calibri" panose="020F0502020204030204" pitchFamily="34" charset="0"/>
              </a:rPr>
              <a:t>Gradi</a:t>
            </a:r>
            <a:r>
              <a:rPr lang="en-US" sz="2400" spc="5" dirty="0">
                <a:latin typeface="Calibri" panose="020F0502020204030204" pitchFamily="34" charset="0"/>
                <a:ea typeface="Calibri" panose="020F0502020204030204" pitchFamily="34" charset="0"/>
                <a:cs typeface="Calibri" panose="020F0502020204030204" pitchFamily="34" charset="0"/>
              </a:rPr>
              <a:t>e</a:t>
            </a:r>
            <a:r>
              <a:rPr lang="en-US" sz="2400" dirty="0">
                <a:latin typeface="Calibri" panose="020F0502020204030204" pitchFamily="34" charset="0"/>
                <a:ea typeface="Calibri" panose="020F0502020204030204" pitchFamily="34" charset="0"/>
                <a:cs typeface="Calibri" panose="020F0502020204030204" pitchFamily="34" charset="0"/>
              </a:rPr>
              <a:t>nt</a:t>
            </a:r>
            <a:r>
              <a:rPr lang="en-US" sz="2400" spc="-25"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search:</a:t>
            </a:r>
            <a:r>
              <a:rPr lang="en-US" sz="2400" spc="-40"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move</a:t>
            </a:r>
            <a:r>
              <a:rPr lang="en-US" sz="2400" spc="-25"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in</a:t>
            </a:r>
            <a:r>
              <a:rPr lang="en-US" sz="2400" spc="-10"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the</a:t>
            </a:r>
            <a:r>
              <a:rPr lang="en-US" sz="2400" spc="-15"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direction</a:t>
            </a:r>
            <a:r>
              <a:rPr lang="en-US" sz="2400" spc="-5" dirty="0">
                <a:latin typeface="Calibri" panose="020F0502020204030204" pitchFamily="34" charset="0"/>
                <a:ea typeface="Calibri" panose="020F0502020204030204" pitchFamily="34" charset="0"/>
                <a:cs typeface="Calibri" panose="020F0502020204030204" pitchFamily="34" charset="0"/>
              </a:rPr>
              <a:t> o</a:t>
            </a:r>
            <a:r>
              <a:rPr lang="en-US" sz="2400" dirty="0">
                <a:latin typeface="Calibri" panose="020F0502020204030204" pitchFamily="34" charset="0"/>
                <a:ea typeface="Calibri" panose="020F0502020204030204" pitchFamily="34" charset="0"/>
                <a:cs typeface="Calibri" panose="020F0502020204030204" pitchFamily="34" charset="0"/>
              </a:rPr>
              <a:t>f</a:t>
            </a:r>
            <a:r>
              <a:rPr lang="en-US" sz="2400" spc="5"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the</a:t>
            </a:r>
            <a:r>
              <a:rPr lang="en-US" sz="2400" spc="-20"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largest</a:t>
            </a:r>
            <a:r>
              <a:rPr lang="en-US" sz="2400" spc="-40"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improvement</a:t>
            </a:r>
          </a:p>
          <a:p>
            <a:pPr lvl="1">
              <a:spcAft>
                <a:spcPts val="1200"/>
              </a:spcAft>
              <a:buSzPct val="120000"/>
            </a:pPr>
            <a:r>
              <a:rPr lang="en-US" sz="1800" dirty="0">
                <a:latin typeface="Calibri" panose="020F0502020204030204" pitchFamily="34" charset="0"/>
                <a:ea typeface="Calibri" panose="020F0502020204030204" pitchFamily="34" charset="0"/>
                <a:cs typeface="Calibri" panose="020F0502020204030204" pitchFamily="34" charset="0"/>
              </a:rPr>
              <a:t>A technique</a:t>
            </a:r>
            <a:r>
              <a:rPr lang="en-US" sz="1800" spc="-5"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used</a:t>
            </a:r>
            <a:r>
              <a:rPr lang="en-US" sz="1800" spc="5"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by</a:t>
            </a:r>
            <a:r>
              <a:rPr lang="en-US" sz="1800" spc="-10"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Solver for</a:t>
            </a:r>
            <a:r>
              <a:rPr lang="en-US" sz="1800" spc="-5"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nonlinear optimization.</a:t>
            </a:r>
            <a:endParaRPr lang="en-US" sz="4000" dirty="0">
              <a:latin typeface="Calibri" panose="020F0502020204030204" pitchFamily="34" charset="0"/>
              <a:ea typeface="Calibri" panose="020F0502020204030204" pitchFamily="34" charset="0"/>
              <a:cs typeface="Times New Roman" panose="02020603050405020304" pitchFamily="18" charset="0"/>
            </a:endParaRPr>
          </a:p>
          <a:p>
            <a:pPr lvl="1">
              <a:spcAft>
                <a:spcPts val="1200"/>
              </a:spcAft>
              <a:buSzPct val="120000"/>
            </a:pPr>
            <a:r>
              <a:rPr lang="en-US" sz="1800" dirty="0">
                <a:latin typeface="Calibri" panose="020F0502020204030204" pitchFamily="34" charset="0"/>
                <a:ea typeface="Calibri" panose="020F0502020204030204" pitchFamily="34" charset="0"/>
                <a:cs typeface="Calibri" panose="020F0502020204030204" pitchFamily="34" charset="0"/>
              </a:rPr>
              <a:t>Idea: “Hill</a:t>
            </a:r>
            <a:r>
              <a:rPr lang="en-US" sz="1800" spc="5"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climbing in a fog.”</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lvl="2">
              <a:spcAft>
                <a:spcPts val="1200"/>
              </a:spcAft>
              <a:buSzPct val="120000"/>
            </a:pPr>
            <a:r>
              <a:rPr lang="en-US" sz="1400" spc="-5" dirty="0">
                <a:latin typeface="Calibri" panose="020F0502020204030204" pitchFamily="34" charset="0"/>
                <a:ea typeface="Calibri" panose="020F0502020204030204" pitchFamily="34" charset="0"/>
                <a:cs typeface="Calibri" panose="020F0502020204030204" pitchFamily="34" charset="0"/>
              </a:rPr>
              <a:t>T</a:t>
            </a:r>
            <a:r>
              <a:rPr lang="en-US" sz="1400" dirty="0">
                <a:latin typeface="Calibri" panose="020F0502020204030204" pitchFamily="34" charset="0"/>
                <a:ea typeface="Calibri" panose="020F0502020204030204" pitchFamily="34" charset="0"/>
                <a:cs typeface="Calibri" panose="020F0502020204030204" pitchFamily="34" charset="0"/>
              </a:rPr>
              <a:t>ry to</a:t>
            </a:r>
            <a:r>
              <a:rPr lang="en-US" sz="1400" spc="-5"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follow steepest</a:t>
            </a:r>
            <a:r>
              <a:rPr lang="en-US" sz="1400" spc="10"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path going</a:t>
            </a:r>
            <a:r>
              <a:rPr lang="en-US" sz="1400" spc="-10"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“up.”</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lvl="2">
              <a:spcAft>
                <a:spcPts val="1200"/>
              </a:spcAft>
              <a:buSzPct val="120000"/>
            </a:pPr>
            <a:r>
              <a:rPr lang="en-US" sz="1400" spc="5" dirty="0">
                <a:latin typeface="Calibri" panose="020F0502020204030204" pitchFamily="34" charset="0"/>
                <a:ea typeface="Calibri" panose="020F0502020204030204" pitchFamily="34" charset="0"/>
                <a:cs typeface="Calibri" panose="020F0502020204030204" pitchFamily="34" charset="0"/>
              </a:rPr>
              <a:t>A</a:t>
            </a:r>
            <a:r>
              <a:rPr lang="en-US" sz="1400" dirty="0">
                <a:latin typeface="Calibri" panose="020F0502020204030204" pitchFamily="34" charset="0"/>
                <a:ea typeface="Calibri" panose="020F0502020204030204" pitchFamily="34" charset="0"/>
                <a:cs typeface="Calibri" panose="020F0502020204030204" pitchFamily="34" charset="0"/>
              </a:rPr>
              <a:t>fter each step,</a:t>
            </a:r>
            <a:r>
              <a:rPr lang="en-US" sz="1400" spc="5"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or</a:t>
            </a:r>
            <a:r>
              <a:rPr lang="en-US" sz="1400" spc="-5"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group</a:t>
            </a:r>
            <a:r>
              <a:rPr lang="en-US" sz="1400" spc="-15"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of</a:t>
            </a:r>
            <a:r>
              <a:rPr lang="en-US" sz="1400" spc="-5"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steps,</a:t>
            </a:r>
            <a:r>
              <a:rPr lang="en-US" sz="1400" spc="10"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again find</a:t>
            </a:r>
            <a:r>
              <a:rPr lang="en-US" sz="1400" spc="-5"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steepest</a:t>
            </a:r>
            <a:r>
              <a:rPr lang="en-US" sz="1400" spc="15"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path and follow</a:t>
            </a:r>
            <a:r>
              <a:rPr lang="en-US" sz="1400" spc="-5"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it.</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lvl="2">
              <a:spcAft>
                <a:spcPts val="1200"/>
              </a:spcAft>
              <a:buSzPct val="120000"/>
            </a:pPr>
            <a:r>
              <a:rPr lang="en-US" sz="1400" dirty="0">
                <a:latin typeface="Calibri" panose="020F0502020204030204" pitchFamily="34" charset="0"/>
                <a:ea typeface="Calibri" panose="020F0502020204030204" pitchFamily="34" charset="0"/>
                <a:cs typeface="Calibri" panose="020F0502020204030204" pitchFamily="34" charset="0"/>
              </a:rPr>
              <a:t>Stop if no</a:t>
            </a:r>
            <a:r>
              <a:rPr lang="en-US" sz="1400" spc="-10"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path leads</a:t>
            </a:r>
            <a:r>
              <a:rPr lang="en-US" sz="1400" spc="5" dirty="0">
                <a:latin typeface="Calibri" panose="020F0502020204030204" pitchFamily="34" charset="0"/>
                <a:ea typeface="Calibri" panose="020F0502020204030204" pitchFamily="34" charset="0"/>
                <a:cs typeface="Calibri" panose="020F0502020204030204" pitchFamily="34" charset="0"/>
              </a:rPr>
              <a:t> </a:t>
            </a:r>
            <a:r>
              <a:rPr lang="en-US" sz="1400" dirty="0">
                <a:latin typeface="Calibri" panose="020F0502020204030204" pitchFamily="34" charset="0"/>
                <a:ea typeface="Calibri" panose="020F0502020204030204" pitchFamily="34" charset="0"/>
                <a:cs typeface="Calibri" panose="020F0502020204030204" pitchFamily="34" charset="0"/>
              </a:rPr>
              <a:t>“up.”</a:t>
            </a:r>
          </a:p>
          <a:p>
            <a:pPr>
              <a:spcAft>
                <a:spcPts val="1200"/>
              </a:spcAft>
              <a:buSzPct val="120000"/>
            </a:pPr>
            <a:r>
              <a:rPr lang="en-US" sz="2400" dirty="0">
                <a:latin typeface="Calibri" panose="020F0502020204030204" pitchFamily="34" charset="0"/>
                <a:ea typeface="Calibri" panose="020F0502020204030204" pitchFamily="34" charset="0"/>
                <a:cs typeface="Calibri" panose="020F0502020204030204" pitchFamily="34" charset="0"/>
              </a:rPr>
              <a:t>S</a:t>
            </a:r>
            <a:r>
              <a:rPr lang="en-US" sz="2400" spc="-5" dirty="0">
                <a:latin typeface="Calibri" panose="020F0502020204030204" pitchFamily="34" charset="0"/>
                <a:ea typeface="Calibri" panose="020F0502020204030204" pitchFamily="34" charset="0"/>
                <a:cs typeface="Calibri" panose="020F0502020204030204" pitchFamily="34" charset="0"/>
              </a:rPr>
              <a:t>o</a:t>
            </a:r>
            <a:r>
              <a:rPr lang="en-US" sz="2400" dirty="0">
                <a:latin typeface="Calibri" panose="020F0502020204030204" pitchFamily="34" charset="0"/>
                <a:ea typeface="Calibri" panose="020F0502020204030204" pitchFamily="34" charset="0"/>
                <a:cs typeface="Calibri" panose="020F0502020204030204" pitchFamily="34" charset="0"/>
              </a:rPr>
              <a:t>me</a:t>
            </a:r>
            <a:r>
              <a:rPr lang="en-US" sz="2400" spc="-20"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algorithms</a:t>
            </a:r>
            <a:r>
              <a:rPr lang="en-US" sz="2400" spc="-15"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employ</a:t>
            </a:r>
            <a:r>
              <a:rPr lang="en-US" sz="2400" spc="5"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different types</a:t>
            </a:r>
            <a:r>
              <a:rPr lang="en-US" sz="2400" spc="-35" dirty="0">
                <a:latin typeface="Calibri" panose="020F0502020204030204" pitchFamily="34" charset="0"/>
                <a:ea typeface="Calibri" panose="020F0502020204030204" pitchFamily="34" charset="0"/>
                <a:cs typeface="Calibri" panose="020F0502020204030204" pitchFamily="34" charset="0"/>
              </a:rPr>
              <a:t> </a:t>
            </a:r>
            <a:r>
              <a:rPr lang="en-US" sz="2400" spc="-5" dirty="0">
                <a:latin typeface="Calibri" panose="020F0502020204030204" pitchFamily="34" charset="0"/>
                <a:ea typeface="Calibri" panose="020F0502020204030204" pitchFamily="34" charset="0"/>
                <a:cs typeface="Calibri" panose="020F0502020204030204" pitchFamily="34" charset="0"/>
              </a:rPr>
              <a:t>o</a:t>
            </a:r>
            <a:r>
              <a:rPr lang="en-US" sz="2400" dirty="0">
                <a:latin typeface="Calibri" panose="020F0502020204030204" pitchFamily="34" charset="0"/>
                <a:ea typeface="Calibri" panose="020F0502020204030204" pitchFamily="34" charset="0"/>
                <a:cs typeface="Calibri" panose="020F0502020204030204" pitchFamily="34" charset="0"/>
              </a:rPr>
              <a:t>f</a:t>
            </a:r>
            <a:r>
              <a:rPr lang="en-US" sz="2400" spc="5"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improvements</a:t>
            </a:r>
            <a:r>
              <a:rPr lang="en-US" sz="2400" spc="-80"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over</a:t>
            </a:r>
            <a:r>
              <a:rPr lang="en-US" sz="2400" spc="-20"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the above</a:t>
            </a:r>
            <a:r>
              <a:rPr lang="en-US" sz="2400" spc="-20"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procedure.</a:t>
            </a:r>
            <a:endParaRPr lang="en-US" sz="2400" dirty="0">
              <a:latin typeface="Calibri" panose="020F0502020204030204" pitchFamily="34" charset="0"/>
              <a:ea typeface="Calibri" panose="020F0502020204030204" pitchFamily="34" charset="0"/>
              <a:cs typeface="Times New Roman" panose="02020603050405020304" pitchFamily="18" charset="0"/>
            </a:endParaRPr>
          </a:p>
          <a:p>
            <a:pPr>
              <a:spcAft>
                <a:spcPts val="1200"/>
              </a:spcAft>
              <a:buSzPct val="120000"/>
            </a:pPr>
            <a:endParaRPr lang="en-US" dirty="0">
              <a:latin typeface="Calibri" panose="020F0502020204030204" pitchFamily="34" charset="0"/>
              <a:ea typeface="Calibri" panose="020F0502020204030204" pitchFamily="34" charset="0"/>
              <a:cs typeface="Times New Roman" panose="02020603050405020304" pitchFamily="18" charset="0"/>
            </a:endParaRPr>
          </a:p>
          <a:p>
            <a:pPr lvl="1">
              <a:spcAft>
                <a:spcPts val="1200"/>
              </a:spcAft>
              <a:buSzPct val="120000"/>
            </a:pP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spcAft>
                <a:spcPts val="1200"/>
              </a:spcAft>
              <a:buSzPct val="120000"/>
            </a:pPr>
            <a:endParaRPr lang="en-US" sz="2000" dirty="0"/>
          </a:p>
        </p:txBody>
      </p:sp>
      <p:sp>
        <p:nvSpPr>
          <p:cNvPr id="4" name="Footer Placeholder 3"/>
          <p:cNvSpPr>
            <a:spLocks noGrp="1"/>
          </p:cNvSpPr>
          <p:nvPr>
            <p:ph type="ftr" sz="quarter" idx="11"/>
          </p:nvPr>
        </p:nvSpPr>
        <p:spPr>
          <a:xfrm>
            <a:off x="107950" y="6351"/>
            <a:ext cx="3086100" cy="365125"/>
          </a:xfrm>
        </p:spPr>
        <p:txBody>
          <a:bodyPr/>
          <a:lstStyle/>
          <a:p>
            <a:r>
              <a:rPr lang="en-US"/>
              <a:t>MGT 207 Operations Management</a:t>
            </a:r>
            <a:endParaRPr lang="en-US" dirty="0"/>
          </a:p>
        </p:txBody>
      </p:sp>
      <p:sp>
        <p:nvSpPr>
          <p:cNvPr id="6" name="Date Placeholder 5"/>
          <p:cNvSpPr>
            <a:spLocks noGrp="1"/>
          </p:cNvSpPr>
          <p:nvPr>
            <p:ph type="dt" sz="half" idx="10"/>
          </p:nvPr>
        </p:nvSpPr>
        <p:spPr>
          <a:xfrm>
            <a:off x="8502650" y="6351"/>
            <a:ext cx="641350" cy="358775"/>
          </a:xfrm>
        </p:spPr>
        <p:txBody>
          <a:bodyPr/>
          <a:lstStyle/>
          <a:p>
            <a:r>
              <a:rPr lang="en-US"/>
              <a:t>Turcic</a:t>
            </a:r>
            <a:endParaRPr lang="en-US" dirty="0"/>
          </a:p>
        </p:txBody>
      </p:sp>
    </p:spTree>
    <p:extLst>
      <p:ext uri="{BB962C8B-B14F-4D97-AF65-F5344CB8AC3E}">
        <p14:creationId xmlns:p14="http://schemas.microsoft.com/office/powerpoint/2010/main" val="1824153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Example 4: A Profit Maximization Problem</a:t>
            </a:r>
          </a:p>
        </p:txBody>
      </p:sp>
      <p:sp>
        <p:nvSpPr>
          <p:cNvPr id="4" name="Content Placeholder 3"/>
          <p:cNvSpPr>
            <a:spLocks noGrp="1"/>
          </p:cNvSpPr>
          <p:nvPr>
            <p:ph idx="1"/>
          </p:nvPr>
        </p:nvSpPr>
        <p:spPr>
          <a:xfrm>
            <a:off x="628650" y="1380931"/>
            <a:ext cx="7886700" cy="5085183"/>
          </a:xfrm>
        </p:spPr>
        <p:txBody>
          <a:bodyPr>
            <a:normAutofit fontScale="85000" lnSpcReduction="20000"/>
          </a:bodyPr>
          <a:lstStyle/>
          <a:p>
            <a:r>
              <a:rPr lang="en-US" dirty="0"/>
              <a:t>Suppose that you wanted to purchase a product and sell it at your online store. You must order the product in advance (say, Q units) and you have space for up to </a:t>
            </a:r>
            <a:r>
              <a:rPr lang="en-US" u="sng" dirty="0"/>
              <a:t>30 units</a:t>
            </a:r>
            <a:r>
              <a:rPr lang="en-US" dirty="0"/>
              <a:t> only.</a:t>
            </a:r>
          </a:p>
          <a:p>
            <a:r>
              <a:rPr lang="en-US" dirty="0"/>
              <a:t>You can get the product for a price of $2 per unit. However, the supplier has a great deal going on, offering an </a:t>
            </a:r>
            <a:r>
              <a:rPr lang="en-US" u="sng" dirty="0"/>
              <a:t>all‐unit discount</a:t>
            </a:r>
            <a:r>
              <a:rPr lang="en-US" dirty="0"/>
              <a:t> of 40%, if one buys 15 units or more.</a:t>
            </a:r>
          </a:p>
          <a:p>
            <a:r>
              <a:rPr lang="en-US" dirty="0"/>
              <a:t>In addition to the procurement decision, you need to </a:t>
            </a:r>
            <a:r>
              <a:rPr lang="en-US" u="sng" dirty="0"/>
              <a:t>set the price.</a:t>
            </a:r>
            <a:endParaRPr lang="en-US" dirty="0"/>
          </a:p>
          <a:p>
            <a:pPr lvl="1"/>
            <a:r>
              <a:rPr lang="en-US" dirty="0"/>
              <a:t>By policy, you want to limit yourself to a </a:t>
            </a:r>
            <a:r>
              <a:rPr lang="en-US" u="sng" dirty="0"/>
              <a:t>fixed price,</a:t>
            </a:r>
            <a:r>
              <a:rPr lang="en-US" dirty="0"/>
              <a:t> that never changes.</a:t>
            </a:r>
          </a:p>
          <a:p>
            <a:pPr lvl="1"/>
            <a:r>
              <a:rPr lang="en-US" dirty="0"/>
              <a:t>A study you have conducted shows that in order to sell Q units, your price must be $4 ‐ $0.15*Q.</a:t>
            </a:r>
          </a:p>
          <a:p>
            <a:pPr marL="690563" indent="0">
              <a:buNone/>
            </a:pPr>
            <a:r>
              <a:rPr lang="en-US" sz="2100" i="1" u="sng" dirty="0"/>
              <a:t>Example</a:t>
            </a:r>
            <a:r>
              <a:rPr lang="en-US" sz="2100" i="1" dirty="0"/>
              <a:t>: </a:t>
            </a:r>
          </a:p>
          <a:p>
            <a:pPr marL="690563" indent="0">
              <a:buNone/>
            </a:pPr>
            <a:r>
              <a:rPr lang="en-US" sz="2100" i="1" dirty="0"/>
              <a:t>If you purchase 20 units, your cost would be 20*$2*60% = $24; </a:t>
            </a:r>
          </a:p>
          <a:p>
            <a:pPr marL="690563" indent="0">
              <a:buNone/>
            </a:pPr>
            <a:r>
              <a:rPr lang="en-US" sz="2100" i="1" dirty="0"/>
              <a:t>if you wanted to sell the 20 units, the price would have to be: $4 ‐ $0.15*20 = $1, and your revenue would be 20*$1 = $20. Consequently, your profit would be: $20‐$24 = ‐$4 (loss).</a:t>
            </a:r>
          </a:p>
        </p:txBody>
      </p:sp>
      <p:sp>
        <p:nvSpPr>
          <p:cNvPr id="20" name="Date Placeholder 5"/>
          <p:cNvSpPr>
            <a:spLocks noGrp="1"/>
          </p:cNvSpPr>
          <p:nvPr>
            <p:ph type="dt" sz="half" idx="10"/>
          </p:nvPr>
        </p:nvSpPr>
        <p:spPr>
          <a:xfrm>
            <a:off x="8502650" y="2078"/>
            <a:ext cx="641350" cy="358775"/>
          </a:xfrm>
        </p:spPr>
        <p:txBody>
          <a:bodyPr/>
          <a:lstStyle/>
          <a:p>
            <a:r>
              <a:rPr lang="en-US"/>
              <a:t>Turcic</a:t>
            </a:r>
            <a:endParaRPr lang="en-US" dirty="0"/>
          </a:p>
        </p:txBody>
      </p:sp>
      <p:sp>
        <p:nvSpPr>
          <p:cNvPr id="18" name="Footer Placeholder 3"/>
          <p:cNvSpPr>
            <a:spLocks noGrp="1"/>
          </p:cNvSpPr>
          <p:nvPr>
            <p:ph type="ftr" sz="quarter" idx="11"/>
          </p:nvPr>
        </p:nvSpPr>
        <p:spPr>
          <a:xfrm>
            <a:off x="107950" y="2078"/>
            <a:ext cx="3086100" cy="365125"/>
          </a:xfrm>
        </p:spPr>
        <p:txBody>
          <a:bodyPr/>
          <a:lstStyle/>
          <a:p>
            <a:r>
              <a:rPr lang="en-US"/>
              <a:t>MGT 207 Operations Management</a:t>
            </a:r>
            <a:endParaRPr lang="en-US" dirty="0"/>
          </a:p>
        </p:txBody>
      </p:sp>
    </p:spTree>
    <p:extLst>
      <p:ext uri="{BB962C8B-B14F-4D97-AF65-F5344CB8AC3E}">
        <p14:creationId xmlns:p14="http://schemas.microsoft.com/office/powerpoint/2010/main" val="4288703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wipe(up)">
                                      <p:cBhvr>
                                        <p:cTn id="20" dur="500"/>
                                        <p:tgtEl>
                                          <p:spTgt spid="4">
                                            <p:txEl>
                                              <p:pRg st="3" end="3"/>
                                            </p:txEl>
                                          </p:spTgt>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wipe(up)">
                                      <p:cBhvr>
                                        <p:cTn id="23" dur="500"/>
                                        <p:tgtEl>
                                          <p:spTgt spid="4">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wipe(up)">
                                      <p:cBhvr>
                                        <p:cTn id="28" dur="500"/>
                                        <p:tgtEl>
                                          <p:spTgt spid="4">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Effect transition="in" filter="wipe(up)">
                                      <p:cBhvr>
                                        <p:cTn id="33" dur="500"/>
                                        <p:tgtEl>
                                          <p:spTgt spid="4">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grpId="0" nodeType="clickEffect">
                                  <p:stCondLst>
                                    <p:cond delay="0"/>
                                  </p:stCondLst>
                                  <p:childTnLst>
                                    <p:set>
                                      <p:cBhvr>
                                        <p:cTn id="37" dur="1" fill="hold">
                                          <p:stCondLst>
                                            <p:cond delay="0"/>
                                          </p:stCondLst>
                                        </p:cTn>
                                        <p:tgtEl>
                                          <p:spTgt spid="4">
                                            <p:txEl>
                                              <p:pRg st="7" end="7"/>
                                            </p:txEl>
                                          </p:spTgt>
                                        </p:tgtEl>
                                        <p:attrNameLst>
                                          <p:attrName>style.visibility</p:attrName>
                                        </p:attrNameLst>
                                      </p:cBhvr>
                                      <p:to>
                                        <p:strVal val="visible"/>
                                      </p:to>
                                    </p:set>
                                    <p:animEffect transition="in" filter="wipe(up)">
                                      <p:cBhvr>
                                        <p:cTn id="38"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Mathematical Formulation</a:t>
            </a:r>
            <a:endParaRPr lang="en-US" sz="3200" dirty="0"/>
          </a:p>
        </p:txBody>
      </p:sp>
      <p:sp>
        <p:nvSpPr>
          <p:cNvPr id="5" name="Content Placeholder 4"/>
          <p:cNvSpPr>
            <a:spLocks noGrp="1"/>
          </p:cNvSpPr>
          <p:nvPr>
            <p:ph idx="1"/>
          </p:nvPr>
        </p:nvSpPr>
        <p:spPr/>
        <p:txBody>
          <a:bodyPr>
            <a:normAutofit fontScale="92500" lnSpcReduction="10000"/>
          </a:bodyPr>
          <a:lstStyle/>
          <a:p>
            <a:r>
              <a:rPr lang="en-US" sz="3500" dirty="0"/>
              <a:t>Construct an Excel spreadsheet model, and use </a:t>
            </a:r>
            <a:r>
              <a:rPr lang="en-US" sz="3500" i="1" dirty="0"/>
              <a:t>Solver </a:t>
            </a:r>
            <a:r>
              <a:rPr lang="en-US" sz="3500" dirty="0"/>
              <a:t>to determine the optimal value of Q.</a:t>
            </a:r>
          </a:p>
          <a:p>
            <a:pPr marL="0" indent="0">
              <a:buNone/>
            </a:pPr>
            <a:r>
              <a:rPr lang="en-US" dirty="0"/>
              <a:t> </a:t>
            </a:r>
          </a:p>
          <a:p>
            <a:pPr marL="0" indent="0">
              <a:buNone/>
            </a:pPr>
            <a:r>
              <a:rPr lang="en-US" sz="3600" b="1" u="sng" dirty="0"/>
              <a:t>Model</a:t>
            </a:r>
            <a:r>
              <a:rPr lang="en-US" sz="3600" u="sng" dirty="0"/>
              <a:t> </a:t>
            </a:r>
            <a:r>
              <a:rPr lang="en-US" sz="3600" b="1" u="sng" dirty="0"/>
              <a:t>setup</a:t>
            </a:r>
            <a:endParaRPr lang="en-US" sz="3600" dirty="0"/>
          </a:p>
          <a:p>
            <a:r>
              <a:rPr lang="en-US" b="1" dirty="0"/>
              <a:t>Decision variable: Q</a:t>
            </a:r>
            <a:endParaRPr lang="en-US" dirty="0"/>
          </a:p>
          <a:p>
            <a:r>
              <a:rPr lang="en-US" b="1" dirty="0"/>
              <a:t>Cost per unit: c = 2*IF(Q&lt;15,100%,60%)</a:t>
            </a:r>
            <a:endParaRPr lang="en-US" dirty="0"/>
          </a:p>
          <a:p>
            <a:r>
              <a:rPr lang="en-US" b="1" dirty="0"/>
              <a:t>Sales price: p = 4 – 0.15*Q</a:t>
            </a:r>
            <a:endParaRPr lang="en-US" dirty="0"/>
          </a:p>
          <a:p>
            <a:r>
              <a:rPr lang="en-US" b="1" dirty="0"/>
              <a:t>Profit: </a:t>
            </a:r>
            <a:r>
              <a:rPr lang="en-US" b="1" dirty="0">
                <a:sym typeface="Symbol" panose="05050102010706020507" pitchFamily="18" charset="2"/>
              </a:rPr>
              <a:t></a:t>
            </a:r>
            <a:r>
              <a:rPr lang="en-US" b="1" dirty="0"/>
              <a:t> = Q*(p – c)</a:t>
            </a:r>
            <a:endParaRPr lang="en-US" dirty="0"/>
          </a:p>
          <a:p>
            <a:pPr marL="0" indent="0">
              <a:buNone/>
            </a:pPr>
            <a:r>
              <a:rPr lang="en-US" dirty="0"/>
              <a:t> </a:t>
            </a:r>
          </a:p>
          <a:p>
            <a:endParaRPr lang="en-US" dirty="0"/>
          </a:p>
        </p:txBody>
      </p:sp>
      <p:sp>
        <p:nvSpPr>
          <p:cNvPr id="18" name="Date Placeholder 5"/>
          <p:cNvSpPr>
            <a:spLocks noGrp="1"/>
          </p:cNvSpPr>
          <p:nvPr>
            <p:ph type="dt" sz="half" idx="10"/>
          </p:nvPr>
        </p:nvSpPr>
        <p:spPr/>
        <p:txBody>
          <a:bodyPr/>
          <a:lstStyle/>
          <a:p>
            <a:r>
              <a:rPr lang="en-US"/>
              <a:t>Turcic</a:t>
            </a:r>
            <a:endParaRPr lang="en-US" dirty="0"/>
          </a:p>
        </p:txBody>
      </p:sp>
      <p:sp>
        <p:nvSpPr>
          <p:cNvPr id="16" name="Footer Placeholder 3"/>
          <p:cNvSpPr>
            <a:spLocks noGrp="1"/>
          </p:cNvSpPr>
          <p:nvPr>
            <p:ph type="ftr" sz="quarter" idx="11"/>
          </p:nvPr>
        </p:nvSpPr>
        <p:spPr/>
        <p:txBody>
          <a:bodyPr/>
          <a:lstStyle/>
          <a:p>
            <a:r>
              <a:rPr lang="en-US"/>
              <a:t>MGT 207 Operations Management</a:t>
            </a:r>
            <a:endParaRPr lang="en-US" dirty="0"/>
          </a:p>
        </p:txBody>
      </p:sp>
    </p:spTree>
    <p:extLst>
      <p:ext uri="{BB962C8B-B14F-4D97-AF65-F5344CB8AC3E}">
        <p14:creationId xmlns:p14="http://schemas.microsoft.com/office/powerpoint/2010/main" val="28144018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Solution via Solver – GRG Algorithm</a:t>
            </a:r>
          </a:p>
        </p:txBody>
      </p:sp>
      <p:sp>
        <p:nvSpPr>
          <p:cNvPr id="4" name="Date Placeholder 3"/>
          <p:cNvSpPr>
            <a:spLocks noGrp="1"/>
          </p:cNvSpPr>
          <p:nvPr>
            <p:ph type="dt" sz="half" idx="10"/>
          </p:nvPr>
        </p:nvSpPr>
        <p:spPr>
          <a:xfrm>
            <a:off x="8502650" y="36386"/>
            <a:ext cx="641350" cy="358775"/>
          </a:xfrm>
        </p:spPr>
        <p:txBody>
          <a:bodyPr/>
          <a:lstStyle/>
          <a:p>
            <a:r>
              <a:rPr lang="en-US"/>
              <a:t>Turcic</a:t>
            </a:r>
            <a:endParaRPr lang="en-US" dirty="0"/>
          </a:p>
        </p:txBody>
      </p:sp>
      <p:sp>
        <p:nvSpPr>
          <p:cNvPr id="5" name="Footer Placeholder 4"/>
          <p:cNvSpPr>
            <a:spLocks noGrp="1"/>
          </p:cNvSpPr>
          <p:nvPr>
            <p:ph type="ftr" sz="quarter" idx="11"/>
          </p:nvPr>
        </p:nvSpPr>
        <p:spPr>
          <a:xfrm>
            <a:off x="107950" y="36386"/>
            <a:ext cx="3086100" cy="365125"/>
          </a:xfrm>
        </p:spPr>
        <p:txBody>
          <a:bodyPr/>
          <a:lstStyle/>
          <a:p>
            <a:r>
              <a:rPr lang="en-US"/>
              <a:t>MGT 207 Operations Management</a:t>
            </a:r>
            <a:endParaRPr lang="en-US" dirty="0"/>
          </a:p>
        </p:txBody>
      </p:sp>
      <p:pic>
        <p:nvPicPr>
          <p:cNvPr id="7" name="Picture 6"/>
          <p:cNvPicPr>
            <a:picLocks noChangeAspect="1"/>
          </p:cNvPicPr>
          <p:nvPr/>
        </p:nvPicPr>
        <p:blipFill>
          <a:blip r:embed="rId2"/>
          <a:stretch>
            <a:fillRect/>
          </a:stretch>
        </p:blipFill>
        <p:spPr>
          <a:xfrm>
            <a:off x="1448631" y="1709194"/>
            <a:ext cx="6246738" cy="2253448"/>
          </a:xfrm>
          <a:prstGeom prst="rect">
            <a:avLst/>
          </a:prstGeom>
        </p:spPr>
      </p:pic>
      <p:pic>
        <p:nvPicPr>
          <p:cNvPr id="3" name="Picture 2"/>
          <p:cNvPicPr>
            <a:picLocks noChangeAspect="1"/>
          </p:cNvPicPr>
          <p:nvPr/>
        </p:nvPicPr>
        <p:blipFill>
          <a:blip r:embed="rId3"/>
          <a:stretch>
            <a:fillRect/>
          </a:stretch>
        </p:blipFill>
        <p:spPr>
          <a:xfrm>
            <a:off x="2971292" y="3962642"/>
            <a:ext cx="3006721" cy="2847875"/>
          </a:xfrm>
          <a:prstGeom prst="rect">
            <a:avLst/>
          </a:prstGeom>
        </p:spPr>
      </p:pic>
    </p:spTree>
    <p:extLst>
      <p:ext uri="{BB962C8B-B14F-4D97-AF65-F5344CB8AC3E}">
        <p14:creationId xmlns:p14="http://schemas.microsoft.com/office/powerpoint/2010/main" val="40698775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Solution via Solver</a:t>
            </a:r>
          </a:p>
        </p:txBody>
      </p:sp>
      <p:sp>
        <p:nvSpPr>
          <p:cNvPr id="6" name="Footer Placeholder 3"/>
          <p:cNvSpPr>
            <a:spLocks noGrp="1"/>
          </p:cNvSpPr>
          <p:nvPr>
            <p:ph type="ftr" sz="quarter" idx="11"/>
          </p:nvPr>
        </p:nvSpPr>
        <p:spPr>
          <a:xfrm>
            <a:off x="107950" y="6351"/>
            <a:ext cx="3086100" cy="365125"/>
          </a:xfrm>
        </p:spPr>
        <p:txBody>
          <a:bodyPr/>
          <a:lstStyle/>
          <a:p>
            <a:r>
              <a:rPr lang="en-US"/>
              <a:t>MGT 207 Operations Management</a:t>
            </a:r>
            <a:endParaRPr lang="en-US" dirty="0"/>
          </a:p>
        </p:txBody>
      </p:sp>
      <p:sp>
        <p:nvSpPr>
          <p:cNvPr id="7" name="Date Placeholder 5"/>
          <p:cNvSpPr>
            <a:spLocks noGrp="1"/>
          </p:cNvSpPr>
          <p:nvPr>
            <p:ph type="dt" sz="half" idx="10"/>
          </p:nvPr>
        </p:nvSpPr>
        <p:spPr>
          <a:xfrm>
            <a:off x="8502650" y="6351"/>
            <a:ext cx="641350" cy="358775"/>
          </a:xfrm>
        </p:spPr>
        <p:txBody>
          <a:bodyPr/>
          <a:lstStyle/>
          <a:p>
            <a:r>
              <a:rPr lang="en-US"/>
              <a:t>Turcic</a:t>
            </a:r>
            <a:endParaRPr lang="en-US" dirty="0"/>
          </a:p>
        </p:txBody>
      </p:sp>
      <p:sp>
        <p:nvSpPr>
          <p:cNvPr id="4" name="Content Placeholder 3"/>
          <p:cNvSpPr>
            <a:spLocks noGrp="1"/>
          </p:cNvSpPr>
          <p:nvPr>
            <p:ph idx="1"/>
          </p:nvPr>
        </p:nvSpPr>
        <p:spPr/>
        <p:txBody>
          <a:bodyPr/>
          <a:lstStyle/>
          <a:p>
            <a:endParaRPr lang="en-US" dirty="0"/>
          </a:p>
        </p:txBody>
      </p:sp>
      <p:pic>
        <p:nvPicPr>
          <p:cNvPr id="5" name="Picture 4"/>
          <p:cNvPicPr>
            <a:picLocks noChangeAspect="1"/>
          </p:cNvPicPr>
          <p:nvPr/>
        </p:nvPicPr>
        <p:blipFill>
          <a:blip r:embed="rId2"/>
          <a:stretch>
            <a:fillRect/>
          </a:stretch>
        </p:blipFill>
        <p:spPr>
          <a:xfrm>
            <a:off x="1836965" y="3010580"/>
            <a:ext cx="5600700" cy="3057525"/>
          </a:xfrm>
          <a:prstGeom prst="rect">
            <a:avLst/>
          </a:prstGeom>
        </p:spPr>
      </p:pic>
      <p:pic>
        <p:nvPicPr>
          <p:cNvPr id="18" name="Picture 17"/>
          <p:cNvPicPr>
            <a:picLocks noChangeAspect="1"/>
          </p:cNvPicPr>
          <p:nvPr/>
        </p:nvPicPr>
        <p:blipFill>
          <a:blip r:embed="rId3"/>
          <a:stretch>
            <a:fillRect/>
          </a:stretch>
        </p:blipFill>
        <p:spPr>
          <a:xfrm>
            <a:off x="2690812" y="1749743"/>
            <a:ext cx="3762375" cy="1009650"/>
          </a:xfrm>
          <a:prstGeom prst="rect">
            <a:avLst/>
          </a:prstGeom>
        </p:spPr>
      </p:pic>
    </p:spTree>
    <p:extLst>
      <p:ext uri="{BB962C8B-B14F-4D97-AF65-F5344CB8AC3E}">
        <p14:creationId xmlns:p14="http://schemas.microsoft.com/office/powerpoint/2010/main" val="24554783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Profit as a Function of Quantity</a:t>
            </a:r>
          </a:p>
        </p:txBody>
      </p:sp>
      <p:sp>
        <p:nvSpPr>
          <p:cNvPr id="6" name="Footer Placeholder 3"/>
          <p:cNvSpPr>
            <a:spLocks noGrp="1"/>
          </p:cNvSpPr>
          <p:nvPr>
            <p:ph type="ftr" sz="quarter" idx="11"/>
          </p:nvPr>
        </p:nvSpPr>
        <p:spPr>
          <a:xfrm>
            <a:off x="107950" y="6351"/>
            <a:ext cx="3086100" cy="365125"/>
          </a:xfrm>
        </p:spPr>
        <p:txBody>
          <a:bodyPr/>
          <a:lstStyle/>
          <a:p>
            <a:r>
              <a:rPr lang="en-US"/>
              <a:t>MGT 207 Operations Management</a:t>
            </a:r>
            <a:endParaRPr lang="en-US" dirty="0"/>
          </a:p>
        </p:txBody>
      </p:sp>
      <p:sp>
        <p:nvSpPr>
          <p:cNvPr id="8" name="Date Placeholder 5"/>
          <p:cNvSpPr>
            <a:spLocks noGrp="1"/>
          </p:cNvSpPr>
          <p:nvPr>
            <p:ph type="dt" sz="half" idx="10"/>
          </p:nvPr>
        </p:nvSpPr>
        <p:spPr>
          <a:xfrm>
            <a:off x="8502650" y="6351"/>
            <a:ext cx="641350" cy="358775"/>
          </a:xfrm>
        </p:spPr>
        <p:txBody>
          <a:bodyPr/>
          <a:lstStyle/>
          <a:p>
            <a:r>
              <a:rPr lang="en-US"/>
              <a:t>Turcic</a:t>
            </a:r>
            <a:endParaRPr lang="en-US" dirty="0"/>
          </a:p>
        </p:txBody>
      </p:sp>
      <p:pic>
        <p:nvPicPr>
          <p:cNvPr id="5" name="Picture 4"/>
          <p:cNvPicPr>
            <a:picLocks noChangeAspect="1"/>
          </p:cNvPicPr>
          <p:nvPr/>
        </p:nvPicPr>
        <p:blipFill>
          <a:blip r:embed="rId2"/>
          <a:stretch>
            <a:fillRect/>
          </a:stretch>
        </p:blipFill>
        <p:spPr>
          <a:xfrm>
            <a:off x="951722" y="1777057"/>
            <a:ext cx="5261299" cy="4543849"/>
          </a:xfrm>
          <a:prstGeom prst="rect">
            <a:avLst/>
          </a:prstGeom>
        </p:spPr>
      </p:pic>
      <p:sp>
        <p:nvSpPr>
          <p:cNvPr id="12" name="Rectangle 11"/>
          <p:cNvSpPr/>
          <p:nvPr/>
        </p:nvSpPr>
        <p:spPr>
          <a:xfrm>
            <a:off x="4749880" y="1880118"/>
            <a:ext cx="1418253" cy="41707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p:nvPr/>
        </p:nvCxnSpPr>
        <p:spPr>
          <a:xfrm>
            <a:off x="3461657" y="2976465"/>
            <a:ext cx="9331" cy="1978090"/>
          </a:xfrm>
          <a:prstGeom prst="line">
            <a:avLst/>
          </a:prstGeom>
          <a:ln w="28575">
            <a:solidFill>
              <a:srgbClr val="5A9AD6"/>
            </a:solidFill>
            <a:prstDash val="dash"/>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3557587" y="1789281"/>
            <a:ext cx="2293577" cy="369332"/>
          </a:xfrm>
          <a:prstGeom prst="rect">
            <a:avLst/>
          </a:prstGeom>
          <a:solidFill>
            <a:srgbClr val="92D050"/>
          </a:solidFill>
        </p:spPr>
        <p:txBody>
          <a:bodyPr wrap="none" rtlCol="0">
            <a:spAutoFit/>
          </a:bodyPr>
          <a:lstStyle/>
          <a:p>
            <a:r>
              <a:rPr lang="en-US" b="1" dirty="0">
                <a:solidFill>
                  <a:srgbClr val="FFFFFF"/>
                </a:solidFill>
              </a:rPr>
              <a:t>Local optimal solution</a:t>
            </a:r>
          </a:p>
        </p:txBody>
      </p:sp>
      <p:cxnSp>
        <p:nvCxnSpPr>
          <p:cNvPr id="23" name="Straight Arrow Connector 22"/>
          <p:cNvCxnSpPr/>
          <p:nvPr/>
        </p:nvCxnSpPr>
        <p:spPr>
          <a:xfrm flipH="1">
            <a:off x="3567793" y="2205453"/>
            <a:ext cx="1004207" cy="2646465"/>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5" name="Rounded Rectangular Callout 24"/>
          <p:cNvSpPr/>
          <p:nvPr/>
        </p:nvSpPr>
        <p:spPr>
          <a:xfrm>
            <a:off x="2435284" y="2205453"/>
            <a:ext cx="886408" cy="369796"/>
          </a:xfrm>
          <a:prstGeom prst="wedgeRoundRectCallout">
            <a:avLst>
              <a:gd name="adj1" fmla="val 61272"/>
              <a:gd name="adj2" fmla="val 13062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$6.65</a:t>
            </a:r>
          </a:p>
        </p:txBody>
      </p:sp>
      <p:grpSp>
        <p:nvGrpSpPr>
          <p:cNvPr id="10" name="Group 9"/>
          <p:cNvGrpSpPr/>
          <p:nvPr/>
        </p:nvGrpSpPr>
        <p:grpSpPr>
          <a:xfrm>
            <a:off x="5100880" y="2205917"/>
            <a:ext cx="3517669" cy="369332"/>
            <a:chOff x="5100880" y="2205917"/>
            <a:chExt cx="3517669" cy="369332"/>
          </a:xfrm>
        </p:grpSpPr>
        <p:sp>
          <p:nvSpPr>
            <p:cNvPr id="13" name="TextBox 12"/>
            <p:cNvSpPr txBox="1"/>
            <p:nvPr/>
          </p:nvSpPr>
          <p:spPr>
            <a:xfrm>
              <a:off x="6190577" y="2205917"/>
              <a:ext cx="2427972" cy="369332"/>
            </a:xfrm>
            <a:prstGeom prst="rect">
              <a:avLst/>
            </a:prstGeom>
            <a:solidFill>
              <a:srgbClr val="92D050"/>
            </a:solidFill>
          </p:spPr>
          <p:txBody>
            <a:bodyPr wrap="none" rtlCol="0">
              <a:spAutoFit/>
            </a:bodyPr>
            <a:lstStyle/>
            <a:p>
              <a:r>
                <a:rPr lang="en-US" b="1" dirty="0">
                  <a:solidFill>
                    <a:srgbClr val="FFFFFF"/>
                  </a:solidFill>
                </a:rPr>
                <a:t>Global optimal solution</a:t>
              </a:r>
            </a:p>
          </p:txBody>
        </p:sp>
        <p:cxnSp>
          <p:nvCxnSpPr>
            <p:cNvPr id="14" name="Straight Arrow Connector 13"/>
            <p:cNvCxnSpPr/>
            <p:nvPr/>
          </p:nvCxnSpPr>
          <p:spPr>
            <a:xfrm flipH="1">
              <a:off x="5100880" y="2345955"/>
              <a:ext cx="1089697" cy="142766"/>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9926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8" fill="hold" grpId="0" nodeType="clickEffect">
                                  <p:stCondLst>
                                    <p:cond delay="0"/>
                                  </p:stCondLst>
                                  <p:childTnLst>
                                    <p:animEffect transition="out" filter="wipe(left)">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dissolv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2"/>
          <a:stretch>
            <a:fillRect/>
          </a:stretch>
        </p:blipFill>
        <p:spPr>
          <a:xfrm>
            <a:off x="1205957" y="4399150"/>
            <a:ext cx="3353343" cy="2313581"/>
          </a:xfrm>
          <a:prstGeom prst="rect">
            <a:avLst/>
          </a:prstGeom>
        </p:spPr>
      </p:pic>
      <p:sp>
        <p:nvSpPr>
          <p:cNvPr id="2" name="Title 1"/>
          <p:cNvSpPr>
            <a:spLocks noGrp="1"/>
          </p:cNvSpPr>
          <p:nvPr>
            <p:ph type="title"/>
          </p:nvPr>
        </p:nvSpPr>
        <p:spPr/>
        <p:txBody>
          <a:bodyPr>
            <a:normAutofit/>
          </a:bodyPr>
          <a:lstStyle/>
          <a:p>
            <a:r>
              <a:rPr lang="en-US" sz="4000" dirty="0"/>
              <a:t>Lessons</a:t>
            </a:r>
          </a:p>
        </p:txBody>
      </p:sp>
      <p:sp>
        <p:nvSpPr>
          <p:cNvPr id="3" name="Content Placeholder 2"/>
          <p:cNvSpPr>
            <a:spLocks noGrp="1"/>
          </p:cNvSpPr>
          <p:nvPr>
            <p:ph idx="1"/>
          </p:nvPr>
        </p:nvSpPr>
        <p:spPr>
          <a:xfrm>
            <a:off x="615950" y="1408021"/>
            <a:ext cx="7886700" cy="3187225"/>
          </a:xfrm>
        </p:spPr>
        <p:txBody>
          <a:bodyPr>
            <a:normAutofit fontScale="92500" lnSpcReduction="20000"/>
          </a:bodyPr>
          <a:lstStyle/>
          <a:p>
            <a:pPr marL="342900" indent="-342900">
              <a:buFont typeface="+mj-lt"/>
              <a:buAutoNum type="arabicPeriod"/>
            </a:pPr>
            <a:r>
              <a:rPr lang="en-US" sz="2400" i="1" dirty="0"/>
              <a:t>Excel Solver </a:t>
            </a:r>
            <a:r>
              <a:rPr lang="en-US" sz="2400" dirty="0"/>
              <a:t>can converge into a local optimum (i.e., a </a:t>
            </a:r>
            <a:r>
              <a:rPr lang="en-US" sz="2400" i="1" dirty="0"/>
              <a:t>wrong answer</a:t>
            </a:r>
            <a:r>
              <a:rPr lang="en-US" sz="2400" dirty="0"/>
              <a:t>), without any indication that something better can be achieved.</a:t>
            </a:r>
          </a:p>
          <a:p>
            <a:pPr marL="342900" indent="-342900">
              <a:buFont typeface="+mj-lt"/>
              <a:buAutoNum type="arabicPeriod"/>
            </a:pPr>
            <a:r>
              <a:rPr lang="en-US" sz="2400" dirty="0"/>
              <a:t>Using exhaustive search (going over all values of the decision variables) can lead to the optimal solution – but generally – </a:t>
            </a:r>
            <a:r>
              <a:rPr lang="en-US" sz="2400" i="1" dirty="0"/>
              <a:t>a non‐practical approach</a:t>
            </a:r>
            <a:r>
              <a:rPr lang="en-US" sz="2400" dirty="0"/>
              <a:t>!</a:t>
            </a:r>
          </a:p>
          <a:p>
            <a:pPr marL="342900" indent="-342900">
              <a:buFont typeface="+mj-lt"/>
              <a:buAutoNum type="arabicPeriod"/>
            </a:pPr>
            <a:r>
              <a:rPr lang="en-US" sz="2400" dirty="0"/>
              <a:t>Understanding of the context – hence making an </a:t>
            </a:r>
            <a:r>
              <a:rPr lang="en-US" sz="2400" i="1" dirty="0"/>
              <a:t>educated guess </a:t>
            </a:r>
            <a:r>
              <a:rPr lang="en-US" sz="2400" dirty="0"/>
              <a:t>– can help.</a:t>
            </a:r>
          </a:p>
          <a:p>
            <a:pPr marL="342900" indent="-342900">
              <a:buFont typeface="+mj-lt"/>
              <a:buAutoNum type="arabicPeriod"/>
            </a:pPr>
            <a:r>
              <a:rPr lang="en-US" sz="2400" dirty="0"/>
              <a:t>When you suspect multiple peaks and valleys exist, it is a good idea to use </a:t>
            </a:r>
            <a:r>
              <a:rPr lang="en-US" sz="2400" b="1" i="1" dirty="0"/>
              <a:t>GRG </a:t>
            </a:r>
            <a:r>
              <a:rPr lang="en-US" sz="2400" b="1" i="1" dirty="0" err="1"/>
              <a:t>Multistart</a:t>
            </a:r>
            <a:r>
              <a:rPr lang="en-US" sz="2400" dirty="0"/>
              <a:t>, which tries multiple starting points and finds the best answer for each. </a:t>
            </a:r>
          </a:p>
          <a:p>
            <a:pPr marL="801688" indent="-288925">
              <a:buNone/>
            </a:pPr>
            <a:endParaRPr lang="en-US" sz="2400" dirty="0"/>
          </a:p>
          <a:p>
            <a:endParaRPr lang="en-US" sz="3200" dirty="0"/>
          </a:p>
        </p:txBody>
      </p:sp>
      <p:sp>
        <p:nvSpPr>
          <p:cNvPr id="4" name="Date Placeholder 3"/>
          <p:cNvSpPr>
            <a:spLocks noGrp="1"/>
          </p:cNvSpPr>
          <p:nvPr>
            <p:ph type="dt" sz="half" idx="10"/>
          </p:nvPr>
        </p:nvSpPr>
        <p:spPr>
          <a:xfrm>
            <a:off x="8502650" y="29211"/>
            <a:ext cx="641350" cy="358775"/>
          </a:xfrm>
        </p:spPr>
        <p:txBody>
          <a:bodyPr/>
          <a:lstStyle/>
          <a:p>
            <a:r>
              <a:rPr lang="en-US"/>
              <a:t>Turcic</a:t>
            </a:r>
            <a:endParaRPr lang="en-US" dirty="0"/>
          </a:p>
        </p:txBody>
      </p:sp>
      <p:sp>
        <p:nvSpPr>
          <p:cNvPr id="5" name="Footer Placeholder 4"/>
          <p:cNvSpPr>
            <a:spLocks noGrp="1"/>
          </p:cNvSpPr>
          <p:nvPr>
            <p:ph type="ftr" sz="quarter" idx="11"/>
          </p:nvPr>
        </p:nvSpPr>
        <p:spPr>
          <a:xfrm>
            <a:off x="107950" y="29211"/>
            <a:ext cx="3086100" cy="365125"/>
          </a:xfrm>
        </p:spPr>
        <p:txBody>
          <a:bodyPr/>
          <a:lstStyle/>
          <a:p>
            <a:r>
              <a:rPr lang="en-US"/>
              <a:t>MGT 207 Operations Management</a:t>
            </a:r>
            <a:endParaRPr lang="en-US" dirty="0"/>
          </a:p>
        </p:txBody>
      </p:sp>
      <p:pic>
        <p:nvPicPr>
          <p:cNvPr id="6" name="Picture 5"/>
          <p:cNvPicPr>
            <a:picLocks noChangeAspect="1"/>
          </p:cNvPicPr>
          <p:nvPr/>
        </p:nvPicPr>
        <p:blipFill>
          <a:blip r:embed="rId3"/>
          <a:stretch>
            <a:fillRect/>
          </a:stretch>
        </p:blipFill>
        <p:spPr>
          <a:xfrm>
            <a:off x="5215179" y="4253882"/>
            <a:ext cx="2879617" cy="2604118"/>
          </a:xfrm>
          <a:prstGeom prst="rect">
            <a:avLst/>
          </a:prstGeom>
        </p:spPr>
      </p:pic>
      <p:sp>
        <p:nvSpPr>
          <p:cNvPr id="8" name="Oval 7"/>
          <p:cNvSpPr/>
          <p:nvPr/>
        </p:nvSpPr>
        <p:spPr>
          <a:xfrm>
            <a:off x="3600853" y="6436311"/>
            <a:ext cx="774916" cy="285313"/>
          </a:xfrm>
          <a:prstGeom prst="ellipse">
            <a:avLst/>
          </a:prstGeom>
          <a:noFill/>
          <a:ln w="3810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p:nvPr/>
        </p:nvCxnSpPr>
        <p:spPr>
          <a:xfrm flipV="1">
            <a:off x="4231226" y="5928102"/>
            <a:ext cx="983953" cy="526944"/>
          </a:xfrm>
          <a:prstGeom prst="straightConnector1">
            <a:avLst/>
          </a:prstGeom>
          <a:ln w="28575">
            <a:solidFill>
              <a:srgbClr val="0033CC"/>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p:cNvSpPr/>
          <p:nvPr/>
        </p:nvSpPr>
        <p:spPr>
          <a:xfrm>
            <a:off x="5880071" y="4493002"/>
            <a:ext cx="799698" cy="285313"/>
          </a:xfrm>
          <a:prstGeom prst="ellipse">
            <a:avLst/>
          </a:prstGeom>
          <a:noFill/>
          <a:ln w="3810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p:cNvCxnSpPr>
            <a:stCxn id="13" idx="4"/>
          </p:cNvCxnSpPr>
          <p:nvPr/>
        </p:nvCxnSpPr>
        <p:spPr>
          <a:xfrm flipH="1">
            <a:off x="6145078" y="4778315"/>
            <a:ext cx="134842" cy="1010302"/>
          </a:xfrm>
          <a:prstGeom prst="straightConnector1">
            <a:avLst/>
          </a:prstGeom>
          <a:ln w="28575">
            <a:solidFill>
              <a:srgbClr val="0033CC"/>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5471747" y="5788617"/>
            <a:ext cx="913085" cy="278969"/>
          </a:xfrm>
          <a:prstGeom prst="ellipse">
            <a:avLst/>
          </a:prstGeom>
          <a:noFill/>
          <a:ln w="3810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67504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up)">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13" grpId="0" animBg="1"/>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71F58-7634-E163-3F48-9C6A5EAC910D}"/>
              </a:ext>
            </a:extLst>
          </p:cNvPr>
          <p:cNvSpPr>
            <a:spLocks noGrp="1"/>
          </p:cNvSpPr>
          <p:nvPr>
            <p:ph type="title"/>
          </p:nvPr>
        </p:nvSpPr>
        <p:spPr/>
        <p:txBody>
          <a:bodyPr/>
          <a:lstStyle/>
          <a:p>
            <a:r>
              <a:rPr lang="en-US" dirty="0"/>
              <a:t>Simulation</a:t>
            </a:r>
          </a:p>
        </p:txBody>
      </p:sp>
    </p:spTree>
    <p:extLst>
      <p:ext uri="{BB962C8B-B14F-4D97-AF65-F5344CB8AC3E}">
        <p14:creationId xmlns:p14="http://schemas.microsoft.com/office/powerpoint/2010/main" val="313875367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75B88-510B-36CD-2E64-3D35C28983CD}"/>
              </a:ext>
            </a:extLst>
          </p:cNvPr>
          <p:cNvSpPr>
            <a:spLocks noGrp="1"/>
          </p:cNvSpPr>
          <p:nvPr>
            <p:ph type="title"/>
          </p:nvPr>
        </p:nvSpPr>
        <p:spPr/>
        <p:txBody>
          <a:bodyPr/>
          <a:lstStyle/>
          <a:p>
            <a:r>
              <a:rPr lang="en-US" dirty="0"/>
              <a:t>What is simulation?</a:t>
            </a:r>
          </a:p>
        </p:txBody>
      </p:sp>
      <p:sp>
        <p:nvSpPr>
          <p:cNvPr id="3" name="Content Placeholder 2">
            <a:extLst>
              <a:ext uri="{FF2B5EF4-FFF2-40B4-BE49-F238E27FC236}">
                <a16:creationId xmlns:a16="http://schemas.microsoft.com/office/drawing/2014/main" id="{DFAF7F0A-F815-3720-3658-6D0C2E20D31D}"/>
              </a:ext>
            </a:extLst>
          </p:cNvPr>
          <p:cNvSpPr>
            <a:spLocks noGrp="1"/>
          </p:cNvSpPr>
          <p:nvPr>
            <p:ph idx="1"/>
          </p:nvPr>
        </p:nvSpPr>
        <p:spPr/>
        <p:txBody>
          <a:bodyPr/>
          <a:lstStyle/>
          <a:p>
            <a:r>
              <a:rPr lang="en-US" dirty="0">
                <a:solidFill>
                  <a:schemeClr val="tx1"/>
                </a:solidFill>
              </a:rPr>
              <a:t>Simulation is the process of creating a model of a real-world scenario or system in order to study its behavior or characteristics</a:t>
            </a:r>
            <a:r>
              <a:rPr lang="en-US" b="0" i="0" dirty="0">
                <a:solidFill>
                  <a:schemeClr val="tx1"/>
                </a:solidFill>
                <a:effectLst/>
                <a:latin typeface="Google Sans"/>
              </a:rPr>
              <a:t> </a:t>
            </a:r>
          </a:p>
          <a:p>
            <a:r>
              <a:rPr lang="en-US" b="0" i="0" dirty="0">
                <a:solidFill>
                  <a:schemeClr val="tx1"/>
                </a:solidFill>
                <a:effectLst/>
                <a:latin typeface="Google Sans"/>
              </a:rPr>
              <a:t>It essentially imitates the operation of a real-world process or system to understand how it functions or might react to different conditions</a:t>
            </a:r>
          </a:p>
          <a:p>
            <a:r>
              <a:rPr lang="en-US" dirty="0">
                <a:solidFill>
                  <a:schemeClr val="tx1"/>
                </a:solidFill>
                <a:latin typeface="Google Sans"/>
              </a:rPr>
              <a:t>In business, we use simulations when there is randomness, e.g., randomness in payoffs</a:t>
            </a:r>
          </a:p>
          <a:p>
            <a:r>
              <a:rPr lang="en-US" dirty="0">
                <a:solidFill>
                  <a:schemeClr val="tx1"/>
                </a:solidFill>
                <a:latin typeface="Google Sans"/>
              </a:rPr>
              <a:t>We utilize random generation in Excel</a:t>
            </a:r>
            <a:endParaRPr lang="en-US" dirty="0">
              <a:solidFill>
                <a:schemeClr val="tx1"/>
              </a:solidFill>
            </a:endParaRPr>
          </a:p>
        </p:txBody>
      </p:sp>
      <p:sp>
        <p:nvSpPr>
          <p:cNvPr id="4" name="Date Placeholder 3">
            <a:extLst>
              <a:ext uri="{FF2B5EF4-FFF2-40B4-BE49-F238E27FC236}">
                <a16:creationId xmlns:a16="http://schemas.microsoft.com/office/drawing/2014/main" id="{347EE379-A019-4106-ED83-78AE96BDDAF9}"/>
              </a:ext>
            </a:extLst>
          </p:cNvPr>
          <p:cNvSpPr>
            <a:spLocks noGrp="1"/>
          </p:cNvSpPr>
          <p:nvPr>
            <p:ph type="dt" sz="half" idx="10"/>
          </p:nvPr>
        </p:nvSpPr>
        <p:spPr/>
        <p:txBody>
          <a:bodyPr/>
          <a:lstStyle/>
          <a:p>
            <a:r>
              <a:rPr lang="en-US"/>
              <a:t>Turcic</a:t>
            </a:r>
            <a:endParaRPr lang="en-US" dirty="0"/>
          </a:p>
        </p:txBody>
      </p:sp>
      <p:sp>
        <p:nvSpPr>
          <p:cNvPr id="5" name="Footer Placeholder 4">
            <a:extLst>
              <a:ext uri="{FF2B5EF4-FFF2-40B4-BE49-F238E27FC236}">
                <a16:creationId xmlns:a16="http://schemas.microsoft.com/office/drawing/2014/main" id="{92CDA3FB-07E1-1B7F-BFA1-CEA39FED1DBD}"/>
              </a:ext>
            </a:extLst>
          </p:cNvPr>
          <p:cNvSpPr>
            <a:spLocks noGrp="1"/>
          </p:cNvSpPr>
          <p:nvPr>
            <p:ph type="ftr" sz="quarter" idx="11"/>
          </p:nvPr>
        </p:nvSpPr>
        <p:spPr/>
        <p:txBody>
          <a:bodyPr/>
          <a:lstStyle/>
          <a:p>
            <a:r>
              <a:rPr lang="en-US"/>
              <a:t>MGT 207 Operations Management</a:t>
            </a:r>
            <a:endParaRPr lang="en-US" dirty="0"/>
          </a:p>
        </p:txBody>
      </p:sp>
    </p:spTree>
    <p:extLst>
      <p:ext uri="{BB962C8B-B14F-4D97-AF65-F5344CB8AC3E}">
        <p14:creationId xmlns:p14="http://schemas.microsoft.com/office/powerpoint/2010/main" val="3276407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pic>
        <p:nvPicPr>
          <p:cNvPr id="141" name="Google Shape;141;p6" descr="mccomp.gif"/>
          <p:cNvPicPr preferRelativeResize="0"/>
          <p:nvPr/>
        </p:nvPicPr>
        <p:blipFill rotWithShape="1">
          <a:blip r:embed="rId3">
            <a:alphaModFix/>
          </a:blip>
          <a:srcRect/>
          <a:stretch/>
        </p:blipFill>
        <p:spPr>
          <a:xfrm>
            <a:off x="1" y="1"/>
            <a:ext cx="947486" cy="1066799"/>
          </a:xfrm>
          <a:prstGeom prst="rect">
            <a:avLst/>
          </a:prstGeom>
          <a:noFill/>
          <a:ln>
            <a:noFill/>
          </a:ln>
        </p:spPr>
      </p:pic>
      <p:sp>
        <p:nvSpPr>
          <p:cNvPr id="142" name="Google Shape;142;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Simulating Values from Probability Distributions</a:t>
            </a:r>
            <a:endParaRPr/>
          </a:p>
        </p:txBody>
      </p:sp>
      <p:sp>
        <p:nvSpPr>
          <p:cNvPr id="143" name="Google Shape;143;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dirty="0"/>
              <a:t>Using Excel, it is easy to generate random numbers chosen from the range [0,1] with equal likelihood using (=RAND())</a:t>
            </a:r>
            <a:endParaRPr dirty="0"/>
          </a:p>
        </p:txBody>
      </p:sp>
      <p:sp>
        <p:nvSpPr>
          <p:cNvPr id="144" name="Google Shape;14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35</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Simulating Values from Probability Distributions</a:t>
            </a:r>
            <a:endParaRPr/>
          </a:p>
        </p:txBody>
      </p:sp>
      <p:sp>
        <p:nvSpPr>
          <p:cNvPr id="150" name="Google Shape;150;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b="1"/>
              <a:t>Discrete Uniform Distribution: </a:t>
            </a:r>
            <a:r>
              <a:rPr lang="en-US"/>
              <a:t>If all values between a lower limit </a:t>
            </a:r>
            <a:r>
              <a:rPr lang="en-US" i="1"/>
              <a:t>a </a:t>
            </a:r>
            <a:r>
              <a:rPr lang="en-US"/>
              <a:t>and a upper limit </a:t>
            </a:r>
            <a:r>
              <a:rPr lang="en-US" i="1"/>
              <a:t>b</a:t>
            </a:r>
            <a:r>
              <a:rPr lang="en-US"/>
              <a:t> are equally likely, but the variable is allowed to take on only </a:t>
            </a:r>
            <a:r>
              <a:rPr lang="en-US" b="1" i="1"/>
              <a:t>integer </a:t>
            </a:r>
            <a:r>
              <a:rPr lang="en-US"/>
              <a:t>values. The formula is:</a:t>
            </a:r>
            <a:endParaRPr/>
          </a:p>
          <a:p>
            <a:pPr marL="342900" lvl="0" indent="-139700" algn="l" rtl="0">
              <a:spcBef>
                <a:spcPts val="640"/>
              </a:spcBef>
              <a:spcAft>
                <a:spcPts val="0"/>
              </a:spcAft>
              <a:buClr>
                <a:schemeClr val="dk1"/>
              </a:buClr>
              <a:buSzPts val="3200"/>
              <a:buNone/>
            </a:pPr>
            <a:endParaRPr/>
          </a:p>
          <a:p>
            <a:pPr marL="342900" lvl="0" indent="-342900" algn="l" rtl="0">
              <a:spcBef>
                <a:spcPts val="640"/>
              </a:spcBef>
              <a:spcAft>
                <a:spcPts val="0"/>
              </a:spcAft>
              <a:buClr>
                <a:schemeClr val="dk1"/>
              </a:buClr>
              <a:buSzPts val="3200"/>
              <a:buNone/>
            </a:pPr>
            <a:endParaRPr/>
          </a:p>
          <a:p>
            <a:pPr marL="342900" lvl="0" indent="-342900" algn="l" rtl="0">
              <a:spcBef>
                <a:spcPts val="640"/>
              </a:spcBef>
              <a:spcAft>
                <a:spcPts val="0"/>
              </a:spcAft>
              <a:buClr>
                <a:schemeClr val="dk1"/>
              </a:buClr>
              <a:buSzPts val="3200"/>
              <a:buChar char="•"/>
            </a:pPr>
            <a:r>
              <a:rPr lang="en-US"/>
              <a:t>For example, if we want </a:t>
            </a:r>
            <a:r>
              <a:rPr lang="en-US" b="1" i="1"/>
              <a:t>integers</a:t>
            </a:r>
            <a:r>
              <a:rPr lang="en-US"/>
              <a:t> between 0 and 99, we use =RANDBETWEEN(0,99) </a:t>
            </a:r>
            <a:endParaRPr/>
          </a:p>
        </p:txBody>
      </p:sp>
      <p:pic>
        <p:nvPicPr>
          <p:cNvPr id="151" name="Google Shape;151;p7" descr="mccomp.gif"/>
          <p:cNvPicPr preferRelativeResize="0"/>
          <p:nvPr/>
        </p:nvPicPr>
        <p:blipFill rotWithShape="1">
          <a:blip r:embed="rId3">
            <a:alphaModFix/>
          </a:blip>
          <a:srcRect/>
          <a:stretch/>
        </p:blipFill>
        <p:spPr>
          <a:xfrm>
            <a:off x="0" y="0"/>
            <a:ext cx="990600" cy="1115343"/>
          </a:xfrm>
          <a:prstGeom prst="rect">
            <a:avLst/>
          </a:prstGeom>
          <a:noFill/>
          <a:ln>
            <a:noFill/>
          </a:ln>
        </p:spPr>
      </p:pic>
      <p:sp>
        <p:nvSpPr>
          <p:cNvPr id="152" name="Google Shape;1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36</a:t>
            </a:fld>
            <a:endParaRPr/>
          </a:p>
        </p:txBody>
      </p:sp>
      <p:pic>
        <p:nvPicPr>
          <p:cNvPr id="153" name="Google Shape;153;p7" descr="latex-image-1.pdf"/>
          <p:cNvPicPr preferRelativeResize="0"/>
          <p:nvPr/>
        </p:nvPicPr>
        <p:blipFill rotWithShape="1">
          <a:blip r:embed="rId4">
            <a:alphaModFix/>
          </a:blip>
          <a:srcRect/>
          <a:stretch/>
        </p:blipFill>
        <p:spPr>
          <a:xfrm>
            <a:off x="1694878" y="3380581"/>
            <a:ext cx="5600700" cy="4826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Simulating Values from Probability Distributions</a:t>
            </a:r>
            <a:endParaRPr/>
          </a:p>
        </p:txBody>
      </p:sp>
      <p:sp>
        <p:nvSpPr>
          <p:cNvPr id="159" name="Google Shape;159;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ct val="100000"/>
              <a:buChar char="•"/>
            </a:pPr>
            <a:r>
              <a:rPr lang="en-US" b="1"/>
              <a:t>Normal Distribution: </a:t>
            </a:r>
            <a:r>
              <a:rPr lang="en-US"/>
              <a:t>To simulate random numbers from a normal distribution with mean μ and standard deviation σ, we use the NORMINV function as follows:</a:t>
            </a:r>
            <a:endParaRPr/>
          </a:p>
          <a:p>
            <a:pPr marL="342900" lvl="0" indent="-154940" algn="l" rtl="0">
              <a:spcBef>
                <a:spcPts val="592"/>
              </a:spcBef>
              <a:spcAft>
                <a:spcPts val="0"/>
              </a:spcAft>
              <a:buClr>
                <a:schemeClr val="dk1"/>
              </a:buClr>
              <a:buSzPct val="100000"/>
              <a:buNone/>
            </a:pPr>
            <a:endParaRPr/>
          </a:p>
          <a:p>
            <a:pPr marL="342900" lvl="0" indent="-154940" algn="l" rtl="0">
              <a:spcBef>
                <a:spcPts val="592"/>
              </a:spcBef>
              <a:spcAft>
                <a:spcPts val="0"/>
              </a:spcAft>
              <a:buClr>
                <a:schemeClr val="dk1"/>
              </a:buClr>
              <a:buSzPct val="100000"/>
              <a:buNone/>
            </a:pPr>
            <a:endParaRPr/>
          </a:p>
          <a:p>
            <a:pPr marL="342900" lvl="0" indent="-342900" algn="l" rtl="0">
              <a:spcBef>
                <a:spcPts val="592"/>
              </a:spcBef>
              <a:spcAft>
                <a:spcPts val="0"/>
              </a:spcAft>
              <a:buClr>
                <a:schemeClr val="dk1"/>
              </a:buClr>
              <a:buSzPct val="100000"/>
              <a:buChar char="•"/>
            </a:pPr>
            <a:r>
              <a:rPr lang="en-US"/>
              <a:t>For example =NORMINV(RAND(), 30,5) will generate a random number from a normal distribution with a mean of 30 and a standard deviation of 5.</a:t>
            </a:r>
            <a:endParaRPr/>
          </a:p>
          <a:p>
            <a:pPr marL="342900" lvl="0" indent="-342900" algn="l" rtl="0">
              <a:spcBef>
                <a:spcPts val="592"/>
              </a:spcBef>
              <a:spcAft>
                <a:spcPts val="0"/>
              </a:spcAft>
              <a:buClr>
                <a:schemeClr val="dk1"/>
              </a:buClr>
              <a:buSzPct val="100000"/>
              <a:buNone/>
            </a:pPr>
            <a:endParaRPr/>
          </a:p>
        </p:txBody>
      </p:sp>
      <p:pic>
        <p:nvPicPr>
          <p:cNvPr id="160" name="Google Shape;160;p8" descr="mccomp.gif"/>
          <p:cNvPicPr preferRelativeResize="0"/>
          <p:nvPr/>
        </p:nvPicPr>
        <p:blipFill rotWithShape="1">
          <a:blip r:embed="rId3">
            <a:alphaModFix/>
          </a:blip>
          <a:srcRect/>
          <a:stretch/>
        </p:blipFill>
        <p:spPr>
          <a:xfrm>
            <a:off x="0" y="0"/>
            <a:ext cx="990600" cy="1115343"/>
          </a:xfrm>
          <a:prstGeom prst="rect">
            <a:avLst/>
          </a:prstGeom>
          <a:noFill/>
          <a:ln>
            <a:noFill/>
          </a:ln>
        </p:spPr>
      </p:pic>
      <p:sp>
        <p:nvSpPr>
          <p:cNvPr id="161" name="Google Shape;161;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37</a:t>
            </a:fld>
            <a:endParaRPr/>
          </a:p>
        </p:txBody>
      </p:sp>
      <p:pic>
        <p:nvPicPr>
          <p:cNvPr id="162" name="Google Shape;162;p8" descr="latex-image-1.pdf"/>
          <p:cNvPicPr preferRelativeResize="0"/>
          <p:nvPr/>
        </p:nvPicPr>
        <p:blipFill rotWithShape="1">
          <a:blip r:embed="rId4">
            <a:alphaModFix/>
          </a:blip>
          <a:srcRect/>
          <a:stretch/>
        </p:blipFill>
        <p:spPr>
          <a:xfrm>
            <a:off x="1290638" y="3640138"/>
            <a:ext cx="6210300" cy="482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Let’s Gamble!</a:t>
            </a:r>
            <a:br>
              <a:rPr lang="en-US"/>
            </a:br>
            <a:r>
              <a:rPr lang="en-US"/>
              <a:t>Heads or Tails? Toss a coin</a:t>
            </a:r>
            <a:endParaRPr/>
          </a:p>
        </p:txBody>
      </p:sp>
      <p:sp>
        <p:nvSpPr>
          <p:cNvPr id="192" name="Google Shape;192;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ct val="100000"/>
              <a:buChar char="•"/>
            </a:pPr>
            <a:r>
              <a:rPr lang="en-US"/>
              <a:t>You pay any dollar amount to participate, then pick a side (heads or tails).  If the side you picked shows up, you get double the amount (i.e., 100% gain); otherwise you get nothing (i.e., 100% loss).</a:t>
            </a:r>
            <a:endParaRPr/>
          </a:p>
          <a:p>
            <a:pPr marL="342900" lvl="0" indent="-342900" algn="l" rtl="0">
              <a:spcBef>
                <a:spcPts val="1144"/>
              </a:spcBef>
              <a:spcAft>
                <a:spcPts val="0"/>
              </a:spcAft>
              <a:buClr>
                <a:schemeClr val="dk1"/>
              </a:buClr>
              <a:buSzPct val="100000"/>
              <a:buChar char="•"/>
            </a:pPr>
            <a:r>
              <a:rPr lang="en-US"/>
              <a:t>You have $8 in your pocket.</a:t>
            </a:r>
            <a:endParaRPr/>
          </a:p>
          <a:p>
            <a:pPr marL="342900" lvl="0" indent="-342900" algn="l" rtl="0">
              <a:spcBef>
                <a:spcPts val="1144"/>
              </a:spcBef>
              <a:spcAft>
                <a:spcPts val="0"/>
              </a:spcAft>
              <a:buClr>
                <a:schemeClr val="dk1"/>
              </a:buClr>
              <a:buSzPct val="100000"/>
              <a:buChar char="•"/>
            </a:pPr>
            <a:r>
              <a:rPr lang="en-US"/>
              <a:t>Your strategy:</a:t>
            </a:r>
            <a:endParaRPr/>
          </a:p>
          <a:p>
            <a:pPr marL="742950" lvl="1" indent="-285750" algn="l" rtl="0">
              <a:spcBef>
                <a:spcPts val="1076"/>
              </a:spcBef>
              <a:spcAft>
                <a:spcPts val="0"/>
              </a:spcAft>
              <a:buClr>
                <a:schemeClr val="dk1"/>
              </a:buClr>
              <a:buSzPct val="100000"/>
              <a:buChar char="–"/>
            </a:pPr>
            <a:r>
              <a:rPr lang="en-US"/>
              <a:t>You play 3 rounds.</a:t>
            </a:r>
            <a:endParaRPr/>
          </a:p>
          <a:p>
            <a:pPr marL="1143000" lvl="2" indent="-228600" algn="l" rtl="0">
              <a:spcBef>
                <a:spcPts val="1008"/>
              </a:spcBef>
              <a:spcAft>
                <a:spcPts val="0"/>
              </a:spcAft>
              <a:buClr>
                <a:schemeClr val="dk1"/>
              </a:buClr>
              <a:buSzPct val="100000"/>
              <a:buChar char="•"/>
            </a:pPr>
            <a:r>
              <a:rPr lang="en-US"/>
              <a:t>In the first round, you bet on </a:t>
            </a:r>
            <a:r>
              <a:rPr lang="en-US" i="1"/>
              <a:t>one quarter </a:t>
            </a:r>
            <a:r>
              <a:rPr lang="en-US"/>
              <a:t>of your money (that’s $2).</a:t>
            </a:r>
            <a:endParaRPr/>
          </a:p>
          <a:p>
            <a:pPr marL="1143000" lvl="2" indent="-228600" algn="l" rtl="0">
              <a:spcBef>
                <a:spcPts val="1008"/>
              </a:spcBef>
              <a:spcAft>
                <a:spcPts val="0"/>
              </a:spcAft>
              <a:buClr>
                <a:schemeClr val="dk1"/>
              </a:buClr>
              <a:buSzPct val="100000"/>
              <a:buChar char="•"/>
            </a:pPr>
            <a:r>
              <a:rPr lang="en-US"/>
              <a:t>In the second part, you bet on </a:t>
            </a:r>
            <a:r>
              <a:rPr lang="en-US" i="1"/>
              <a:t>one half </a:t>
            </a:r>
            <a:r>
              <a:rPr lang="en-US"/>
              <a:t>of your available money (after gain/loss in previous round).</a:t>
            </a:r>
            <a:endParaRPr/>
          </a:p>
          <a:p>
            <a:pPr marL="1143000" lvl="2" indent="-228600" algn="l" rtl="0">
              <a:spcBef>
                <a:spcPts val="1008"/>
              </a:spcBef>
              <a:spcAft>
                <a:spcPts val="0"/>
              </a:spcAft>
              <a:buClr>
                <a:schemeClr val="dk1"/>
              </a:buClr>
              <a:buSzPct val="100000"/>
              <a:buChar char="•"/>
            </a:pPr>
            <a:r>
              <a:rPr lang="en-US"/>
              <a:t>In the third part, you bet on the </a:t>
            </a:r>
            <a:r>
              <a:rPr lang="en-US" i="1"/>
              <a:t>entire amount </a:t>
            </a:r>
            <a:r>
              <a:rPr lang="en-US"/>
              <a:t>left in your pocket.</a:t>
            </a:r>
            <a:endParaRPr/>
          </a:p>
        </p:txBody>
      </p:sp>
      <p:pic>
        <p:nvPicPr>
          <p:cNvPr id="193" name="Google Shape;193;p12"/>
          <p:cNvPicPr preferRelativeResize="0"/>
          <p:nvPr/>
        </p:nvPicPr>
        <p:blipFill rotWithShape="1">
          <a:blip r:embed="rId3">
            <a:alphaModFix/>
          </a:blip>
          <a:srcRect/>
          <a:stretch/>
        </p:blipFill>
        <p:spPr>
          <a:xfrm>
            <a:off x="109729" y="24384"/>
            <a:ext cx="816863" cy="89303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2">
                                            <p:txEl>
                                              <p:pRg st="0" end="0"/>
                                            </p:txEl>
                                          </p:spTgt>
                                        </p:tgtEl>
                                        <p:attrNameLst>
                                          <p:attrName>style.visibility</p:attrName>
                                        </p:attrNameLst>
                                      </p:cBhvr>
                                      <p:to>
                                        <p:strVal val="visible"/>
                                      </p:to>
                                    </p:set>
                                    <p:animEffect transition="in" filter="fade">
                                      <p:cBhvr>
                                        <p:cTn id="7" dur="500"/>
                                        <p:tgtEl>
                                          <p:spTgt spid="1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2">
                                            <p:txEl>
                                              <p:pRg st="1" end="1"/>
                                            </p:txEl>
                                          </p:spTgt>
                                        </p:tgtEl>
                                        <p:attrNameLst>
                                          <p:attrName>style.visibility</p:attrName>
                                        </p:attrNameLst>
                                      </p:cBhvr>
                                      <p:to>
                                        <p:strVal val="visible"/>
                                      </p:to>
                                    </p:set>
                                    <p:animEffect transition="in" filter="fade">
                                      <p:cBhvr>
                                        <p:cTn id="12" dur="500"/>
                                        <p:tgtEl>
                                          <p:spTgt spid="19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2">
                                            <p:txEl>
                                              <p:pRg st="2" end="2"/>
                                            </p:txEl>
                                          </p:spTgt>
                                        </p:tgtEl>
                                        <p:attrNameLst>
                                          <p:attrName>style.visibility</p:attrName>
                                        </p:attrNameLst>
                                      </p:cBhvr>
                                      <p:to>
                                        <p:strVal val="visible"/>
                                      </p:to>
                                    </p:set>
                                    <p:animEffect transition="in" filter="fade">
                                      <p:cBhvr>
                                        <p:cTn id="17" dur="500"/>
                                        <p:tgtEl>
                                          <p:spTgt spid="19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2">
                                            <p:txEl>
                                              <p:pRg st="3" end="3"/>
                                            </p:txEl>
                                          </p:spTgt>
                                        </p:tgtEl>
                                        <p:attrNameLst>
                                          <p:attrName>style.visibility</p:attrName>
                                        </p:attrNameLst>
                                      </p:cBhvr>
                                      <p:to>
                                        <p:strVal val="visible"/>
                                      </p:to>
                                    </p:set>
                                    <p:animEffect transition="in" filter="fade">
                                      <p:cBhvr>
                                        <p:cTn id="22" dur="500"/>
                                        <p:tgtEl>
                                          <p:spTgt spid="19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92">
                                            <p:txEl>
                                              <p:pRg st="4" end="4"/>
                                            </p:txEl>
                                          </p:spTgt>
                                        </p:tgtEl>
                                        <p:attrNameLst>
                                          <p:attrName>style.visibility</p:attrName>
                                        </p:attrNameLst>
                                      </p:cBhvr>
                                      <p:to>
                                        <p:strVal val="visible"/>
                                      </p:to>
                                    </p:set>
                                    <p:animEffect transition="in" filter="fade">
                                      <p:cBhvr>
                                        <p:cTn id="27" dur="500"/>
                                        <p:tgtEl>
                                          <p:spTgt spid="19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92">
                                            <p:txEl>
                                              <p:pRg st="5" end="5"/>
                                            </p:txEl>
                                          </p:spTgt>
                                        </p:tgtEl>
                                        <p:attrNameLst>
                                          <p:attrName>style.visibility</p:attrName>
                                        </p:attrNameLst>
                                      </p:cBhvr>
                                      <p:to>
                                        <p:strVal val="visible"/>
                                      </p:to>
                                    </p:set>
                                    <p:animEffect transition="in" filter="fade">
                                      <p:cBhvr>
                                        <p:cTn id="32" dur="500"/>
                                        <p:tgtEl>
                                          <p:spTgt spid="19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92">
                                            <p:txEl>
                                              <p:pRg st="6" end="6"/>
                                            </p:txEl>
                                          </p:spTgt>
                                        </p:tgtEl>
                                        <p:attrNameLst>
                                          <p:attrName>style.visibility</p:attrName>
                                        </p:attrNameLst>
                                      </p:cBhvr>
                                      <p:to>
                                        <p:strVal val="visible"/>
                                      </p:to>
                                    </p:set>
                                    <p:animEffect transition="in" filter="fade">
                                      <p:cBhvr>
                                        <p:cTn id="37" dur="500"/>
                                        <p:tgtEl>
                                          <p:spTgt spid="19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pic>
        <p:nvPicPr>
          <p:cNvPr id="198" name="Google Shape;198;p13"/>
          <p:cNvPicPr preferRelativeResize="0"/>
          <p:nvPr/>
        </p:nvPicPr>
        <p:blipFill rotWithShape="1">
          <a:blip r:embed="rId3">
            <a:alphaModFix/>
          </a:blip>
          <a:srcRect/>
          <a:stretch/>
        </p:blipFill>
        <p:spPr>
          <a:xfrm>
            <a:off x="427482" y="1492188"/>
            <a:ext cx="5497830" cy="2466742"/>
          </a:xfrm>
          <a:prstGeom prst="rect">
            <a:avLst/>
          </a:prstGeom>
          <a:noFill/>
          <a:ln>
            <a:noFill/>
          </a:ln>
        </p:spPr>
      </p:pic>
      <p:sp>
        <p:nvSpPr>
          <p:cNvPr id="199" name="Google Shape;199;p13"/>
          <p:cNvSpPr txBox="1">
            <a:spLocks noGrp="1"/>
          </p:cNvSpPr>
          <p:nvPr>
            <p:ph type="title"/>
          </p:nvPr>
        </p:nvSpPr>
        <p:spPr>
          <a:xfrm>
            <a:off x="457200" y="274638"/>
            <a:ext cx="8229600" cy="637031"/>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Model Setup</a:t>
            </a:r>
            <a:endParaRPr/>
          </a:p>
        </p:txBody>
      </p:sp>
      <p:sp>
        <p:nvSpPr>
          <p:cNvPr id="200" name="Google Shape;200;p13"/>
          <p:cNvSpPr txBox="1">
            <a:spLocks noGrp="1"/>
          </p:cNvSpPr>
          <p:nvPr>
            <p:ph type="body" idx="1"/>
          </p:nvPr>
        </p:nvSpPr>
        <p:spPr>
          <a:xfrm>
            <a:off x="437388" y="911669"/>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400"/>
              <a:buChar char="•"/>
            </a:pPr>
            <a:r>
              <a:rPr lang="en-US" sz="2400"/>
              <a:t>A sequential “investment” process</a:t>
            </a:r>
            <a:endParaRPr/>
          </a:p>
        </p:txBody>
      </p:sp>
      <p:pic>
        <p:nvPicPr>
          <p:cNvPr id="201" name="Google Shape;201;p13" descr="C:\docs\My Pictures\Microsoft Clip Organizer\Science\images[61].jpg"/>
          <p:cNvPicPr preferRelativeResize="0"/>
          <p:nvPr/>
        </p:nvPicPr>
        <p:blipFill rotWithShape="1">
          <a:blip r:embed="rId4">
            <a:alphaModFix/>
          </a:blip>
          <a:srcRect/>
          <a:stretch/>
        </p:blipFill>
        <p:spPr>
          <a:xfrm>
            <a:off x="109728" y="36576"/>
            <a:ext cx="926592" cy="861946"/>
          </a:xfrm>
          <a:prstGeom prst="rect">
            <a:avLst/>
          </a:prstGeom>
          <a:noFill/>
          <a:ln>
            <a:noFill/>
          </a:ln>
        </p:spPr>
      </p:pic>
      <p:pic>
        <p:nvPicPr>
          <p:cNvPr id="202" name="Google Shape;202;p13"/>
          <p:cNvPicPr preferRelativeResize="0"/>
          <p:nvPr/>
        </p:nvPicPr>
        <p:blipFill rotWithShape="1">
          <a:blip r:embed="rId5">
            <a:alphaModFix/>
          </a:blip>
          <a:srcRect/>
          <a:stretch/>
        </p:blipFill>
        <p:spPr>
          <a:xfrm>
            <a:off x="437388" y="4046016"/>
            <a:ext cx="7133844" cy="2463750"/>
          </a:xfrm>
          <a:prstGeom prst="rect">
            <a:avLst/>
          </a:prstGeom>
          <a:noFill/>
          <a:ln>
            <a:noFill/>
          </a:ln>
        </p:spPr>
      </p:pic>
      <p:grpSp>
        <p:nvGrpSpPr>
          <p:cNvPr id="203" name="Google Shape;203;p13"/>
          <p:cNvGrpSpPr/>
          <p:nvPr/>
        </p:nvGrpSpPr>
        <p:grpSpPr>
          <a:xfrm>
            <a:off x="5730240" y="4242816"/>
            <a:ext cx="3267456" cy="2011680"/>
            <a:chOff x="5730240" y="4242816"/>
            <a:chExt cx="3267456" cy="2011680"/>
          </a:xfrm>
        </p:grpSpPr>
        <p:sp>
          <p:nvSpPr>
            <p:cNvPr id="204" name="Google Shape;204;p13"/>
            <p:cNvSpPr/>
            <p:nvPr/>
          </p:nvSpPr>
          <p:spPr>
            <a:xfrm>
              <a:off x="5730240" y="5437632"/>
              <a:ext cx="1840992" cy="816864"/>
            </a:xfrm>
            <a:prstGeom prst="roundRect">
              <a:avLst>
                <a:gd name="adj" fmla="val 16667"/>
              </a:avLst>
            </a:prstGeom>
            <a:noFill/>
            <a:ln w="5715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05" name="Google Shape;205;p13"/>
            <p:cNvSpPr/>
            <p:nvPr/>
          </p:nvSpPr>
          <p:spPr>
            <a:xfrm>
              <a:off x="7303008" y="4242816"/>
              <a:ext cx="1694688" cy="914400"/>
            </a:xfrm>
            <a:prstGeom prst="wedgeRoundRectCallout">
              <a:avLst>
                <a:gd name="adj1" fmla="val -37883"/>
                <a:gd name="adj2" fmla="val 83632"/>
                <a:gd name="adj3" fmla="val 16667"/>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These cells simulate the individual coin tosses</a:t>
              </a:r>
              <a:endParaRPr/>
            </a:p>
          </p:txBody>
        </p:sp>
      </p:grpSp>
      <p:sp>
        <p:nvSpPr>
          <p:cNvPr id="206" name="Google Shape;206;p13"/>
          <p:cNvSpPr/>
          <p:nvPr/>
        </p:nvSpPr>
        <p:spPr>
          <a:xfrm>
            <a:off x="6547104" y="1536192"/>
            <a:ext cx="2133600" cy="1170432"/>
          </a:xfrm>
          <a:prstGeom prst="wedgeRoundRectCallout">
            <a:avLst>
              <a:gd name="adj1" fmla="val -63880"/>
              <a:gd name="adj2" fmla="val 75763"/>
              <a:gd name="adj3" fmla="val 16667"/>
            </a:avLst>
          </a:prstGeom>
          <a:noFill/>
          <a:ln w="38100" cap="flat" cmpd="sng">
            <a:solidFill>
              <a:srgbClr val="D9959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Note that values on this table  change every time  you  change any cell content, or whenever you press F9.</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8"/>
                                        </p:tgtEl>
                                        <p:attrNameLst>
                                          <p:attrName>style.visibility</p:attrName>
                                        </p:attrNameLst>
                                      </p:cBhvr>
                                      <p:to>
                                        <p:strVal val="visible"/>
                                      </p:to>
                                    </p:set>
                                    <p:animEffect transition="in" filter="fade">
                                      <p:cBhvr>
                                        <p:cTn id="7" dur="500"/>
                                        <p:tgtEl>
                                          <p:spTgt spid="1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2"/>
                                        </p:tgtEl>
                                        <p:attrNameLst>
                                          <p:attrName>style.visibility</p:attrName>
                                        </p:attrNameLst>
                                      </p:cBhvr>
                                      <p:to>
                                        <p:strVal val="visible"/>
                                      </p:to>
                                    </p:set>
                                    <p:animEffect transition="in" filter="fade">
                                      <p:cBhvr>
                                        <p:cTn id="12" dur="500"/>
                                        <p:tgtEl>
                                          <p:spTgt spid="2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3"/>
                                        </p:tgtEl>
                                        <p:attrNameLst>
                                          <p:attrName>style.visibility</p:attrName>
                                        </p:attrNameLst>
                                      </p:cBhvr>
                                      <p:to>
                                        <p:strVal val="visible"/>
                                      </p:to>
                                    </p:set>
                                    <p:animEffect transition="in" filter="fade">
                                      <p:cBhvr>
                                        <p:cTn id="17" dur="500"/>
                                        <p:tgtEl>
                                          <p:spTgt spid="20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6"/>
                                        </p:tgtEl>
                                        <p:attrNameLst>
                                          <p:attrName>style.visibility</p:attrName>
                                        </p:attrNameLst>
                                      </p:cBhvr>
                                      <p:to>
                                        <p:strVal val="visible"/>
                                      </p:to>
                                    </p:set>
                                    <p:animEffect transition="in" filter="fade">
                                      <p:cBhvr>
                                        <p:cTn id="22" dur="5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4"/>
          <p:cNvSpPr txBox="1">
            <a:spLocks noGrp="1"/>
          </p:cNvSpPr>
          <p:nvPr>
            <p:ph type="title"/>
          </p:nvPr>
        </p:nvSpPr>
        <p:spPr>
          <a:xfrm>
            <a:off x="457200" y="274638"/>
            <a:ext cx="8229600" cy="102076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Statistical Profile of Outcomes</a:t>
            </a:r>
            <a:br>
              <a:rPr lang="en-US"/>
            </a:br>
            <a:r>
              <a:rPr lang="en-US" sz="2800"/>
              <a:t>Theoretical (Exact) Evaluation</a:t>
            </a:r>
            <a:endParaRPr/>
          </a:p>
        </p:txBody>
      </p:sp>
      <p:sp>
        <p:nvSpPr>
          <p:cNvPr id="212" name="Google Shape;212;p14"/>
          <p:cNvSpPr txBox="1">
            <a:spLocks noGrp="1"/>
          </p:cNvSpPr>
          <p:nvPr>
            <p:ph type="body" idx="1"/>
          </p:nvPr>
        </p:nvSpPr>
        <p:spPr>
          <a:xfrm>
            <a:off x="457200" y="1417638"/>
            <a:ext cx="8229600" cy="4708525"/>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1800"/>
              <a:buChar char="•"/>
            </a:pPr>
            <a:r>
              <a:rPr lang="en-US" sz="1800"/>
              <a:t>In the latter example, it is possible to calculate the distribution of the end-of-game amount, by using probability theory:</a:t>
            </a:r>
            <a:endParaRPr/>
          </a:p>
        </p:txBody>
      </p:sp>
      <p:sp>
        <p:nvSpPr>
          <p:cNvPr id="213" name="Google Shape;213;p14"/>
          <p:cNvSpPr/>
          <p:nvPr/>
        </p:nvSpPr>
        <p:spPr>
          <a:xfrm>
            <a:off x="377952" y="3499104"/>
            <a:ext cx="780288" cy="804672"/>
          </a:xfrm>
          <a:prstGeom prst="rect">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Bet on $2 out of $8</a:t>
            </a:r>
            <a:endParaRPr/>
          </a:p>
        </p:txBody>
      </p:sp>
      <p:grpSp>
        <p:nvGrpSpPr>
          <p:cNvPr id="214" name="Google Shape;214;p14"/>
          <p:cNvGrpSpPr/>
          <p:nvPr/>
        </p:nvGrpSpPr>
        <p:grpSpPr>
          <a:xfrm>
            <a:off x="5663184" y="1908048"/>
            <a:ext cx="789432" cy="4187952"/>
            <a:chOff x="5663184" y="1908048"/>
            <a:chExt cx="789432" cy="4187952"/>
          </a:xfrm>
        </p:grpSpPr>
        <p:sp>
          <p:nvSpPr>
            <p:cNvPr id="215" name="Google Shape;215;p14"/>
            <p:cNvSpPr/>
            <p:nvPr/>
          </p:nvSpPr>
          <p:spPr>
            <a:xfrm>
              <a:off x="5663184" y="1908048"/>
              <a:ext cx="780288" cy="804672"/>
            </a:xfrm>
            <a:prstGeom prst="rect">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Bet on $15 out of $15</a:t>
              </a:r>
              <a:endParaRPr/>
            </a:p>
          </p:txBody>
        </p:sp>
        <p:sp>
          <p:nvSpPr>
            <p:cNvPr id="216" name="Google Shape;216;p14"/>
            <p:cNvSpPr/>
            <p:nvPr/>
          </p:nvSpPr>
          <p:spPr>
            <a:xfrm>
              <a:off x="5672328" y="3092704"/>
              <a:ext cx="780288" cy="804672"/>
            </a:xfrm>
            <a:prstGeom prst="rect">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Bet on $5 out of $5</a:t>
              </a:r>
              <a:endParaRPr/>
            </a:p>
          </p:txBody>
        </p:sp>
        <p:sp>
          <p:nvSpPr>
            <p:cNvPr id="217" name="Google Shape;217;p14"/>
            <p:cNvSpPr/>
            <p:nvPr/>
          </p:nvSpPr>
          <p:spPr>
            <a:xfrm>
              <a:off x="5669280" y="4192016"/>
              <a:ext cx="780288" cy="804672"/>
            </a:xfrm>
            <a:prstGeom prst="rect">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Bet on $9 out of $9</a:t>
              </a:r>
              <a:endParaRPr/>
            </a:p>
          </p:txBody>
        </p:sp>
        <p:sp>
          <p:nvSpPr>
            <p:cNvPr id="218" name="Google Shape;218;p14"/>
            <p:cNvSpPr/>
            <p:nvPr/>
          </p:nvSpPr>
          <p:spPr>
            <a:xfrm>
              <a:off x="5672328" y="5291328"/>
              <a:ext cx="780288" cy="804672"/>
            </a:xfrm>
            <a:prstGeom prst="rect">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Bet on $3 out of $3</a:t>
              </a:r>
              <a:endParaRPr/>
            </a:p>
          </p:txBody>
        </p:sp>
      </p:grpSp>
      <p:grpSp>
        <p:nvGrpSpPr>
          <p:cNvPr id="219" name="Google Shape;219;p14"/>
          <p:cNvGrpSpPr/>
          <p:nvPr/>
        </p:nvGrpSpPr>
        <p:grpSpPr>
          <a:xfrm>
            <a:off x="6470904" y="1810512"/>
            <a:ext cx="1819656" cy="4328160"/>
            <a:chOff x="6470904" y="1810512"/>
            <a:chExt cx="1819656" cy="4328160"/>
          </a:xfrm>
        </p:grpSpPr>
        <p:sp>
          <p:nvSpPr>
            <p:cNvPr id="220" name="Google Shape;220;p14"/>
            <p:cNvSpPr/>
            <p:nvPr/>
          </p:nvSpPr>
          <p:spPr>
            <a:xfrm>
              <a:off x="6480048" y="1926336"/>
              <a:ext cx="877824" cy="865632"/>
            </a:xfrm>
            <a:prstGeom prst="ellipse">
              <a:avLst/>
            </a:prstGeom>
            <a:noFill/>
            <a:ln w="38100" cap="flat" cmpd="sng">
              <a:solidFill>
                <a:srgbClr val="D9959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Toss #3</a:t>
              </a:r>
              <a:endParaRPr/>
            </a:p>
          </p:txBody>
        </p:sp>
        <p:sp>
          <p:nvSpPr>
            <p:cNvPr id="221" name="Google Shape;221;p14"/>
            <p:cNvSpPr/>
            <p:nvPr/>
          </p:nvSpPr>
          <p:spPr>
            <a:xfrm>
              <a:off x="6470904" y="3041904"/>
              <a:ext cx="877824" cy="865632"/>
            </a:xfrm>
            <a:prstGeom prst="ellipse">
              <a:avLst/>
            </a:prstGeom>
            <a:noFill/>
            <a:ln w="38100" cap="flat" cmpd="sng">
              <a:solidFill>
                <a:srgbClr val="D9959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Toss #3</a:t>
              </a:r>
              <a:endParaRPr/>
            </a:p>
          </p:txBody>
        </p:sp>
        <p:sp>
          <p:nvSpPr>
            <p:cNvPr id="222" name="Google Shape;222;p14"/>
            <p:cNvSpPr/>
            <p:nvPr/>
          </p:nvSpPr>
          <p:spPr>
            <a:xfrm>
              <a:off x="6473952" y="4157472"/>
              <a:ext cx="877824" cy="865632"/>
            </a:xfrm>
            <a:prstGeom prst="ellipse">
              <a:avLst/>
            </a:prstGeom>
            <a:noFill/>
            <a:ln w="38100" cap="flat" cmpd="sng">
              <a:solidFill>
                <a:srgbClr val="D9959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Toss #3</a:t>
              </a:r>
              <a:endParaRPr/>
            </a:p>
          </p:txBody>
        </p:sp>
        <p:sp>
          <p:nvSpPr>
            <p:cNvPr id="223" name="Google Shape;223;p14"/>
            <p:cNvSpPr/>
            <p:nvPr/>
          </p:nvSpPr>
          <p:spPr>
            <a:xfrm>
              <a:off x="6470904" y="5273040"/>
              <a:ext cx="877824" cy="865632"/>
            </a:xfrm>
            <a:prstGeom prst="ellipse">
              <a:avLst/>
            </a:prstGeom>
            <a:noFill/>
            <a:ln w="38100" cap="flat" cmpd="sng">
              <a:solidFill>
                <a:srgbClr val="D9959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Toss #3</a:t>
              </a:r>
              <a:endParaRPr/>
            </a:p>
          </p:txBody>
        </p:sp>
        <p:cxnSp>
          <p:nvCxnSpPr>
            <p:cNvPr id="224" name="Google Shape;224;p14"/>
            <p:cNvCxnSpPr/>
            <p:nvPr/>
          </p:nvCxnSpPr>
          <p:spPr>
            <a:xfrm rot="10800000" flipH="1">
              <a:off x="7412736" y="1938528"/>
              <a:ext cx="877824" cy="280416"/>
            </a:xfrm>
            <a:prstGeom prst="straightConnector1">
              <a:avLst/>
            </a:prstGeom>
            <a:noFill/>
            <a:ln w="38100" cap="flat" cmpd="sng">
              <a:solidFill>
                <a:srgbClr val="D99593"/>
              </a:solidFill>
              <a:prstDash val="solid"/>
              <a:round/>
              <a:headEnd type="none" w="sm" len="sm"/>
              <a:tailEnd type="stealth" w="med" len="med"/>
            </a:ln>
          </p:spPr>
        </p:cxnSp>
        <p:cxnSp>
          <p:nvCxnSpPr>
            <p:cNvPr id="225" name="Google Shape;225;p14"/>
            <p:cNvCxnSpPr/>
            <p:nvPr/>
          </p:nvCxnSpPr>
          <p:spPr>
            <a:xfrm rot="10800000" flipH="1">
              <a:off x="7412736" y="3033776"/>
              <a:ext cx="877824" cy="280416"/>
            </a:xfrm>
            <a:prstGeom prst="straightConnector1">
              <a:avLst/>
            </a:prstGeom>
            <a:noFill/>
            <a:ln w="38100" cap="flat" cmpd="sng">
              <a:solidFill>
                <a:srgbClr val="D99593"/>
              </a:solidFill>
              <a:prstDash val="solid"/>
              <a:round/>
              <a:headEnd type="none" w="sm" len="sm"/>
              <a:tailEnd type="stealth" w="med" len="med"/>
            </a:ln>
          </p:spPr>
        </p:cxnSp>
        <p:cxnSp>
          <p:nvCxnSpPr>
            <p:cNvPr id="226" name="Google Shape;226;p14"/>
            <p:cNvCxnSpPr/>
            <p:nvPr/>
          </p:nvCxnSpPr>
          <p:spPr>
            <a:xfrm rot="10800000" flipH="1">
              <a:off x="7412736" y="4129024"/>
              <a:ext cx="877824" cy="280416"/>
            </a:xfrm>
            <a:prstGeom prst="straightConnector1">
              <a:avLst/>
            </a:prstGeom>
            <a:noFill/>
            <a:ln w="38100" cap="flat" cmpd="sng">
              <a:solidFill>
                <a:srgbClr val="D99593"/>
              </a:solidFill>
              <a:prstDash val="solid"/>
              <a:round/>
              <a:headEnd type="none" w="sm" len="sm"/>
              <a:tailEnd type="stealth" w="med" len="med"/>
            </a:ln>
          </p:spPr>
        </p:cxnSp>
        <p:cxnSp>
          <p:nvCxnSpPr>
            <p:cNvPr id="227" name="Google Shape;227;p14"/>
            <p:cNvCxnSpPr/>
            <p:nvPr/>
          </p:nvCxnSpPr>
          <p:spPr>
            <a:xfrm rot="10800000" flipH="1">
              <a:off x="7412736" y="5224272"/>
              <a:ext cx="877824" cy="280416"/>
            </a:xfrm>
            <a:prstGeom prst="straightConnector1">
              <a:avLst/>
            </a:prstGeom>
            <a:noFill/>
            <a:ln w="38100" cap="flat" cmpd="sng">
              <a:solidFill>
                <a:srgbClr val="D99593"/>
              </a:solidFill>
              <a:prstDash val="solid"/>
              <a:round/>
              <a:headEnd type="none" w="sm" len="sm"/>
              <a:tailEnd type="stealth" w="med" len="med"/>
            </a:ln>
          </p:spPr>
        </p:cxnSp>
        <p:cxnSp>
          <p:nvCxnSpPr>
            <p:cNvPr id="228" name="Google Shape;228;p14"/>
            <p:cNvCxnSpPr/>
            <p:nvPr/>
          </p:nvCxnSpPr>
          <p:spPr>
            <a:xfrm>
              <a:off x="7440168" y="2395728"/>
              <a:ext cx="835152" cy="164592"/>
            </a:xfrm>
            <a:prstGeom prst="straightConnector1">
              <a:avLst/>
            </a:prstGeom>
            <a:noFill/>
            <a:ln w="38100" cap="flat" cmpd="sng">
              <a:solidFill>
                <a:srgbClr val="D99593"/>
              </a:solidFill>
              <a:prstDash val="solid"/>
              <a:round/>
              <a:headEnd type="none" w="sm" len="sm"/>
              <a:tailEnd type="stealth" w="med" len="med"/>
            </a:ln>
          </p:spPr>
        </p:cxnSp>
        <p:cxnSp>
          <p:nvCxnSpPr>
            <p:cNvPr id="229" name="Google Shape;229;p14"/>
            <p:cNvCxnSpPr/>
            <p:nvPr/>
          </p:nvCxnSpPr>
          <p:spPr>
            <a:xfrm>
              <a:off x="7440168" y="3515360"/>
              <a:ext cx="835152" cy="164592"/>
            </a:xfrm>
            <a:prstGeom prst="straightConnector1">
              <a:avLst/>
            </a:prstGeom>
            <a:noFill/>
            <a:ln w="38100" cap="flat" cmpd="sng">
              <a:solidFill>
                <a:srgbClr val="D99593"/>
              </a:solidFill>
              <a:prstDash val="solid"/>
              <a:round/>
              <a:headEnd type="none" w="sm" len="sm"/>
              <a:tailEnd type="stealth" w="med" len="med"/>
            </a:ln>
          </p:spPr>
        </p:cxnSp>
        <p:cxnSp>
          <p:nvCxnSpPr>
            <p:cNvPr id="230" name="Google Shape;230;p14"/>
            <p:cNvCxnSpPr/>
            <p:nvPr/>
          </p:nvCxnSpPr>
          <p:spPr>
            <a:xfrm>
              <a:off x="7440168" y="4634992"/>
              <a:ext cx="835152" cy="164592"/>
            </a:xfrm>
            <a:prstGeom prst="straightConnector1">
              <a:avLst/>
            </a:prstGeom>
            <a:noFill/>
            <a:ln w="38100" cap="flat" cmpd="sng">
              <a:solidFill>
                <a:srgbClr val="D99593"/>
              </a:solidFill>
              <a:prstDash val="solid"/>
              <a:round/>
              <a:headEnd type="none" w="sm" len="sm"/>
              <a:tailEnd type="stealth" w="med" len="med"/>
            </a:ln>
          </p:spPr>
        </p:cxnSp>
        <p:cxnSp>
          <p:nvCxnSpPr>
            <p:cNvPr id="231" name="Google Shape;231;p14"/>
            <p:cNvCxnSpPr/>
            <p:nvPr/>
          </p:nvCxnSpPr>
          <p:spPr>
            <a:xfrm>
              <a:off x="7440168" y="5754624"/>
              <a:ext cx="835152" cy="164592"/>
            </a:xfrm>
            <a:prstGeom prst="straightConnector1">
              <a:avLst/>
            </a:prstGeom>
            <a:noFill/>
            <a:ln w="38100" cap="flat" cmpd="sng">
              <a:solidFill>
                <a:srgbClr val="D99593"/>
              </a:solidFill>
              <a:prstDash val="solid"/>
              <a:round/>
              <a:headEnd type="none" w="sm" len="sm"/>
              <a:tailEnd type="stealth" w="med" len="med"/>
            </a:ln>
          </p:spPr>
        </p:cxnSp>
        <p:sp>
          <p:nvSpPr>
            <p:cNvPr id="232" name="Google Shape;232;p14"/>
            <p:cNvSpPr txBox="1"/>
            <p:nvPr/>
          </p:nvSpPr>
          <p:spPr>
            <a:xfrm>
              <a:off x="7485888" y="5108448"/>
              <a:ext cx="4331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1/2</a:t>
              </a:r>
              <a:endParaRPr/>
            </a:p>
          </p:txBody>
        </p:sp>
        <p:sp>
          <p:nvSpPr>
            <p:cNvPr id="233" name="Google Shape;233;p14"/>
            <p:cNvSpPr txBox="1"/>
            <p:nvPr/>
          </p:nvSpPr>
          <p:spPr>
            <a:xfrm>
              <a:off x="7491984" y="5809488"/>
              <a:ext cx="4331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1/2</a:t>
              </a:r>
              <a:endParaRPr/>
            </a:p>
          </p:txBody>
        </p:sp>
        <p:sp>
          <p:nvSpPr>
            <p:cNvPr id="234" name="Google Shape;234;p14"/>
            <p:cNvSpPr txBox="1"/>
            <p:nvPr/>
          </p:nvSpPr>
          <p:spPr>
            <a:xfrm>
              <a:off x="7491984" y="3992880"/>
              <a:ext cx="4331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1/2</a:t>
              </a:r>
              <a:endParaRPr/>
            </a:p>
          </p:txBody>
        </p:sp>
        <p:sp>
          <p:nvSpPr>
            <p:cNvPr id="235" name="Google Shape;235;p14"/>
            <p:cNvSpPr txBox="1"/>
            <p:nvPr/>
          </p:nvSpPr>
          <p:spPr>
            <a:xfrm>
              <a:off x="7498080" y="4693920"/>
              <a:ext cx="4331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1/2</a:t>
              </a:r>
              <a:endParaRPr/>
            </a:p>
          </p:txBody>
        </p:sp>
        <p:sp>
          <p:nvSpPr>
            <p:cNvPr id="236" name="Google Shape;236;p14"/>
            <p:cNvSpPr txBox="1"/>
            <p:nvPr/>
          </p:nvSpPr>
          <p:spPr>
            <a:xfrm>
              <a:off x="7485888" y="2901696"/>
              <a:ext cx="4331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1/2</a:t>
              </a:r>
              <a:endParaRPr/>
            </a:p>
          </p:txBody>
        </p:sp>
        <p:sp>
          <p:nvSpPr>
            <p:cNvPr id="237" name="Google Shape;237;p14"/>
            <p:cNvSpPr txBox="1"/>
            <p:nvPr/>
          </p:nvSpPr>
          <p:spPr>
            <a:xfrm>
              <a:off x="7491984" y="3602736"/>
              <a:ext cx="4331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1/2</a:t>
              </a:r>
              <a:endParaRPr/>
            </a:p>
          </p:txBody>
        </p:sp>
        <p:sp>
          <p:nvSpPr>
            <p:cNvPr id="238" name="Google Shape;238;p14"/>
            <p:cNvSpPr txBox="1"/>
            <p:nvPr/>
          </p:nvSpPr>
          <p:spPr>
            <a:xfrm>
              <a:off x="7491984" y="1810512"/>
              <a:ext cx="4331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1/2</a:t>
              </a:r>
              <a:endParaRPr/>
            </a:p>
          </p:txBody>
        </p:sp>
        <p:sp>
          <p:nvSpPr>
            <p:cNvPr id="239" name="Google Shape;239;p14"/>
            <p:cNvSpPr txBox="1"/>
            <p:nvPr/>
          </p:nvSpPr>
          <p:spPr>
            <a:xfrm>
              <a:off x="7498080" y="2511552"/>
              <a:ext cx="4331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1/2</a:t>
              </a:r>
              <a:endParaRPr/>
            </a:p>
          </p:txBody>
        </p:sp>
      </p:grpSp>
      <p:grpSp>
        <p:nvGrpSpPr>
          <p:cNvPr id="240" name="Google Shape;240;p14"/>
          <p:cNvGrpSpPr/>
          <p:nvPr/>
        </p:nvGrpSpPr>
        <p:grpSpPr>
          <a:xfrm>
            <a:off x="3531108" y="2225040"/>
            <a:ext cx="1991868" cy="3425952"/>
            <a:chOff x="3531108" y="2225040"/>
            <a:chExt cx="1991868" cy="3425952"/>
          </a:xfrm>
        </p:grpSpPr>
        <p:sp>
          <p:nvSpPr>
            <p:cNvPr id="241" name="Google Shape;241;p14"/>
            <p:cNvSpPr/>
            <p:nvPr/>
          </p:nvSpPr>
          <p:spPr>
            <a:xfrm>
              <a:off x="3534156" y="2444496"/>
              <a:ext cx="877824" cy="865632"/>
            </a:xfrm>
            <a:prstGeom prst="ellipse">
              <a:avLst/>
            </a:prstGeom>
            <a:noFill/>
            <a:ln w="38100" cap="flat" cmpd="sng">
              <a:solidFill>
                <a:srgbClr val="D9959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Toss #2</a:t>
              </a:r>
              <a:endParaRPr/>
            </a:p>
          </p:txBody>
        </p:sp>
        <p:sp>
          <p:nvSpPr>
            <p:cNvPr id="242" name="Google Shape;242;p14"/>
            <p:cNvSpPr/>
            <p:nvPr/>
          </p:nvSpPr>
          <p:spPr>
            <a:xfrm>
              <a:off x="3531108" y="4535424"/>
              <a:ext cx="877824" cy="865632"/>
            </a:xfrm>
            <a:prstGeom prst="ellipse">
              <a:avLst/>
            </a:prstGeom>
            <a:noFill/>
            <a:ln w="38100" cap="flat" cmpd="sng">
              <a:solidFill>
                <a:srgbClr val="D9959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Toss #2</a:t>
              </a:r>
              <a:endParaRPr/>
            </a:p>
          </p:txBody>
        </p:sp>
        <p:cxnSp>
          <p:nvCxnSpPr>
            <p:cNvPr id="243" name="Google Shape;243;p14"/>
            <p:cNvCxnSpPr/>
            <p:nvPr/>
          </p:nvCxnSpPr>
          <p:spPr>
            <a:xfrm rot="10800000" flipH="1">
              <a:off x="4541520" y="2371344"/>
              <a:ext cx="877824" cy="280416"/>
            </a:xfrm>
            <a:prstGeom prst="straightConnector1">
              <a:avLst/>
            </a:prstGeom>
            <a:noFill/>
            <a:ln w="38100" cap="flat" cmpd="sng">
              <a:solidFill>
                <a:srgbClr val="D99593"/>
              </a:solidFill>
              <a:prstDash val="solid"/>
              <a:round/>
              <a:headEnd type="none" w="sm" len="sm"/>
              <a:tailEnd type="stealth" w="med" len="med"/>
            </a:ln>
          </p:spPr>
        </p:cxnSp>
        <p:cxnSp>
          <p:nvCxnSpPr>
            <p:cNvPr id="244" name="Google Shape;244;p14"/>
            <p:cNvCxnSpPr/>
            <p:nvPr/>
          </p:nvCxnSpPr>
          <p:spPr>
            <a:xfrm rot="10800000" flipH="1">
              <a:off x="4572000" y="4584192"/>
              <a:ext cx="877824" cy="280416"/>
            </a:xfrm>
            <a:prstGeom prst="straightConnector1">
              <a:avLst/>
            </a:prstGeom>
            <a:noFill/>
            <a:ln w="38100" cap="flat" cmpd="sng">
              <a:solidFill>
                <a:srgbClr val="D99593"/>
              </a:solidFill>
              <a:prstDash val="solid"/>
              <a:round/>
              <a:headEnd type="none" w="sm" len="sm"/>
              <a:tailEnd type="stealth" w="med" len="med"/>
            </a:ln>
          </p:spPr>
        </p:cxnSp>
        <p:cxnSp>
          <p:nvCxnSpPr>
            <p:cNvPr id="245" name="Google Shape;245;p14"/>
            <p:cNvCxnSpPr/>
            <p:nvPr/>
          </p:nvCxnSpPr>
          <p:spPr>
            <a:xfrm>
              <a:off x="4584192" y="3084576"/>
              <a:ext cx="938784" cy="426720"/>
            </a:xfrm>
            <a:prstGeom prst="straightConnector1">
              <a:avLst/>
            </a:prstGeom>
            <a:noFill/>
            <a:ln w="38100" cap="flat" cmpd="sng">
              <a:solidFill>
                <a:srgbClr val="D99593"/>
              </a:solidFill>
              <a:prstDash val="solid"/>
              <a:round/>
              <a:headEnd type="none" w="sm" len="sm"/>
              <a:tailEnd type="stealth" w="med" len="med"/>
            </a:ln>
          </p:spPr>
        </p:cxnSp>
        <p:cxnSp>
          <p:nvCxnSpPr>
            <p:cNvPr id="246" name="Google Shape;246;p14"/>
            <p:cNvCxnSpPr/>
            <p:nvPr/>
          </p:nvCxnSpPr>
          <p:spPr>
            <a:xfrm>
              <a:off x="4578096" y="5224272"/>
              <a:ext cx="938784" cy="426720"/>
            </a:xfrm>
            <a:prstGeom prst="straightConnector1">
              <a:avLst/>
            </a:prstGeom>
            <a:noFill/>
            <a:ln w="38100" cap="flat" cmpd="sng">
              <a:solidFill>
                <a:srgbClr val="D99593"/>
              </a:solidFill>
              <a:prstDash val="solid"/>
              <a:round/>
              <a:headEnd type="none" w="sm" len="sm"/>
              <a:tailEnd type="stealth" w="med" len="med"/>
            </a:ln>
          </p:spPr>
        </p:cxnSp>
        <p:sp>
          <p:nvSpPr>
            <p:cNvPr id="247" name="Google Shape;247;p14"/>
            <p:cNvSpPr txBox="1"/>
            <p:nvPr/>
          </p:nvSpPr>
          <p:spPr>
            <a:xfrm>
              <a:off x="4681728" y="4450080"/>
              <a:ext cx="4331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1/2</a:t>
              </a:r>
              <a:endParaRPr/>
            </a:p>
          </p:txBody>
        </p:sp>
        <p:sp>
          <p:nvSpPr>
            <p:cNvPr id="248" name="Google Shape;248;p14"/>
            <p:cNvSpPr txBox="1"/>
            <p:nvPr/>
          </p:nvSpPr>
          <p:spPr>
            <a:xfrm>
              <a:off x="4687824" y="5065776"/>
              <a:ext cx="4331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1/2</a:t>
              </a:r>
              <a:endParaRPr/>
            </a:p>
          </p:txBody>
        </p:sp>
        <p:sp>
          <p:nvSpPr>
            <p:cNvPr id="249" name="Google Shape;249;p14"/>
            <p:cNvSpPr txBox="1"/>
            <p:nvPr/>
          </p:nvSpPr>
          <p:spPr>
            <a:xfrm>
              <a:off x="4687824" y="2225040"/>
              <a:ext cx="4331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1/2</a:t>
              </a:r>
              <a:endParaRPr/>
            </a:p>
          </p:txBody>
        </p:sp>
        <p:sp>
          <p:nvSpPr>
            <p:cNvPr id="250" name="Google Shape;250;p14"/>
            <p:cNvSpPr txBox="1"/>
            <p:nvPr/>
          </p:nvSpPr>
          <p:spPr>
            <a:xfrm>
              <a:off x="4693920" y="2840736"/>
              <a:ext cx="4331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1/2</a:t>
              </a:r>
              <a:endParaRPr/>
            </a:p>
          </p:txBody>
        </p:sp>
      </p:grpSp>
      <p:grpSp>
        <p:nvGrpSpPr>
          <p:cNvPr id="251" name="Google Shape;251;p14"/>
          <p:cNvGrpSpPr/>
          <p:nvPr/>
        </p:nvGrpSpPr>
        <p:grpSpPr>
          <a:xfrm>
            <a:off x="1207008" y="2444496"/>
            <a:ext cx="2296668" cy="2977825"/>
            <a:chOff x="1207008" y="2444496"/>
            <a:chExt cx="2296668" cy="2977825"/>
          </a:xfrm>
        </p:grpSpPr>
        <p:sp>
          <p:nvSpPr>
            <p:cNvPr id="252" name="Google Shape;252;p14"/>
            <p:cNvSpPr/>
            <p:nvPr/>
          </p:nvSpPr>
          <p:spPr>
            <a:xfrm>
              <a:off x="2720340" y="2444496"/>
              <a:ext cx="780288" cy="804672"/>
            </a:xfrm>
            <a:prstGeom prst="rect">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Bet on $5 out of $10</a:t>
              </a:r>
              <a:endParaRPr/>
            </a:p>
          </p:txBody>
        </p:sp>
        <p:sp>
          <p:nvSpPr>
            <p:cNvPr id="253" name="Google Shape;253;p14"/>
            <p:cNvSpPr/>
            <p:nvPr/>
          </p:nvSpPr>
          <p:spPr>
            <a:xfrm>
              <a:off x="2723388" y="4584192"/>
              <a:ext cx="780288" cy="804672"/>
            </a:xfrm>
            <a:prstGeom prst="rect">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Bet on $3 out of $6</a:t>
              </a:r>
              <a:endParaRPr/>
            </a:p>
          </p:txBody>
        </p:sp>
        <p:grpSp>
          <p:nvGrpSpPr>
            <p:cNvPr id="254" name="Google Shape;254;p14"/>
            <p:cNvGrpSpPr/>
            <p:nvPr/>
          </p:nvGrpSpPr>
          <p:grpSpPr>
            <a:xfrm>
              <a:off x="1207008" y="2987040"/>
              <a:ext cx="1603518" cy="2435281"/>
              <a:chOff x="1207008" y="2987040"/>
              <a:chExt cx="1603518" cy="2435281"/>
            </a:xfrm>
          </p:grpSpPr>
          <p:sp>
            <p:nvSpPr>
              <p:cNvPr id="255" name="Google Shape;255;p14"/>
              <p:cNvSpPr/>
              <p:nvPr/>
            </p:nvSpPr>
            <p:spPr>
              <a:xfrm>
                <a:off x="1207008" y="3474720"/>
                <a:ext cx="877824" cy="865632"/>
              </a:xfrm>
              <a:prstGeom prst="ellipse">
                <a:avLst/>
              </a:prstGeom>
              <a:noFill/>
              <a:ln w="38100" cap="flat" cmpd="sng">
                <a:solidFill>
                  <a:srgbClr val="D9959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Toss #1</a:t>
                </a:r>
                <a:endParaRPr/>
              </a:p>
            </p:txBody>
          </p:sp>
          <p:cxnSp>
            <p:nvCxnSpPr>
              <p:cNvPr id="256" name="Google Shape;256;p14"/>
              <p:cNvCxnSpPr/>
              <p:nvPr/>
            </p:nvCxnSpPr>
            <p:spPr>
              <a:xfrm rot="-5400000">
                <a:off x="2005584" y="3048000"/>
                <a:ext cx="676656" cy="554736"/>
              </a:xfrm>
              <a:prstGeom prst="straightConnector1">
                <a:avLst/>
              </a:prstGeom>
              <a:noFill/>
              <a:ln w="38100" cap="flat" cmpd="sng">
                <a:solidFill>
                  <a:srgbClr val="D99593"/>
                </a:solidFill>
                <a:prstDash val="solid"/>
                <a:round/>
                <a:headEnd type="none" w="sm" len="sm"/>
                <a:tailEnd type="stealth" w="med" len="med"/>
              </a:ln>
            </p:spPr>
          </p:cxnSp>
          <p:cxnSp>
            <p:nvCxnSpPr>
              <p:cNvPr id="257" name="Google Shape;257;p14"/>
              <p:cNvCxnSpPr/>
              <p:nvPr/>
            </p:nvCxnSpPr>
            <p:spPr>
              <a:xfrm rot="-5400000" flipH="1">
                <a:off x="1932432" y="4346448"/>
                <a:ext cx="853440" cy="524256"/>
              </a:xfrm>
              <a:prstGeom prst="straightConnector1">
                <a:avLst/>
              </a:prstGeom>
              <a:noFill/>
              <a:ln w="38100" cap="flat" cmpd="sng">
                <a:solidFill>
                  <a:srgbClr val="D99593"/>
                </a:solidFill>
                <a:prstDash val="solid"/>
                <a:round/>
                <a:headEnd type="none" w="sm" len="sm"/>
                <a:tailEnd type="stealth" w="med" len="med"/>
              </a:ln>
            </p:spPr>
          </p:cxnSp>
          <p:sp>
            <p:nvSpPr>
              <p:cNvPr id="258" name="Google Shape;258;p14"/>
              <p:cNvSpPr txBox="1"/>
              <p:nvPr/>
            </p:nvSpPr>
            <p:spPr>
              <a:xfrm>
                <a:off x="1975104" y="3108960"/>
                <a:ext cx="4331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1/2</a:t>
                </a:r>
                <a:endParaRPr/>
              </a:p>
            </p:txBody>
          </p:sp>
          <p:sp>
            <p:nvSpPr>
              <p:cNvPr id="259" name="Google Shape;259;p14"/>
              <p:cNvSpPr txBox="1"/>
              <p:nvPr/>
            </p:nvSpPr>
            <p:spPr>
              <a:xfrm>
                <a:off x="1981200" y="4529328"/>
                <a:ext cx="43313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1/2</a:t>
                </a:r>
                <a:endParaRPr/>
              </a:p>
            </p:txBody>
          </p:sp>
          <p:sp>
            <p:nvSpPr>
              <p:cNvPr id="260" name="Google Shape;260;p14"/>
              <p:cNvSpPr txBox="1"/>
              <p:nvPr/>
            </p:nvSpPr>
            <p:spPr>
              <a:xfrm>
                <a:off x="2316480" y="3304032"/>
                <a:ext cx="494046"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Win</a:t>
                </a:r>
                <a:endParaRPr/>
              </a:p>
            </p:txBody>
          </p:sp>
          <p:sp>
            <p:nvSpPr>
              <p:cNvPr id="261" name="Google Shape;261;p14"/>
              <p:cNvSpPr txBox="1"/>
              <p:nvPr/>
            </p:nvSpPr>
            <p:spPr>
              <a:xfrm>
                <a:off x="2200656" y="5114544"/>
                <a:ext cx="572593"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Lose</a:t>
                </a:r>
                <a:endParaRPr/>
              </a:p>
            </p:txBody>
          </p:sp>
        </p:grpSp>
      </p:grpSp>
      <p:grpSp>
        <p:nvGrpSpPr>
          <p:cNvPr id="262" name="Google Shape;262;p14"/>
          <p:cNvGrpSpPr/>
          <p:nvPr/>
        </p:nvGrpSpPr>
        <p:grpSpPr>
          <a:xfrm>
            <a:off x="8363712" y="1767840"/>
            <a:ext cx="569387" cy="4337828"/>
            <a:chOff x="8363712" y="1767840"/>
            <a:chExt cx="569387" cy="4337828"/>
          </a:xfrm>
        </p:grpSpPr>
        <p:sp>
          <p:nvSpPr>
            <p:cNvPr id="263" name="Google Shape;263;p14"/>
            <p:cNvSpPr txBox="1"/>
            <p:nvPr/>
          </p:nvSpPr>
          <p:spPr>
            <a:xfrm>
              <a:off x="8363712" y="1767840"/>
              <a:ext cx="56938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$30</a:t>
              </a:r>
              <a:endParaRPr/>
            </a:p>
          </p:txBody>
        </p:sp>
        <p:sp>
          <p:nvSpPr>
            <p:cNvPr id="264" name="Google Shape;264;p14"/>
            <p:cNvSpPr txBox="1"/>
            <p:nvPr/>
          </p:nvSpPr>
          <p:spPr>
            <a:xfrm>
              <a:off x="8369808" y="2371344"/>
              <a:ext cx="44114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$0</a:t>
              </a:r>
              <a:endParaRPr/>
            </a:p>
          </p:txBody>
        </p:sp>
        <p:sp>
          <p:nvSpPr>
            <p:cNvPr id="265" name="Google Shape;265;p14"/>
            <p:cNvSpPr txBox="1"/>
            <p:nvPr/>
          </p:nvSpPr>
          <p:spPr>
            <a:xfrm>
              <a:off x="8363712" y="2852928"/>
              <a:ext cx="56938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$10</a:t>
              </a:r>
              <a:endParaRPr/>
            </a:p>
          </p:txBody>
        </p:sp>
        <p:sp>
          <p:nvSpPr>
            <p:cNvPr id="266" name="Google Shape;266;p14"/>
            <p:cNvSpPr txBox="1"/>
            <p:nvPr/>
          </p:nvSpPr>
          <p:spPr>
            <a:xfrm>
              <a:off x="8369808" y="3456432"/>
              <a:ext cx="44114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$0</a:t>
              </a:r>
              <a:endParaRPr/>
            </a:p>
          </p:txBody>
        </p:sp>
        <p:sp>
          <p:nvSpPr>
            <p:cNvPr id="267" name="Google Shape;267;p14"/>
            <p:cNvSpPr txBox="1"/>
            <p:nvPr/>
          </p:nvSpPr>
          <p:spPr>
            <a:xfrm>
              <a:off x="8363712" y="3938016"/>
              <a:ext cx="56938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$18</a:t>
              </a:r>
              <a:endParaRPr/>
            </a:p>
          </p:txBody>
        </p:sp>
        <p:sp>
          <p:nvSpPr>
            <p:cNvPr id="268" name="Google Shape;268;p14"/>
            <p:cNvSpPr txBox="1"/>
            <p:nvPr/>
          </p:nvSpPr>
          <p:spPr>
            <a:xfrm>
              <a:off x="8369808" y="4602480"/>
              <a:ext cx="44114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$0</a:t>
              </a:r>
              <a:endParaRPr/>
            </a:p>
          </p:txBody>
        </p:sp>
        <p:sp>
          <p:nvSpPr>
            <p:cNvPr id="269" name="Google Shape;269;p14"/>
            <p:cNvSpPr txBox="1"/>
            <p:nvPr/>
          </p:nvSpPr>
          <p:spPr>
            <a:xfrm>
              <a:off x="8363712" y="5047488"/>
              <a:ext cx="44114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$6</a:t>
              </a:r>
              <a:endParaRPr/>
            </a:p>
          </p:txBody>
        </p:sp>
        <p:sp>
          <p:nvSpPr>
            <p:cNvPr id="270" name="Google Shape;270;p14"/>
            <p:cNvSpPr txBox="1"/>
            <p:nvPr/>
          </p:nvSpPr>
          <p:spPr>
            <a:xfrm>
              <a:off x="8369808" y="5736336"/>
              <a:ext cx="44114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$0</a:t>
              </a:r>
              <a:endParaRPr/>
            </a:p>
          </p:txBody>
        </p:sp>
      </p:grpSp>
      <p:pic>
        <p:nvPicPr>
          <p:cNvPr id="271" name="Google Shape;271;p14" descr="C:\docs\My Pictures\Microsoft Clip Organizer\Charts &amp; Stats\j0431626.png"/>
          <p:cNvPicPr preferRelativeResize="0"/>
          <p:nvPr/>
        </p:nvPicPr>
        <p:blipFill rotWithShape="1">
          <a:blip r:embed="rId3">
            <a:alphaModFix/>
          </a:blip>
          <a:srcRect/>
          <a:stretch/>
        </p:blipFill>
        <p:spPr>
          <a:xfrm>
            <a:off x="121920" y="33401"/>
            <a:ext cx="905383" cy="905383"/>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3"/>
                                        </p:tgtEl>
                                        <p:attrNameLst>
                                          <p:attrName>style.visibility</p:attrName>
                                        </p:attrNameLst>
                                      </p:cBhvr>
                                      <p:to>
                                        <p:strVal val="visible"/>
                                      </p:to>
                                    </p:set>
                                    <p:animEffect transition="in" filter="fade">
                                      <p:cBhvr>
                                        <p:cTn id="7" dur="500"/>
                                        <p:tgtEl>
                                          <p:spTgt spid="2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1"/>
                                        </p:tgtEl>
                                        <p:attrNameLst>
                                          <p:attrName>style.visibility</p:attrName>
                                        </p:attrNameLst>
                                      </p:cBhvr>
                                      <p:to>
                                        <p:strVal val="visible"/>
                                      </p:to>
                                    </p:set>
                                    <p:animEffect transition="in" filter="fade">
                                      <p:cBhvr>
                                        <p:cTn id="12" dur="500"/>
                                        <p:tgtEl>
                                          <p:spTgt spid="25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0"/>
                                        </p:tgtEl>
                                        <p:attrNameLst>
                                          <p:attrName>style.visibility</p:attrName>
                                        </p:attrNameLst>
                                      </p:cBhvr>
                                      <p:to>
                                        <p:strVal val="visible"/>
                                      </p:to>
                                    </p:set>
                                    <p:animEffect transition="in" filter="fade">
                                      <p:cBhvr>
                                        <p:cTn id="17" dur="500"/>
                                        <p:tgtEl>
                                          <p:spTgt spid="24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4"/>
                                        </p:tgtEl>
                                        <p:attrNameLst>
                                          <p:attrName>style.visibility</p:attrName>
                                        </p:attrNameLst>
                                      </p:cBhvr>
                                      <p:to>
                                        <p:strVal val="visible"/>
                                      </p:to>
                                    </p:set>
                                    <p:animEffect transition="in" filter="fade">
                                      <p:cBhvr>
                                        <p:cTn id="22" dur="500"/>
                                        <p:tgtEl>
                                          <p:spTgt spid="2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9"/>
                                        </p:tgtEl>
                                        <p:attrNameLst>
                                          <p:attrName>style.visibility</p:attrName>
                                        </p:attrNameLst>
                                      </p:cBhvr>
                                      <p:to>
                                        <p:strVal val="visible"/>
                                      </p:to>
                                    </p:set>
                                    <p:animEffect transition="in" filter="fade">
                                      <p:cBhvr>
                                        <p:cTn id="27" dur="500"/>
                                        <p:tgtEl>
                                          <p:spTgt spid="2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2"/>
                                        </p:tgtEl>
                                        <p:attrNameLst>
                                          <p:attrName>style.visibility</p:attrName>
                                        </p:attrNameLst>
                                      </p:cBhvr>
                                      <p:to>
                                        <p:strVal val="visible"/>
                                      </p:to>
                                    </p:set>
                                    <p:animEffect transition="in" filter="fade">
                                      <p:cBhvr>
                                        <p:cTn id="32" dur="500"/>
                                        <p:tgtEl>
                                          <p:spTgt spid="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ct val="100000"/>
              <a:buFont typeface="Calibri"/>
              <a:buNone/>
            </a:pPr>
            <a:r>
              <a:rPr lang="en-US"/>
              <a:t>Statistical Profile of Outcomes </a:t>
            </a:r>
            <a:br>
              <a:rPr lang="en-US"/>
            </a:br>
            <a:r>
              <a:rPr lang="en-US" sz="2800"/>
              <a:t>Estimation via Simulation</a:t>
            </a:r>
            <a:endParaRPr/>
          </a:p>
        </p:txBody>
      </p:sp>
      <p:sp>
        <p:nvSpPr>
          <p:cNvPr id="277" name="Google Shape;277;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1800"/>
              <a:buChar char="•"/>
            </a:pPr>
            <a:r>
              <a:rPr lang="en-US" sz="1800"/>
              <a:t>The idea is very simple: “Press F9” (= run the model) many times, and keep track of the results (= metrics of interest).</a:t>
            </a:r>
            <a:endParaRPr/>
          </a:p>
          <a:p>
            <a:pPr marL="342900" lvl="0" indent="-342900" algn="l" rtl="0">
              <a:spcBef>
                <a:spcPts val="360"/>
              </a:spcBef>
              <a:spcAft>
                <a:spcPts val="0"/>
              </a:spcAft>
              <a:buClr>
                <a:schemeClr val="dk1"/>
              </a:buClr>
              <a:buSzPts val="1800"/>
              <a:buChar char="•"/>
            </a:pPr>
            <a:r>
              <a:rPr lang="en-US" sz="1800"/>
              <a:t>A way to do this is via the Table function.</a:t>
            </a:r>
            <a:endParaRPr/>
          </a:p>
          <a:p>
            <a:pPr marL="742950" lvl="1" indent="-285750" algn="l" rtl="0">
              <a:spcBef>
                <a:spcPts val="360"/>
              </a:spcBef>
              <a:spcAft>
                <a:spcPts val="0"/>
              </a:spcAft>
              <a:buClr>
                <a:schemeClr val="dk1"/>
              </a:buClr>
              <a:buSzPts val="1800"/>
              <a:buChar char="–"/>
            </a:pPr>
            <a:r>
              <a:rPr lang="en-US" sz="1800"/>
              <a:t>Step 1: Create a table with two columns: on the left column, type the title “run,” and the sequence of numbers “1, 2, 3, ....” (whatever number of runs you would like to have). On the second column you can type the name of the metric, and below that make a reference to the metric cell.</a:t>
            </a:r>
            <a:endParaRPr/>
          </a:p>
        </p:txBody>
      </p:sp>
      <p:pic>
        <p:nvPicPr>
          <p:cNvPr id="278" name="Google Shape;278;p15" descr="C:\docs\My Pictures\Microsoft Clip Organizer\Science\j0254443.gif"/>
          <p:cNvPicPr preferRelativeResize="0"/>
          <p:nvPr/>
        </p:nvPicPr>
        <p:blipFill rotWithShape="1">
          <a:blip r:embed="rId3">
            <a:alphaModFix/>
          </a:blip>
          <a:srcRect/>
          <a:stretch/>
        </p:blipFill>
        <p:spPr>
          <a:xfrm>
            <a:off x="189357" y="48768"/>
            <a:ext cx="860673" cy="853440"/>
          </a:xfrm>
          <a:prstGeom prst="rect">
            <a:avLst/>
          </a:prstGeom>
          <a:noFill/>
          <a:ln>
            <a:noFill/>
          </a:ln>
        </p:spPr>
      </p:pic>
      <p:pic>
        <p:nvPicPr>
          <p:cNvPr id="279" name="Google Shape;279;p15"/>
          <p:cNvPicPr preferRelativeResize="0"/>
          <p:nvPr/>
        </p:nvPicPr>
        <p:blipFill rotWithShape="1">
          <a:blip r:embed="rId4">
            <a:alphaModFix/>
          </a:blip>
          <a:srcRect/>
          <a:stretch/>
        </p:blipFill>
        <p:spPr>
          <a:xfrm>
            <a:off x="1754124" y="3797236"/>
            <a:ext cx="5562600" cy="2695575"/>
          </a:xfrm>
          <a:prstGeom prst="rect">
            <a:avLst/>
          </a:prstGeom>
          <a:noFill/>
          <a:ln>
            <a:noFill/>
          </a:ln>
        </p:spPr>
      </p:pic>
      <p:grpSp>
        <p:nvGrpSpPr>
          <p:cNvPr id="280" name="Google Shape;280;p15"/>
          <p:cNvGrpSpPr/>
          <p:nvPr/>
        </p:nvGrpSpPr>
        <p:grpSpPr>
          <a:xfrm>
            <a:off x="4401312" y="4169664"/>
            <a:ext cx="2999232" cy="975360"/>
            <a:chOff x="4401312" y="4169664"/>
            <a:chExt cx="2999232" cy="975360"/>
          </a:xfrm>
        </p:grpSpPr>
        <p:sp>
          <p:nvSpPr>
            <p:cNvPr id="281" name="Google Shape;281;p15"/>
            <p:cNvSpPr/>
            <p:nvPr/>
          </p:nvSpPr>
          <p:spPr>
            <a:xfrm>
              <a:off x="4401312" y="4486656"/>
              <a:ext cx="1255776" cy="658368"/>
            </a:xfrm>
            <a:prstGeom prst="ellipse">
              <a:avLst/>
            </a:prstGeom>
            <a:noFill/>
            <a:ln w="38100" cap="flat" cmpd="sng">
              <a:solidFill>
                <a:srgbClr val="D9959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82" name="Google Shape;282;p15"/>
            <p:cNvSpPr/>
            <p:nvPr/>
          </p:nvSpPr>
          <p:spPr>
            <a:xfrm>
              <a:off x="6120384" y="4169664"/>
              <a:ext cx="1280160" cy="612648"/>
            </a:xfrm>
            <a:prstGeom prst="wedgeRoundRectCallout">
              <a:avLst>
                <a:gd name="adj1" fmla="val -85595"/>
                <a:gd name="adj2" fmla="val 42600"/>
                <a:gd name="adj3" fmla="val 16667"/>
              </a:avLst>
            </a:prstGeom>
            <a:solidFill>
              <a:srgbClr val="FFFF99"/>
            </a:solidFill>
            <a:ln w="38100" cap="flat" cmpd="sng">
              <a:solidFill>
                <a:srgbClr val="D9959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Description of metric</a:t>
              </a:r>
              <a:endParaRPr/>
            </a:p>
          </p:txBody>
        </p:sp>
      </p:grpSp>
      <p:grpSp>
        <p:nvGrpSpPr>
          <p:cNvPr id="283" name="Google Shape;283;p15"/>
          <p:cNvGrpSpPr/>
          <p:nvPr/>
        </p:nvGrpSpPr>
        <p:grpSpPr>
          <a:xfrm>
            <a:off x="4364736" y="4895088"/>
            <a:ext cx="3236976" cy="762000"/>
            <a:chOff x="4364736" y="4895088"/>
            <a:chExt cx="3236976" cy="762000"/>
          </a:xfrm>
        </p:grpSpPr>
        <p:sp>
          <p:nvSpPr>
            <p:cNvPr id="284" name="Google Shape;284;p15"/>
            <p:cNvSpPr/>
            <p:nvPr/>
          </p:nvSpPr>
          <p:spPr>
            <a:xfrm>
              <a:off x="6321552" y="4895088"/>
              <a:ext cx="1280160" cy="762000"/>
            </a:xfrm>
            <a:prstGeom prst="wedgeRoundRectCallout">
              <a:avLst>
                <a:gd name="adj1" fmla="val -97024"/>
                <a:gd name="adj2" fmla="val -3800"/>
                <a:gd name="adj3" fmla="val 16667"/>
              </a:avLst>
            </a:prstGeom>
            <a:solidFill>
              <a:srgbClr val="FFFF99"/>
            </a:solidFill>
            <a:ln w="38100" cap="flat" cmpd="sng">
              <a:solidFill>
                <a:srgbClr val="D9959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Reference to the metric cell =B8</a:t>
              </a:r>
              <a:endParaRPr/>
            </a:p>
          </p:txBody>
        </p:sp>
        <p:sp>
          <p:nvSpPr>
            <p:cNvPr id="285" name="Google Shape;285;p15"/>
            <p:cNvSpPr/>
            <p:nvPr/>
          </p:nvSpPr>
          <p:spPr>
            <a:xfrm>
              <a:off x="4364736" y="5084064"/>
              <a:ext cx="1328928" cy="329184"/>
            </a:xfrm>
            <a:prstGeom prst="roundRect">
              <a:avLst>
                <a:gd name="adj" fmla="val 16667"/>
              </a:avLst>
            </a:prstGeom>
            <a:noFill/>
            <a:ln w="38100" cap="flat" cmpd="sng">
              <a:solidFill>
                <a:srgbClr val="D9959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sp>
        <p:nvSpPr>
          <p:cNvPr id="286" name="Google Shape;286;p15"/>
          <p:cNvSpPr/>
          <p:nvPr/>
        </p:nvSpPr>
        <p:spPr>
          <a:xfrm>
            <a:off x="4693920" y="5449824"/>
            <a:ext cx="682752" cy="926592"/>
          </a:xfrm>
          <a:prstGeom prst="roundRect">
            <a:avLst>
              <a:gd name="adj" fmla="val 16667"/>
            </a:avLst>
          </a:prstGeom>
          <a:solidFill>
            <a:schemeClr val="lt1"/>
          </a:solidFill>
          <a:ln w="381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7">
                                            <p:txEl>
                                              <p:pRg st="0" end="0"/>
                                            </p:txEl>
                                          </p:spTgt>
                                        </p:tgtEl>
                                        <p:attrNameLst>
                                          <p:attrName>style.visibility</p:attrName>
                                        </p:attrNameLst>
                                      </p:cBhvr>
                                      <p:to>
                                        <p:strVal val="visible"/>
                                      </p:to>
                                    </p:set>
                                    <p:animEffect transition="in" filter="fade">
                                      <p:cBhvr>
                                        <p:cTn id="7" dur="500"/>
                                        <p:tgtEl>
                                          <p:spTgt spid="2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7">
                                            <p:txEl>
                                              <p:pRg st="1" end="1"/>
                                            </p:txEl>
                                          </p:spTgt>
                                        </p:tgtEl>
                                        <p:attrNameLst>
                                          <p:attrName>style.visibility</p:attrName>
                                        </p:attrNameLst>
                                      </p:cBhvr>
                                      <p:to>
                                        <p:strVal val="visible"/>
                                      </p:to>
                                    </p:set>
                                    <p:animEffect transition="in" filter="fade">
                                      <p:cBhvr>
                                        <p:cTn id="12" dur="500"/>
                                        <p:tgtEl>
                                          <p:spTgt spid="27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7">
                                            <p:txEl>
                                              <p:pRg st="2" end="2"/>
                                            </p:txEl>
                                          </p:spTgt>
                                        </p:tgtEl>
                                        <p:attrNameLst>
                                          <p:attrName>style.visibility</p:attrName>
                                        </p:attrNameLst>
                                      </p:cBhvr>
                                      <p:to>
                                        <p:strVal val="visible"/>
                                      </p:to>
                                    </p:set>
                                    <p:animEffect transition="in" filter="fade">
                                      <p:cBhvr>
                                        <p:cTn id="17" dur="500"/>
                                        <p:tgtEl>
                                          <p:spTgt spid="27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9"/>
                                        </p:tgtEl>
                                        <p:attrNameLst>
                                          <p:attrName>style.visibility</p:attrName>
                                        </p:attrNameLst>
                                      </p:cBhvr>
                                      <p:to>
                                        <p:strVal val="visible"/>
                                      </p:to>
                                    </p:set>
                                    <p:animEffect transition="in" filter="fade">
                                      <p:cBhvr>
                                        <p:cTn id="22" dur="500"/>
                                        <p:tgtEl>
                                          <p:spTgt spid="27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0"/>
                                        </p:tgtEl>
                                        <p:attrNameLst>
                                          <p:attrName>style.visibility</p:attrName>
                                        </p:attrNameLst>
                                      </p:cBhvr>
                                      <p:to>
                                        <p:strVal val="visible"/>
                                      </p:to>
                                    </p:set>
                                    <p:animEffect transition="in" filter="fade">
                                      <p:cBhvr>
                                        <p:cTn id="27" dur="500"/>
                                        <p:tgtEl>
                                          <p:spTgt spid="28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3"/>
                                        </p:tgtEl>
                                        <p:attrNameLst>
                                          <p:attrName>style.visibility</p:attrName>
                                        </p:attrNameLst>
                                      </p:cBhvr>
                                      <p:to>
                                        <p:strVal val="visible"/>
                                      </p:to>
                                    </p:set>
                                    <p:animEffect transition="in" filter="fade">
                                      <p:cBhvr>
                                        <p:cTn id="32" dur="500"/>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Estimation via Simulation (cont.)</a:t>
            </a:r>
            <a:endParaRPr sz="2000"/>
          </a:p>
        </p:txBody>
      </p:sp>
      <p:sp>
        <p:nvSpPr>
          <p:cNvPr id="292" name="Google Shape;292;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742950" lvl="1" indent="-285750" algn="l" rtl="0">
              <a:spcBef>
                <a:spcPts val="0"/>
              </a:spcBef>
              <a:spcAft>
                <a:spcPts val="0"/>
              </a:spcAft>
              <a:buClr>
                <a:schemeClr val="dk1"/>
              </a:buClr>
              <a:buSzPts val="2000"/>
              <a:buChar char="–"/>
            </a:pPr>
            <a:r>
              <a:rPr lang="en-US" sz="2000"/>
              <a:t>Step 2: Highlight the table with the metric formula as the top line (in the example of the previous slide, cells B11:C11 form the top line), all the way to the last row that represents the number of runs (for instance, if we wanted to have 500 runs in the previous example, you would select cells B11:C511).</a:t>
            </a:r>
            <a:endParaRPr/>
          </a:p>
          <a:p>
            <a:pPr marL="742950" lvl="1" indent="-158750" algn="l" rtl="0">
              <a:spcBef>
                <a:spcPts val="400"/>
              </a:spcBef>
              <a:spcAft>
                <a:spcPts val="0"/>
              </a:spcAft>
              <a:buClr>
                <a:schemeClr val="dk1"/>
              </a:buClr>
              <a:buSzPts val="2000"/>
              <a:buNone/>
            </a:pPr>
            <a:endParaRPr sz="2000"/>
          </a:p>
          <a:p>
            <a:pPr marL="742950" lvl="1" indent="-285750" algn="l" rtl="0">
              <a:spcBef>
                <a:spcPts val="400"/>
              </a:spcBef>
              <a:spcAft>
                <a:spcPts val="0"/>
              </a:spcAft>
              <a:buClr>
                <a:schemeClr val="dk1"/>
              </a:buClr>
              <a:buSzPts val="2000"/>
              <a:buChar char="–"/>
            </a:pPr>
            <a:r>
              <a:rPr lang="en-US" sz="2000"/>
              <a:t>Step 3: Ask Excel to fill in the table.</a:t>
            </a:r>
            <a:endParaRPr/>
          </a:p>
        </p:txBody>
      </p:sp>
      <p:pic>
        <p:nvPicPr>
          <p:cNvPr id="293" name="Google Shape;293;p16" descr="C:\docs\My Pictures\Microsoft Clip Organizer\Science\j0254443.gif"/>
          <p:cNvPicPr preferRelativeResize="0"/>
          <p:nvPr/>
        </p:nvPicPr>
        <p:blipFill rotWithShape="1">
          <a:blip r:embed="rId3">
            <a:alphaModFix/>
          </a:blip>
          <a:srcRect/>
          <a:stretch/>
        </p:blipFill>
        <p:spPr>
          <a:xfrm>
            <a:off x="189357" y="48768"/>
            <a:ext cx="860673" cy="853440"/>
          </a:xfrm>
          <a:prstGeom prst="rect">
            <a:avLst/>
          </a:prstGeom>
          <a:noFill/>
          <a:ln>
            <a:noFill/>
          </a:ln>
        </p:spPr>
      </p:pic>
      <p:grpSp>
        <p:nvGrpSpPr>
          <p:cNvPr id="294" name="Google Shape;294;p16"/>
          <p:cNvGrpSpPr/>
          <p:nvPr/>
        </p:nvGrpSpPr>
        <p:grpSpPr>
          <a:xfrm>
            <a:off x="485204" y="3251264"/>
            <a:ext cx="8447214" cy="2913888"/>
            <a:chOff x="448628" y="2206752"/>
            <a:chExt cx="8447214" cy="2913888"/>
          </a:xfrm>
        </p:grpSpPr>
        <p:pic>
          <p:nvPicPr>
            <p:cNvPr id="295" name="Google Shape;295;p16"/>
            <p:cNvPicPr preferRelativeResize="0"/>
            <p:nvPr/>
          </p:nvPicPr>
          <p:blipFill rotWithShape="1">
            <a:blip r:embed="rId4">
              <a:alphaModFix/>
            </a:blip>
            <a:srcRect/>
            <a:stretch/>
          </p:blipFill>
          <p:spPr>
            <a:xfrm>
              <a:off x="448628" y="2251520"/>
              <a:ext cx="8447214" cy="2015680"/>
            </a:xfrm>
            <a:prstGeom prst="rect">
              <a:avLst/>
            </a:prstGeom>
            <a:noFill/>
            <a:ln>
              <a:noFill/>
            </a:ln>
          </p:spPr>
        </p:pic>
        <p:sp>
          <p:nvSpPr>
            <p:cNvPr id="296" name="Google Shape;296;p16"/>
            <p:cNvSpPr/>
            <p:nvPr/>
          </p:nvSpPr>
          <p:spPr>
            <a:xfrm>
              <a:off x="560832" y="2206752"/>
              <a:ext cx="560832" cy="438912"/>
            </a:xfrm>
            <a:prstGeom prst="ellipse">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297" name="Google Shape;297;p16"/>
            <p:cNvSpPr/>
            <p:nvPr/>
          </p:nvSpPr>
          <p:spPr>
            <a:xfrm>
              <a:off x="1011936" y="3084576"/>
              <a:ext cx="1389888" cy="804672"/>
            </a:xfrm>
            <a:prstGeom prst="wedgeRoundRectCallout">
              <a:avLst>
                <a:gd name="adj1" fmla="val -50658"/>
                <a:gd name="adj2" fmla="val -105682"/>
                <a:gd name="adj3" fmla="val 16667"/>
              </a:avLst>
            </a:prstGeom>
            <a:solidFill>
              <a:srgbClr val="FFFF99"/>
            </a:solid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1. Click on the Data tab</a:t>
              </a:r>
              <a:endParaRPr/>
            </a:p>
          </p:txBody>
        </p:sp>
        <p:sp>
          <p:nvSpPr>
            <p:cNvPr id="298" name="Google Shape;298;p16"/>
            <p:cNvSpPr/>
            <p:nvPr/>
          </p:nvSpPr>
          <p:spPr>
            <a:xfrm>
              <a:off x="4578096" y="3663696"/>
              <a:ext cx="1389888" cy="804672"/>
            </a:xfrm>
            <a:prstGeom prst="wedgeRoundRectCallout">
              <a:avLst>
                <a:gd name="adj1" fmla="val 111622"/>
                <a:gd name="adj2" fmla="val -104166"/>
                <a:gd name="adj3" fmla="val 16667"/>
              </a:avLst>
            </a:prstGeom>
            <a:solidFill>
              <a:srgbClr val="FFFF99"/>
            </a:solid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2. Click on the What-If Analysis button</a:t>
              </a:r>
              <a:endParaRPr/>
            </a:p>
          </p:txBody>
        </p:sp>
        <p:sp>
          <p:nvSpPr>
            <p:cNvPr id="299" name="Google Shape;299;p16"/>
            <p:cNvSpPr/>
            <p:nvPr/>
          </p:nvSpPr>
          <p:spPr>
            <a:xfrm>
              <a:off x="6784848" y="2566416"/>
              <a:ext cx="822960" cy="896112"/>
            </a:xfrm>
            <a:prstGeom prst="ellipse">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0" name="Google Shape;300;p16"/>
            <p:cNvSpPr/>
            <p:nvPr/>
          </p:nvSpPr>
          <p:spPr>
            <a:xfrm>
              <a:off x="7089648" y="3913632"/>
              <a:ext cx="1103376" cy="335280"/>
            </a:xfrm>
            <a:prstGeom prst="ellipse">
              <a:avLst/>
            </a:prstGeom>
            <a:no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01" name="Google Shape;301;p16"/>
            <p:cNvSpPr/>
            <p:nvPr/>
          </p:nvSpPr>
          <p:spPr>
            <a:xfrm>
              <a:off x="6681216" y="4693920"/>
              <a:ext cx="1914144" cy="426720"/>
            </a:xfrm>
            <a:prstGeom prst="wedgeRoundRectCallout">
              <a:avLst>
                <a:gd name="adj1" fmla="val 1428"/>
                <a:gd name="adj2" fmla="val -149708"/>
                <a:gd name="adj3" fmla="val 16667"/>
              </a:avLst>
            </a:prstGeom>
            <a:solidFill>
              <a:srgbClr val="FFFF99"/>
            </a:solid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3. Select Data Table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2">
                                            <p:txEl>
                                              <p:pRg st="0" end="0"/>
                                            </p:txEl>
                                          </p:spTgt>
                                        </p:tgtEl>
                                        <p:attrNameLst>
                                          <p:attrName>style.visibility</p:attrName>
                                        </p:attrNameLst>
                                      </p:cBhvr>
                                      <p:to>
                                        <p:strVal val="visible"/>
                                      </p:to>
                                    </p:set>
                                    <p:animEffect transition="in" filter="fade">
                                      <p:cBhvr>
                                        <p:cTn id="7" dur="500"/>
                                        <p:tgtEl>
                                          <p:spTgt spid="2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2">
                                            <p:txEl>
                                              <p:pRg st="1" end="1"/>
                                            </p:txEl>
                                          </p:spTgt>
                                        </p:tgtEl>
                                        <p:attrNameLst>
                                          <p:attrName>style.visibility</p:attrName>
                                        </p:attrNameLst>
                                      </p:cBhvr>
                                      <p:to>
                                        <p:strVal val="visible"/>
                                      </p:to>
                                    </p:set>
                                    <p:animEffect transition="in" filter="fade">
                                      <p:cBhvr>
                                        <p:cTn id="12" dur="500"/>
                                        <p:tgtEl>
                                          <p:spTgt spid="29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2">
                                            <p:txEl>
                                              <p:pRg st="2" end="2"/>
                                            </p:txEl>
                                          </p:spTgt>
                                        </p:tgtEl>
                                        <p:attrNameLst>
                                          <p:attrName>style.visibility</p:attrName>
                                        </p:attrNameLst>
                                      </p:cBhvr>
                                      <p:to>
                                        <p:strVal val="visible"/>
                                      </p:to>
                                    </p:set>
                                    <p:animEffect transition="in" filter="fade">
                                      <p:cBhvr>
                                        <p:cTn id="17" dur="500"/>
                                        <p:tgtEl>
                                          <p:spTgt spid="29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4"/>
                                        </p:tgtEl>
                                        <p:attrNameLst>
                                          <p:attrName>style.visibility</p:attrName>
                                        </p:attrNameLst>
                                      </p:cBhvr>
                                      <p:to>
                                        <p:strVal val="visible"/>
                                      </p:to>
                                    </p:set>
                                    <p:animEffect transition="in" filter="fade">
                                      <p:cBhvr>
                                        <p:cTn id="22" dur="500"/>
                                        <p:tgtEl>
                                          <p:spTgt spid="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838200" y="274638"/>
            <a:ext cx="7848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Estimation via Simulation (cont.)</a:t>
            </a:r>
            <a:endParaRPr sz="2000"/>
          </a:p>
        </p:txBody>
      </p:sp>
      <p:sp>
        <p:nvSpPr>
          <p:cNvPr id="307" name="Google Shape;307;p17"/>
          <p:cNvSpPr txBox="1">
            <a:spLocks noGrp="1"/>
          </p:cNvSpPr>
          <p:nvPr>
            <p:ph type="body" idx="1"/>
          </p:nvPr>
        </p:nvSpPr>
        <p:spPr>
          <a:xfrm>
            <a:off x="457200" y="1295400"/>
            <a:ext cx="8229600" cy="4830763"/>
          </a:xfrm>
          <a:prstGeom prst="rect">
            <a:avLst/>
          </a:prstGeom>
          <a:noFill/>
          <a:ln>
            <a:noFill/>
          </a:ln>
        </p:spPr>
        <p:txBody>
          <a:bodyPr spcFirstLastPara="1" wrap="square" lIns="91425" tIns="45700" rIns="91425" bIns="45700" anchor="t" anchorCtr="0">
            <a:normAutofit fontScale="85000" lnSpcReduction="20000"/>
          </a:bodyPr>
          <a:lstStyle/>
          <a:p>
            <a:pPr marL="742950" lvl="1" indent="-285750" algn="l" rtl="0">
              <a:spcBef>
                <a:spcPts val="0"/>
              </a:spcBef>
              <a:spcAft>
                <a:spcPts val="0"/>
              </a:spcAft>
              <a:buClr>
                <a:schemeClr val="dk1"/>
              </a:buClr>
              <a:buSzPct val="100000"/>
              <a:buChar char="–"/>
            </a:pPr>
            <a:r>
              <a:rPr lang="en-US"/>
              <a:t>Step 4: In the Data Table options, specify a reference to an </a:t>
            </a:r>
            <a:r>
              <a:rPr lang="en-US" b="1" i="1"/>
              <a:t>empty cell</a:t>
            </a:r>
            <a:r>
              <a:rPr lang="en-US"/>
              <a:t>! Then, click “OK.” </a:t>
            </a:r>
            <a:endParaRPr/>
          </a:p>
          <a:p>
            <a:pPr marL="742950" lvl="1" indent="-174625" algn="l" rtl="0">
              <a:spcBef>
                <a:spcPts val="350"/>
              </a:spcBef>
              <a:spcAft>
                <a:spcPts val="0"/>
              </a:spcAft>
              <a:buClr>
                <a:schemeClr val="dk1"/>
              </a:buClr>
              <a:buSzPct val="100000"/>
              <a:buNone/>
            </a:pPr>
            <a:endParaRPr/>
          </a:p>
          <a:p>
            <a:pPr marL="742950" lvl="1" indent="-174625" algn="l" rtl="0">
              <a:spcBef>
                <a:spcPts val="350"/>
              </a:spcBef>
              <a:spcAft>
                <a:spcPts val="0"/>
              </a:spcAft>
              <a:buClr>
                <a:schemeClr val="dk1"/>
              </a:buClr>
              <a:buSzPct val="100000"/>
              <a:buNone/>
            </a:pPr>
            <a:endParaRPr/>
          </a:p>
          <a:p>
            <a:pPr marL="742950" lvl="1" indent="-174625" algn="l" rtl="0">
              <a:spcBef>
                <a:spcPts val="350"/>
              </a:spcBef>
              <a:spcAft>
                <a:spcPts val="0"/>
              </a:spcAft>
              <a:buClr>
                <a:schemeClr val="dk1"/>
              </a:buClr>
              <a:buSzPct val="100000"/>
              <a:buNone/>
            </a:pPr>
            <a:endParaRPr/>
          </a:p>
          <a:p>
            <a:pPr marL="742950" lvl="1" indent="-174625" algn="l" rtl="0">
              <a:spcBef>
                <a:spcPts val="350"/>
              </a:spcBef>
              <a:spcAft>
                <a:spcPts val="0"/>
              </a:spcAft>
              <a:buClr>
                <a:schemeClr val="dk1"/>
              </a:buClr>
              <a:buSzPct val="100000"/>
              <a:buNone/>
            </a:pPr>
            <a:endParaRPr/>
          </a:p>
          <a:p>
            <a:pPr marL="742950" lvl="1" indent="-174625" algn="l" rtl="0">
              <a:spcBef>
                <a:spcPts val="350"/>
              </a:spcBef>
              <a:spcAft>
                <a:spcPts val="0"/>
              </a:spcAft>
              <a:buClr>
                <a:schemeClr val="dk1"/>
              </a:buClr>
              <a:buSzPct val="100000"/>
              <a:buNone/>
            </a:pPr>
            <a:endParaRPr/>
          </a:p>
          <a:p>
            <a:pPr marL="742950" lvl="1" indent="-174625" algn="l" rtl="0">
              <a:spcBef>
                <a:spcPts val="350"/>
              </a:spcBef>
              <a:spcAft>
                <a:spcPts val="0"/>
              </a:spcAft>
              <a:buClr>
                <a:schemeClr val="dk1"/>
              </a:buClr>
              <a:buSzPct val="100000"/>
              <a:buNone/>
            </a:pPr>
            <a:endParaRPr/>
          </a:p>
          <a:p>
            <a:pPr marL="742950" lvl="1" indent="-174625" algn="l" rtl="0">
              <a:spcBef>
                <a:spcPts val="350"/>
              </a:spcBef>
              <a:spcAft>
                <a:spcPts val="0"/>
              </a:spcAft>
              <a:buClr>
                <a:schemeClr val="dk1"/>
              </a:buClr>
              <a:buSzPct val="100000"/>
              <a:buNone/>
            </a:pPr>
            <a:endParaRPr/>
          </a:p>
          <a:p>
            <a:pPr marL="742950" lvl="1" indent="-174625" algn="l" rtl="0">
              <a:spcBef>
                <a:spcPts val="350"/>
              </a:spcBef>
              <a:spcAft>
                <a:spcPts val="0"/>
              </a:spcAft>
              <a:buClr>
                <a:schemeClr val="dk1"/>
              </a:buClr>
              <a:buSzPct val="100000"/>
              <a:buNone/>
            </a:pPr>
            <a:endParaRPr/>
          </a:p>
          <a:p>
            <a:pPr marL="742950" lvl="1" indent="-174625" algn="l" rtl="0">
              <a:spcBef>
                <a:spcPts val="350"/>
              </a:spcBef>
              <a:spcAft>
                <a:spcPts val="0"/>
              </a:spcAft>
              <a:buClr>
                <a:schemeClr val="dk1"/>
              </a:buClr>
              <a:buSzPct val="100000"/>
              <a:buNone/>
            </a:pPr>
            <a:endParaRPr/>
          </a:p>
          <a:p>
            <a:pPr marL="742950" lvl="1" indent="-174625" algn="l" rtl="0">
              <a:spcBef>
                <a:spcPts val="350"/>
              </a:spcBef>
              <a:spcAft>
                <a:spcPts val="0"/>
              </a:spcAft>
              <a:buClr>
                <a:schemeClr val="dk1"/>
              </a:buClr>
              <a:buSzPct val="100000"/>
              <a:buNone/>
            </a:pPr>
            <a:endParaRPr/>
          </a:p>
          <a:p>
            <a:pPr marL="742950" lvl="1" indent="-285750" algn="l" rtl="0">
              <a:spcBef>
                <a:spcPts val="350"/>
              </a:spcBef>
              <a:spcAft>
                <a:spcPts val="0"/>
              </a:spcAft>
              <a:buClr>
                <a:schemeClr val="dk1"/>
              </a:buClr>
              <a:buSzPct val="100000"/>
              <a:buChar char="–"/>
            </a:pPr>
            <a:r>
              <a:rPr lang="en-US"/>
              <a:t>Step 5: You may want to copy and paste the table </a:t>
            </a:r>
            <a:r>
              <a:rPr lang="en-US" b="1" i="1"/>
              <a:t>values</a:t>
            </a:r>
            <a:r>
              <a:rPr lang="en-US"/>
              <a:t> to a different part of the spreadsheet, and then highlight the calculated numbers on the table (cells C12:C511 in the example above, right-click, and click on “Clear Contents” – this will delete the original table and save unnecessary time-consuming calculations (note that Excel recalculates active tables every time you make a change in any cell).</a:t>
            </a:r>
            <a:endParaRPr/>
          </a:p>
        </p:txBody>
      </p:sp>
      <p:pic>
        <p:nvPicPr>
          <p:cNvPr id="308" name="Google Shape;308;p17" descr="C:\docs\My Pictures\Microsoft Clip Organizer\Science\j0254443.gif"/>
          <p:cNvPicPr preferRelativeResize="0"/>
          <p:nvPr/>
        </p:nvPicPr>
        <p:blipFill rotWithShape="1">
          <a:blip r:embed="rId3">
            <a:alphaModFix/>
          </a:blip>
          <a:srcRect/>
          <a:stretch/>
        </p:blipFill>
        <p:spPr>
          <a:xfrm>
            <a:off x="189357" y="48768"/>
            <a:ext cx="860673" cy="853440"/>
          </a:xfrm>
          <a:prstGeom prst="rect">
            <a:avLst/>
          </a:prstGeom>
          <a:noFill/>
          <a:ln>
            <a:noFill/>
          </a:ln>
        </p:spPr>
      </p:pic>
      <p:pic>
        <p:nvPicPr>
          <p:cNvPr id="309" name="Google Shape;309;p17"/>
          <p:cNvPicPr preferRelativeResize="0"/>
          <p:nvPr/>
        </p:nvPicPr>
        <p:blipFill rotWithShape="1">
          <a:blip r:embed="rId4">
            <a:alphaModFix/>
          </a:blip>
          <a:srcRect/>
          <a:stretch/>
        </p:blipFill>
        <p:spPr>
          <a:xfrm>
            <a:off x="1752600" y="2057400"/>
            <a:ext cx="5490781" cy="235160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
                                            <p:txEl>
                                              <p:pRg st="0" end="0"/>
                                            </p:txEl>
                                          </p:spTgt>
                                        </p:tgtEl>
                                        <p:attrNameLst>
                                          <p:attrName>style.visibility</p:attrName>
                                        </p:attrNameLst>
                                      </p:cBhvr>
                                      <p:to>
                                        <p:strVal val="visible"/>
                                      </p:to>
                                    </p:set>
                                    <p:animEffect transition="in" filter="fade">
                                      <p:cBhvr>
                                        <p:cTn id="7" dur="500"/>
                                        <p:tgtEl>
                                          <p:spTgt spid="3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7">
                                            <p:txEl>
                                              <p:pRg st="1" end="1"/>
                                            </p:txEl>
                                          </p:spTgt>
                                        </p:tgtEl>
                                        <p:attrNameLst>
                                          <p:attrName>style.visibility</p:attrName>
                                        </p:attrNameLst>
                                      </p:cBhvr>
                                      <p:to>
                                        <p:strVal val="visible"/>
                                      </p:to>
                                    </p:set>
                                    <p:animEffect transition="in" filter="fade">
                                      <p:cBhvr>
                                        <p:cTn id="12" dur="500"/>
                                        <p:tgtEl>
                                          <p:spTgt spid="3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7">
                                            <p:txEl>
                                              <p:pRg st="2" end="2"/>
                                            </p:txEl>
                                          </p:spTgt>
                                        </p:tgtEl>
                                        <p:attrNameLst>
                                          <p:attrName>style.visibility</p:attrName>
                                        </p:attrNameLst>
                                      </p:cBhvr>
                                      <p:to>
                                        <p:strVal val="visible"/>
                                      </p:to>
                                    </p:set>
                                    <p:animEffect transition="in" filter="fade">
                                      <p:cBhvr>
                                        <p:cTn id="17" dur="500"/>
                                        <p:tgtEl>
                                          <p:spTgt spid="3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7">
                                            <p:txEl>
                                              <p:pRg st="3" end="3"/>
                                            </p:txEl>
                                          </p:spTgt>
                                        </p:tgtEl>
                                        <p:attrNameLst>
                                          <p:attrName>style.visibility</p:attrName>
                                        </p:attrNameLst>
                                      </p:cBhvr>
                                      <p:to>
                                        <p:strVal val="visible"/>
                                      </p:to>
                                    </p:set>
                                    <p:animEffect transition="in" filter="fade">
                                      <p:cBhvr>
                                        <p:cTn id="22" dur="500"/>
                                        <p:tgtEl>
                                          <p:spTgt spid="30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7">
                                            <p:txEl>
                                              <p:pRg st="4" end="4"/>
                                            </p:txEl>
                                          </p:spTgt>
                                        </p:tgtEl>
                                        <p:attrNameLst>
                                          <p:attrName>style.visibility</p:attrName>
                                        </p:attrNameLst>
                                      </p:cBhvr>
                                      <p:to>
                                        <p:strVal val="visible"/>
                                      </p:to>
                                    </p:set>
                                    <p:animEffect transition="in" filter="fade">
                                      <p:cBhvr>
                                        <p:cTn id="27" dur="500"/>
                                        <p:tgtEl>
                                          <p:spTgt spid="30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7">
                                            <p:txEl>
                                              <p:pRg st="5" end="5"/>
                                            </p:txEl>
                                          </p:spTgt>
                                        </p:tgtEl>
                                        <p:attrNameLst>
                                          <p:attrName>style.visibility</p:attrName>
                                        </p:attrNameLst>
                                      </p:cBhvr>
                                      <p:to>
                                        <p:strVal val="visible"/>
                                      </p:to>
                                    </p:set>
                                    <p:animEffect transition="in" filter="fade">
                                      <p:cBhvr>
                                        <p:cTn id="32" dur="500"/>
                                        <p:tgtEl>
                                          <p:spTgt spid="30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7">
                                            <p:txEl>
                                              <p:pRg st="6" end="6"/>
                                            </p:txEl>
                                          </p:spTgt>
                                        </p:tgtEl>
                                        <p:attrNameLst>
                                          <p:attrName>style.visibility</p:attrName>
                                        </p:attrNameLst>
                                      </p:cBhvr>
                                      <p:to>
                                        <p:strVal val="visible"/>
                                      </p:to>
                                    </p:set>
                                    <p:animEffect transition="in" filter="fade">
                                      <p:cBhvr>
                                        <p:cTn id="37" dur="500"/>
                                        <p:tgtEl>
                                          <p:spTgt spid="30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7">
                                            <p:txEl>
                                              <p:pRg st="7" end="7"/>
                                            </p:txEl>
                                          </p:spTgt>
                                        </p:tgtEl>
                                        <p:attrNameLst>
                                          <p:attrName>style.visibility</p:attrName>
                                        </p:attrNameLst>
                                      </p:cBhvr>
                                      <p:to>
                                        <p:strVal val="visible"/>
                                      </p:to>
                                    </p:set>
                                    <p:animEffect transition="in" filter="fade">
                                      <p:cBhvr>
                                        <p:cTn id="42" dur="500"/>
                                        <p:tgtEl>
                                          <p:spTgt spid="30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07">
                                            <p:txEl>
                                              <p:pRg st="8" end="8"/>
                                            </p:txEl>
                                          </p:spTgt>
                                        </p:tgtEl>
                                        <p:attrNameLst>
                                          <p:attrName>style.visibility</p:attrName>
                                        </p:attrNameLst>
                                      </p:cBhvr>
                                      <p:to>
                                        <p:strVal val="visible"/>
                                      </p:to>
                                    </p:set>
                                    <p:animEffect transition="in" filter="fade">
                                      <p:cBhvr>
                                        <p:cTn id="47" dur="500"/>
                                        <p:tgtEl>
                                          <p:spTgt spid="307">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07">
                                            <p:txEl>
                                              <p:pRg st="9" end="9"/>
                                            </p:txEl>
                                          </p:spTgt>
                                        </p:tgtEl>
                                        <p:attrNameLst>
                                          <p:attrName>style.visibility</p:attrName>
                                        </p:attrNameLst>
                                      </p:cBhvr>
                                      <p:to>
                                        <p:strVal val="visible"/>
                                      </p:to>
                                    </p:set>
                                    <p:animEffect transition="in" filter="fade">
                                      <p:cBhvr>
                                        <p:cTn id="52" dur="500"/>
                                        <p:tgtEl>
                                          <p:spTgt spid="307">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07">
                                            <p:txEl>
                                              <p:pRg st="10" end="10"/>
                                            </p:txEl>
                                          </p:spTgt>
                                        </p:tgtEl>
                                        <p:attrNameLst>
                                          <p:attrName>style.visibility</p:attrName>
                                        </p:attrNameLst>
                                      </p:cBhvr>
                                      <p:to>
                                        <p:strVal val="visible"/>
                                      </p:to>
                                    </p:set>
                                    <p:animEffect transition="in" filter="fade">
                                      <p:cBhvr>
                                        <p:cTn id="57" dur="500"/>
                                        <p:tgtEl>
                                          <p:spTgt spid="307">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07">
                                            <p:txEl>
                                              <p:pRg st="11" end="11"/>
                                            </p:txEl>
                                          </p:spTgt>
                                        </p:tgtEl>
                                        <p:attrNameLst>
                                          <p:attrName>style.visibility</p:attrName>
                                        </p:attrNameLst>
                                      </p:cBhvr>
                                      <p:to>
                                        <p:strVal val="visible"/>
                                      </p:to>
                                    </p:set>
                                    <p:animEffect transition="in" filter="fade">
                                      <p:cBhvr>
                                        <p:cTn id="62" dur="500"/>
                                        <p:tgtEl>
                                          <p:spTgt spid="307">
                                            <p:txEl>
                                              <p:pRg st="11" end="11"/>
                                            </p:txEl>
                                          </p:spTgt>
                                        </p:tgtEl>
                                      </p:cBhvr>
                                    </p:animEffect>
                                  </p:childTnLst>
                                </p:cTn>
                              </p:par>
                              <p:par>
                                <p:cTn id="63" presetID="10" presetClass="entr" presetSubtype="0" fill="hold" nodeType="withEffect">
                                  <p:stCondLst>
                                    <p:cond delay="0"/>
                                  </p:stCondLst>
                                  <p:childTnLst>
                                    <p:set>
                                      <p:cBhvr>
                                        <p:cTn id="64" dur="1" fill="hold">
                                          <p:stCondLst>
                                            <p:cond delay="0"/>
                                          </p:stCondLst>
                                        </p:cTn>
                                        <p:tgtEl>
                                          <p:spTgt spid="309"/>
                                        </p:tgtEl>
                                        <p:attrNameLst>
                                          <p:attrName>style.visibility</p:attrName>
                                        </p:attrNameLst>
                                      </p:cBhvr>
                                      <p:to>
                                        <p:strVal val="visible"/>
                                      </p:to>
                                    </p:set>
                                    <p:animEffect transition="in" filter="fade">
                                      <p:cBhvr>
                                        <p:cTn id="65" dur="5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Estimation via Simulation (cont.)</a:t>
            </a:r>
            <a:endParaRPr sz="2000"/>
          </a:p>
        </p:txBody>
      </p:sp>
      <p:sp>
        <p:nvSpPr>
          <p:cNvPr id="315" name="Google Shape;315;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742950" lvl="1" indent="-285750" algn="l" rtl="0">
              <a:spcBef>
                <a:spcPts val="0"/>
              </a:spcBef>
              <a:spcAft>
                <a:spcPts val="0"/>
              </a:spcAft>
              <a:buClr>
                <a:schemeClr val="dk1"/>
              </a:buClr>
              <a:buSzPct val="100000"/>
              <a:buChar char="–"/>
            </a:pPr>
            <a:r>
              <a:rPr lang="en-US"/>
              <a:t>Step 6: Calculating summary statistics</a:t>
            </a:r>
            <a:endParaRPr/>
          </a:p>
          <a:p>
            <a:pPr marL="742950" lvl="1" indent="-121284" algn="l" rtl="0">
              <a:spcBef>
                <a:spcPts val="518"/>
              </a:spcBef>
              <a:spcAft>
                <a:spcPts val="0"/>
              </a:spcAft>
              <a:buClr>
                <a:schemeClr val="dk1"/>
              </a:buClr>
              <a:buSzPct val="100000"/>
              <a:buNone/>
            </a:pPr>
            <a:endParaRPr/>
          </a:p>
          <a:p>
            <a:pPr marL="742950" lvl="1" indent="-121284" algn="l" rtl="0">
              <a:spcBef>
                <a:spcPts val="518"/>
              </a:spcBef>
              <a:spcAft>
                <a:spcPts val="0"/>
              </a:spcAft>
              <a:buClr>
                <a:schemeClr val="dk1"/>
              </a:buClr>
              <a:buSzPct val="100000"/>
              <a:buNone/>
            </a:pPr>
            <a:endParaRPr/>
          </a:p>
          <a:p>
            <a:pPr marL="742950" lvl="1" indent="-121284" algn="l" rtl="0">
              <a:spcBef>
                <a:spcPts val="518"/>
              </a:spcBef>
              <a:spcAft>
                <a:spcPts val="0"/>
              </a:spcAft>
              <a:buClr>
                <a:schemeClr val="dk1"/>
              </a:buClr>
              <a:buSzPct val="100000"/>
              <a:buNone/>
            </a:pPr>
            <a:endParaRPr/>
          </a:p>
          <a:p>
            <a:pPr marL="742950" lvl="1" indent="-121284" algn="l" rtl="0">
              <a:spcBef>
                <a:spcPts val="518"/>
              </a:spcBef>
              <a:spcAft>
                <a:spcPts val="0"/>
              </a:spcAft>
              <a:buClr>
                <a:schemeClr val="dk1"/>
              </a:buClr>
              <a:buSzPct val="100000"/>
              <a:buNone/>
            </a:pPr>
            <a:endParaRPr/>
          </a:p>
          <a:p>
            <a:pPr marL="742950" lvl="1" indent="-121284" algn="l" rtl="0">
              <a:spcBef>
                <a:spcPts val="518"/>
              </a:spcBef>
              <a:spcAft>
                <a:spcPts val="0"/>
              </a:spcAft>
              <a:buClr>
                <a:schemeClr val="dk1"/>
              </a:buClr>
              <a:buSzPct val="100000"/>
              <a:buNone/>
            </a:pPr>
            <a:endParaRPr/>
          </a:p>
          <a:p>
            <a:pPr marL="742950" lvl="1" indent="-121284" algn="l" rtl="0">
              <a:spcBef>
                <a:spcPts val="518"/>
              </a:spcBef>
              <a:spcAft>
                <a:spcPts val="0"/>
              </a:spcAft>
              <a:buClr>
                <a:schemeClr val="dk1"/>
              </a:buClr>
              <a:buSzPct val="100000"/>
              <a:buNone/>
            </a:pPr>
            <a:endParaRPr/>
          </a:p>
          <a:p>
            <a:pPr marL="742950" lvl="1" indent="-285750" algn="l" rtl="0">
              <a:spcBef>
                <a:spcPts val="518"/>
              </a:spcBef>
              <a:spcAft>
                <a:spcPts val="0"/>
              </a:spcAft>
              <a:buClr>
                <a:schemeClr val="dk1"/>
              </a:buClr>
              <a:buSzPct val="100000"/>
              <a:buChar char="–"/>
            </a:pPr>
            <a:r>
              <a:rPr lang="en-US"/>
              <a:t>Step 7: A histogram shows the </a:t>
            </a:r>
            <a:r>
              <a:rPr lang="en-US" b="1" i="1"/>
              <a:t>estimated</a:t>
            </a:r>
            <a:r>
              <a:rPr lang="en-US"/>
              <a:t> distribution of the values that your metric (end-of-game amount, in our example) takes.</a:t>
            </a:r>
            <a:endParaRPr/>
          </a:p>
        </p:txBody>
      </p:sp>
      <p:pic>
        <p:nvPicPr>
          <p:cNvPr id="316" name="Google Shape;316;p18" descr="C:\docs\My Pictures\Microsoft Clip Organizer\Science\j0254443.gif"/>
          <p:cNvPicPr preferRelativeResize="0"/>
          <p:nvPr/>
        </p:nvPicPr>
        <p:blipFill rotWithShape="1">
          <a:blip r:embed="rId3">
            <a:alphaModFix/>
          </a:blip>
          <a:srcRect/>
          <a:stretch/>
        </p:blipFill>
        <p:spPr>
          <a:xfrm>
            <a:off x="189357" y="48768"/>
            <a:ext cx="860673" cy="853440"/>
          </a:xfrm>
          <a:prstGeom prst="rect">
            <a:avLst/>
          </a:prstGeom>
          <a:noFill/>
          <a:ln>
            <a:noFill/>
          </a:ln>
        </p:spPr>
      </p:pic>
      <p:grpSp>
        <p:nvGrpSpPr>
          <p:cNvPr id="317" name="Google Shape;317;p18"/>
          <p:cNvGrpSpPr/>
          <p:nvPr/>
        </p:nvGrpSpPr>
        <p:grpSpPr>
          <a:xfrm>
            <a:off x="866775" y="2209800"/>
            <a:ext cx="7789545" cy="1950720"/>
            <a:chOff x="574167" y="1865376"/>
            <a:chExt cx="7958328" cy="2026539"/>
          </a:xfrm>
        </p:grpSpPr>
        <p:pic>
          <p:nvPicPr>
            <p:cNvPr id="318" name="Google Shape;318;p18"/>
            <p:cNvPicPr preferRelativeResize="0"/>
            <p:nvPr/>
          </p:nvPicPr>
          <p:blipFill rotWithShape="1">
            <a:blip r:embed="rId4">
              <a:alphaModFix/>
            </a:blip>
            <a:srcRect/>
            <a:stretch/>
          </p:blipFill>
          <p:spPr>
            <a:xfrm>
              <a:off x="574167" y="2234565"/>
              <a:ext cx="2533650" cy="1657350"/>
            </a:xfrm>
            <a:prstGeom prst="rect">
              <a:avLst/>
            </a:prstGeom>
            <a:noFill/>
            <a:ln>
              <a:noFill/>
            </a:ln>
          </p:spPr>
        </p:pic>
        <p:grpSp>
          <p:nvGrpSpPr>
            <p:cNvPr id="319" name="Google Shape;319;p18"/>
            <p:cNvGrpSpPr/>
            <p:nvPr/>
          </p:nvGrpSpPr>
          <p:grpSpPr>
            <a:xfrm>
              <a:off x="3293745" y="1865376"/>
              <a:ext cx="5238750" cy="2023872"/>
              <a:chOff x="3293745" y="1865376"/>
              <a:chExt cx="5238750" cy="2023872"/>
            </a:xfrm>
          </p:grpSpPr>
          <p:pic>
            <p:nvPicPr>
              <p:cNvPr id="320" name="Google Shape;320;p18"/>
              <p:cNvPicPr preferRelativeResize="0"/>
              <p:nvPr/>
            </p:nvPicPr>
            <p:blipFill rotWithShape="1">
              <a:blip r:embed="rId5">
                <a:alphaModFix/>
              </a:blip>
              <a:srcRect/>
              <a:stretch/>
            </p:blipFill>
            <p:spPr>
              <a:xfrm>
                <a:off x="3293745" y="2212848"/>
                <a:ext cx="5238750" cy="1676400"/>
              </a:xfrm>
              <a:prstGeom prst="rect">
                <a:avLst/>
              </a:prstGeom>
              <a:noFill/>
              <a:ln w="9525" cap="flat" cmpd="sng">
                <a:solidFill>
                  <a:srgbClr val="FF0000"/>
                </a:solidFill>
                <a:prstDash val="solid"/>
                <a:miter lim="800000"/>
                <a:headEnd type="none" w="sm" len="sm"/>
                <a:tailEnd type="none" w="sm" len="sm"/>
              </a:ln>
            </p:spPr>
          </p:pic>
          <p:sp>
            <p:nvSpPr>
              <p:cNvPr id="321" name="Google Shape;321;p18"/>
              <p:cNvSpPr txBox="1"/>
              <p:nvPr/>
            </p:nvSpPr>
            <p:spPr>
              <a:xfrm>
                <a:off x="4913376" y="1865376"/>
                <a:ext cx="2145139" cy="338554"/>
              </a:xfrm>
              <a:prstGeom prst="rect">
                <a:avLst/>
              </a:prstGeom>
              <a:no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u="sng">
                    <a:solidFill>
                      <a:schemeClr val="dk1"/>
                    </a:solidFill>
                    <a:latin typeface="Calibri"/>
                    <a:ea typeface="Calibri"/>
                    <a:cs typeface="Calibri"/>
                    <a:sym typeface="Calibri"/>
                  </a:rPr>
                  <a:t>Formula Presentation</a:t>
                </a:r>
                <a:endParaRPr/>
              </a:p>
            </p:txBody>
          </p:sp>
        </p:grpSp>
      </p:grpSp>
      <p:grpSp>
        <p:nvGrpSpPr>
          <p:cNvPr id="322" name="Google Shape;322;p18"/>
          <p:cNvGrpSpPr/>
          <p:nvPr/>
        </p:nvGrpSpPr>
        <p:grpSpPr>
          <a:xfrm>
            <a:off x="896874" y="4267200"/>
            <a:ext cx="7771638" cy="2233994"/>
            <a:chOff x="896874" y="4267200"/>
            <a:chExt cx="7771638" cy="2233994"/>
          </a:xfrm>
        </p:grpSpPr>
        <p:pic>
          <p:nvPicPr>
            <p:cNvPr id="323" name="Google Shape;323;p18"/>
            <p:cNvPicPr preferRelativeResize="0"/>
            <p:nvPr/>
          </p:nvPicPr>
          <p:blipFill rotWithShape="1">
            <a:blip r:embed="rId6">
              <a:alphaModFix/>
            </a:blip>
            <a:srcRect/>
            <a:stretch/>
          </p:blipFill>
          <p:spPr>
            <a:xfrm>
              <a:off x="896874" y="4272251"/>
              <a:ext cx="7637526" cy="2228943"/>
            </a:xfrm>
            <a:prstGeom prst="rect">
              <a:avLst/>
            </a:prstGeom>
            <a:noFill/>
            <a:ln>
              <a:noFill/>
            </a:ln>
          </p:spPr>
        </p:pic>
        <p:sp>
          <p:nvSpPr>
            <p:cNvPr id="324" name="Google Shape;324;p18"/>
            <p:cNvSpPr/>
            <p:nvPr/>
          </p:nvSpPr>
          <p:spPr>
            <a:xfrm>
              <a:off x="902208" y="4267200"/>
              <a:ext cx="414528" cy="28041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5" name="Google Shape;325;p18"/>
            <p:cNvSpPr/>
            <p:nvPr/>
          </p:nvSpPr>
          <p:spPr>
            <a:xfrm>
              <a:off x="7552944" y="4456176"/>
              <a:ext cx="1005840" cy="31089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6" name="Google Shape;326;p18"/>
            <p:cNvSpPr/>
            <p:nvPr/>
          </p:nvSpPr>
          <p:spPr>
            <a:xfrm>
              <a:off x="5071872" y="6181344"/>
              <a:ext cx="1005840" cy="310896"/>
            </a:xfrm>
            <a:prstGeom prst="ellipse">
              <a:avLst/>
            </a:prstGeom>
            <a:noFill/>
            <a:ln w="381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7" name="Google Shape;327;p18"/>
            <p:cNvSpPr/>
            <p:nvPr/>
          </p:nvSpPr>
          <p:spPr>
            <a:xfrm>
              <a:off x="1194816" y="5023104"/>
              <a:ext cx="1389888" cy="804672"/>
            </a:xfrm>
            <a:prstGeom prst="wedgeRoundRectCallout">
              <a:avLst>
                <a:gd name="adj1" fmla="val -50658"/>
                <a:gd name="adj2" fmla="val -105682"/>
                <a:gd name="adj3" fmla="val 16667"/>
              </a:avLst>
            </a:prstGeom>
            <a:solidFill>
              <a:srgbClr val="FFFF99"/>
            </a:solid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1. Click on the Data tab</a:t>
              </a:r>
              <a:endParaRPr/>
            </a:p>
          </p:txBody>
        </p:sp>
        <p:sp>
          <p:nvSpPr>
            <p:cNvPr id="328" name="Google Shape;328;p18"/>
            <p:cNvSpPr/>
            <p:nvPr/>
          </p:nvSpPr>
          <p:spPr>
            <a:xfrm>
              <a:off x="4651248" y="4724400"/>
              <a:ext cx="1389888" cy="804672"/>
            </a:xfrm>
            <a:prstGeom prst="wedgeRoundRectCallout">
              <a:avLst>
                <a:gd name="adj1" fmla="val 158990"/>
                <a:gd name="adj2" fmla="val -61742"/>
                <a:gd name="adj3" fmla="val 16667"/>
              </a:avLst>
            </a:prstGeom>
            <a:solidFill>
              <a:srgbClr val="FFFF99"/>
            </a:solid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2. Click on the Data Analysis button</a:t>
              </a:r>
              <a:endParaRPr/>
            </a:p>
          </p:txBody>
        </p:sp>
        <p:sp>
          <p:nvSpPr>
            <p:cNvPr id="329" name="Google Shape;329;p18"/>
            <p:cNvSpPr/>
            <p:nvPr/>
          </p:nvSpPr>
          <p:spPr>
            <a:xfrm>
              <a:off x="6754368" y="5754624"/>
              <a:ext cx="1914144" cy="426720"/>
            </a:xfrm>
            <a:prstGeom prst="wedgeRoundRectCallout">
              <a:avLst>
                <a:gd name="adj1" fmla="val -87744"/>
                <a:gd name="adj2" fmla="val 70292"/>
                <a:gd name="adj3" fmla="val 16667"/>
              </a:avLst>
            </a:prstGeom>
            <a:solidFill>
              <a:srgbClr val="FFFF99"/>
            </a:solidFill>
            <a:ln w="38100"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3. Select Histogram</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5">
                                            <p:txEl>
                                              <p:pRg st="0" end="0"/>
                                            </p:txEl>
                                          </p:spTgt>
                                        </p:tgtEl>
                                        <p:attrNameLst>
                                          <p:attrName>style.visibility</p:attrName>
                                        </p:attrNameLst>
                                      </p:cBhvr>
                                      <p:to>
                                        <p:strVal val="visible"/>
                                      </p:to>
                                    </p:set>
                                    <p:animEffect transition="in" filter="fade">
                                      <p:cBhvr>
                                        <p:cTn id="7" dur="500"/>
                                        <p:tgtEl>
                                          <p:spTgt spid="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5">
                                            <p:txEl>
                                              <p:pRg st="1" end="1"/>
                                            </p:txEl>
                                          </p:spTgt>
                                        </p:tgtEl>
                                        <p:attrNameLst>
                                          <p:attrName>style.visibility</p:attrName>
                                        </p:attrNameLst>
                                      </p:cBhvr>
                                      <p:to>
                                        <p:strVal val="visible"/>
                                      </p:to>
                                    </p:set>
                                    <p:animEffect transition="in" filter="fade">
                                      <p:cBhvr>
                                        <p:cTn id="12" dur="500"/>
                                        <p:tgtEl>
                                          <p:spTgt spid="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5">
                                            <p:txEl>
                                              <p:pRg st="2" end="2"/>
                                            </p:txEl>
                                          </p:spTgt>
                                        </p:tgtEl>
                                        <p:attrNameLst>
                                          <p:attrName>style.visibility</p:attrName>
                                        </p:attrNameLst>
                                      </p:cBhvr>
                                      <p:to>
                                        <p:strVal val="visible"/>
                                      </p:to>
                                    </p:set>
                                    <p:animEffect transition="in" filter="fade">
                                      <p:cBhvr>
                                        <p:cTn id="17" dur="500"/>
                                        <p:tgtEl>
                                          <p:spTgt spid="31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5">
                                            <p:txEl>
                                              <p:pRg st="3" end="3"/>
                                            </p:txEl>
                                          </p:spTgt>
                                        </p:tgtEl>
                                        <p:attrNameLst>
                                          <p:attrName>style.visibility</p:attrName>
                                        </p:attrNameLst>
                                      </p:cBhvr>
                                      <p:to>
                                        <p:strVal val="visible"/>
                                      </p:to>
                                    </p:set>
                                    <p:animEffect transition="in" filter="fade">
                                      <p:cBhvr>
                                        <p:cTn id="22" dur="500"/>
                                        <p:tgtEl>
                                          <p:spTgt spid="31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5">
                                            <p:txEl>
                                              <p:pRg st="4" end="4"/>
                                            </p:txEl>
                                          </p:spTgt>
                                        </p:tgtEl>
                                        <p:attrNameLst>
                                          <p:attrName>style.visibility</p:attrName>
                                        </p:attrNameLst>
                                      </p:cBhvr>
                                      <p:to>
                                        <p:strVal val="visible"/>
                                      </p:to>
                                    </p:set>
                                    <p:animEffect transition="in" filter="fade">
                                      <p:cBhvr>
                                        <p:cTn id="27" dur="500"/>
                                        <p:tgtEl>
                                          <p:spTgt spid="31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5">
                                            <p:txEl>
                                              <p:pRg st="5" end="5"/>
                                            </p:txEl>
                                          </p:spTgt>
                                        </p:tgtEl>
                                        <p:attrNameLst>
                                          <p:attrName>style.visibility</p:attrName>
                                        </p:attrNameLst>
                                      </p:cBhvr>
                                      <p:to>
                                        <p:strVal val="visible"/>
                                      </p:to>
                                    </p:set>
                                    <p:animEffect transition="in" filter="fade">
                                      <p:cBhvr>
                                        <p:cTn id="32" dur="500"/>
                                        <p:tgtEl>
                                          <p:spTgt spid="31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15">
                                            <p:txEl>
                                              <p:pRg st="6" end="6"/>
                                            </p:txEl>
                                          </p:spTgt>
                                        </p:tgtEl>
                                        <p:attrNameLst>
                                          <p:attrName>style.visibility</p:attrName>
                                        </p:attrNameLst>
                                      </p:cBhvr>
                                      <p:to>
                                        <p:strVal val="visible"/>
                                      </p:to>
                                    </p:set>
                                    <p:animEffect transition="in" filter="fade">
                                      <p:cBhvr>
                                        <p:cTn id="37" dur="500"/>
                                        <p:tgtEl>
                                          <p:spTgt spid="31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15">
                                            <p:txEl>
                                              <p:pRg st="7" end="7"/>
                                            </p:txEl>
                                          </p:spTgt>
                                        </p:tgtEl>
                                        <p:attrNameLst>
                                          <p:attrName>style.visibility</p:attrName>
                                        </p:attrNameLst>
                                      </p:cBhvr>
                                      <p:to>
                                        <p:strVal val="visible"/>
                                      </p:to>
                                    </p:set>
                                    <p:animEffect transition="in" filter="fade">
                                      <p:cBhvr>
                                        <p:cTn id="42" dur="500"/>
                                        <p:tgtEl>
                                          <p:spTgt spid="315">
                                            <p:txEl>
                                              <p:pRg st="7" end="7"/>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317"/>
                                        </p:tgtEl>
                                        <p:attrNameLst>
                                          <p:attrName>style.visibility</p:attrName>
                                        </p:attrNameLst>
                                      </p:cBhvr>
                                      <p:to>
                                        <p:strVal val="visible"/>
                                      </p:to>
                                    </p:set>
                                    <p:animEffect transition="in" filter="fade">
                                      <p:cBhvr>
                                        <p:cTn id="45" dur="500"/>
                                        <p:tgtEl>
                                          <p:spTgt spid="31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22"/>
                                        </p:tgtEl>
                                        <p:attrNameLst>
                                          <p:attrName>style.visibility</p:attrName>
                                        </p:attrNameLst>
                                      </p:cBhvr>
                                      <p:to>
                                        <p:strVal val="visible"/>
                                      </p:to>
                                    </p:set>
                                    <p:animEffect transition="in" filter="fade">
                                      <p:cBhvr>
                                        <p:cTn id="50" dur="500"/>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19"/>
          <p:cNvSpPr txBox="1">
            <a:spLocks noGrp="1"/>
          </p:cNvSpPr>
          <p:nvPr>
            <p:ph type="title"/>
          </p:nvPr>
        </p:nvSpPr>
        <p:spPr>
          <a:xfrm>
            <a:off x="457200" y="152400"/>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 Histogram of Outcomes</a:t>
            </a:r>
            <a:endParaRPr/>
          </a:p>
        </p:txBody>
      </p:sp>
      <p:pic>
        <p:nvPicPr>
          <p:cNvPr id="335" name="Google Shape;335;p19" descr="C:\docs\My Pictures\Microsoft Clip Organizer\Charts &amp; Stats\j0431584.png"/>
          <p:cNvPicPr preferRelativeResize="0"/>
          <p:nvPr/>
        </p:nvPicPr>
        <p:blipFill rotWithShape="1">
          <a:blip r:embed="rId3">
            <a:alphaModFix/>
          </a:blip>
          <a:srcRect/>
          <a:stretch/>
        </p:blipFill>
        <p:spPr>
          <a:xfrm>
            <a:off x="121793" y="12192"/>
            <a:ext cx="914844" cy="914844"/>
          </a:xfrm>
          <a:prstGeom prst="rect">
            <a:avLst/>
          </a:prstGeom>
          <a:noFill/>
          <a:ln>
            <a:noFill/>
          </a:ln>
        </p:spPr>
      </p:pic>
      <p:pic>
        <p:nvPicPr>
          <p:cNvPr id="336" name="Google Shape;336;p19"/>
          <p:cNvPicPr preferRelativeResize="0"/>
          <p:nvPr/>
        </p:nvPicPr>
        <p:blipFill rotWithShape="1">
          <a:blip r:embed="rId4">
            <a:alphaModFix/>
          </a:blip>
          <a:srcRect/>
          <a:stretch/>
        </p:blipFill>
        <p:spPr>
          <a:xfrm>
            <a:off x="570738" y="1146047"/>
            <a:ext cx="7780782" cy="5278191"/>
          </a:xfrm>
          <a:prstGeom prst="rect">
            <a:avLst/>
          </a:prstGeom>
          <a:noFill/>
          <a:ln>
            <a:noFill/>
          </a:ln>
        </p:spPr>
      </p:pic>
      <p:sp>
        <p:nvSpPr>
          <p:cNvPr id="337" name="Google Shape;337;p19"/>
          <p:cNvSpPr txBox="1"/>
          <p:nvPr/>
        </p:nvSpPr>
        <p:spPr>
          <a:xfrm>
            <a:off x="3255264" y="1755648"/>
            <a:ext cx="4948791"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Left columns = statistical sampling (simulation)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Right columns = theoretical</a:t>
            </a:r>
            <a:endParaRPr/>
          </a:p>
        </p:txBody>
      </p:sp>
      <p:sp>
        <p:nvSpPr>
          <p:cNvPr id="338" name="Google Shape;338;p19"/>
          <p:cNvSpPr/>
          <p:nvPr/>
        </p:nvSpPr>
        <p:spPr>
          <a:xfrm>
            <a:off x="5218176" y="2840736"/>
            <a:ext cx="3377184" cy="950976"/>
          </a:xfrm>
          <a:prstGeom prst="wedgeRoundRectCallout">
            <a:avLst>
              <a:gd name="adj1" fmla="val -40892"/>
              <a:gd name="adj2" fmla="val -100017"/>
              <a:gd name="adj3" fmla="val 16667"/>
            </a:avLst>
          </a:prstGeom>
          <a:solidFill>
            <a:srgbClr val="FFFF99"/>
          </a:solidFill>
          <a:ln w="38100" cap="flat" cmpd="sng">
            <a:solidFill>
              <a:srgbClr val="D9959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1"/>
                </a:solidFill>
                <a:latin typeface="Calibri"/>
                <a:ea typeface="Calibri"/>
                <a:cs typeface="Calibri"/>
                <a:sym typeface="Calibri"/>
              </a:rPr>
              <a:t>Obviously, you are not expected to calculate the theoretical values. If you could do that, there would (generally) be no point in conducting a simulation.</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20"/>
          <p:cNvSpPr txBox="1">
            <a:spLocks noGrp="1"/>
          </p:cNvSpPr>
          <p:nvPr>
            <p:ph type="title"/>
          </p:nvPr>
        </p:nvSpPr>
        <p:spPr>
          <a:xfrm>
            <a:off x="1219200" y="274638"/>
            <a:ext cx="7467600" cy="7921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Calibri"/>
              <a:buNone/>
            </a:pPr>
            <a:r>
              <a:rPr lang="en-US" sz="2400"/>
              <a:t>Confidence Intervals</a:t>
            </a:r>
            <a:br>
              <a:rPr lang="en-US" sz="2400"/>
            </a:br>
            <a:r>
              <a:rPr lang="en-US" sz="2400"/>
              <a:t>(Level of confidence = 1 – </a:t>
            </a:r>
            <a:r>
              <a:rPr lang="en-US" sz="2400">
                <a:latin typeface="Noto Sans Symbols"/>
                <a:ea typeface="Noto Sans Symbols"/>
                <a:cs typeface="Noto Sans Symbols"/>
                <a:sym typeface="Noto Sans Symbols"/>
              </a:rPr>
              <a:t>α</a:t>
            </a:r>
            <a:r>
              <a:rPr lang="en-US" sz="2400"/>
              <a:t>)</a:t>
            </a:r>
            <a:endParaRPr/>
          </a:p>
        </p:txBody>
      </p:sp>
      <p:sp>
        <p:nvSpPr>
          <p:cNvPr id="344" name="Google Shape;344;p20"/>
          <p:cNvSpPr txBox="1">
            <a:spLocks noGrp="1"/>
          </p:cNvSpPr>
          <p:nvPr>
            <p:ph type="body" idx="1"/>
          </p:nvPr>
        </p:nvSpPr>
        <p:spPr>
          <a:xfrm>
            <a:off x="457200" y="1066800"/>
            <a:ext cx="8229600" cy="5059363"/>
          </a:xfrm>
          <a:prstGeom prst="rect">
            <a:avLst/>
          </a:prstGeom>
          <a:noFill/>
          <a:ln>
            <a:noFill/>
          </a:ln>
        </p:spPr>
        <p:txBody>
          <a:bodyPr spcFirstLastPara="1" wrap="square" lIns="91425" tIns="45700" rIns="91425" bIns="45700" anchor="t" anchorCtr="0">
            <a:normAutofit/>
          </a:bodyPr>
          <a:lstStyle/>
          <a:p>
            <a:pPr marL="342900" lvl="0" indent="-178117" algn="l" rtl="0">
              <a:lnSpc>
                <a:spcPct val="90000"/>
              </a:lnSpc>
              <a:spcBef>
                <a:spcPts val="0"/>
              </a:spcBef>
              <a:spcAft>
                <a:spcPts val="0"/>
              </a:spcAft>
              <a:buClr>
                <a:schemeClr val="dk1"/>
              </a:buClr>
              <a:buSzPts val="2595"/>
              <a:buNone/>
            </a:pPr>
            <a:endParaRPr sz="2595" b="1"/>
          </a:p>
          <a:p>
            <a:pPr marL="342900" lvl="0" indent="-342900" algn="l" rtl="0">
              <a:lnSpc>
                <a:spcPct val="90000"/>
              </a:lnSpc>
              <a:spcBef>
                <a:spcPts val="519"/>
              </a:spcBef>
              <a:spcAft>
                <a:spcPts val="0"/>
              </a:spcAft>
              <a:buClr>
                <a:schemeClr val="dk1"/>
              </a:buClr>
              <a:buSzPts val="2595"/>
              <a:buChar char="•"/>
            </a:pPr>
            <a:r>
              <a:rPr lang="en-US" sz="2595" b="1"/>
              <a:t>For sample means</a:t>
            </a:r>
            <a:endParaRPr/>
          </a:p>
          <a:p>
            <a:pPr marL="342900" lvl="0" indent="-178117" algn="l" rtl="0">
              <a:lnSpc>
                <a:spcPct val="90000"/>
              </a:lnSpc>
              <a:spcBef>
                <a:spcPts val="519"/>
              </a:spcBef>
              <a:spcAft>
                <a:spcPts val="0"/>
              </a:spcAft>
              <a:buClr>
                <a:schemeClr val="dk1"/>
              </a:buClr>
              <a:buSzPts val="2595"/>
              <a:buNone/>
            </a:pPr>
            <a:endParaRPr sz="2595" b="1"/>
          </a:p>
          <a:p>
            <a:pPr marL="342900" lvl="0" indent="-178117" algn="l" rtl="0">
              <a:lnSpc>
                <a:spcPct val="90000"/>
              </a:lnSpc>
              <a:spcBef>
                <a:spcPts val="519"/>
              </a:spcBef>
              <a:spcAft>
                <a:spcPts val="0"/>
              </a:spcAft>
              <a:buClr>
                <a:schemeClr val="dk1"/>
              </a:buClr>
              <a:buSzPts val="2595"/>
              <a:buNone/>
            </a:pPr>
            <a:endParaRPr sz="2595" b="1"/>
          </a:p>
          <a:p>
            <a:pPr marL="742950" lvl="1" indent="-285750" algn="l" rtl="0">
              <a:lnSpc>
                <a:spcPct val="90000"/>
              </a:lnSpc>
              <a:spcBef>
                <a:spcPts val="360"/>
              </a:spcBef>
              <a:spcAft>
                <a:spcPts val="0"/>
              </a:spcAft>
              <a:buClr>
                <a:schemeClr val="dk1"/>
              </a:buClr>
              <a:buSzPts val="1800"/>
              <a:buChar char="–"/>
            </a:pPr>
            <a:r>
              <a:rPr lang="en-US" sz="1800"/>
              <a:t>For example, for 1-</a:t>
            </a:r>
            <a:r>
              <a:rPr lang="en-US" sz="1800">
                <a:latin typeface="Noto Sans Symbols"/>
                <a:ea typeface="Noto Sans Symbols"/>
                <a:cs typeface="Noto Sans Symbols"/>
                <a:sym typeface="Noto Sans Symbols"/>
              </a:rPr>
              <a:t>α</a:t>
            </a:r>
            <a:r>
              <a:rPr lang="en-US" sz="1800"/>
              <a:t> = 95%, we get z-value = NORMSINV(0.5 + 0.95/2) = 1.96</a:t>
            </a:r>
            <a:endParaRPr/>
          </a:p>
          <a:p>
            <a:pPr marL="742950" lvl="1" indent="-285750" algn="l" rtl="0">
              <a:lnSpc>
                <a:spcPct val="90000"/>
              </a:lnSpc>
              <a:spcBef>
                <a:spcPts val="360"/>
              </a:spcBef>
              <a:spcAft>
                <a:spcPts val="0"/>
              </a:spcAft>
              <a:buClr>
                <a:schemeClr val="dk1"/>
              </a:buClr>
              <a:buSzPts val="1800"/>
              <a:buChar char="–"/>
            </a:pPr>
            <a:r>
              <a:rPr lang="en-US" sz="1800"/>
              <a:t>Also, if n = 100, then m = 7.94; s = 10.96, then</a:t>
            </a:r>
            <a:endParaRPr/>
          </a:p>
          <a:p>
            <a:pPr marL="742950" lvl="1" indent="-171450" algn="l" rtl="0">
              <a:lnSpc>
                <a:spcPct val="90000"/>
              </a:lnSpc>
              <a:spcBef>
                <a:spcPts val="360"/>
              </a:spcBef>
              <a:spcAft>
                <a:spcPts val="0"/>
              </a:spcAft>
              <a:buClr>
                <a:schemeClr val="dk1"/>
              </a:buClr>
              <a:buSzPts val="1800"/>
              <a:buNone/>
            </a:pPr>
            <a:endParaRPr sz="1800"/>
          </a:p>
          <a:p>
            <a:pPr marL="457200" lvl="1" indent="0" algn="ctr" rtl="0">
              <a:lnSpc>
                <a:spcPct val="90000"/>
              </a:lnSpc>
              <a:spcBef>
                <a:spcPts val="400"/>
              </a:spcBef>
              <a:spcAft>
                <a:spcPts val="0"/>
              </a:spcAft>
              <a:buClr>
                <a:schemeClr val="dk1"/>
              </a:buClr>
              <a:buSzPts val="2000"/>
              <a:buNone/>
            </a:pPr>
            <a:r>
              <a:rPr lang="en-US" sz="2000"/>
              <a:t>7.94 - 1.96 × (10.96/√100) ≤ μ ≤ 7.94 + 1.96 × (10.96/√100) </a:t>
            </a:r>
            <a:endParaRPr/>
          </a:p>
          <a:p>
            <a:pPr marL="457200" lvl="1" indent="0" algn="ctr" rtl="0">
              <a:lnSpc>
                <a:spcPct val="90000"/>
              </a:lnSpc>
              <a:spcBef>
                <a:spcPts val="400"/>
              </a:spcBef>
              <a:spcAft>
                <a:spcPts val="0"/>
              </a:spcAft>
              <a:buClr>
                <a:schemeClr val="dk1"/>
              </a:buClr>
              <a:buSzPts val="2000"/>
              <a:buNone/>
            </a:pPr>
            <a:endParaRPr sz="2000"/>
          </a:p>
          <a:p>
            <a:pPr marL="457200" lvl="1" indent="0" algn="ctr" rtl="0">
              <a:lnSpc>
                <a:spcPct val="90000"/>
              </a:lnSpc>
              <a:spcBef>
                <a:spcPts val="400"/>
              </a:spcBef>
              <a:spcAft>
                <a:spcPts val="0"/>
              </a:spcAft>
              <a:buClr>
                <a:schemeClr val="dk1"/>
              </a:buClr>
              <a:buSzPts val="2000"/>
              <a:buNone/>
            </a:pPr>
            <a:r>
              <a:rPr lang="en-US" sz="2000"/>
              <a:t>7.94 – 5.79 ≤ μ ≤ 7.94 + 5.79</a:t>
            </a:r>
            <a:endParaRPr/>
          </a:p>
          <a:p>
            <a:pPr marL="457200" lvl="1" indent="0" algn="ctr" rtl="0">
              <a:lnSpc>
                <a:spcPct val="90000"/>
              </a:lnSpc>
              <a:spcBef>
                <a:spcPts val="400"/>
              </a:spcBef>
              <a:spcAft>
                <a:spcPts val="0"/>
              </a:spcAft>
              <a:buClr>
                <a:schemeClr val="dk1"/>
              </a:buClr>
              <a:buSzPts val="2000"/>
              <a:buNone/>
            </a:pPr>
            <a:endParaRPr sz="2000"/>
          </a:p>
          <a:p>
            <a:pPr marL="457200" lvl="1" indent="0" algn="ctr" rtl="0">
              <a:lnSpc>
                <a:spcPct val="90000"/>
              </a:lnSpc>
              <a:spcBef>
                <a:spcPts val="400"/>
              </a:spcBef>
              <a:spcAft>
                <a:spcPts val="0"/>
              </a:spcAft>
              <a:buClr>
                <a:schemeClr val="dk1"/>
              </a:buClr>
              <a:buSzPts val="2000"/>
              <a:buNone/>
            </a:pPr>
            <a:r>
              <a:rPr lang="en-US" sz="2000"/>
              <a:t>2.15 ≤ μ ≤  13.73</a:t>
            </a:r>
            <a:endParaRPr/>
          </a:p>
          <a:p>
            <a:pPr marL="457200" lvl="1" indent="0" algn="ctr" rtl="0">
              <a:lnSpc>
                <a:spcPct val="90000"/>
              </a:lnSpc>
              <a:spcBef>
                <a:spcPts val="400"/>
              </a:spcBef>
              <a:spcAft>
                <a:spcPts val="0"/>
              </a:spcAft>
              <a:buClr>
                <a:schemeClr val="dk1"/>
              </a:buClr>
              <a:buSzPts val="2000"/>
              <a:buNone/>
            </a:pPr>
            <a:endParaRPr sz="2000"/>
          </a:p>
          <a:p>
            <a:pPr marL="342900" lvl="0" indent="-178117" algn="l" rtl="0">
              <a:lnSpc>
                <a:spcPct val="90000"/>
              </a:lnSpc>
              <a:spcBef>
                <a:spcPts val="519"/>
              </a:spcBef>
              <a:spcAft>
                <a:spcPts val="0"/>
              </a:spcAft>
              <a:buClr>
                <a:schemeClr val="dk1"/>
              </a:buClr>
              <a:buSzPts val="2595"/>
              <a:buNone/>
            </a:pPr>
            <a:endParaRPr sz="2595" b="1"/>
          </a:p>
        </p:txBody>
      </p:sp>
      <p:pic>
        <p:nvPicPr>
          <p:cNvPr id="345" name="Google Shape;345;p20"/>
          <p:cNvPicPr preferRelativeResize="0"/>
          <p:nvPr/>
        </p:nvPicPr>
        <p:blipFill rotWithShape="1">
          <a:blip r:embed="rId3">
            <a:alphaModFix/>
          </a:blip>
          <a:srcRect/>
          <a:stretch/>
        </p:blipFill>
        <p:spPr>
          <a:xfrm>
            <a:off x="2197227" y="2133600"/>
            <a:ext cx="4895850" cy="647700"/>
          </a:xfrm>
          <a:prstGeom prst="rect">
            <a:avLst/>
          </a:prstGeom>
          <a:noFill/>
          <a:ln>
            <a:noFill/>
          </a:ln>
        </p:spPr>
      </p:pic>
      <p:pic>
        <p:nvPicPr>
          <p:cNvPr id="346" name="Google Shape;346;p20" descr="C:\docs\My Pictures\Microsoft Clip Organizer\Charts &amp; Stats\j0390096[1].jpg"/>
          <p:cNvPicPr preferRelativeResize="0"/>
          <p:nvPr/>
        </p:nvPicPr>
        <p:blipFill rotWithShape="1">
          <a:blip r:embed="rId4">
            <a:alphaModFix/>
          </a:blip>
          <a:srcRect/>
          <a:stretch/>
        </p:blipFill>
        <p:spPr>
          <a:xfrm>
            <a:off x="0" y="0"/>
            <a:ext cx="1035729" cy="73903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5"/>
                                        </p:tgtEl>
                                        <p:attrNameLst>
                                          <p:attrName>style.visibility</p:attrName>
                                        </p:attrNameLst>
                                      </p:cBhvr>
                                      <p:to>
                                        <p:strVal val="visible"/>
                                      </p:to>
                                    </p:set>
                                    <p:animEffect transition="in" filter="fade">
                                      <p:cBhvr>
                                        <p:cTn id="7" dur="500"/>
                                        <p:tgtEl>
                                          <p:spTgt spid="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5729</TotalTime>
  <Words>2763</Words>
  <Application>Microsoft Macintosh PowerPoint</Application>
  <PresentationFormat>On-screen Show (4:3)</PresentationFormat>
  <Paragraphs>381</Paragraphs>
  <Slides>46</Slides>
  <Notes>23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56" baseType="lpstr">
      <vt:lpstr>Arial</vt:lpstr>
      <vt:lpstr>Calibri</vt:lpstr>
      <vt:lpstr>Calibri Light</vt:lpstr>
      <vt:lpstr>Courier New</vt:lpstr>
      <vt:lpstr>Google Sans</vt:lpstr>
      <vt:lpstr>Noto Sans Symbols</vt:lpstr>
      <vt:lpstr>Symbol</vt:lpstr>
      <vt:lpstr>Wingdings</vt:lpstr>
      <vt:lpstr>Office Theme</vt:lpstr>
      <vt:lpstr>Equation</vt:lpstr>
      <vt:lpstr>Analytics Primer</vt:lpstr>
      <vt:lpstr>Today’s Plan</vt:lpstr>
      <vt:lpstr>Linear Optimization</vt:lpstr>
      <vt:lpstr>What is Linear Program? (1/2)</vt:lpstr>
      <vt:lpstr>What is Linear Program? (2/2)</vt:lpstr>
      <vt:lpstr>A Production Mix Problem: Capacities and Demand</vt:lpstr>
      <vt:lpstr>Heuristic Strategies Approach #1: Prioritize Production According to Margins</vt:lpstr>
      <vt:lpstr>STC Priority Rule</vt:lpstr>
      <vt:lpstr>STC Priority Rule</vt:lpstr>
      <vt:lpstr>A Problem Statement</vt:lpstr>
      <vt:lpstr>Heuristic Strategies: All 6 Sequential Allocations (“Strict Priority Rules”)</vt:lpstr>
      <vt:lpstr>PowerPoint Presentation</vt:lpstr>
      <vt:lpstr>Introduction to Excel Solver</vt:lpstr>
      <vt:lpstr>Using Excel Solver – The Solver Parameter Window</vt:lpstr>
      <vt:lpstr>Production Mix: Problem Statement</vt:lpstr>
      <vt:lpstr>Using Excel Solver: The Solver Parameters Window</vt:lpstr>
      <vt:lpstr>Production Mix Problem – Optimal Solution</vt:lpstr>
      <vt:lpstr>Linear Integer Optimization</vt:lpstr>
      <vt:lpstr>ILP: A Capital Budgeting Problem</vt:lpstr>
      <vt:lpstr>Capital Budgeting Formulation</vt:lpstr>
      <vt:lpstr>PowerPoint Presentation</vt:lpstr>
      <vt:lpstr>Solver Parameters</vt:lpstr>
      <vt:lpstr>Add Additional Logical Constraints</vt:lpstr>
      <vt:lpstr>Nonlinear Optimization</vt:lpstr>
      <vt:lpstr>Illustration: Nonlinear Objective </vt:lpstr>
      <vt:lpstr>Gradient Search</vt:lpstr>
      <vt:lpstr>Example 4: A Profit Maximization Problem</vt:lpstr>
      <vt:lpstr>Mathematical Formulation</vt:lpstr>
      <vt:lpstr>Solution via Solver – GRG Algorithm</vt:lpstr>
      <vt:lpstr>Solution via Solver</vt:lpstr>
      <vt:lpstr>Profit as a Function of Quantity</vt:lpstr>
      <vt:lpstr>Lessons</vt:lpstr>
      <vt:lpstr>Simulation</vt:lpstr>
      <vt:lpstr>What is simulation?</vt:lpstr>
      <vt:lpstr>Simulating Values from Probability Distributions</vt:lpstr>
      <vt:lpstr>Simulating Values from Probability Distributions</vt:lpstr>
      <vt:lpstr>Simulating Values from Probability Distributions</vt:lpstr>
      <vt:lpstr>Let’s Gamble! Heads or Tails? Toss a coin</vt:lpstr>
      <vt:lpstr>Model Setup</vt:lpstr>
      <vt:lpstr>Statistical Profile of Outcomes Theoretical (Exact) Evaluation</vt:lpstr>
      <vt:lpstr>Statistical Profile of Outcomes  Estimation via Simulation</vt:lpstr>
      <vt:lpstr>Estimation via Simulation (cont.)</vt:lpstr>
      <vt:lpstr>Estimation via Simulation (cont.)</vt:lpstr>
      <vt:lpstr>Estimation via Simulation (cont.)</vt:lpstr>
      <vt:lpstr>A Histogram of Outcomes</vt:lpstr>
      <vt:lpstr>Confidence Intervals (Level of confidence = 1 – α)</vt:lpstr>
    </vt:vector>
  </TitlesOfParts>
  <Company>Washington University in St. Louis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Dong, Ling</dc:creator>
  <cp:lastModifiedBy>Danko Turcic</cp:lastModifiedBy>
  <cp:revision>357</cp:revision>
  <cp:lastPrinted>2017-11-01T19:16:03Z</cp:lastPrinted>
  <dcterms:created xsi:type="dcterms:W3CDTF">2016-02-22T17:17:21Z</dcterms:created>
  <dcterms:modified xsi:type="dcterms:W3CDTF">2026-04-03T00:07:25Z</dcterms:modified>
</cp:coreProperties>
</file>